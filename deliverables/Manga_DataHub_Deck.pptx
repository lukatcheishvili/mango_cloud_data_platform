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Andrea (open for the team). 'Good morning — we're CloudCore Solutions, responding to Manga's RFP. Over the next ~12 minutes the six of us will walk you through the Manga DataHub: why Manga needs it, the architecture, what it costs, and what it unlocks.' Keep it to 20 seconds, then hand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Andrea. Anchor the pain in numbers: €280M revenue but only 3.5% growth and 1.2% online — and they spend ~2x competitors for half the output. Root cause is architectural: daily cron ETL, siloed pipelines, Excel BI, unclear GDPR. This is what we're fixing.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Andrea (then hand to Mateus). Three pillars: Unify, Accelerate, Enable. Stress open-source tooling — this directly answers CTO Javier's lock-in fear. Hand over: 'Mateus will show how the architecture delivers this.'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Andrea or Mateus (brief). One line each: we mapped the proposal to the five named decision-makers. The CFO gets cost, the CTO gets no lock-in, InfoSec gets GDPR-by-design. Don't read all five — highlight CTO and CFO,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Mateus. The conceptual design, no vendor names yet: five layers — Sources, Ingestion, three-zone Lakehouse storage, Processing, Consumption — with Security &amp; Governance spanning everything, and a clean split between streaming and batch. Call out the four principles on the right. Hand to Tina for the AWS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Tina. Same architecture, now with AWS services. Kinesis+Firehose for streaming, Glue for batch, S3 three-zone lakehouse (Bronze/Silver/Gold), Redshift + DynamoDB for serving, and governance via Lake Formation + Macie. Every box maps to an R1–R8 requirement — which Ricardo will show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Ricardo. We don't just claim coverage — the written proposal has a full R1–R8 traceability table. Hit the highlights: R3 automation (MWAA replaces cron), R4 security (Lake Formation + Macie + KMS), R6 cost. Segue to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Tina (CFO-facing). Replacing fixed colocation with AWS pay-per-use cuts annual infra cost ~57% — €1.30M to €0.56M, about €0.74M saved a year. These are illustrative, based on the as-is model and AWS pricing levers (Intelligent-Tiering, Spot Glue, Redshift RIs, QuickSight per-session). Pause on the −57%.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Ricardo. Phased, controlled-risk delivery — Marta's priority. Production cutover in month 7, full handover by month 9. Risks are explicitly mitigated: DMS runs in parallel before cutover, open-source addresses lock-in, a DPIA precedes any personal data. Hand to Luka for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Luka. Three end-to-end use cases on Manga's actual data sources, each ingestion-to-outcome: demand forecasting (−30% stockouts), recommendations (+12–18% AOV), sentiment merchandising (2–3 weeks earlier). Two more extend the same platform. These directly attack the 1.2% online growth problem. Hand to Nicklas.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Nicklas. The architecture is extensible by design. Short-term reuses existing infra for real-time personalisation and smart labels; medium-term adds a Bedrock shopping assistant and data monetisation; long-term, an AI-agent ecosystem and carbon-neutrality. Note the RFP explicitly asked for AI-agent data exposure — we have a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Nicklas (close, all on stage for Q&amp;A). Invite them to open the live site on their own device while we take questions — it's the same content, fully interactive, deployed on Vercel. Thank the panel. Anticipate Q&amp;A: cost assumptions (Tina), security/GDPR (whoever covers R4), lock-in (Mateus). Keep answers to ~30 seconds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ngacloud-khaki.vercel.app/" TargetMode="Externa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CLOUDCORE SOLUTIONS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DataHub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modernisation of Manga's data architecture to the cloud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AWS data lakehouse — response to the RFP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Alarcón Valles · Mateus Carneiro · Tina Jannasch · Ricardo Liévano Pedroza · Luka Tcheishvili · Nicklas Urban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University · MBD-EN2025 · Data Analytics in the Cloud · Group Work Option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is growing — but the data stack can't keep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55648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€280M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8144" y="16002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1755648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38144" y="24871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— below market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6002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755648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36208" y="24871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sales YoY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34272" y="160020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1755648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≈2×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34272" y="24871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 vs. competitors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cron-job ETL — managers decide on yesterday's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pipelines, each built by a different team, no shared standards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as the BI layer — no self-service, no real-time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GDPR posture after a prior security incident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Manga DataHub — one governed AWS lakehouse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platform for every source — replacing siloed pipelines and manual Excel.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36008" y="2697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Time-to-insight from 24 hours to sub-second — live inventory, sales, and fraud detection.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57616" y="2697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that's impossible today — recommendations, dynamic pricing, demand forecasting.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tooling (Airflow, Spark, open Parquet) — no vendor lock-in.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DECISION-MAKERS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stakeholder's concern is addressed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 Ríos — COO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122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controlled-risk solution with a clear business case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801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Medina — 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1122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(Airflow, Spark, Parquet) — no lock-in, full portability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852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Ortega — CFO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1638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lower infra cost, pay-per-use, clear ROI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852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Smith — InfoSec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1638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by design: Lake Formation RBAC, Macie PII scanning, KMS, audit trails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9044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Lee — Head of Data &amp;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215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DataOps, real-time pipelines, self-service catalog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— technology-agnostic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766560" cy="493776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wonderful-intelligent-curie/mnt/Cloud Analytics/manga-vercel/assets/manga-cloud-platform-high-level-archite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73736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1856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0956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decoupled from compute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80960" y="2907792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33649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don't cascade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80960" y="4078224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41970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909560" y="45354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for Fashion-Week spikes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680960" y="5248656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09560" y="5367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09560" y="57058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Parquet, Airflow, Spark — no lock-in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Architecture — mapped to 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040880" cy="493776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wonderful-intelligent-curie/mnt/Cloud Analytics/manga-vercel/assets/manga-cloud-platform-low-level-aws-archite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76656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737360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388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· Glue · Lambda · DMS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2907792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3880" y="33649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lakehouse · Redshift · DynamoDB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4078224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83880" y="4197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83880" y="45354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Catalog · MWAA · Lake Formation · Macie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0" y="5248656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83880" y="5367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83880" y="57058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QuickSight · SageMaker · Athena · API Gateway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requirements — fully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10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multi-modal platform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49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73368" y="1810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2376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Pre-Prod / Prod environments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8813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2724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Infrastructure-as-Code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492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73368" y="2724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99.9% availability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8813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3639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492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72200" y="34747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73368" y="3639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cost reduction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8813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" y="43891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" y="45537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9164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&amp; interoperability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3492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72200" y="438912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73368" y="45537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2376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carbon metrics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088136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~57% lower infrastructure cost</a:t>
            </a:r>
            <a:endParaRPr lang="en-US" sz="3200" dirty="0"/>
          </a:p>
        </p:txBody>
      </p:sp>
      <p:pic>
        <p:nvPicPr>
          <p:cNvPr id="4" name="Image 0" descr="/sessions/wonderful-intelligent-curie/mnt/Cloud Analytics/deliverables/cost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9552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691640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69680" y="183794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€1.30M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869680" y="23500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Colocation / year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869680" y="2880360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69680" y="30266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€0.56M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869680" y="3538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year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869680" y="4069080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69680" y="421538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−57%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869680" y="47274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69680" y="5257800"/>
            <a:ext cx="2697480" cy="1005840"/>
          </a:xfrm>
          <a:prstGeom prst="roundRect">
            <a:avLst>
              <a:gd name="adj" fmla="val 818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869680" y="54041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€0.74M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869680" y="5916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every year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Nine-month delivery in three phases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24323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accounts, Terraform baseline, Dev live, DMS migration, Catalog + MWAA, first batch pipelines.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Build &amp; Validate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4323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 live, Kinesis streaming, Glue DQ + Lake Formation, QuickSight replacing Excel, first ML model.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Cutover &amp; ML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39328" y="24323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9328" y="2834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live, colocation decommissioned, recommendations + dynamic pricing, security audit, handover.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mitigated: parallel DMS CDC before cutover · open-source for lock-in · DPIA before any personal data.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 — ML use cases on real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933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DeepAR on sales + weather + events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stockouts · −20% overstock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933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filtering, served at ≤5ms via DynamoDB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+12–18% average order value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9933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Merchandising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39328" y="2697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NLP on reviews, alerts to buyers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9328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weeks' earlier warning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dynamic pricing (+3–7% margin) and return-rate optimisation (−10–15% processing cost).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keeps compounding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1298448"/>
          </a:xfrm>
          <a:prstGeom prst="roundRect">
            <a:avLst>
              <a:gd name="adj" fmla="val 633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· 10–18 mo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89120" y="1920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personalisation · supply-chain smart labels · advanced data-quality suites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10972800" cy="1298448"/>
          </a:xfrm>
          <a:prstGeom prst="roundRect">
            <a:avLst>
              <a:gd name="adj" fmla="val 633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4015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· 18–30 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340156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virtual shopping assistant · external data monetisation · data mesh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700016"/>
            <a:ext cx="10972800" cy="1298448"/>
          </a:xfrm>
          <a:prstGeom prst="roundRect">
            <a:avLst>
              <a:gd name="adj" fmla="val 6338"/>
            </a:avLst>
          </a:prstGeom>
          <a:solidFill>
            <a:srgbClr val="161C26"/>
          </a:solidFill>
          <a:ln w="12700">
            <a:solidFill>
              <a:srgbClr val="2A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8828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· 30+ 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4882896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ecosystem · federated ML across partners · carbon-neutrality roadmap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live 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DataHub — interactive proposal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high- and low-level architecture, data sources, requirements coverage, and ML use cases.</a:t>
            </a:r>
            <a:endParaRPr lang="en-US" sz="1700" dirty="0"/>
          </a:p>
        </p:txBody>
      </p:sp>
      <p:sp>
        <p:nvSpPr>
          <p:cNvPr id="5" name="Text 3">
            <a:hlinkClick r:id="rId2" tooltip=""/>
          </p:cNvPr>
          <p:cNvSpPr/>
          <p:nvPr/>
        </p:nvSpPr>
        <p:spPr>
          <a:xfrm>
            <a:off x="640080" y="3749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4FD0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mangacloud-khaki.vercel.app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 welcome your questions.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CloudCore Solutions · IE University MBD-EN2025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Manga DataHub — RFP Presentation</dc:title>
  <dc:subject>PptxGenJS Presentation</dc:subject>
  <dc:creator>CloudCore Solutions</dc:creator>
  <cp:lastModifiedBy>CloudCore Solutions</cp:lastModifiedBy>
  <cp:revision>1</cp:revision>
  <dcterms:created xsi:type="dcterms:W3CDTF">2026-06-17T07:48:11Z</dcterms:created>
  <dcterms:modified xsi:type="dcterms:W3CDTF">2026-06-17T07:48:11Z</dcterms:modified>
</cp:coreProperties>
</file>