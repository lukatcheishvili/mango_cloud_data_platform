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0ecbff2b734bb0" /><Relationship Type="http://schemas.openxmlformats.org/officeDocument/2006/relationships/extended-properties" Target="/docProps/app.xml" Id="R16fbf3d3195b4c27" /><Relationship Type="http://schemas.openxmlformats.org/officeDocument/2006/relationships/officeDocument" Target="/ppt/presentation.xml" Id="R6511a8f2425841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177244193e4529"/>
  </p:sldMasterIdLst>
  <p:notesMasterIdLst>
    <p:notesMasterId xmlns:r="http://schemas.openxmlformats.org/officeDocument/2006/relationships" r:id="R5c15de73d85340cb"/>
  </p:notesMasterIdLst>
  <p:sldIdLst>
    <p:sldId xmlns:r="http://schemas.openxmlformats.org/officeDocument/2006/relationships" id="256" r:id="Rc577967e756642fd"/>
    <p:sldId xmlns:r="http://schemas.openxmlformats.org/officeDocument/2006/relationships" id="257" r:id="R294f87c9d5b9411d"/>
    <p:sldId xmlns:r="http://schemas.openxmlformats.org/officeDocument/2006/relationships" id="258" r:id="R363a21f28e544648"/>
    <p:sldId xmlns:r="http://schemas.openxmlformats.org/officeDocument/2006/relationships" id="259" r:id="R4c5e64ac9825441d"/>
    <p:sldId xmlns:r="http://schemas.openxmlformats.org/officeDocument/2006/relationships" id="260" r:id="R77169c3210c649b4"/>
    <p:sldId xmlns:r="http://schemas.openxmlformats.org/officeDocument/2006/relationships" id="261" r:id="R3453024d3ccd4137"/>
    <p:sldId xmlns:r="http://schemas.openxmlformats.org/officeDocument/2006/relationships" id="262" r:id="Rf1cc1e9adcd34b1e"/>
    <p:sldId xmlns:r="http://schemas.openxmlformats.org/officeDocument/2006/relationships" id="263" r:id="Rc595c5fd514d4779"/>
    <p:sldId xmlns:r="http://schemas.openxmlformats.org/officeDocument/2006/relationships" id="264" r:id="R80199640d9e84b22"/>
    <p:sldId xmlns:r="http://schemas.openxmlformats.org/officeDocument/2006/relationships" id="265" r:id="R5807bb1d7d30449e"/>
    <p:sldId xmlns:r="http://schemas.openxmlformats.org/officeDocument/2006/relationships" id="266" r:id="R9b922071d9d641da"/>
    <p:sldId xmlns:r="http://schemas.openxmlformats.org/officeDocument/2006/relationships" id="267" r:id="R4be30c3bc8d94a1f"/>
    <p:sldId xmlns:r="http://schemas.openxmlformats.org/officeDocument/2006/relationships" id="268" r:id="R0ec998386250458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87bb8f7d8d46f5" /><Relationship Type="http://schemas.openxmlformats.org/officeDocument/2006/relationships/slideMaster" Target="/ppt/slideMasters/slideMaster1.xml" Id="R9d177244193e4529" /><Relationship Type="http://schemas.openxmlformats.org/officeDocument/2006/relationships/notesMaster" Target="/ppt/notesMasters/notesMaster1.xml" Id="R5c15de73d85340cb" /><Relationship Type="http://schemas.openxmlformats.org/officeDocument/2006/relationships/presProps" Target="/ppt/presProps.xml" Id="Rad7ec37b52204fb6" /><Relationship Type="http://schemas.openxmlformats.org/officeDocument/2006/relationships/tableStyles" Target="/ppt/tableStyles.xml" Id="Rc55693532d124269" /><Relationship Type="http://schemas.openxmlformats.org/officeDocument/2006/relationships/slide" Target="/ppt/slides/slide1.xml" Id="Rc577967e756642fd" /><Relationship Type="http://schemas.openxmlformats.org/officeDocument/2006/relationships/slide" Target="/ppt/slides/slide2.xml" Id="R294f87c9d5b9411d" /><Relationship Type="http://schemas.openxmlformats.org/officeDocument/2006/relationships/slide" Target="/ppt/slides/slide3.xml" Id="R363a21f28e544648" /><Relationship Type="http://schemas.openxmlformats.org/officeDocument/2006/relationships/slide" Target="/ppt/slides/slide4.xml" Id="R4c5e64ac9825441d" /><Relationship Type="http://schemas.openxmlformats.org/officeDocument/2006/relationships/slide" Target="/ppt/slides/slide5.xml" Id="R77169c3210c649b4" /><Relationship Type="http://schemas.openxmlformats.org/officeDocument/2006/relationships/slide" Target="/ppt/slides/slide6.xml" Id="R3453024d3ccd4137" /><Relationship Type="http://schemas.openxmlformats.org/officeDocument/2006/relationships/slide" Target="/ppt/slides/slide7.xml" Id="Rf1cc1e9adcd34b1e" /><Relationship Type="http://schemas.openxmlformats.org/officeDocument/2006/relationships/slide" Target="/ppt/slides/slide8.xml" Id="Rc595c5fd514d4779" /><Relationship Type="http://schemas.openxmlformats.org/officeDocument/2006/relationships/slide" Target="/ppt/slides/slide9.xml" Id="R80199640d9e84b22" /><Relationship Type="http://schemas.openxmlformats.org/officeDocument/2006/relationships/slide" Target="/ppt/slides/slide10.xml" Id="R5807bb1d7d30449e" /><Relationship Type="http://schemas.openxmlformats.org/officeDocument/2006/relationships/slide" Target="/ppt/slides/slide11.xml" Id="R9b922071d9d641da" /><Relationship Type="http://schemas.openxmlformats.org/officeDocument/2006/relationships/slide" Target="/ppt/slides/slide12.xml" Id="R4be30c3bc8d94a1f" /><Relationship Type="http://schemas.openxmlformats.org/officeDocument/2006/relationships/slide" Target="/ppt/slides/slide13.xml" Id="R0ec99838625045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429ab45acb49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110af9381334894" /><Relationship Type="http://schemas.openxmlformats.org/officeDocument/2006/relationships/notesMaster" Target="/ppt/notesMasters/notesMaster1.xml" Id="R0bc7ac50f83f48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301051ab5540b5" /><Relationship Type="http://schemas.openxmlformats.org/officeDocument/2006/relationships/notesMaster" Target="/ppt/notesMasters/notesMaster1.xml" Id="R246a2dfb4df046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43328496e84d07" /><Relationship Type="http://schemas.openxmlformats.org/officeDocument/2006/relationships/notesMaster" Target="/ppt/notesMasters/notesMaster1.xml" Id="R75c551067718424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f73e3d265c42b0" /><Relationship Type="http://schemas.openxmlformats.org/officeDocument/2006/relationships/notesMaster" Target="/ppt/notesMasters/notesMaster1.xml" Id="R697c89f9e013442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09fabf518940f5" /><Relationship Type="http://schemas.openxmlformats.org/officeDocument/2006/relationships/notesMaster" Target="/ppt/notesMasters/notesMaster1.xml" Id="R0067cd3308294c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ae95bfa7f741ae" /><Relationship Type="http://schemas.openxmlformats.org/officeDocument/2006/relationships/notesMaster" Target="/ppt/notesMasters/notesMaster1.xml" Id="R828247082b1a448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3533feb0444a4d" /><Relationship Type="http://schemas.openxmlformats.org/officeDocument/2006/relationships/notesMaster" Target="/ppt/notesMasters/notesMaster1.xml" Id="R948cfc9ec31943a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196bc43a994739" /><Relationship Type="http://schemas.openxmlformats.org/officeDocument/2006/relationships/notesMaster" Target="/ppt/notesMasters/notesMaster1.xml" Id="R77ecfd0b606e46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3a79f9b8984b61" /><Relationship Type="http://schemas.openxmlformats.org/officeDocument/2006/relationships/notesMaster" Target="/ppt/notesMasters/notesMaster1.xml" Id="R05c9d359a80f46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f4df74146d24bf1" /><Relationship Type="http://schemas.openxmlformats.org/officeDocument/2006/relationships/notesMaster" Target="/ppt/notesMasters/notesMaster1.xml" Id="R6d17f14011c4433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a0f31355c4b4fd7" /><Relationship Type="http://schemas.openxmlformats.org/officeDocument/2006/relationships/notesMaster" Target="/ppt/notesMasters/notesMaster1.xml" Id="Re87a3d8ecf8143f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3e1d372df54bb8" /><Relationship Type="http://schemas.openxmlformats.org/officeDocument/2006/relationships/notesMaster" Target="/ppt/notesMasters/notesMaster1.xml" Id="R0b8b99ddde314fe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0b559e4ba714927" /><Relationship Type="http://schemas.openxmlformats.org/officeDocument/2006/relationships/notesMaster" Target="/ppt/notesMasters/notesMaster1.xml" Id="R688f09ab026b48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Andrea (open for the team). 'Good morning — we're CloudCore Solutions, responding to Manga's RFP. Over the next ~12 minutes the six of us will walk you through the Manga DataHub: why Manga needs it, the architecture, what it costs, and what it unlocks.' Keep it to 20 seconds, then hand to the problem.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Andrea. Anchor the pain in numbers: €280M revenue but only 3.5% growth and 1.2% online — and they spend ~2x competitors for half the output. Root cause is architectural: daily cron ETL, siloed pipelines, Excel BI, unclear GDPR. This is what we're fixing.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Andrea (then hand to Mateus). Three pillars: Unify, Accelerate, Enable. Stress open-source tooling — this directly answers CTO Javier's lock-in fear. Hand over: 'Mateus will show how the architecture delivers this.'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Andrea or Mateus (brief). One line each: we mapped the proposal to the five named decision-makers. The CFO gets cost, the CTO gets no lock-in, InfoSec gets GDPR-by-design. Don't read all five — highlight CTO and CFO, then move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Mateus. The conceptual design, no vendor names yet: five layers — Sources, Ingestion, three-zone Lakehouse storage, Processing, Consumption — with Security &amp; Governance spanning everything, and a clean split between streaming and batch. Call out the four principles on the right. Hand to Tina for the AWS mapping.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Tina. Same architecture, now with AWS services. Kinesis+Firehose for streaming, Glue for batch, S3 three-zone lakehouse (Bronze/Silver/Gold), Redshift + DynamoDB for serving, and governance via Lake Formation + Macie. Every box maps to an R1–R8 requirement — which Ricardo will show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Ricardo. We don't just claim coverage - the written proposal has a full traceability table plus an Operating Evidence Appendix. Hit highlights: R3 automation with MWAA replacing cron; R4 security and recovery targets with Lake Formation, Macie, KMS, and explicit RPO/RTO; R5 concrete Glue Data Quality rules; R6 cost assumptions; and R8 carbon metrics. Segue to the cost numbers.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Tina (CFO-facing). Replacing fixed colocation with AWS pay-per-use cuts annual infrastructure cost by about 57% - from EUR 1.30M to EUR 0.56M, about EUR 0.74M saved per year. The proposal now shows the assumptions behind that claim: fixed infrastructure, storage and backup, analytics serving, and operational overhead, validated monthly with Cost Explorer, CUR, and FinOps tags. Pause on the 57%.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Tina. This is the backup behind the 57% number. Explain that the current baseline starts from the RFP fact that Manga pays about 2x competitors; we assumed a competitor-normal EUR 650k/year, giving EUR 1.30M current. Then walk through the AWS budget bridge: EUR 217k direct AWS meter cost plus EUR 175k platform ops/FinOps, EUR 65k security/DR, and EUR 103k contingency equals EUR 560k/year. The reduction is EUR 740k, or 56.9%. The unit prices shown are the public AWS anchors; the full formulas are in the PDF appendix.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Ricardo. Phased, controlled-risk delivery — Marta's priority. Production cutover in month 7, full handover by month 9. Risks are explicitly mitigated: DMS runs in parallel before cutover, open-source addresses lock-in, a DPIA precedes any personal data. Hand to Luka for use cases.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Luka. Three end-to-end use cases on Manga's actual data sources, each ingestion-to-outcome: demand forecasting (−30% stockouts), recommendations (+12–18% AOV), sentiment merchandising (2–3 weeks earlier). Two more extend the same platform. These directly attack the 1.2% online growth problem. Hand to Nicklas.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Nicklas. The architecture is extensible by design. Short-term reuses existing infra for real-time personalisation and smart labels; medium-term adds a Bedrock shopping assistant and data monetisation; long-term, an AI-agent ecosystem and carbon-neutrality. Note the RFP explicitly asked for AI-agent data exposure — we have a path.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SPEAKER: Nicklas (close, all on stage for Q&amp;A). Invite them to open the live platform while we take questions. Anticipated Q&amp;A ownership: cost assumptions - Tina; security/GDPR and lifecycle controls - Ricardo/Mateus; RTO/RPO and HA/DR - Ricardo; sustainability metrics - Nicklas; vendor lock-in - Mateus; timeline feasibility - Ricardo.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1728ebf65460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9a3a92f0a54ae2" /><Relationship Type="http://schemas.openxmlformats.org/officeDocument/2006/relationships/slideLayout" Target="/ppt/slideLayouts/slideLayout1.xml" Id="Rfbaf25fcb0bf42a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baf25fcb0bf42ae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fd90aeedaa4f0c" /><Relationship Type="http://schemas.openxmlformats.org/officeDocument/2006/relationships/image" Target="/ppt/media/image.png" Id="R0c5af888c85d4607" /><Relationship Type="http://schemas.openxmlformats.org/officeDocument/2006/relationships/notesSlide" Target="/ppt/notesSlides/notesSlide1.xml" Id="R1e1653c1101d4a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c443752c594517" /><Relationship Type="http://schemas.openxmlformats.org/officeDocument/2006/relationships/notesSlide" Target="/ppt/notesSlides/notesSlide2.xml" Id="R7962f8e98aff46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8d6b164614bdc" /><Relationship Type="http://schemas.openxmlformats.org/officeDocument/2006/relationships/notesSlide" Target="/ppt/notesSlides/notesSlide3.xml" Id="R25b589fa59bd41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075cf6dc54d26" /><Relationship Type="http://schemas.openxmlformats.org/officeDocument/2006/relationships/notesSlide" Target="/ppt/notesSlides/notesSlide4.xml" Id="Re0420576954a41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722f6675ef40cb" /><Relationship Type="http://schemas.openxmlformats.org/officeDocument/2006/relationships/image" Target="/ppt/media/image.jpeg" Id="R03abef8b6ef1422b" /><Relationship Type="http://schemas.openxmlformats.org/officeDocument/2006/relationships/notesSlide" Target="/ppt/notesSlides/notesSlide5.xml" Id="R6fc728327858430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446d562b24bfa" /><Relationship Type="http://schemas.openxmlformats.org/officeDocument/2006/relationships/image" Target="/ppt/media/image2.jpeg" Id="R86b0e0ccdeb04c4c" /><Relationship Type="http://schemas.openxmlformats.org/officeDocument/2006/relationships/notesSlide" Target="/ppt/notesSlides/notesSlide6.xml" Id="R3dde7924d4a947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59b3d11bc74847" /><Relationship Type="http://schemas.openxmlformats.org/officeDocument/2006/relationships/notesSlide" Target="/ppt/notesSlides/notesSlide7.xml" Id="R8d22eed9bdd04ed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6062b3eefe42c9" /><Relationship Type="http://schemas.openxmlformats.org/officeDocument/2006/relationships/image" Target="/ppt/media/image2.png" Id="R507ba32970f84f69" /><Relationship Type="http://schemas.openxmlformats.org/officeDocument/2006/relationships/notesSlide" Target="/ppt/notesSlides/notesSlide8.xml" Id="R691a0e4a63dd4f9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562a8128d4cfc" /><Relationship Type="http://schemas.openxmlformats.org/officeDocument/2006/relationships/notesSlide" Target="/ppt/notesSlides/notesSlide9.xml" Id="R324eb1cca9d04c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b54c2ea72499e" /><Relationship Type="http://schemas.openxmlformats.org/officeDocument/2006/relationships/notesSlide" Target="/ppt/notesSlides/notesSlide10.xml" Id="Rac8d95d5633842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11447532654bea" /><Relationship Type="http://schemas.openxmlformats.org/officeDocument/2006/relationships/notesSlide" Target="/ppt/notesSlides/notesSlide11.xml" Id="Rf83ff492da7f445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4aacead3e4902" /><Relationship Type="http://schemas.openxmlformats.org/officeDocument/2006/relationships/notesSlide" Target="/ppt/notesSlides/notesSlide12.xml" Id="R401717fbdbd043f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962ad51474179" /><Relationship Type="http://schemas.openxmlformats.org/officeDocument/2006/relationships/image" Target="/ppt/media/image3.png" Id="R896149e80c2a40c3" /><Relationship Type="http://schemas.openxmlformats.org/officeDocument/2006/relationships/hyperlink" Target="https://mangacloud-khaki.vercel.app/" TargetMode="External" Id="Rfc7faa80c5e04678" /><Relationship Type="http://schemas.openxmlformats.org/officeDocument/2006/relationships/hyperlink" Target="https://mangacloud-khaki.vercel.app/" TargetMode="External" Id="R2612f8517baa4c31" /><Relationship Type="http://schemas.openxmlformats.org/officeDocument/2006/relationships/notesSlide" Target="/ppt/notesSlides/notesSlide13.xml" Id="R057df27e252f493a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c5af888c85d460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5B1E4F2-F429-4A09-A71E-3DD0C1F1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 spc="40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CLOUDCORE SOLUTIONS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3A742DE-F057-4F56-9356-CB5109FC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1097280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Manga DataHub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695A9D96-8F32-4316-A63E-CB2A2B7E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0040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Migration &amp; modernisation of Manga's data architecture to the cloud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0D41472-B2FE-42B5-98FB-7AEF74A5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51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rgbClr val="AFC2DA"/>
                </a:solidFill>
                <a:latin typeface="Calibri"/>
                <a:ea typeface="Calibri"/>
                <a:cs typeface="Calibri"/>
              </a:rPr>
              <a:t>A cloud-native AWS data lakehouse — response to the RFP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2F2E4FA-C59F-4019-8F47-1945F9DA8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715000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40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Andrea Alarcón Valles · Mateus Carneiro · Tina Jannasch · Ricardo Liévano Pedroza · Luka Tcheishvili · Nicklas Urban</a:t>
            </a:r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3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IE University · MBD-EN2025 · Data Analytics in the Cloud · Group Work Option B</a:t>
            </a:r>
          </a:p>
        </p:txBody>
      </p:sp>
    </p:spTree>
    <p:extLst>
      <p:ext uri="{BB962C8B-B14F-4D97-AF65-F5344CB8AC3E}">
        <p14:creationId xmlns:p14="http://schemas.microsoft.com/office/powerpoint/2010/main" val="16110093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3000943-5450-42D6-BFFE-77224A4EF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WHY NOW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4470E2E-694E-44B1-9656-458F0E80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Manga is growing — but the data stack can't keep up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CB9CEF0-8156-432F-9329-4328C2E5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00200"/>
            <a:ext cx="2615184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022FB4B-03DE-4217-A406-CC6DC2E5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55648"/>
            <a:ext cx="261518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€280M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EB29078-A3F6-4BDC-B00B-10E966A2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487168"/>
            <a:ext cx="261518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Annual revenue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8930F4F-309C-4540-B36E-3BBE3F97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1600200"/>
            <a:ext cx="2615184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169F177-326F-4A83-8600-4D11EFBE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1755648"/>
            <a:ext cx="261518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+3.5%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76AB81F-51EA-4AEC-9A30-4E436F79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144" y="2487168"/>
            <a:ext cx="261518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Growth — below market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1B24D611-3FD2-4ADA-814A-3C5B48F2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600200"/>
            <a:ext cx="2615184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0F38A08-BEFB-4C26-B2DF-FAAD9AB4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1755648"/>
            <a:ext cx="261518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0A040"/>
                </a:solidFill>
                <a:latin typeface="Calibri"/>
                <a:ea typeface="Calibri"/>
                <a:cs typeface="Calibri"/>
              </a:rPr>
              <a:t>1.2%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E0986CA-B4F1-4C55-B657-2CAC76F91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2487168"/>
            <a:ext cx="261518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Online sales YoY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10C2EF3-C284-49EA-8568-A9FC39A8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1600200"/>
            <a:ext cx="2615184" cy="13716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2CD0C9F-46FC-4094-84D5-F915B963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1755648"/>
            <a:ext cx="2615184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 b="1">
                <a:solidFill>
                  <a:srgbClr val="F0A040"/>
                </a:solidFill>
                <a:latin typeface="Calibri"/>
                <a:ea typeface="Calibri"/>
                <a:cs typeface="Calibri"/>
              </a:rPr>
              <a:t>≈2×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C8A22C6-6744-4734-BC05-3BA194D4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487168"/>
            <a:ext cx="261518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Infra cost vs. competitors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E526B163-0943-4AC2-89EC-C0C3B9BA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83280"/>
            <a:ext cx="10881360" cy="2377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342900" indent="-342900">
              <a:spcAft>
                <a:spcPts val="1000"/>
              </a:spcAft>
              <a:buChar char="•"/>
            </a:pPr>
            <a:r>
              <a:rPr sz="18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Daily cron-job ETL — managers decide on yesterday's data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</a:pPr>
            <a:r>
              <a:rPr sz="18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Siloed pipelines, each built by a different team, no shared standards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</a:pPr>
            <a:r>
              <a:rPr sz="18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Excel as the BI layer — no self-service, no real-time</a:t>
            </a:r>
          </a:p>
          <a:p xmlns:a="http://schemas.openxmlformats.org/drawingml/2006/main">
            <a:pPr marL="342900" indent="-342900">
              <a:spcAft>
                <a:spcPts val="1000"/>
              </a:spcAft>
              <a:buChar char="•"/>
            </a:pPr>
            <a:r>
              <a:rPr sz="18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Unclear GDPR posture after a prior security incident</a:t>
            </a:r>
          </a:p>
        </p:txBody>
      </p:sp>
    </p:spTree>
    <p:extLst>
      <p:ext uri="{BB962C8B-B14F-4D97-AF65-F5344CB8AC3E}">
        <p14:creationId xmlns:p14="http://schemas.microsoft.com/office/powerpoint/2010/main" val="1647579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8AF71FB-3151-467E-8129-9D1E7DAD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OUR PROPOSAL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777293B-8292-4AFB-A944-508ECB3A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The Manga DataHub — one governed AWS lakehouse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6F25B99-A7E8-4449-A046-F7ACC401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474720" cy="301752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0703EBA-5A16-436D-B6C2-46E54CF1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1680"/>
            <a:ext cx="2926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Unify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A590265C-DC4D-473E-964F-9A1D9090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971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6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One governed platform for every source — replacing siloed pipelines and manual Excel.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BC02475-A6CA-4F7B-AE40-2F6F3B5D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1737360"/>
            <a:ext cx="3474720" cy="301752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BC0A83-C537-48CC-ACC6-FE1E252F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2011680"/>
            <a:ext cx="2926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Accelerate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2E7064A-1997-4ECD-85DA-EC33BA90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6008" y="2697480"/>
            <a:ext cx="2971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6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Time-to-insight from 24 hours to sub-second — live inventory, sales, and fraud detection.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525AE45-6939-4AEA-8106-61DD6AC7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296" y="1737360"/>
            <a:ext cx="3474720" cy="301752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5FD7E0C-DCA3-4E2A-8E11-2E62C082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2011680"/>
            <a:ext cx="2926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rgbClr val="8A6CF6"/>
                </a:solidFill>
                <a:latin typeface="Calibri"/>
                <a:ea typeface="Calibri"/>
                <a:cs typeface="Calibri"/>
              </a:rPr>
              <a:t>Enable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E6CE926-E507-44C4-AD36-E99B14BB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6" y="2697480"/>
            <a:ext cx="2971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6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ML that's impossible today — recommendations, dynamic pricing, demand forecasting.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DDBAFFC-9C97-4A77-A1CB-4BA53462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i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Built on open-source tooling (Airflow, Spark, open Parquet) — no vendor lock-in.</a:t>
            </a:r>
          </a:p>
        </p:txBody>
      </p:sp>
    </p:spTree>
    <p:extLst>
      <p:ext uri="{BB962C8B-B14F-4D97-AF65-F5344CB8AC3E}">
        <p14:creationId xmlns:p14="http://schemas.microsoft.com/office/powerpoint/2010/main" val="19769758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8973E2B-F437-436A-9FC1-C493F129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BUILT FOR THE DECISION-MAKERS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5211F38-723A-40AE-ABAF-F35316B4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Every stakeholder's concern is addressed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91EC8CF-9754-4E21-BF19-3CE34C7BC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9164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A5AEB6D-AF00-40DD-AF76-B41F1B9D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80136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Marta Ríos — COO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22414A3-8F58-462D-B600-56E1BBFF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1226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End-to-end, controlled-risk solution with a clear business case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470257D-350E-4C31-B52C-DFA79676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69164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74DD5116-D76B-45DD-A983-66F5B768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0136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Javier Medina — CTO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F70D424-243B-49EE-ACA4-331C6237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11226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Open-source core (Airflow, Spark, Parquet) — no lock-in, full portability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8AD0029B-6934-4F36-9805-AE2B9759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4320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D5490EC-38A9-429E-92FD-7BAD8228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5292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F0A040"/>
                </a:solidFill>
                <a:latin typeface="Calibri"/>
                <a:ea typeface="Calibri"/>
                <a:cs typeface="Calibri"/>
              </a:rPr>
              <a:t>Manuel Ortega — CFO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78474FCB-75AD-49A5-96A7-E7BA0A61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6382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40–60% lower infra cost, pay-per-use, clear ROI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AF27397-E6D9-44CA-B68A-EB7E330F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74320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38ED604F-A284-43FF-A58B-7B3FE3A8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5292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Laura Smith — InfoSec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A6049E6-0B1B-4613-9BDB-D38F384D0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16382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GDPR by design: Lake Formation RBAC, Macie PII scanning, KMS, audit trails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B598E89-432C-470F-902C-95E4828AE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94760"/>
            <a:ext cx="5257800" cy="914400"/>
          </a:xfrm>
          <a:prstGeom xmlns:a="http://schemas.openxmlformats.org/drawingml/2006/main" prst="roundRect">
            <a:avLst>
              <a:gd name="adj" fmla="val 9000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D7DCE8F-DD4D-409A-BC38-CC74F9DB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904488"/>
            <a:ext cx="48463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Alex Lee — Head of Data &amp; AI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3A52C4D-BBA8-47B5-9B2A-93ED845A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15384"/>
            <a:ext cx="48463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Modern DataOps, real-time pipelines, self-service catalog</a:t>
            </a:r>
          </a:p>
        </p:txBody>
      </p:sp>
    </p:spTree>
    <p:extLst>
      <p:ext uri="{BB962C8B-B14F-4D97-AF65-F5344CB8AC3E}">
        <p14:creationId xmlns:p14="http://schemas.microsoft.com/office/powerpoint/2010/main" val="9684450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55A4151-ABB6-4B2C-914C-C95A0D27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2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D6D12E4-3E99-47D2-AB68-F1A6FDB4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High-Level Architecture — technology-agnostic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92DA38C-8CDC-4450-B3D7-12DB6491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6766560" cy="493776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abef8b6ef1422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7240" y="1691640"/>
            <a:ext cx="6492240" cy="4663440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F41DB791-A0B2-46AE-92DF-01C8BEABA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1737360"/>
            <a:ext cx="38404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AE846EC-EFD6-4A15-B0AC-19CD9CBB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856232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Separation of concerns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64565AC-738C-4B0E-BF5D-5EDD9846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194560"/>
            <a:ext cx="3383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Storage decoupled from compute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A7EB1509-F127-42EC-A4DE-514279728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2907792"/>
            <a:ext cx="38404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9913F63-1123-4AE4-A4BF-C6772B62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026664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Modularity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8AF58E4F-FBEE-4332-A386-07ECAFF62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3364992"/>
            <a:ext cx="3383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Failures don't cascade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0D9D8AFD-C308-4E74-ACB6-A5B495045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4078224"/>
            <a:ext cx="38404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2F28987-AC86-4777-8397-CBE30FAF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197096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Elasticity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605E6563-E308-46DB-B160-80AE2B98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4535424"/>
            <a:ext cx="3383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Auto-scales for Fashion-Week spikes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7228CC7A-C2FF-4AE8-8A20-7B0F0837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0" y="5248656"/>
            <a:ext cx="38404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1F28437-E0E1-43BD-867C-6C9D824F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5367528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Open standards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1DDC770-F8C5-4F07-857D-10C10801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5705856"/>
            <a:ext cx="33832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Parquet, Airflow, Spark — no lock-in</a:t>
            </a:r>
          </a:p>
        </p:txBody>
      </p:sp>
    </p:spTree>
    <p:extLst>
      <p:ext uri="{BB962C8B-B14F-4D97-AF65-F5344CB8AC3E}">
        <p14:creationId xmlns:p14="http://schemas.microsoft.com/office/powerpoint/2010/main" val="16293835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C3188E4-FAEE-4630-8CEE-D0E51685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3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A99DECC-6C05-4223-9964-856B4697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Low-Level Architecture — mapped to AWS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32B9A6C-3775-4A74-ACA2-D0C2A71B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040880" cy="493776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pic>
        <p:nvPicPr>
          <p:cNvPr id="2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b0e0ccdeb04c4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77240" y="1691640"/>
            <a:ext cx="6766560" cy="4663440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FFAB0A6B-9172-4400-93DA-CAF5179A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737360"/>
            <a:ext cx="36118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AF3130-AC8D-4948-8B92-42F1E4D2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856232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Ingestion</a:t>
            </a:r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40743D3F-FF0F-460E-9CC8-9A9D34D6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194560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Kinesis · Glue · Lambda · DMS</a:t>
            </a:r>
          </a:p>
        </p:txBody>
      </p:sp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40BC1DBC-C05E-4884-BC07-0FBE8DCFB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907792"/>
            <a:ext cx="36118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0EBDB6A-EF32-4A5B-B7ED-952043BD6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026664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Storage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9EBDD565-1CB9-43DF-B697-955D92202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364992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S3 lakehouse · Redshift · DynamoDB</a:t>
            </a:r>
          </a:p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B62A7D7D-AE1A-4FBC-BA93-68AE674A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078224"/>
            <a:ext cx="36118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BDA18FE-4646-4172-B954-26A2FD6E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197096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Governance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3DD78152-3FC2-4B80-B3F1-42AB1114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535424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Glue Catalog · MWAA · Lake Formation · Macie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8A5794E-945E-4C6C-AEFB-DB9E3D55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5248656"/>
            <a:ext cx="3611880" cy="96012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90DBD81-E100-4A71-AF9D-25690D54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367528"/>
            <a:ext cx="3200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Consumption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7754C95D-6E00-48FC-8305-19D47D84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5705856"/>
            <a:ext cx="3200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QuickSight · SageMaker · Athena · API Gateway</a:t>
            </a:r>
          </a:p>
        </p:txBody>
      </p:sp>
    </p:spTree>
    <p:extLst>
      <p:ext uri="{BB962C8B-B14F-4D97-AF65-F5344CB8AC3E}">
        <p14:creationId xmlns:p14="http://schemas.microsoft.com/office/powerpoint/2010/main" val="15623034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B8CBA0E-9B5B-4E7F-8E73-CF67F6E2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4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26E57E0-4E5E-46C9-A266-7D303C0D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All eight requirements — fully covered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8675DC6-011A-457E-9E04-01BCE5D3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F00ADEE-785B-455B-BA0A-4D2FECEA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18105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R1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87B4C0A-C410-4B45-AF8C-ABC5B8EC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8288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Unified multi-modal platform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EFCA346-C493-4B4A-933B-1EE13E64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18105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832C5F26-ADF4-4251-A4C8-533E575B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459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A58A413-892D-46A6-8565-A47EB3E8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18105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R2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64D3F199-60B7-45A3-9BAA-5A43F329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18288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Dev / Pre-Prod / Prod environments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DE0BE71-7508-4A6B-BD31-8F20EB3F2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8105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09D319B7-0F1E-4E2E-BF10-F26F8C5E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5603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8105A57-6283-4307-9CBE-ABAC79BC7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249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R3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1796590-357D-44F3-811E-DDCCB0211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7432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Automation &amp; Infrastructure-as-Code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7F3DEF5D-2A19-403C-A416-866E60C2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27249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2631605-E277-4021-8B21-CF35D897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603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6C054218-E879-4DE8-9A09-1905E1A1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27249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R4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F243FCCD-590C-4CF9-B406-1F7A5961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27432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Security &amp; 99.9% availability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E53F0D6-69EC-49E1-B75D-7DBBBC4D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27249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2D6AF6CE-60C9-47F4-B29F-7C6D9DA7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4747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6300FAC-901C-4D10-BE61-FE8D81E9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6393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R5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F2A0132-6346-4E41-AF85-E7E59AB5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6576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Automated data quality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E047811F-F948-41A9-BFFD-CBDC42E7E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36393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6D97F1B-37E6-4048-B4D9-FA9C7B66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4747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081F610E-9E3E-4492-9E9E-FFF01ED6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6393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R6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CEA31EB-456C-4254-8901-9D842640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36576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40–60% cost reduction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FDA1F99-7087-425C-A228-F8B0A0B5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36393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81103C52-B95D-4080-8F13-FBE8BE7D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5C5BE48D-85E9-4A76-BA19-E9860137D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5537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R7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839C3FB3-07C8-42A1-840C-D5254132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45720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Extensibility &amp; interoperability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5A90ACFE-AA11-4305-8377-93329B82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9240" y="45537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1CBD5138-039E-4214-AC24-D2DE26C6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89120"/>
            <a:ext cx="5303520" cy="77724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ED8202CE-A017-4CB9-94E7-8949D997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4553712"/>
            <a:ext cx="8229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R8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9FBE5EC-E2C1-4253-BAE4-EB732EC5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0" y="457200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Sustainability &amp; carbon metrics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28403B47-FF7D-4E13-8354-AE4AA53B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4553712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</p:spTree>
    <p:extLst>
      <p:ext uri="{BB962C8B-B14F-4D97-AF65-F5344CB8AC3E}">
        <p14:creationId xmlns:p14="http://schemas.microsoft.com/office/powerpoint/2010/main" val="11566256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CCB05B-B752-4699-91D9-E7BC466E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4 · R6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EAA0E4F-B9AF-417A-9244-C1666A83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Projected ~57% lower infrastructure cost</a:t>
            </a:r>
          </a:p>
        </p:txBody>
      </p:sp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7ba32970f84f69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40080" y="1554480"/>
            <a:ext cx="7955280" cy="493776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ABA4F823-2DE4-4B47-8A5F-75A92D3E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691640"/>
            <a:ext cx="2697480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0C5E2D0F-562F-4F90-A35E-EF759FB31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837944"/>
            <a:ext cx="2697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€1.30M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356BB47-8107-4885-8CC6-B820EA5C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350008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Colocation / year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6BFD6F2A-B078-4D31-87EE-311827CF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880360"/>
            <a:ext cx="2697480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A07F7F9-AD4D-4A54-8651-1D2CB8E2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26664"/>
            <a:ext cx="2697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€0.56M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7952769-2291-48AB-83E6-6F8D00A3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38728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AWS / year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8B9CB5D7-58FC-4AE0-A739-08B17E61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069080"/>
            <a:ext cx="2697480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4EC8AC1-DBAE-49FC-93B4-FC0B2B09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215384"/>
            <a:ext cx="2697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−57%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266732B-5722-4732-94EF-ADE44BB84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4727448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Cost reduction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182EDCB8-C84C-4D9D-BBF7-330B9D4C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257800"/>
            <a:ext cx="2697480" cy="100584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FBC4CDA-6747-476E-9B80-582E551A8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404104"/>
            <a:ext cx="26974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€0.74M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FC198F5-62F4-4F33-B0B2-7C94D006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5916168"/>
            <a:ext cx="26974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Saved every year</a:t>
            </a:r>
          </a:p>
        </p:txBody>
      </p:sp>
    </p:spTree>
    <p:extLst>
      <p:ext uri="{BB962C8B-B14F-4D97-AF65-F5344CB8AC3E}">
        <p14:creationId xmlns:p14="http://schemas.microsoft.com/office/powerpoint/2010/main" val="86900718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C740F68-34C1-4C7B-B0BC-09D5EBAA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0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op-accent-line">
            <a:extLst xmlns:a="http://schemas.openxmlformats.org/drawingml/2006/main">
              <a:ext uri="{FF2B5EF4-FFF2-40B4-BE49-F238E27FC236}">
                <a16:creationId xmlns:a16="http://schemas.microsoft.com/office/drawing/2014/main" id="{29E1ED5A-00F6-499D-AA64-DA818522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62000"/>
            <a:ext cx="1428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bottom-line">
            <a:extLst xmlns:a="http://schemas.openxmlformats.org/drawingml/2006/main">
              <a:ext uri="{FF2B5EF4-FFF2-40B4-BE49-F238E27FC236}">
                <a16:creationId xmlns:a16="http://schemas.microsoft.com/office/drawing/2014/main" id="{559A9470-1386-48CF-B827-A150A9F88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314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kicker">
            <a:extLst xmlns:a="http://schemas.openxmlformats.org/drawingml/2006/main">
              <a:ext uri="{FF2B5EF4-FFF2-40B4-BE49-F238E27FC236}">
                <a16:creationId xmlns:a16="http://schemas.microsoft.com/office/drawing/2014/main" id="{F90FA417-08EC-458F-895B-E741586A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8B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B99"/>
                </a:solidFill>
                <a:latin typeface="Aptos"/>
                <a:ea typeface="Aptos"/>
                <a:cs typeface="Aptos"/>
              </a:rPr>
              <a:t>SECTION 4 · R6 BACKUP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0FBC9C2-EFB6-47C7-B14B-6FFC1E33F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4381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6E7A88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6E7A88"/>
                </a:solidFill>
                <a:latin typeface="Aptos"/>
                <a:ea typeface="Aptos"/>
                <a:cs typeface="Aptos"/>
              </a:rPr>
              <a:t>09 / 13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F8B994F-5508-4760-BA0E-EC31D4056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906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Detailed cost analysis brief.</a:t>
            </a:r>
          </a:p>
        </p:txBody>
      </p:sp>
      <p:sp>
        <p:nvSpPr>
          <p:cNvPr id="7" name="subtitle">
            <a:extLst xmlns:a="http://schemas.openxmlformats.org/drawingml/2006/main">
              <a:ext uri="{FF2B5EF4-FFF2-40B4-BE49-F238E27FC236}">
                <a16:creationId xmlns:a16="http://schemas.microsoft.com/office/drawing/2014/main" id="{DAC22508-5218-4FA5-B0CB-CD1E07434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A7B0BC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A7B0BC"/>
                </a:solidFill>
                <a:latin typeface="Aptos"/>
                <a:ea typeface="Aptos"/>
                <a:cs typeface="Aptos"/>
              </a:rPr>
              <a:t>How the EUR 560k AWS run-rate and 57% reduction are calculated.</a:t>
            </a:r>
          </a:p>
        </p:txBody>
      </p:sp>
      <p:sp>
        <p:nvSpPr>
          <p:cNvPr id="8" name="formula-card">
            <a:extLst xmlns:a="http://schemas.openxmlformats.org/drawingml/2006/main">
              <a:ext uri="{FF2B5EF4-FFF2-40B4-BE49-F238E27FC236}">
                <a16:creationId xmlns:a16="http://schemas.microsoft.com/office/drawing/2014/main" id="{9A5BB280-FC92-444F-B8AD-2752361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09800"/>
            <a:ext cx="5143500" cy="3124200"/>
          </a:xfrm>
          <a:prstGeom xmlns:a="http://schemas.openxmlformats.org/drawingml/2006/main" prst="roundRect">
            <a:avLst>
              <a:gd name="adj" fmla="val 3659"/>
            </a:avLst>
          </a:prstGeom>
          <a:solidFill xmlns:a="http://schemas.openxmlformats.org/drawingml/2006/main">
            <a:srgbClr val="11161D"/>
          </a:solidFill>
          <a:ln xmlns:a="http://schemas.openxmlformats.org/drawingml/2006/main" w="9525">
            <a:solidFill>
              <a:srgbClr val="2A35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formula-label">
            <a:extLst xmlns:a="http://schemas.openxmlformats.org/drawingml/2006/main">
              <a:ext uri="{FF2B5EF4-FFF2-40B4-BE49-F238E27FC236}">
                <a16:creationId xmlns:a16="http://schemas.microsoft.com/office/drawing/2014/main" id="{0A0B7AEB-A8D7-4692-B798-0D5DA291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8B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B99"/>
                </a:solidFill>
                <a:latin typeface="Aptos"/>
                <a:ea typeface="Aptos"/>
                <a:cs typeface="Aptos"/>
              </a:rPr>
              <a:t>SAVINGS FORMULA</a:t>
            </a:r>
          </a:p>
        </p:txBody>
      </p:sp>
      <p:sp>
        <p:nvSpPr>
          <p:cNvPr id="10" name="formula-main">
            <a:extLst xmlns:a="http://schemas.openxmlformats.org/drawingml/2006/main">
              <a:ext uri="{FF2B5EF4-FFF2-40B4-BE49-F238E27FC236}">
                <a16:creationId xmlns:a16="http://schemas.microsoft.com/office/drawing/2014/main" id="{50E991FE-3BE5-4893-9823-25A8CB97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1940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EUR 1.30M - EUR 0.56M = EUR 0.74M saved</a:t>
            </a:r>
          </a:p>
        </p:txBody>
      </p:sp>
      <p:sp>
        <p:nvSpPr>
          <p:cNvPr id="11" name="baseline-copy">
            <a:extLst xmlns:a="http://schemas.openxmlformats.org/drawingml/2006/main">
              <a:ext uri="{FF2B5EF4-FFF2-40B4-BE49-F238E27FC236}">
                <a16:creationId xmlns:a16="http://schemas.microsoft.com/office/drawing/2014/main" id="{0BC8426B-62FA-40A2-AEB6-ECC0A97F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9C3CF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B9C3CF"/>
                </a:solidFill>
                <a:latin typeface="Aptos"/>
                <a:ea typeface="Aptos"/>
                <a:cs typeface="Aptos"/>
              </a:rPr>
              <a:t>Baseline comes from the RFP problem statement: Manga pays about 2x competitors. We model competitor-normal cost at EUR 650k/year, so current run-rate = EUR 1.30M/year.</a:t>
            </a:r>
          </a:p>
        </p:txBody>
      </p:sp>
      <p:sp>
        <p:nvSpPr>
          <p:cNvPr id="12" name="reduction-pill-bg">
            <a:extLst xmlns:a="http://schemas.openxmlformats.org/drawingml/2006/main">
              <a:ext uri="{FF2B5EF4-FFF2-40B4-BE49-F238E27FC236}">
                <a16:creationId xmlns:a16="http://schemas.microsoft.com/office/drawing/2014/main" id="{7CBA5F4E-A19E-4D34-A80D-A1ED7373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86300"/>
            <a:ext cx="21336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061F31"/>
          </a:solidFill>
          <a:ln xmlns:a="http://schemas.openxmlformats.org/drawingml/2006/main" w="9525">
            <a:solidFill>
              <a:srgbClr val="0B8FD3"/>
            </a:solidFill>
            <a:prstDash val="solid"/>
          </a:ln>
        </p:spPr>
      </p:sp>
      <p:sp>
        <p:nvSpPr>
          <p:cNvPr id="13" name="reduction-pill-text">
            <a:extLst xmlns:a="http://schemas.openxmlformats.org/drawingml/2006/main">
              <a:ext uri="{FF2B5EF4-FFF2-40B4-BE49-F238E27FC236}">
                <a16:creationId xmlns:a16="http://schemas.microsoft.com/office/drawing/2014/main" id="{850DED13-9128-43DD-B731-983504A3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91075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56.9% reduction</a:t>
            </a:r>
          </a:p>
        </p:txBody>
      </p:sp>
      <p:sp>
        <p:nvSpPr>
          <p:cNvPr id="14" name="rounding-note">
            <a:extLst xmlns:a="http://schemas.openxmlformats.org/drawingml/2006/main">
              <a:ext uri="{FF2B5EF4-FFF2-40B4-BE49-F238E27FC236}">
                <a16:creationId xmlns:a16="http://schemas.microsoft.com/office/drawing/2014/main" id="{123289A1-BD43-4807-B759-B013801C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91075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FA0B2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8FA0B2"/>
                </a:solidFill>
                <a:latin typeface="Aptos"/>
                <a:ea typeface="Aptos"/>
                <a:cs typeface="Aptos"/>
              </a:rPr>
              <a:t>Rounded to 57% in the proposal.</a:t>
            </a:r>
          </a:p>
        </p:txBody>
      </p:sp>
      <p:sp>
        <p:nvSpPr>
          <p:cNvPr id="15" name="budget-card">
            <a:extLst xmlns:a="http://schemas.openxmlformats.org/drawingml/2006/main">
              <a:ext uri="{FF2B5EF4-FFF2-40B4-BE49-F238E27FC236}">
                <a16:creationId xmlns:a16="http://schemas.microsoft.com/office/drawing/2014/main" id="{D9C1E6BD-990C-458C-BCBA-512EE1587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9800"/>
            <a:ext cx="2819400" cy="3124200"/>
          </a:xfrm>
          <a:prstGeom xmlns:a="http://schemas.openxmlformats.org/drawingml/2006/main" prst="roundRect">
            <a:avLst>
              <a:gd name="adj" fmla="val 4054"/>
            </a:avLst>
          </a:prstGeom>
          <a:solidFill xmlns:a="http://schemas.openxmlformats.org/drawingml/2006/main">
            <a:srgbClr val="101820"/>
          </a:solidFill>
          <a:ln xmlns:a="http://schemas.openxmlformats.org/drawingml/2006/main" w="9525">
            <a:solidFill>
              <a:srgbClr val="2A35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budget-label">
            <a:extLst xmlns:a="http://schemas.openxmlformats.org/drawingml/2006/main">
              <a:ext uri="{FF2B5EF4-FFF2-40B4-BE49-F238E27FC236}">
                <a16:creationId xmlns:a16="http://schemas.microsoft.com/office/drawing/2014/main" id="{93C1FB78-1C46-408E-A1DA-794008A2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8B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B99"/>
                </a:solidFill>
                <a:latin typeface="Aptos"/>
                <a:ea typeface="Aptos"/>
                <a:cs typeface="Aptos"/>
              </a:rPr>
              <a:t>AWS BUDGET BRIDGE</a:t>
            </a:r>
          </a:p>
        </p:txBody>
      </p:sp>
      <p:sp>
        <p:nvSpPr>
          <p:cNvPr id="17" name="budget-rule-Direct AWS meters">
            <a:extLst xmlns:a="http://schemas.openxmlformats.org/drawingml/2006/main">
              <a:ext uri="{FF2B5EF4-FFF2-40B4-BE49-F238E27FC236}">
                <a16:creationId xmlns:a16="http://schemas.microsoft.com/office/drawing/2014/main" id="{E65C7F04-0A18-44A4-9980-A5DA97BD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813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budget-label-Direct AWS meters">
            <a:extLst xmlns:a="http://schemas.openxmlformats.org/drawingml/2006/main">
              <a:ext uri="{FF2B5EF4-FFF2-40B4-BE49-F238E27FC236}">
                <a16:creationId xmlns:a16="http://schemas.microsoft.com/office/drawing/2014/main" id="{8E857C03-83CA-4DB4-83EA-0C5ACDD9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956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B9C3CF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B9C3CF"/>
                </a:solidFill>
                <a:latin typeface="Aptos"/>
                <a:ea typeface="Aptos"/>
                <a:cs typeface="Aptos"/>
              </a:rPr>
              <a:t>Direct AWS meters</a:t>
            </a:r>
          </a:p>
        </p:txBody>
      </p:sp>
      <p:sp>
        <p:nvSpPr>
          <p:cNvPr id="19" name="budget-value-Direct AWS meters">
            <a:extLst xmlns:a="http://schemas.openxmlformats.org/drawingml/2006/main">
              <a:ext uri="{FF2B5EF4-FFF2-40B4-BE49-F238E27FC236}">
                <a16:creationId xmlns:a16="http://schemas.microsoft.com/office/drawing/2014/main" id="{EBBA60DE-1F04-4D3E-8B9B-F39343F0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895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EUR 217k</a:t>
            </a:r>
          </a:p>
        </p:txBody>
      </p:sp>
      <p:sp>
        <p:nvSpPr>
          <p:cNvPr id="20" name="budget-rule-Platform ops + FinOps">
            <a:extLst xmlns:a="http://schemas.openxmlformats.org/drawingml/2006/main">
              <a:ext uri="{FF2B5EF4-FFF2-40B4-BE49-F238E27FC236}">
                <a16:creationId xmlns:a16="http://schemas.microsoft.com/office/drawing/2014/main" id="{95D5F787-A209-4F2D-82CA-61EA22A3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budget-label-Platform ops + FinOps">
            <a:extLst xmlns:a="http://schemas.openxmlformats.org/drawingml/2006/main">
              <a:ext uri="{FF2B5EF4-FFF2-40B4-BE49-F238E27FC236}">
                <a16:creationId xmlns:a16="http://schemas.microsoft.com/office/drawing/2014/main" id="{24D0ED3D-4E3F-49DE-96F3-D3AB0393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3528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B9C3CF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B9C3CF"/>
                </a:solidFill>
                <a:latin typeface="Aptos"/>
                <a:ea typeface="Aptos"/>
                <a:cs typeface="Aptos"/>
              </a:rPr>
              <a:t>Platform ops + FinOps</a:t>
            </a:r>
          </a:p>
        </p:txBody>
      </p:sp>
      <p:sp>
        <p:nvSpPr>
          <p:cNvPr id="22" name="budget-value-Platform ops + FinOps">
            <a:extLst xmlns:a="http://schemas.openxmlformats.org/drawingml/2006/main">
              <a:ext uri="{FF2B5EF4-FFF2-40B4-BE49-F238E27FC236}">
                <a16:creationId xmlns:a16="http://schemas.microsoft.com/office/drawing/2014/main" id="{0D8E9624-8C8F-4EC5-9EFC-D9A08CDD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3528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EUR 175k</a:t>
            </a:r>
          </a:p>
        </p:txBody>
      </p:sp>
      <p:sp>
        <p:nvSpPr>
          <p:cNvPr id="23" name="budget-rule-Security / gov / DR">
            <a:extLst xmlns:a="http://schemas.openxmlformats.org/drawingml/2006/main">
              <a:ext uri="{FF2B5EF4-FFF2-40B4-BE49-F238E27FC236}">
                <a16:creationId xmlns:a16="http://schemas.microsoft.com/office/drawing/2014/main" id="{55C70864-5305-4530-B5C5-96507FDB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957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budget-label-Security / gov / DR">
            <a:extLst xmlns:a="http://schemas.openxmlformats.org/drawingml/2006/main">
              <a:ext uri="{FF2B5EF4-FFF2-40B4-BE49-F238E27FC236}">
                <a16:creationId xmlns:a16="http://schemas.microsoft.com/office/drawing/2014/main" id="{AA50E7B1-9439-431F-8874-7895AA831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100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B9C3CF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B9C3CF"/>
                </a:solidFill>
                <a:latin typeface="Aptos"/>
                <a:ea typeface="Aptos"/>
                <a:cs typeface="Aptos"/>
              </a:rPr>
              <a:t>Security / gov / DR</a:t>
            </a:r>
          </a:p>
        </p:txBody>
      </p:sp>
      <p:sp>
        <p:nvSpPr>
          <p:cNvPr id="25" name="budget-value-Security / gov / DR">
            <a:extLst xmlns:a="http://schemas.openxmlformats.org/drawingml/2006/main">
              <a:ext uri="{FF2B5EF4-FFF2-40B4-BE49-F238E27FC236}">
                <a16:creationId xmlns:a16="http://schemas.microsoft.com/office/drawing/2014/main" id="{817E8487-1611-481E-B674-D5955572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EUR 65k</a:t>
            </a:r>
          </a:p>
        </p:txBody>
      </p:sp>
      <p:sp>
        <p:nvSpPr>
          <p:cNvPr id="26" name="budget-rule-Contingency">
            <a:extLst xmlns:a="http://schemas.openxmlformats.org/drawingml/2006/main">
              <a:ext uri="{FF2B5EF4-FFF2-40B4-BE49-F238E27FC236}">
                <a16:creationId xmlns:a16="http://schemas.microsoft.com/office/drawing/2014/main" id="{AAD5630C-F84A-4363-82D0-5F8EBB59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2362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2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budget-label-Contingency">
            <a:extLst xmlns:a="http://schemas.openxmlformats.org/drawingml/2006/main">
              <a:ext uri="{FF2B5EF4-FFF2-40B4-BE49-F238E27FC236}">
                <a16:creationId xmlns:a16="http://schemas.microsoft.com/office/drawing/2014/main" id="{629C161D-1CA5-45F0-9D5D-2E9A00824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267200"/>
            <a:ext cx="1504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B9C3CF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B9C3CF"/>
                </a:solidFill>
                <a:latin typeface="Aptos"/>
                <a:ea typeface="Aptos"/>
                <a:cs typeface="Aptos"/>
              </a:rPr>
              <a:t>Contingency</a:t>
            </a:r>
          </a:p>
        </p:txBody>
      </p:sp>
      <p:sp>
        <p:nvSpPr>
          <p:cNvPr id="28" name="budget-value-Contingency">
            <a:extLst xmlns:a="http://schemas.openxmlformats.org/drawingml/2006/main">
              <a:ext uri="{FF2B5EF4-FFF2-40B4-BE49-F238E27FC236}">
                <a16:creationId xmlns:a16="http://schemas.microsoft.com/office/drawing/2014/main" id="{B1C163A9-3927-4265-874D-BA3758E0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EUR 103k</a:t>
            </a:r>
          </a:p>
        </p:txBody>
      </p:sp>
      <p:sp>
        <p:nvSpPr>
          <p:cNvPr id="29" name="total-band">
            <a:extLst xmlns:a="http://schemas.openxmlformats.org/drawingml/2006/main">
              <a:ext uri="{FF2B5EF4-FFF2-40B4-BE49-F238E27FC236}">
                <a16:creationId xmlns:a16="http://schemas.microsoft.com/office/drawing/2014/main" id="{9B185692-AE4B-478B-8480-3617F0B6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838700"/>
            <a:ext cx="236220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092C1E"/>
          </a:solidFill>
          <a:ln xmlns:a="http://schemas.openxmlformats.org/drawingml/2006/main" w="9525">
            <a:solidFill>
              <a:srgbClr val="28A66F"/>
            </a:solidFill>
            <a:prstDash val="solid"/>
          </a:ln>
        </p:spPr>
      </p:sp>
      <p:sp>
        <p:nvSpPr>
          <p:cNvPr id="30" name="total-label">
            <a:extLst xmlns:a="http://schemas.openxmlformats.org/drawingml/2006/main">
              <a:ext uri="{FF2B5EF4-FFF2-40B4-BE49-F238E27FC236}">
                <a16:creationId xmlns:a16="http://schemas.microsoft.com/office/drawing/2014/main" id="{B1FC2FCF-AFD6-48AC-829D-BB860C6E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3395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B9D7C8"/>
                </a:solidFill>
                <a:latin typeface="Aptos"/>
                <a:ea typeface="Aptos"/>
                <a:cs typeface="Aptos"/>
              </a:defRPr>
            </a:pPr>
            <a:r>
              <a:rPr sz="975">
                <a:solidFill>
                  <a:srgbClr val="B9D7C8"/>
                </a:solidFill>
                <a:latin typeface="Aptos"/>
                <a:ea typeface="Aptos"/>
                <a:cs typeface="Aptos"/>
              </a:rPr>
              <a:t>Target run-rate</a:t>
            </a:r>
          </a:p>
        </p:txBody>
      </p:sp>
      <p:sp>
        <p:nvSpPr>
          <p:cNvPr id="31" name="total-value">
            <a:extLst xmlns:a="http://schemas.openxmlformats.org/drawingml/2006/main">
              <a:ext uri="{FF2B5EF4-FFF2-40B4-BE49-F238E27FC236}">
                <a16:creationId xmlns:a16="http://schemas.microsoft.com/office/drawing/2014/main" id="{D6D52234-DA50-4E76-A2E0-A058CE7C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1490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EUR 560k</a:t>
            </a:r>
          </a:p>
        </p:txBody>
      </p:sp>
      <p:sp>
        <p:nvSpPr>
          <p:cNvPr id="32" name="price-card">
            <a:extLst xmlns:a="http://schemas.openxmlformats.org/drawingml/2006/main">
              <a:ext uri="{FF2B5EF4-FFF2-40B4-BE49-F238E27FC236}">
                <a16:creationId xmlns:a16="http://schemas.microsoft.com/office/drawing/2014/main" id="{E9A52887-DFCE-4CB2-8B3A-3DFDF993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09800"/>
            <a:ext cx="2628900" cy="31242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11161D"/>
          </a:solidFill>
          <a:ln xmlns:a="http://schemas.openxmlformats.org/drawingml/2006/main" w="9525">
            <a:solidFill>
              <a:srgbClr val="2A354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price-label">
            <a:extLst xmlns:a="http://schemas.openxmlformats.org/drawingml/2006/main">
              <a:ext uri="{FF2B5EF4-FFF2-40B4-BE49-F238E27FC236}">
                <a16:creationId xmlns:a16="http://schemas.microsoft.com/office/drawing/2014/main" id="{0B8D1CFB-36A2-4245-B47C-8D5465A9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7650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7F8B99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7F8B99"/>
                </a:solidFill>
                <a:latin typeface="Aptos"/>
                <a:ea typeface="Aptos"/>
                <a:cs typeface="Aptos"/>
              </a:rPr>
              <a:t>PUBLIC AWS PRICE ANCHORS</a:t>
            </a:r>
          </a:p>
        </p:txBody>
      </p:sp>
      <p:sp>
        <p:nvSpPr>
          <p:cNvPr id="34" name="pill-Glue: USD 0.44 / DPU-hour">
            <a:extLst xmlns:a="http://schemas.openxmlformats.org/drawingml/2006/main">
              <a:ext uri="{FF2B5EF4-FFF2-40B4-BE49-F238E27FC236}">
                <a16:creationId xmlns:a16="http://schemas.microsoft.com/office/drawing/2014/main" id="{0A6E7060-D90B-4B09-A42A-CF1A41E50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76550"/>
            <a:ext cx="21717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2A3545"/>
            </a:solidFill>
            <a:prstDash val="solid"/>
          </a:ln>
        </p:spPr>
      </p:sp>
      <p:sp>
        <p:nvSpPr>
          <p:cNvPr id="35" name="pill-text-Glue: USD 0.44 / DPU-hour">
            <a:extLst xmlns:a="http://schemas.openxmlformats.org/drawingml/2006/main">
              <a:ext uri="{FF2B5EF4-FFF2-40B4-BE49-F238E27FC236}">
                <a16:creationId xmlns:a16="http://schemas.microsoft.com/office/drawing/2014/main" id="{9152A0CC-D62C-4592-B301-1A9AF9A8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4322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9E3E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E3EF"/>
                </a:solidFill>
                <a:latin typeface="Aptos"/>
                <a:ea typeface="Aptos"/>
                <a:cs typeface="Aptos"/>
              </a:rPr>
              <a:t>Glue: USD 0.44 / DPU-hour</a:t>
            </a:r>
          </a:p>
        </p:txBody>
      </p:sp>
      <p:sp>
        <p:nvSpPr>
          <p:cNvPr id="36" name="pill-Firehose: USD 0.029 / GB ingest">
            <a:extLst xmlns:a="http://schemas.openxmlformats.org/drawingml/2006/main">
              <a:ext uri="{FF2B5EF4-FFF2-40B4-BE49-F238E27FC236}">
                <a16:creationId xmlns:a16="http://schemas.microsoft.com/office/drawing/2014/main" id="{CECE9DA0-8E4C-483F-9A48-5080B714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57550"/>
            <a:ext cx="21717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2A3545"/>
            </a:solidFill>
            <a:prstDash val="solid"/>
          </a:ln>
        </p:spPr>
      </p:sp>
      <p:sp>
        <p:nvSpPr>
          <p:cNvPr id="37" name="pill-text-Firehose: USD 0.029 / GB ingest">
            <a:extLst xmlns:a="http://schemas.openxmlformats.org/drawingml/2006/main">
              <a:ext uri="{FF2B5EF4-FFF2-40B4-BE49-F238E27FC236}">
                <a16:creationId xmlns:a16="http://schemas.microsoft.com/office/drawing/2014/main" id="{81D7B864-9B22-4CA1-88FB-9DCC3D43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2422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9E3E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E3EF"/>
                </a:solidFill>
                <a:latin typeface="Aptos"/>
                <a:ea typeface="Aptos"/>
                <a:cs typeface="Aptos"/>
              </a:rPr>
              <a:t>Firehose: USD 0.029 / GB ingest</a:t>
            </a:r>
          </a:p>
        </p:txBody>
      </p:sp>
      <p:sp>
        <p:nvSpPr>
          <p:cNvPr id="38" name="pill-Athena: USD 5 / TB scanned">
            <a:extLst xmlns:a="http://schemas.openxmlformats.org/drawingml/2006/main">
              <a:ext uri="{FF2B5EF4-FFF2-40B4-BE49-F238E27FC236}">
                <a16:creationId xmlns:a16="http://schemas.microsoft.com/office/drawing/2014/main" id="{10194016-4B7B-4C19-ACD5-73B7C183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638550"/>
            <a:ext cx="21717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2A3545"/>
            </a:solidFill>
            <a:prstDash val="solid"/>
          </a:ln>
        </p:spPr>
      </p:sp>
      <p:sp>
        <p:nvSpPr>
          <p:cNvPr id="39" name="pill-text-Athena: USD 5 / TB scanned">
            <a:extLst xmlns:a="http://schemas.openxmlformats.org/drawingml/2006/main">
              <a:ext uri="{FF2B5EF4-FFF2-40B4-BE49-F238E27FC236}">
                <a16:creationId xmlns:a16="http://schemas.microsoft.com/office/drawing/2014/main" id="{9BEE3433-3E10-40F8-BE59-6BB8D37E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70522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9E3E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E3EF"/>
                </a:solidFill>
                <a:latin typeface="Aptos"/>
                <a:ea typeface="Aptos"/>
                <a:cs typeface="Aptos"/>
              </a:rPr>
              <a:t>Athena: USD 5 / TB scanned</a:t>
            </a:r>
          </a:p>
        </p:txBody>
      </p:sp>
      <p:sp>
        <p:nvSpPr>
          <p:cNvPr id="40" name="pill-QuickSight: USD 24 author, USD 3 reader">
            <a:extLst xmlns:a="http://schemas.openxmlformats.org/drawingml/2006/main">
              <a:ext uri="{FF2B5EF4-FFF2-40B4-BE49-F238E27FC236}">
                <a16:creationId xmlns:a16="http://schemas.microsoft.com/office/drawing/2014/main" id="{FA2268D5-E033-4702-8F72-C503B6FF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19550"/>
            <a:ext cx="21717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2A3545"/>
            </a:solidFill>
            <a:prstDash val="solid"/>
          </a:ln>
        </p:spPr>
      </p:sp>
      <p:sp>
        <p:nvSpPr>
          <p:cNvPr id="41" name="pill-text-QuickSight: USD 24 author, USD 3 reader">
            <a:extLst xmlns:a="http://schemas.openxmlformats.org/drawingml/2006/main">
              <a:ext uri="{FF2B5EF4-FFF2-40B4-BE49-F238E27FC236}">
                <a16:creationId xmlns:a16="http://schemas.microsoft.com/office/drawing/2014/main" id="{85760552-AC0E-4431-A9D5-BEEAAFEB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08622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9E3E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E3EF"/>
                </a:solidFill>
                <a:latin typeface="Aptos"/>
                <a:ea typeface="Aptos"/>
                <a:cs typeface="Aptos"/>
              </a:rPr>
              <a:t>QuickSight: USD 24 author, USD 3 reader</a:t>
            </a:r>
          </a:p>
        </p:txBody>
      </p:sp>
      <p:sp>
        <p:nvSpPr>
          <p:cNvPr id="42" name="pill-Redshift: starts USD 1.50 / hour">
            <a:extLst xmlns:a="http://schemas.openxmlformats.org/drawingml/2006/main">
              <a:ext uri="{FF2B5EF4-FFF2-40B4-BE49-F238E27FC236}">
                <a16:creationId xmlns:a16="http://schemas.microsoft.com/office/drawing/2014/main" id="{8D5D4738-A4C6-4B0D-BF7F-79FC3BFF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400550"/>
            <a:ext cx="21717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2A3545"/>
            </a:solidFill>
            <a:prstDash val="solid"/>
          </a:ln>
        </p:spPr>
      </p:sp>
      <p:sp>
        <p:nvSpPr>
          <p:cNvPr id="43" name="pill-text-Redshift: starts USD 1.50 / hour">
            <a:extLst xmlns:a="http://schemas.openxmlformats.org/drawingml/2006/main">
              <a:ext uri="{FF2B5EF4-FFF2-40B4-BE49-F238E27FC236}">
                <a16:creationId xmlns:a16="http://schemas.microsoft.com/office/drawing/2014/main" id="{FAA9E2A0-9DA0-4AEB-A5E5-E5CD83FF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46722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9E3E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E3EF"/>
                </a:solidFill>
                <a:latin typeface="Aptos"/>
                <a:ea typeface="Aptos"/>
                <a:cs typeface="Aptos"/>
              </a:rPr>
              <a:t>Redshift: starts USD 1.50 / hour</a:t>
            </a:r>
          </a:p>
        </p:txBody>
      </p:sp>
      <p:sp>
        <p:nvSpPr>
          <p:cNvPr id="44" name="pill-S3: USD 0.023 / GB-month standard">
            <a:extLst xmlns:a="http://schemas.openxmlformats.org/drawingml/2006/main">
              <a:ext uri="{FF2B5EF4-FFF2-40B4-BE49-F238E27FC236}">
                <a16:creationId xmlns:a16="http://schemas.microsoft.com/office/drawing/2014/main" id="{11D0E575-9ED7-4CA3-A020-ADD865D0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781550"/>
            <a:ext cx="2171700" cy="304800"/>
          </a:xfrm>
          <a:prstGeom xmlns:a="http://schemas.openxmlformats.org/drawingml/2006/main" prst="roundRect">
            <a:avLst>
              <a:gd name="adj" fmla="val 37500"/>
            </a:avLst>
          </a:prstGeom>
          <a:solidFill xmlns:a="http://schemas.openxmlformats.org/drawingml/2006/main">
            <a:srgbClr val="111820"/>
          </a:solidFill>
          <a:ln xmlns:a="http://schemas.openxmlformats.org/drawingml/2006/main" w="9525">
            <a:solidFill>
              <a:srgbClr val="2A3545"/>
            </a:solidFill>
            <a:prstDash val="solid"/>
          </a:ln>
        </p:spPr>
      </p:sp>
      <p:sp>
        <p:nvSpPr>
          <p:cNvPr id="45" name="pill-text-S3: USD 0.023 / GB-month standard">
            <a:extLst xmlns:a="http://schemas.openxmlformats.org/drawingml/2006/main">
              <a:ext uri="{FF2B5EF4-FFF2-40B4-BE49-F238E27FC236}">
                <a16:creationId xmlns:a16="http://schemas.microsoft.com/office/drawing/2014/main" id="{AEDCB9BA-4F1D-4E57-B4DF-046348C2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848225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D9E3E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9E3EF"/>
                </a:solidFill>
                <a:latin typeface="Aptos"/>
                <a:ea typeface="Aptos"/>
                <a:cs typeface="Aptos"/>
              </a:rPr>
              <a:t>S3: USD 0.023 / GB-month standard</a:t>
            </a:r>
          </a:p>
        </p:txBody>
      </p:sp>
      <p:sp>
        <p:nvSpPr>
          <p:cNvPr id="46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E5970F74-DE5B-45FC-BEB6-5B301E5A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05550"/>
            <a:ext cx="847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98695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798695"/>
                </a:solidFill>
                <a:latin typeface="Aptos"/>
                <a:ea typeface="Aptos"/>
                <a:cs typeface="Aptos"/>
              </a:rPr>
              <a:t>Sources: official AWS pricing pages. Full formulas, assumptions, and service-level calculation table are in the PDF cost appendix.</a:t>
            </a:r>
          </a:p>
        </p:txBody>
      </p:sp>
    </p:spTree>
    <p:extLst>
      <p:ext uri="{BB962C8B-B14F-4D97-AF65-F5344CB8AC3E}">
        <p14:creationId xmlns:p14="http://schemas.microsoft.com/office/powerpoint/2010/main" val="9969773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E238A48-E564-4A12-A16E-33229AEA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DELIVERY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200C253-2B54-47B5-AE07-86A60EF0A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Nine-month delivery in three phases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DF7982D-8C4D-4A3F-A05A-2789B6FF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474720" cy="3383280"/>
          </a:xfrm>
          <a:prstGeom xmlns:a="http://schemas.openxmlformats.org/drawingml/2006/main" prst="roundRect">
            <a:avLst>
              <a:gd name="adj" fmla="val 243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9E58C2F-AC5F-4918-89AC-ECC6DEE46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96596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Phase 1 · Foundation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4B67E3B5-B6CA-4E6C-8EFD-9AA14BC55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32304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Months 1–3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B7410B09-221C-404E-A866-027A04BB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01752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AWS accounts, Terraform baseline, Dev live, DMS migration, Catalog + MWAA, first batch pipelines.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94C66EDE-B777-4654-813A-212B305D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1737360"/>
            <a:ext cx="3474720" cy="3383280"/>
          </a:xfrm>
          <a:prstGeom xmlns:a="http://schemas.openxmlformats.org/drawingml/2006/main" prst="roundRect">
            <a:avLst>
              <a:gd name="adj" fmla="val 243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74FEA85-50D2-4997-ACEF-F4CDC10D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96596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8A6CF6"/>
                </a:solidFill>
                <a:latin typeface="Calibri"/>
                <a:ea typeface="Calibri"/>
                <a:cs typeface="Calibri"/>
              </a:rPr>
              <a:t>Phase 2 · Build &amp; Validate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2AA2822-3AB2-4E4E-922E-0985B3BE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432304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Months 4–6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96D7CA3F-8860-4E19-B1AA-10F2C3AD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834640"/>
            <a:ext cx="301752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Pre-Prod live, Kinesis streaming, Glue DQ + Lake Formation, QuickSight replacing Excel, first ML model.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7DD6A566-276A-48CC-A5B7-44975A040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296" y="1737360"/>
            <a:ext cx="3474720" cy="3383280"/>
          </a:xfrm>
          <a:prstGeom xmlns:a="http://schemas.openxmlformats.org/drawingml/2006/main" prst="roundRect">
            <a:avLst>
              <a:gd name="adj" fmla="val 2432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F7206F50-4D2D-43F8-B583-9C8F2EDBE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965960"/>
            <a:ext cx="3017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Phase 3 · Cutover &amp; ML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841B3B2-85C4-4668-99E8-95364584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432304"/>
            <a:ext cx="3017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Months 7–9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B17314-8A89-424A-8DB8-92DA8DEE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834640"/>
            <a:ext cx="301752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Production live, colocation decommissioned, recommendations + dynamic pricing, security audit, handover.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0F4A855-D73A-43A8-8B5A-7B621342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4068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i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Key risks mitigated: parallel DMS CDC before cutover · open-source for lock-in · DPIA before any personal data.</a:t>
            </a:r>
          </a:p>
        </p:txBody>
      </p:sp>
    </p:spTree>
    <p:extLst>
      <p:ext uri="{BB962C8B-B14F-4D97-AF65-F5344CB8AC3E}">
        <p14:creationId xmlns:p14="http://schemas.microsoft.com/office/powerpoint/2010/main" val="20788275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F0F7BF-357F-46DE-BC94-1F49FBC2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5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7144D56-D12A-4343-BD6E-92D50D24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What it unlocks — ML use cases on real data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2E16DC0-0EA0-489B-ABB8-30D853233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3474720" cy="3566160"/>
          </a:xfrm>
          <a:prstGeom xmlns:a="http://schemas.openxmlformats.org/drawingml/2006/main" prst="roundRect">
            <a:avLst>
              <a:gd name="adj" fmla="val 236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019BEE5-FAB5-41F1-BE51-C7424DAC5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993392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Demand Forecasting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E178227D-E73B-4633-9EB1-E76CA592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697480"/>
            <a:ext cx="29718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SageMaker DeepAR on sales + weather + events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A7540500-FA0E-4FD1-A9D1-F2088A63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26280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−30% stockouts · −20% overstock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4E41513-3C40-4572-BAE6-8709F319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1688" y="1737360"/>
            <a:ext cx="3474720" cy="3566160"/>
          </a:xfrm>
          <a:prstGeom xmlns:a="http://schemas.openxmlformats.org/drawingml/2006/main" prst="roundRect">
            <a:avLst>
              <a:gd name="adj" fmla="val 236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0EF4782-D9E1-4202-90DB-225BFCAFF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1993392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Product Recommendations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FD978B26-7877-4116-9051-D5C27565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697480"/>
            <a:ext cx="29718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Collaborative filtering, served at ≤5ms via DynamoDB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783C6FB-642F-4C2F-95DC-A9776D77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4526280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+12–18% average order value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1237148-C9FC-480C-843A-4AB34DF41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296" y="1737360"/>
            <a:ext cx="3474720" cy="3566160"/>
          </a:xfrm>
          <a:prstGeom xmlns:a="http://schemas.openxmlformats.org/drawingml/2006/main" prst="roundRect">
            <a:avLst>
              <a:gd name="adj" fmla="val 236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8A20581C-0531-4BB4-AB20-6CC84506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1993392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Sentiment Merchandising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2CB2AA0-CFCE-4A7A-AA35-3545473A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2697480"/>
            <a:ext cx="297180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45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Comprehend NLP on reviews, alerts to buyers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7B68124-7266-46EA-9BC3-DBF75632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328" y="4526280"/>
            <a:ext cx="2971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8A6CF6"/>
                </a:solidFill>
                <a:latin typeface="Calibri"/>
                <a:ea typeface="Calibri"/>
                <a:cs typeface="Calibri"/>
              </a:rPr>
              <a:t>2–3 weeks' earlier warning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B4248B0E-AE44-4AD0-9016-0105B3E4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i="1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Plus dynamic pricing (+3–7% margin) and return-rate optimisation (−10–15% processing cost).</a:t>
            </a:r>
          </a:p>
        </p:txBody>
      </p:sp>
    </p:spTree>
    <p:extLst>
      <p:ext uri="{BB962C8B-B14F-4D97-AF65-F5344CB8AC3E}">
        <p14:creationId xmlns:p14="http://schemas.microsoft.com/office/powerpoint/2010/main" val="1124199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E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F39D247-FB22-4FDE-A97C-96540A95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20624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300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SECTION 6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62B0775-A3F9-4BA7-9A98-27ACF4D66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676656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platform that keeps compounding value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18A246D-9343-4372-8929-48BE6101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37360"/>
            <a:ext cx="10972800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BAF6590-10C1-4CA4-B7FF-DE15396B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920240"/>
            <a:ext cx="3291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Short-term · 10–18 mo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2C3F2881-9357-48C1-BA34-02E2A4DDA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920240"/>
            <a:ext cx="6949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5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Real-time personalisation · supply-chain smart labels · advanced data-quality suites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9C4D3CA-AC8E-48E2-B20C-B0A025A40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18688"/>
            <a:ext cx="10972800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1FE9C99-E80E-469C-AD97-5B8D1A4C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01568"/>
            <a:ext cx="3291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8A6CF6"/>
                </a:solidFill>
                <a:latin typeface="Calibri"/>
                <a:ea typeface="Calibri"/>
                <a:cs typeface="Calibri"/>
              </a:rPr>
              <a:t>Medium-term · 18–30 mo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B789598-390D-4A0E-A1B4-388731EB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401568"/>
            <a:ext cx="6949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5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Bedrock virtual shopping assistant · external data monetisation · data mesh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21DF04D-CFE7-4434-986F-C044A5EE6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00016"/>
            <a:ext cx="10972800" cy="1298448"/>
          </a:xfrm>
          <a:prstGeom xmlns:a="http://schemas.openxmlformats.org/drawingml/2006/main" prst="roundRect">
            <a:avLst>
              <a:gd name="adj" fmla="val 6338"/>
            </a:avLst>
          </a:prstGeom>
          <a:solidFill xmlns:a="http://schemas.openxmlformats.org/drawingml/2006/main">
            <a:srgbClr val="161C26"/>
          </a:solidFill>
          <a:ln xmlns:a="http://schemas.openxmlformats.org/drawingml/2006/main" w="12700">
            <a:solidFill>
              <a:srgbClr val="2A3545"/>
            </a:solidFill>
            <a:prstDash val="solid"/>
          </a:ln>
          <a:effectLst xmlns:a="http://schemas.openxmlformats.org/drawingml/2006/main">
            <a:outerShdw blurRad="114300" dist="38100" dir="5400000" sx="100000" sy="100000" kx="0" ky="0" algn="bl" rotWithShape="0">
              <a:srgbClr val="000000">
                <a:alpha val="35000"/>
              </a:srgbClr>
            </a:outerShdw>
          </a:effectLst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C8C19642-8362-4361-801D-5046CC380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82896"/>
            <a:ext cx="32918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4FD08A"/>
                </a:solidFill>
                <a:latin typeface="Calibri"/>
                <a:ea typeface="Calibri"/>
                <a:cs typeface="Calibri"/>
              </a:rPr>
              <a:t>Long-term · 30+ mo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6137B0A-52A8-4F0E-A42E-C3BA79762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882896"/>
            <a:ext cx="69494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0000"/>
              </a:lnSpc>
              <a:buNone/>
            </a:pPr>
            <a:r>
              <a:rPr sz="155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AI-agent ecosystem · federated ML across partners · carbon-neutrality roadmap</a:t>
            </a:r>
          </a:p>
        </p:txBody>
      </p:sp>
    </p:spTree>
    <p:extLst>
      <p:ext uri="{BB962C8B-B14F-4D97-AF65-F5344CB8AC3E}">
        <p14:creationId xmlns:p14="http://schemas.microsoft.com/office/powerpoint/2010/main" val="226776170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896149e80c2a40c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6295FA-D05D-449A-8FE5-5A4C7B55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109728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rgbClr val="2E9BFF"/>
                </a:solidFill>
                <a:latin typeface="Calibri"/>
                <a:ea typeface="Calibri"/>
                <a:cs typeface="Calibri"/>
              </a:rPr>
              <a:t>Explore the live platform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3B1B913-FC13-4D74-AF9E-50394FB3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10312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Manga DataHub — interactive proposal</a:t>
            </a:r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AF6865D6-F567-441C-9B7C-B82739712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6324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D6E2F2"/>
                </a:solidFill>
                <a:latin typeface="Calibri"/>
                <a:ea typeface="Calibri"/>
                <a:cs typeface="Calibri"/>
              </a:rPr>
              <a:t>Clickable high- and low-level architecture, data sources, requirements coverage, and ML use cases.</a:t>
            </a:r>
          </a:p>
        </p:txBody>
      </p:sp>
      <p:sp>
        <p:nvSpPr>
          <p:cNvPr id="5" name="Text 3">
            <a:hlinkClick xmlns:r="http://schemas.openxmlformats.org/officeDocument/2006/relationships" xmlns:a="http://schemas.openxmlformats.org/drawingml/2006/main" r:id="Rfc7faa80c5e04678"/>
            <a:extLst xmlns:a="http://schemas.openxmlformats.org/drawingml/2006/main">
              <a:ext uri="{FF2B5EF4-FFF2-40B4-BE49-F238E27FC236}">
                <a16:creationId xmlns:a16="http://schemas.microsoft.com/office/drawing/2014/main" id="{73980F81-C257-44E7-9D56-34C252CA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49040"/>
            <a:ext cx="105156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 u="sng">
                <a:solidFill>
                  <a:srgbClr val="4FD08A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612f8517baa4c31"/>
              </a:rPr>
              <a:t>mangacloud-khaki.vercel.app</a:t>
            </a:r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FF8A5F1-B97F-491C-B1BE-3DDAD2C8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120640"/>
            <a:ext cx="109728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Thank you — we welcome your questions.</a:t>
            </a:r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BE35CD7-03C8-4976-A4EB-2371AD58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852160"/>
            <a:ext cx="109728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>
                <a:solidFill>
                  <a:srgbClr val="9FB0C3"/>
                </a:solidFill>
                <a:latin typeface="Calibri"/>
                <a:ea typeface="Calibri"/>
                <a:cs typeface="Calibri"/>
              </a:rPr>
              <a:t>CloudCore Solutions · IE University MBD-EN2025</a:t>
            </a:r>
          </a:p>
        </p:txBody>
      </p:sp>
    </p:spTree>
    <p:extLst>
      <p:ext uri="{BB962C8B-B14F-4D97-AF65-F5344CB8AC3E}">
        <p14:creationId xmlns:p14="http://schemas.microsoft.com/office/powerpoint/2010/main" val="44216567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2026-06-17T14:15:43.2770000Z</dcterms:created>
  <dcterms:modified xsi:type="dcterms:W3CDTF">2026-06-17T14:15:43.2770000Z</dcterms:modified>
</coreProperties>
</file>