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f161d948d3744ba" /><Relationship Type="http://schemas.openxmlformats.org/officeDocument/2006/relationships/extended-properties" Target="/docProps/app.xml" Id="R701e1568e12b4b18" /><Relationship Type="http://schemas.openxmlformats.org/officeDocument/2006/relationships/officeDocument" Target="/ppt/presentation.xml" Id="R74fdf2ace1b340c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23133af7c074e5f"/>
  </p:sldMasterIdLst>
  <p:notesMasterIdLst>
    <p:notesMasterId xmlns:r="http://schemas.openxmlformats.org/officeDocument/2006/relationships" r:id="R65e3095dd88947c5"/>
  </p:notesMasterIdLst>
  <p:sldIdLst>
    <p:sldId xmlns:r="http://schemas.openxmlformats.org/officeDocument/2006/relationships" id="256" r:id="R2cecc092c8db48cd"/>
    <p:sldId xmlns:r="http://schemas.openxmlformats.org/officeDocument/2006/relationships" id="257" r:id="R811a7e283036431f"/>
    <p:sldId xmlns:r="http://schemas.openxmlformats.org/officeDocument/2006/relationships" id="258" r:id="R17d75f6320f14ada"/>
    <p:sldId xmlns:r="http://schemas.openxmlformats.org/officeDocument/2006/relationships" id="259" r:id="R37a6722a7e744724"/>
    <p:sldId xmlns:r="http://schemas.openxmlformats.org/officeDocument/2006/relationships" id="260" r:id="Rf6401ceef80e401d"/>
    <p:sldId xmlns:r="http://schemas.openxmlformats.org/officeDocument/2006/relationships" id="261" r:id="Rdd9c7f5aea8b426c"/>
    <p:sldId xmlns:r="http://schemas.openxmlformats.org/officeDocument/2006/relationships" id="262" r:id="Rf07f5443b579494b"/>
    <p:sldId xmlns:r="http://schemas.openxmlformats.org/officeDocument/2006/relationships" id="263" r:id="Re0116597d78e429d"/>
    <p:sldId xmlns:r="http://schemas.openxmlformats.org/officeDocument/2006/relationships" id="264" r:id="R60fdad60f70d4ad3"/>
    <p:sldId xmlns:r="http://schemas.openxmlformats.org/officeDocument/2006/relationships" id="265" r:id="Rc65d707cdd794255"/>
    <p:sldId xmlns:r="http://schemas.openxmlformats.org/officeDocument/2006/relationships" id="266" r:id="R98cc0aebc8b64230"/>
    <p:sldId xmlns:r="http://schemas.openxmlformats.org/officeDocument/2006/relationships" id="267" r:id="R538e3e03222140bd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e930fb8fd064843" /><Relationship Type="http://schemas.openxmlformats.org/officeDocument/2006/relationships/slideMaster" Target="/ppt/slideMasters/slideMaster1.xml" Id="R523133af7c074e5f" /><Relationship Type="http://schemas.openxmlformats.org/officeDocument/2006/relationships/notesMaster" Target="/ppt/notesMasters/notesMaster1.xml" Id="R65e3095dd88947c5" /><Relationship Type="http://schemas.openxmlformats.org/officeDocument/2006/relationships/presProps" Target="/ppt/presProps.xml" Id="Ra7b56fc4aa444be3" /><Relationship Type="http://schemas.openxmlformats.org/officeDocument/2006/relationships/tableStyles" Target="/ppt/tableStyles.xml" Id="R45bc84b77a224651" /><Relationship Type="http://schemas.openxmlformats.org/officeDocument/2006/relationships/slide" Target="/ppt/slides/slide1.xml" Id="R2cecc092c8db48cd" /><Relationship Type="http://schemas.openxmlformats.org/officeDocument/2006/relationships/slide" Target="/ppt/slides/slide2.xml" Id="R811a7e283036431f" /><Relationship Type="http://schemas.openxmlformats.org/officeDocument/2006/relationships/slide" Target="/ppt/slides/slide3.xml" Id="R17d75f6320f14ada" /><Relationship Type="http://schemas.openxmlformats.org/officeDocument/2006/relationships/slide" Target="/ppt/slides/slide4.xml" Id="R37a6722a7e744724" /><Relationship Type="http://schemas.openxmlformats.org/officeDocument/2006/relationships/slide" Target="/ppt/slides/slide5.xml" Id="Rf6401ceef80e401d" /><Relationship Type="http://schemas.openxmlformats.org/officeDocument/2006/relationships/slide" Target="/ppt/slides/slide6.xml" Id="Rdd9c7f5aea8b426c" /><Relationship Type="http://schemas.openxmlformats.org/officeDocument/2006/relationships/slide" Target="/ppt/slides/slide7.xml" Id="Rf07f5443b579494b" /><Relationship Type="http://schemas.openxmlformats.org/officeDocument/2006/relationships/slide" Target="/ppt/slides/slide8.xml" Id="Re0116597d78e429d" /><Relationship Type="http://schemas.openxmlformats.org/officeDocument/2006/relationships/slide" Target="/ppt/slides/slide9.xml" Id="R60fdad60f70d4ad3" /><Relationship Type="http://schemas.openxmlformats.org/officeDocument/2006/relationships/slide" Target="/ppt/slides/slide10.xml" Id="Rc65d707cdd794255" /><Relationship Type="http://schemas.openxmlformats.org/officeDocument/2006/relationships/slide" Target="/ppt/slides/slide11.xml" Id="R98cc0aebc8b64230" /><Relationship Type="http://schemas.openxmlformats.org/officeDocument/2006/relationships/slide" Target="/ppt/slides/slide12.xml" Id="R538e3e03222140b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baa4e80ed2a4a5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2c516c0ce8f4561" /><Relationship Type="http://schemas.openxmlformats.org/officeDocument/2006/relationships/notesMaster" Target="/ppt/notesMasters/notesMaster1.xml" Id="Re7516e9e2b2c458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488d92c5d8a451a" /><Relationship Type="http://schemas.openxmlformats.org/officeDocument/2006/relationships/notesMaster" Target="/ppt/notesMasters/notesMaster1.xml" Id="Rcf25d7c14f5744f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1b4331b8eaa4641" /><Relationship Type="http://schemas.openxmlformats.org/officeDocument/2006/relationships/notesMaster" Target="/ppt/notesMasters/notesMaster1.xml" Id="Race39ba301a34c1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5197fd5b0f3473a" /><Relationship Type="http://schemas.openxmlformats.org/officeDocument/2006/relationships/notesMaster" Target="/ppt/notesMasters/notesMaster1.xml" Id="Re3fc978ab3794b0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08956dc259a448e" /><Relationship Type="http://schemas.openxmlformats.org/officeDocument/2006/relationships/notesMaster" Target="/ppt/notesMasters/notesMaster1.xml" Id="Re43c5b4c3eca4b2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63ddaf85a314b96" /><Relationship Type="http://schemas.openxmlformats.org/officeDocument/2006/relationships/notesMaster" Target="/ppt/notesMasters/notesMaster1.xml" Id="Ra67030bc2ebf446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0361de970f44cc8" /><Relationship Type="http://schemas.openxmlformats.org/officeDocument/2006/relationships/notesMaster" Target="/ppt/notesMasters/notesMaster1.xml" Id="R4d67ad31242d493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7a0a03d8bdc4039" /><Relationship Type="http://schemas.openxmlformats.org/officeDocument/2006/relationships/notesMaster" Target="/ppt/notesMasters/notesMaster1.xml" Id="R2e9b1b9aceea4e15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cb9acda4884e44f2" /><Relationship Type="http://schemas.openxmlformats.org/officeDocument/2006/relationships/notesMaster" Target="/ppt/notesMasters/notesMaster1.xml" Id="R34bc2790408e4371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d1d85758d8364176" /><Relationship Type="http://schemas.openxmlformats.org/officeDocument/2006/relationships/notesMaster" Target="/ppt/notesMasters/notesMaster1.xml" Id="Reec3a7cb3fd5407c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1408dc453bda4779" /><Relationship Type="http://schemas.openxmlformats.org/officeDocument/2006/relationships/notesMaster" Target="/ppt/notesMasters/notesMaster1.xml" Id="R42b64199f94e4c0f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446e5ff799824e89" /><Relationship Type="http://schemas.openxmlformats.org/officeDocument/2006/relationships/notesMaster" Target="/ppt/notesMasters/notesMaster1.xml" Id="Ra0cb50043c41496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SPEAKER: Andrea (open for the team). 'Good morning — we're CloudCore Solutions, responding to Manga's RFP. Over the next ~12 minutes the six of us will walk you through the Manga DataHub: why Manga needs it, the architecture, what it costs, and what it unlocks.' Keep it to 20 seconds, then hand to the problem.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SPEAKER: Andrea. Anchor the pain in numbers: €280M revenue but only 3.5% growth and 1.2% online — and they spend ~2x competitors for half the output. Root cause is architectural: daily cron ETL, siloed pipelines, Excel BI, unclear GDPR. This is what we're fixing.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SPEAKER: Andrea (then hand to Mateus). Three pillars: Unify, Accelerate, Enable. Stress open-source tooling — this directly answers CTO Javier's lock-in fear. Hand over: 'Mateus will show how the architecture delivers this.'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SPEAKER: Andrea or Mateus (brief). One line each: we mapped the proposal to the five named decision-makers. The CFO gets cost, the CTO gets no lock-in, InfoSec gets GDPR-by-design. Don't read all five — highlight CTO and CFO, then move 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SPEAKER: Mateus. The conceptual design, no vendor names yet: five layers — Sources, Ingestion, three-zone Lakehouse storage, Processing, Consumption — with Security &amp; Governance spanning everything, and a clean split between streaming and batch. Call out the four principles on the right. Hand to Tina for the AWS mapping.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SPEAKER: Tina. Same architecture, now with AWS services. Kinesis+Firehose for streaming, Glue for batch, S3 three-zone lakehouse (Bronze/Silver/Gold), Redshift + DynamoDB for serving, and governance via Lake Formation + Macie. Every box maps to an R1–R8 requirement — which Ricardo will show next.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SPEAKER: Ricardo. We don't just claim coverage - the written proposal has a full traceability table plus an Operating Evidence Appendix. Hit highlights: R3 automation with MWAA replacing cron; R4 security and recovery targets with Lake Formation, Macie, KMS, and explicit RPO/RTO; R5 concrete Glue Data Quality rules; R6 cost assumptions; and R8 carbon metrics. Segue to the cost numbers.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SPEAKER: Tina (CFO-facing). Replacing fixed colocation with AWS pay-per-use cuts annual infrastructure cost by about 57% - from EUR 1.30M to EUR 0.56M, about EUR 0.74M saved per year. The proposal now shows the assumptions behind that claim: fixed infrastructure, storage and backup, analytics serving, and operational overhead, validated monthly with Cost Explorer, CUR, and FinOps tags. Pause on the 57%.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SPEAKER: Ricardo. Phased, controlled-risk delivery — Marta's priority. Production cutover in month 7, full handover by month 9. Risks are explicitly mitigated: DMS runs in parallel before cutover, open-source addresses lock-in, a DPIA precedes any personal data. Hand to Luka for use cases.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SPEAKER: Luka. Three end-to-end use cases on Manga's actual data sources, each ingestion-to-outcome: demand forecasting (−30% stockouts), recommendations (+12–18% AOV), sentiment merchandising (2–3 weeks earlier). Two more extend the same platform. These directly attack the 1.2% online growth problem. Hand to Nicklas.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SPEAKER: Nicklas. The architecture is extensible by design. Short-term reuses existing infra for real-time personalisation and smart labels; medium-term adds a Bedrock shopping assistant and data monetisation; long-term, an AI-agent ecosystem and carbon-neutrality. Note the RFP explicitly asked for AI-agent data exposure — we have a path.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SPEAKER: Nicklas (close, all on stage for Q&amp;A). Invite them to open the live platform while we take questions. Anticipated Q&amp;A ownership: cost assumptions - Tina; security/GDPR and lifecycle controls - Ricardo/Mateus; RTO/RPO and HA/DR - Ricardo; sustainability metrics - Nicklas; vendor lock-in - Mateus; timeline feasibility - Ricardo.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f5e20ef3b3a4a91" 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a6f3f361a844ce0" /><Relationship Type="http://schemas.openxmlformats.org/officeDocument/2006/relationships/slideLayout" Target="/ppt/slideLayouts/slideLayout1.xml" Id="R10816a1a122d41c4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0816a1a122d41c4"/>
  </p:sldLayoutIdLst>
  <p:hf sldNum="0" hdr="0" ftr="0" dt="0"/>
  <p:txStyles>
    <p:titleStyle>
      <a:lvl1pPr xmlns:a="http://schemas.openxmlformats.org/drawingml/2006/main" algn="ctr"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>
        <a:spcBef>
          <a:spcPts val="0"/>
        </a:spcBef>
        <a:buChar char="•"/>
        <a:defRPr sz="3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>
        <a:spcBef>
          <a:spcPts val="0"/>
        </a:spcBef>
        <a:buChar char="–"/>
        <a:defRPr sz="2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spcBef>
          <a:spcPts val="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spcBef>
          <a:spcPts val="0"/>
        </a:spcBef>
        <a:buChar char="–"/>
        <a:defRPr sz="20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spcBef>
          <a:spcPts val="0"/>
        </a:spcBef>
        <a:buChar char="»"/>
        <a:defRPr sz="20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spcBef>
          <a:spcPts val="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spcBef>
          <a:spcPts val="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spcBef>
          <a:spcPts val="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spcBef>
          <a:spcPts val="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af2e92820ce4cf1" /><Relationship Type="http://schemas.openxmlformats.org/officeDocument/2006/relationships/image" Target="/ppt/media/image.png" Id="R7c8f574f5bac401d" /><Relationship Type="http://schemas.openxmlformats.org/officeDocument/2006/relationships/notesSlide" Target="/ppt/notesSlides/notesSlide1.xml" Id="R80a07d1e39554d1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9f0631617d74212" /><Relationship Type="http://schemas.openxmlformats.org/officeDocument/2006/relationships/notesSlide" Target="/ppt/notesSlides/notesSlide2.xml" Id="R11466e68157b48c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c82bbb9ee3e483a" /><Relationship Type="http://schemas.openxmlformats.org/officeDocument/2006/relationships/notesSlide" Target="/ppt/notesSlides/notesSlide3.xml" Id="R267fc51a4a024da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25c841c604a4219" /><Relationship Type="http://schemas.openxmlformats.org/officeDocument/2006/relationships/notesSlide" Target="/ppt/notesSlides/notesSlide4.xml" Id="Rac165198bab248c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f6e246b04ba4e85" /><Relationship Type="http://schemas.openxmlformats.org/officeDocument/2006/relationships/image" Target="/ppt/media/image.jpeg" Id="R38d6832982b44d4b" /><Relationship Type="http://schemas.openxmlformats.org/officeDocument/2006/relationships/notesSlide" Target="/ppt/notesSlides/notesSlide5.xml" Id="R812609dfaa7244a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9b4e70019cd4ae0" /><Relationship Type="http://schemas.openxmlformats.org/officeDocument/2006/relationships/image" Target="/ppt/media/image2.jpeg" Id="R8e5fff791a6f426f" /><Relationship Type="http://schemas.openxmlformats.org/officeDocument/2006/relationships/notesSlide" Target="/ppt/notesSlides/notesSlide6.xml" Id="Rcf60c749953a4cd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79ce3bbea9e4547" /><Relationship Type="http://schemas.openxmlformats.org/officeDocument/2006/relationships/notesSlide" Target="/ppt/notesSlides/notesSlide7.xml" Id="R1e219941d5874b3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e374976180e442d" /><Relationship Type="http://schemas.openxmlformats.org/officeDocument/2006/relationships/image" Target="/ppt/media/image2.png" Id="R7928a1c714e34661" /><Relationship Type="http://schemas.openxmlformats.org/officeDocument/2006/relationships/notesSlide" Target="/ppt/notesSlides/notesSlide8.xml" Id="R92ca76af54144a2b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6f8bc706f264037" /><Relationship Type="http://schemas.openxmlformats.org/officeDocument/2006/relationships/notesSlide" Target="/ppt/notesSlides/notesSlide9.xml" Id="Rc30c33578fc44cdd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69289e34e2643ef" /><Relationship Type="http://schemas.openxmlformats.org/officeDocument/2006/relationships/notesSlide" Target="/ppt/notesSlides/notesSlide10.xml" Id="Re41d8c29f48a42ea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fe0faf3d84f4fd3" /><Relationship Type="http://schemas.openxmlformats.org/officeDocument/2006/relationships/notesSlide" Target="/ppt/notesSlides/notesSlide11.xml" Id="Rc55c16ed8ad74cde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057f67f88bf4074" /><Relationship Type="http://schemas.openxmlformats.org/officeDocument/2006/relationships/image" Target="/ppt/media/image3.png" Id="Rec8341efc87c49b0" /><Relationship Type="http://schemas.openxmlformats.org/officeDocument/2006/relationships/hyperlink" Target="https://mangacloud-khaki.vercel.app/" TargetMode="External" Id="R6d2e4a4ed5484d06" /><Relationship Type="http://schemas.openxmlformats.org/officeDocument/2006/relationships/hyperlink" Target="https://mangacloud-khaki.vercel.app/" TargetMode="External" Id="R2b817a7f5d4449dd" /><Relationship Type="http://schemas.openxmlformats.org/officeDocument/2006/relationships/notesSlide" Target="/ppt/notesSlides/notesSlide12.xml" Id="R8fcb90b3f6b049df" /></Relationships>
</file>

<file path=ppt/slides/slide1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7c8f574f5bac401d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E5B1E4F2-F429-4A09-A71E-3DD0C1F11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371600"/>
            <a:ext cx="100584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 spc="400">
                <a:solidFill>
                  <a:srgbClr val="CFE0F5"/>
                </a:solidFill>
                <a:latin typeface="Calibri"/>
                <a:ea typeface="Calibri"/>
                <a:cs typeface="Calibri"/>
              </a:rPr>
              <a:t>CLOUDCORE SOLUTIONS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73A742DE-F057-4F56-9356-CB5109FC9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965960"/>
            <a:ext cx="10972800" cy="11887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6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Manga DataHub</a:t>
            </a:r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695A9D96-8F32-4316-A63E-CB2A2B7E9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200400"/>
            <a:ext cx="1051560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200">
                <a:solidFill>
                  <a:srgbClr val="D6E2F2"/>
                </a:solidFill>
                <a:latin typeface="Calibri"/>
                <a:ea typeface="Calibri"/>
                <a:cs typeface="Calibri"/>
              </a:rPr>
              <a:t>Migration &amp; modernisation of Manga's data architecture to the cloud</a:t>
            </a:r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00D41472-B2FE-42B5-98FB-7AEF74A52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749040"/>
            <a:ext cx="10515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i="1">
                <a:solidFill>
                  <a:srgbClr val="AFC2DA"/>
                </a:solidFill>
                <a:latin typeface="Calibri"/>
                <a:ea typeface="Calibri"/>
                <a:cs typeface="Calibri"/>
              </a:rPr>
              <a:t>A cloud-native AWS data lakehouse — response to the RFP</a:t>
            </a:r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E2F2E4FA-C59F-4019-8F47-1945F9DA8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715000"/>
            <a:ext cx="1097280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lnSpc>
                <a:spcPct val="120000"/>
              </a:lnSpc>
              <a:buNone/>
            </a:pPr>
            <a:r>
              <a:rPr sz="1400">
                <a:solidFill>
                  <a:srgbClr val="CFE0F5"/>
                </a:solidFill>
                <a:latin typeface="Calibri"/>
                <a:ea typeface="Calibri"/>
                <a:cs typeface="Calibri"/>
              </a:rPr>
              <a:t>Andrea Alarcón Valles · Mateus Carneiro · Tina Jannasch · Ricardo Liévano Pedroza · Luka Tcheishvili · Nicklas Urban</a:t>
            </a:r>
          </a:p>
          <a:p xmlns:a="http://schemas.openxmlformats.org/drawingml/2006/main">
            <a:pPr marL="0" indent="0">
              <a:lnSpc>
                <a:spcPct val="120000"/>
              </a:lnSpc>
              <a:buNone/>
            </a:pPr>
            <a:r>
              <a:rPr sz="1300">
                <a:solidFill>
                  <a:srgbClr val="9FB0C3"/>
                </a:solidFill>
                <a:latin typeface="Calibri"/>
                <a:ea typeface="Calibri"/>
                <a:cs typeface="Calibri"/>
              </a:rPr>
              <a:t>IE University · MBD-EN2025 · Data Analytics in the Cloud · Group Work Option B</a:t>
            </a:r>
          </a:p>
        </p:txBody>
      </p:sp>
    </p:spTree>
    <p:extLst>
      <p:ext uri="{BB962C8B-B14F-4D97-AF65-F5344CB8AC3E}">
        <p14:creationId xmlns:p14="http://schemas.microsoft.com/office/powerpoint/2010/main" val="161100935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B0E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B3000943-5450-42D6-BFFE-77224A4EF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20624"/>
            <a:ext cx="10058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 spc="300">
                <a:solidFill>
                  <a:srgbClr val="2E9BFF"/>
                </a:solidFill>
                <a:latin typeface="Calibri"/>
                <a:ea typeface="Calibri"/>
                <a:cs typeface="Calibri"/>
              </a:rPr>
              <a:t>WHY NOW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94470E2E-694E-44B1-9656-458F0E80B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676656"/>
            <a:ext cx="1097280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Manga is growing — but the data stack can't keep up</a:t>
            </a:r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CCB9CEF0-8156-432F-9329-4328C2E53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600200"/>
            <a:ext cx="2615184" cy="1371600"/>
          </a:xfrm>
          <a:prstGeom xmlns:a="http://schemas.openxmlformats.org/drawingml/2006/main" prst="roundRect">
            <a:avLst>
              <a:gd name="adj" fmla="val 6000"/>
            </a:avLst>
          </a:prstGeom>
          <a:solidFill xmlns:a="http://schemas.openxmlformats.org/drawingml/2006/main">
            <a:srgbClr val="161C26"/>
          </a:solidFill>
          <a:ln xmlns:a="http://schemas.openxmlformats.org/drawingml/2006/main" w="12700">
            <a:solidFill>
              <a:srgbClr val="2A3545"/>
            </a:solidFill>
            <a:prstDash val="solid"/>
          </a:ln>
          <a:effectLst xmlns:a="http://schemas.openxmlformats.org/drawingml/2006/main">
            <a:outerShdw blurRad="114300" dist="38100" dir="5400000" sx="100000" sy="100000" kx="0" ky="0" algn="bl" rotWithShape="0">
              <a:srgbClr val="000000">
                <a:alpha val="35000"/>
              </a:srgbClr>
            </a:outerShdw>
          </a:effectLst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C022FB4B-03DE-4217-A406-CC6DC2E5F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755648"/>
            <a:ext cx="2615184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3400" b="1">
                <a:solidFill>
                  <a:srgbClr val="2E9BFF"/>
                </a:solidFill>
                <a:latin typeface="Calibri"/>
                <a:ea typeface="Calibri"/>
                <a:cs typeface="Calibri"/>
              </a:rPr>
              <a:t>€280M</a:t>
            </a:r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BEB29078-A3F6-4BDC-B00B-10E966A23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487168"/>
            <a:ext cx="2615184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50">
                <a:solidFill>
                  <a:srgbClr val="9FB0C3"/>
                </a:solidFill>
                <a:latin typeface="Calibri"/>
                <a:ea typeface="Calibri"/>
                <a:cs typeface="Calibri"/>
              </a:rPr>
              <a:t>Annual revenue</a:t>
            </a:r>
          </a:p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68930F4F-309C-4540-B36E-3BBE3F973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8144" y="1600200"/>
            <a:ext cx="2615184" cy="1371600"/>
          </a:xfrm>
          <a:prstGeom xmlns:a="http://schemas.openxmlformats.org/drawingml/2006/main" prst="roundRect">
            <a:avLst>
              <a:gd name="adj" fmla="val 6000"/>
            </a:avLst>
          </a:prstGeom>
          <a:solidFill xmlns:a="http://schemas.openxmlformats.org/drawingml/2006/main">
            <a:srgbClr val="161C26"/>
          </a:solidFill>
          <a:ln xmlns:a="http://schemas.openxmlformats.org/drawingml/2006/main" w="12700">
            <a:solidFill>
              <a:srgbClr val="2A3545"/>
            </a:solidFill>
            <a:prstDash val="solid"/>
          </a:ln>
          <a:effectLst xmlns:a="http://schemas.openxmlformats.org/drawingml/2006/main">
            <a:outerShdw blurRad="114300" dist="38100" dir="5400000" sx="100000" sy="100000" kx="0" ky="0" algn="bl" rotWithShape="0">
              <a:srgbClr val="000000">
                <a:alpha val="35000"/>
              </a:srgbClr>
            </a:outerShdw>
          </a:effectLst>
        </p:spPr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6169F177-326F-4A83-8600-4D11EFBE1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8144" y="1755648"/>
            <a:ext cx="2615184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3400" b="1">
                <a:solidFill>
                  <a:srgbClr val="2E9BFF"/>
                </a:solidFill>
                <a:latin typeface="Calibri"/>
                <a:ea typeface="Calibri"/>
                <a:cs typeface="Calibri"/>
              </a:rPr>
              <a:t>+3.5%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B76AB81F-51EA-4AEC-9A30-4E436F79E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8144" y="2487168"/>
            <a:ext cx="2615184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50">
                <a:solidFill>
                  <a:srgbClr val="9FB0C3"/>
                </a:solidFill>
                <a:latin typeface="Calibri"/>
                <a:ea typeface="Calibri"/>
                <a:cs typeface="Calibri"/>
              </a:rPr>
              <a:t>Growth — below market</a:t>
            </a:r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1B24D611-3FD2-4ADA-814A-3C5B48F25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6208" y="1600200"/>
            <a:ext cx="2615184" cy="1371600"/>
          </a:xfrm>
          <a:prstGeom xmlns:a="http://schemas.openxmlformats.org/drawingml/2006/main" prst="roundRect">
            <a:avLst>
              <a:gd name="adj" fmla="val 6000"/>
            </a:avLst>
          </a:prstGeom>
          <a:solidFill xmlns:a="http://schemas.openxmlformats.org/drawingml/2006/main">
            <a:srgbClr val="161C26"/>
          </a:solidFill>
          <a:ln xmlns:a="http://schemas.openxmlformats.org/drawingml/2006/main" w="12700">
            <a:solidFill>
              <a:srgbClr val="2A3545"/>
            </a:solidFill>
            <a:prstDash val="solid"/>
          </a:ln>
          <a:effectLst xmlns:a="http://schemas.openxmlformats.org/drawingml/2006/main">
            <a:outerShdw blurRad="114300" dist="38100" dir="5400000" sx="100000" sy="100000" kx="0" ky="0" algn="bl" rotWithShape="0">
              <a:srgbClr val="000000">
                <a:alpha val="35000"/>
              </a:srgbClr>
            </a:outerShdw>
          </a:effectLst>
        </p:spPr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20F38A08-BEFB-4C26-B2DF-FAAD9AB42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6208" y="1755648"/>
            <a:ext cx="2615184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3400" b="1">
                <a:solidFill>
                  <a:srgbClr val="F0A040"/>
                </a:solidFill>
                <a:latin typeface="Calibri"/>
                <a:ea typeface="Calibri"/>
                <a:cs typeface="Calibri"/>
              </a:rPr>
              <a:t>1.2%</a:t>
            </a:r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6E0986CA-B4F1-4C55-B657-2CAC76F91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6208" y="2487168"/>
            <a:ext cx="2615184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50">
                <a:solidFill>
                  <a:srgbClr val="9FB0C3"/>
                </a:solidFill>
                <a:latin typeface="Calibri"/>
                <a:ea typeface="Calibri"/>
                <a:cs typeface="Calibri"/>
              </a:rPr>
              <a:t>Online sales YoY</a:t>
            </a:r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A10C2EF3-C284-49EA-8568-A9FC39A8C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272" y="1600200"/>
            <a:ext cx="2615184" cy="1371600"/>
          </a:xfrm>
          <a:prstGeom xmlns:a="http://schemas.openxmlformats.org/drawingml/2006/main" prst="roundRect">
            <a:avLst>
              <a:gd name="adj" fmla="val 6000"/>
            </a:avLst>
          </a:prstGeom>
          <a:solidFill xmlns:a="http://schemas.openxmlformats.org/drawingml/2006/main">
            <a:srgbClr val="161C26"/>
          </a:solidFill>
          <a:ln xmlns:a="http://schemas.openxmlformats.org/drawingml/2006/main" w="12700">
            <a:solidFill>
              <a:srgbClr val="2A3545"/>
            </a:solidFill>
            <a:prstDash val="solid"/>
          </a:ln>
          <a:effectLst xmlns:a="http://schemas.openxmlformats.org/drawingml/2006/main">
            <a:outerShdw blurRad="114300" dist="38100" dir="5400000" sx="100000" sy="100000" kx="0" ky="0" algn="bl" rotWithShape="0">
              <a:srgbClr val="000000">
                <a:alpha val="35000"/>
              </a:srgbClr>
            </a:outerShdw>
          </a:effectLst>
        </p:spPr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02CD0C9F-46FC-4094-84D5-F915B9634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272" y="1755648"/>
            <a:ext cx="2615184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3400" b="1">
                <a:solidFill>
                  <a:srgbClr val="F0A040"/>
                </a:solidFill>
                <a:latin typeface="Calibri"/>
                <a:ea typeface="Calibri"/>
                <a:cs typeface="Calibri"/>
              </a:rPr>
              <a:t>≈2×</a:t>
            </a:r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CC8A22C6-6744-4734-BC05-3BA194D49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272" y="2487168"/>
            <a:ext cx="2615184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50">
                <a:solidFill>
                  <a:srgbClr val="9FB0C3"/>
                </a:solidFill>
                <a:latin typeface="Calibri"/>
                <a:ea typeface="Calibri"/>
                <a:cs typeface="Calibri"/>
              </a:rPr>
              <a:t>Infra cost vs. competitors</a:t>
            </a:r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E526B163-0943-4AC2-89EC-C0C3B9BA2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383280"/>
            <a:ext cx="10881360" cy="2377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342900" indent="-342900">
              <a:spcAft>
                <a:spcPts val="1000"/>
              </a:spcAft>
              <a:buChar char="•"/>
            </a:pPr>
            <a:r>
              <a:rPr sz="1800">
                <a:solidFill>
                  <a:srgbClr val="D6E2F2"/>
                </a:solidFill>
                <a:latin typeface="Calibri"/>
                <a:ea typeface="Calibri"/>
                <a:cs typeface="Calibri"/>
              </a:rPr>
              <a:t>Daily cron-job ETL — managers decide on yesterday's data</a:t>
            </a:r>
          </a:p>
          <a:p xmlns:a="http://schemas.openxmlformats.org/drawingml/2006/main">
            <a:pPr marL="342900" indent="-342900">
              <a:spcAft>
                <a:spcPts val="1000"/>
              </a:spcAft>
              <a:buChar char="•"/>
            </a:pPr>
            <a:r>
              <a:rPr sz="1800">
                <a:solidFill>
                  <a:srgbClr val="D6E2F2"/>
                </a:solidFill>
                <a:latin typeface="Calibri"/>
                <a:ea typeface="Calibri"/>
                <a:cs typeface="Calibri"/>
              </a:rPr>
              <a:t>Siloed pipelines, each built by a different team, no shared standards</a:t>
            </a:r>
          </a:p>
          <a:p xmlns:a="http://schemas.openxmlformats.org/drawingml/2006/main">
            <a:pPr marL="342900" indent="-342900">
              <a:spcAft>
                <a:spcPts val="1000"/>
              </a:spcAft>
              <a:buChar char="•"/>
            </a:pPr>
            <a:r>
              <a:rPr sz="1800">
                <a:solidFill>
                  <a:srgbClr val="D6E2F2"/>
                </a:solidFill>
                <a:latin typeface="Calibri"/>
                <a:ea typeface="Calibri"/>
                <a:cs typeface="Calibri"/>
              </a:rPr>
              <a:t>Excel as the BI layer — no self-service, no real-time</a:t>
            </a:r>
          </a:p>
          <a:p xmlns:a="http://schemas.openxmlformats.org/drawingml/2006/main">
            <a:pPr marL="342900" indent="-342900">
              <a:spcAft>
                <a:spcPts val="1000"/>
              </a:spcAft>
              <a:buChar char="•"/>
            </a:pPr>
            <a:r>
              <a:rPr sz="1800">
                <a:solidFill>
                  <a:srgbClr val="D6E2F2"/>
                </a:solidFill>
                <a:latin typeface="Calibri"/>
                <a:ea typeface="Calibri"/>
                <a:cs typeface="Calibri"/>
              </a:rPr>
              <a:t>Unclear GDPR posture after a prior security incident</a:t>
            </a:r>
          </a:p>
        </p:txBody>
      </p:sp>
    </p:spTree>
    <p:extLst>
      <p:ext uri="{BB962C8B-B14F-4D97-AF65-F5344CB8AC3E}">
        <p14:creationId xmlns:p14="http://schemas.microsoft.com/office/powerpoint/2010/main" val="164757907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B0E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48AF71FB-3151-467E-8129-9D1E7DAD3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20624"/>
            <a:ext cx="10058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 spc="300">
                <a:solidFill>
                  <a:srgbClr val="2E9BFF"/>
                </a:solidFill>
                <a:latin typeface="Calibri"/>
                <a:ea typeface="Calibri"/>
                <a:cs typeface="Calibri"/>
              </a:rPr>
              <a:t>OUR PROPOSAL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8777293B-8292-4AFB-A944-508ECB3AE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676656"/>
            <a:ext cx="1097280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The Manga DataHub — one governed AWS lakehouse</a:t>
            </a:r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16F25B99-A7E8-4449-A046-F7ACC4014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737360"/>
            <a:ext cx="3474720" cy="3017520"/>
          </a:xfrm>
          <a:prstGeom xmlns:a="http://schemas.openxmlformats.org/drawingml/2006/main" prst="roundRect">
            <a:avLst>
              <a:gd name="adj" fmla="val 2727"/>
            </a:avLst>
          </a:prstGeom>
          <a:solidFill xmlns:a="http://schemas.openxmlformats.org/drawingml/2006/main">
            <a:srgbClr val="161C26"/>
          </a:solidFill>
          <a:ln xmlns:a="http://schemas.openxmlformats.org/drawingml/2006/main" w="12700">
            <a:solidFill>
              <a:srgbClr val="2A3545"/>
            </a:solidFill>
            <a:prstDash val="solid"/>
          </a:ln>
          <a:effectLst xmlns:a="http://schemas.openxmlformats.org/drawingml/2006/main">
            <a:outerShdw blurRad="114300" dist="38100" dir="5400000" sx="100000" sy="100000" kx="0" ky="0" algn="bl" rotWithShape="0">
              <a:srgbClr val="000000">
                <a:alpha val="35000"/>
              </a:srgbClr>
            </a:outerShdw>
          </a:effectLst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90703EBA-5A16-436D-B6C2-46E54CF1A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11680"/>
            <a:ext cx="292608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600" b="1">
                <a:solidFill>
                  <a:srgbClr val="2E9BFF"/>
                </a:solidFill>
                <a:latin typeface="Calibri"/>
                <a:ea typeface="Calibri"/>
                <a:cs typeface="Calibri"/>
              </a:rPr>
              <a:t>Unify</a:t>
            </a:r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A590265C-DC4D-473E-964F-9A1D90902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97480"/>
            <a:ext cx="2971800" cy="1828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lnSpc>
                <a:spcPct val="115000"/>
              </a:lnSpc>
              <a:buNone/>
            </a:pPr>
            <a:r>
              <a:rPr sz="1600">
                <a:solidFill>
                  <a:srgbClr val="D6E2F2"/>
                </a:solidFill>
                <a:latin typeface="Calibri"/>
                <a:ea typeface="Calibri"/>
                <a:cs typeface="Calibri"/>
              </a:rPr>
              <a:t>One governed platform for every source — replacing siloed pipelines and manual Excel.</a:t>
            </a:r>
          </a:p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9BC02475-A6CA-4F7B-AE40-2F6F3B5DA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1688" y="1737360"/>
            <a:ext cx="3474720" cy="3017520"/>
          </a:xfrm>
          <a:prstGeom xmlns:a="http://schemas.openxmlformats.org/drawingml/2006/main" prst="roundRect">
            <a:avLst>
              <a:gd name="adj" fmla="val 2727"/>
            </a:avLst>
          </a:prstGeom>
          <a:solidFill xmlns:a="http://schemas.openxmlformats.org/drawingml/2006/main">
            <a:srgbClr val="161C26"/>
          </a:solidFill>
          <a:ln xmlns:a="http://schemas.openxmlformats.org/drawingml/2006/main" w="12700">
            <a:solidFill>
              <a:srgbClr val="2A3545"/>
            </a:solidFill>
            <a:prstDash val="solid"/>
          </a:ln>
          <a:effectLst xmlns:a="http://schemas.openxmlformats.org/drawingml/2006/main">
            <a:outerShdw blurRad="114300" dist="38100" dir="5400000" sx="100000" sy="100000" kx="0" ky="0" algn="bl" rotWithShape="0">
              <a:srgbClr val="000000">
                <a:alpha val="35000"/>
              </a:srgbClr>
            </a:outerShdw>
          </a:effectLst>
        </p:spPr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8DBC0A83-C537-48CC-ACC6-FE1E252F0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6008" y="2011680"/>
            <a:ext cx="292608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600" b="1">
                <a:solidFill>
                  <a:srgbClr val="4FD08A"/>
                </a:solidFill>
                <a:latin typeface="Calibri"/>
                <a:ea typeface="Calibri"/>
                <a:cs typeface="Calibri"/>
              </a:rPr>
              <a:t>Accelerate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C2E7064A-1997-4ECD-85DA-EC33BA903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6008" y="2697480"/>
            <a:ext cx="2971800" cy="1828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lnSpc>
                <a:spcPct val="115000"/>
              </a:lnSpc>
              <a:buNone/>
            </a:pPr>
            <a:r>
              <a:rPr sz="1600">
                <a:solidFill>
                  <a:srgbClr val="D6E2F2"/>
                </a:solidFill>
                <a:latin typeface="Calibri"/>
                <a:ea typeface="Calibri"/>
                <a:cs typeface="Calibri"/>
              </a:rPr>
              <a:t>Time-to-insight from 24 hours to sub-second — live inventory, sales, and fraud detection.</a:t>
            </a:r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7525AE45-6939-4AEA-8106-61DD6AC70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3296" y="1737360"/>
            <a:ext cx="3474720" cy="3017520"/>
          </a:xfrm>
          <a:prstGeom xmlns:a="http://schemas.openxmlformats.org/drawingml/2006/main" prst="roundRect">
            <a:avLst>
              <a:gd name="adj" fmla="val 2727"/>
            </a:avLst>
          </a:prstGeom>
          <a:solidFill xmlns:a="http://schemas.openxmlformats.org/drawingml/2006/main">
            <a:srgbClr val="161C26"/>
          </a:solidFill>
          <a:ln xmlns:a="http://schemas.openxmlformats.org/drawingml/2006/main" w="12700">
            <a:solidFill>
              <a:srgbClr val="2A3545"/>
            </a:solidFill>
            <a:prstDash val="solid"/>
          </a:ln>
          <a:effectLst xmlns:a="http://schemas.openxmlformats.org/drawingml/2006/main">
            <a:outerShdw blurRad="114300" dist="38100" dir="5400000" sx="100000" sy="100000" kx="0" ky="0" algn="bl" rotWithShape="0">
              <a:srgbClr val="000000">
                <a:alpha val="35000"/>
              </a:srgbClr>
            </a:outerShdw>
          </a:effectLst>
        </p:spPr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15FD7E0C-DCA3-4E2A-8E11-2E62C0829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7616" y="2011680"/>
            <a:ext cx="292608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600" b="1">
                <a:solidFill>
                  <a:srgbClr val="8A6CF6"/>
                </a:solidFill>
                <a:latin typeface="Calibri"/>
                <a:ea typeface="Calibri"/>
                <a:cs typeface="Calibri"/>
              </a:rPr>
              <a:t>Enable</a:t>
            </a:r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5E6CE926-E507-44C4-AD36-E99B14BB1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7616" y="2697480"/>
            <a:ext cx="2971800" cy="1828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lnSpc>
                <a:spcPct val="115000"/>
              </a:lnSpc>
              <a:buNone/>
            </a:pPr>
            <a:r>
              <a:rPr sz="1600">
                <a:solidFill>
                  <a:srgbClr val="D6E2F2"/>
                </a:solidFill>
                <a:latin typeface="Calibri"/>
                <a:ea typeface="Calibri"/>
                <a:cs typeface="Calibri"/>
              </a:rPr>
              <a:t>ML that's impossible today — recommendations, dynamic pricing, demand forecasting.</a:t>
            </a:r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3DDBAFFC-9C97-4A77-A1CB-4BA53462A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12064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i="1">
                <a:solidFill>
                  <a:srgbClr val="9FB0C3"/>
                </a:solidFill>
                <a:latin typeface="Calibri"/>
                <a:ea typeface="Calibri"/>
                <a:cs typeface="Calibri"/>
              </a:rPr>
              <a:t>Built on open-source tooling (Airflow, Spark, open Parquet) — no vendor lock-in.</a:t>
            </a:r>
          </a:p>
        </p:txBody>
      </p:sp>
    </p:spTree>
    <p:extLst>
      <p:ext uri="{BB962C8B-B14F-4D97-AF65-F5344CB8AC3E}">
        <p14:creationId xmlns:p14="http://schemas.microsoft.com/office/powerpoint/2010/main" val="197697585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B0E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D8973E2B-F437-436A-9FC1-C493F1299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20624"/>
            <a:ext cx="10058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 spc="300">
                <a:solidFill>
                  <a:srgbClr val="2E9BFF"/>
                </a:solidFill>
                <a:latin typeface="Calibri"/>
                <a:ea typeface="Calibri"/>
                <a:cs typeface="Calibri"/>
              </a:rPr>
              <a:t>BUILT FOR THE DECISION-MAKERS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A5211F38-723A-40AE-ABAF-F35316B4A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676656"/>
            <a:ext cx="1097280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Every stakeholder's concern is addressed</a:t>
            </a:r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C91EC8CF-9754-4E21-BF19-3CE34C7BC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691640"/>
            <a:ext cx="5257800" cy="914400"/>
          </a:xfrm>
          <a:prstGeom xmlns:a="http://schemas.openxmlformats.org/drawingml/2006/main" prst="roundRect">
            <a:avLst>
              <a:gd name="adj" fmla="val 9000"/>
            </a:avLst>
          </a:prstGeom>
          <a:solidFill xmlns:a="http://schemas.openxmlformats.org/drawingml/2006/main">
            <a:srgbClr val="161C26"/>
          </a:solidFill>
          <a:ln xmlns:a="http://schemas.openxmlformats.org/drawingml/2006/main" w="12700">
            <a:solidFill>
              <a:srgbClr val="2A3545"/>
            </a:solidFill>
            <a:prstDash val="solid"/>
          </a:ln>
          <a:effectLst xmlns:a="http://schemas.openxmlformats.org/drawingml/2006/main">
            <a:outerShdw blurRad="114300" dist="38100" dir="5400000" sx="100000" sy="100000" kx="0" ky="0" algn="bl" rotWithShape="0">
              <a:srgbClr val="000000">
                <a:alpha val="35000"/>
              </a:srgbClr>
            </a:outerShdw>
          </a:effectLst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4A5AEB6D-AF00-40DD-AF76-B41F1B9D6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1801368"/>
            <a:ext cx="48463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4FD08A"/>
                </a:solidFill>
                <a:latin typeface="Calibri"/>
                <a:ea typeface="Calibri"/>
                <a:cs typeface="Calibri"/>
              </a:rPr>
              <a:t>Marta Ríos — COO</a:t>
            </a:r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D22414A3-8F58-462D-B600-56E1BBFF9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2112264"/>
            <a:ext cx="48463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>
                <a:solidFill>
                  <a:srgbClr val="9FB0C3"/>
                </a:solidFill>
                <a:latin typeface="Calibri"/>
                <a:ea typeface="Calibri"/>
                <a:cs typeface="Calibri"/>
              </a:rPr>
              <a:t>End-to-end, controlled-risk solution with a clear business case</a:t>
            </a:r>
          </a:p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3470257D-350E-4C31-B52C-DFA796763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1691640"/>
            <a:ext cx="5257800" cy="914400"/>
          </a:xfrm>
          <a:prstGeom xmlns:a="http://schemas.openxmlformats.org/drawingml/2006/main" prst="roundRect">
            <a:avLst>
              <a:gd name="adj" fmla="val 9000"/>
            </a:avLst>
          </a:prstGeom>
          <a:solidFill xmlns:a="http://schemas.openxmlformats.org/drawingml/2006/main">
            <a:srgbClr val="161C26"/>
          </a:solidFill>
          <a:ln xmlns:a="http://schemas.openxmlformats.org/drawingml/2006/main" w="12700">
            <a:solidFill>
              <a:srgbClr val="2A3545"/>
            </a:solidFill>
            <a:prstDash val="solid"/>
          </a:ln>
          <a:effectLst xmlns:a="http://schemas.openxmlformats.org/drawingml/2006/main">
            <a:outerShdw blurRad="114300" dist="38100" dir="5400000" sx="100000" sy="100000" kx="0" ky="0" algn="bl" rotWithShape="0">
              <a:srgbClr val="000000">
                <a:alpha val="35000"/>
              </a:srgbClr>
            </a:outerShdw>
          </a:effectLst>
        </p:spPr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74DD5116-D76B-45DD-A983-66F5B7682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1801368"/>
            <a:ext cx="48463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2E9BFF"/>
                </a:solidFill>
                <a:latin typeface="Calibri"/>
                <a:ea typeface="Calibri"/>
                <a:cs typeface="Calibri"/>
              </a:rPr>
              <a:t>Javier Medina — CTO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BF70D424-243B-49EE-ACA4-331C62371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2112264"/>
            <a:ext cx="48463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>
                <a:solidFill>
                  <a:srgbClr val="9FB0C3"/>
                </a:solidFill>
                <a:latin typeface="Calibri"/>
                <a:ea typeface="Calibri"/>
                <a:cs typeface="Calibri"/>
              </a:rPr>
              <a:t>Open-source core (Airflow, Spark, Parquet) — no lock-in, full portability</a:t>
            </a:r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8AD0029B-6934-4F36-9805-AE2B97594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743200"/>
            <a:ext cx="5257800" cy="914400"/>
          </a:xfrm>
          <a:prstGeom xmlns:a="http://schemas.openxmlformats.org/drawingml/2006/main" prst="roundRect">
            <a:avLst>
              <a:gd name="adj" fmla="val 9000"/>
            </a:avLst>
          </a:prstGeom>
          <a:solidFill xmlns:a="http://schemas.openxmlformats.org/drawingml/2006/main">
            <a:srgbClr val="161C26"/>
          </a:solidFill>
          <a:ln xmlns:a="http://schemas.openxmlformats.org/drawingml/2006/main" w="12700">
            <a:solidFill>
              <a:srgbClr val="2A3545"/>
            </a:solidFill>
            <a:prstDash val="solid"/>
          </a:ln>
          <a:effectLst xmlns:a="http://schemas.openxmlformats.org/drawingml/2006/main">
            <a:outerShdw blurRad="114300" dist="38100" dir="5400000" sx="100000" sy="100000" kx="0" ky="0" algn="bl" rotWithShape="0">
              <a:srgbClr val="000000">
                <a:alpha val="35000"/>
              </a:srgbClr>
            </a:outerShdw>
          </a:effectLst>
        </p:spPr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1D5490EC-38A9-429E-92FD-7BAD82283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2852928"/>
            <a:ext cx="48463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F0A040"/>
                </a:solidFill>
                <a:latin typeface="Calibri"/>
                <a:ea typeface="Calibri"/>
                <a:cs typeface="Calibri"/>
              </a:rPr>
              <a:t>Manuel Ortega — CFO</a:t>
            </a:r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78474FCB-75AD-49A5-96A7-E7BA0A611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163824"/>
            <a:ext cx="48463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>
                <a:solidFill>
                  <a:srgbClr val="9FB0C3"/>
                </a:solidFill>
                <a:latin typeface="Calibri"/>
                <a:ea typeface="Calibri"/>
                <a:cs typeface="Calibri"/>
              </a:rPr>
              <a:t>40–60% lower infra cost, pay-per-use, clear ROI</a:t>
            </a:r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5AF27397-E6D9-44CA-B68A-EB7E330F8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2743200"/>
            <a:ext cx="5257800" cy="914400"/>
          </a:xfrm>
          <a:prstGeom xmlns:a="http://schemas.openxmlformats.org/drawingml/2006/main" prst="roundRect">
            <a:avLst>
              <a:gd name="adj" fmla="val 9000"/>
            </a:avLst>
          </a:prstGeom>
          <a:solidFill xmlns:a="http://schemas.openxmlformats.org/drawingml/2006/main">
            <a:srgbClr val="161C26"/>
          </a:solidFill>
          <a:ln xmlns:a="http://schemas.openxmlformats.org/drawingml/2006/main" w="12700">
            <a:solidFill>
              <a:srgbClr val="2A3545"/>
            </a:solidFill>
            <a:prstDash val="solid"/>
          </a:ln>
          <a:effectLst xmlns:a="http://schemas.openxmlformats.org/drawingml/2006/main">
            <a:outerShdw blurRad="114300" dist="38100" dir="5400000" sx="100000" sy="100000" kx="0" ky="0" algn="bl" rotWithShape="0">
              <a:srgbClr val="000000">
                <a:alpha val="35000"/>
              </a:srgbClr>
            </a:outerShdw>
          </a:effectLst>
        </p:spPr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38ED604F-A284-43FF-A58B-7B3FE3A81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2852928"/>
            <a:ext cx="48463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2E9BFF"/>
                </a:solidFill>
                <a:latin typeface="Calibri"/>
                <a:ea typeface="Calibri"/>
                <a:cs typeface="Calibri"/>
              </a:rPr>
              <a:t>Laura Smith — InfoSec</a:t>
            </a:r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AA6049E6-0B1B-4613-9BDB-D38F384D0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3163824"/>
            <a:ext cx="48463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>
                <a:solidFill>
                  <a:srgbClr val="9FB0C3"/>
                </a:solidFill>
                <a:latin typeface="Calibri"/>
                <a:ea typeface="Calibri"/>
                <a:cs typeface="Calibri"/>
              </a:rPr>
              <a:t>GDPR by design: Lake Formation RBAC, Macie PII scanning, KMS, audit trails</a:t>
            </a:r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1B598E89-432C-470F-902C-95E4828AE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794760"/>
            <a:ext cx="5257800" cy="914400"/>
          </a:xfrm>
          <a:prstGeom xmlns:a="http://schemas.openxmlformats.org/drawingml/2006/main" prst="roundRect">
            <a:avLst>
              <a:gd name="adj" fmla="val 9000"/>
            </a:avLst>
          </a:prstGeom>
          <a:solidFill xmlns:a="http://schemas.openxmlformats.org/drawingml/2006/main">
            <a:srgbClr val="161C26"/>
          </a:solidFill>
          <a:ln xmlns:a="http://schemas.openxmlformats.org/drawingml/2006/main" w="12700">
            <a:solidFill>
              <a:srgbClr val="2A3545"/>
            </a:solidFill>
            <a:prstDash val="solid"/>
          </a:ln>
          <a:effectLst xmlns:a="http://schemas.openxmlformats.org/drawingml/2006/main">
            <a:outerShdw blurRad="114300" dist="38100" dir="5400000" sx="100000" sy="100000" kx="0" ky="0" algn="bl" rotWithShape="0">
              <a:srgbClr val="000000">
                <a:alpha val="35000"/>
              </a:srgbClr>
            </a:outerShdw>
          </a:effectLst>
        </p:spPr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1D7DCE8F-DD4D-409A-BC38-CC74F9DBA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904488"/>
            <a:ext cx="48463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4FD08A"/>
                </a:solidFill>
                <a:latin typeface="Calibri"/>
                <a:ea typeface="Calibri"/>
                <a:cs typeface="Calibri"/>
              </a:rPr>
              <a:t>Alex Lee — Head of Data &amp; AI</a:t>
            </a:r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13A52C4D-BBA8-47B5-9B2A-93ED845A8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4215384"/>
            <a:ext cx="48463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>
                <a:solidFill>
                  <a:srgbClr val="9FB0C3"/>
                </a:solidFill>
                <a:latin typeface="Calibri"/>
                <a:ea typeface="Calibri"/>
                <a:cs typeface="Calibri"/>
              </a:rPr>
              <a:t>Modern DataOps, real-time pipelines, self-service catalog</a:t>
            </a:r>
          </a:p>
        </p:txBody>
      </p:sp>
    </p:spTree>
    <p:extLst>
      <p:ext uri="{BB962C8B-B14F-4D97-AF65-F5344CB8AC3E}">
        <p14:creationId xmlns:p14="http://schemas.microsoft.com/office/powerpoint/2010/main" val="96844502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B0E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055A4151-ABB6-4B2C-914C-C95A0D27F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20624"/>
            <a:ext cx="10058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 spc="300">
                <a:solidFill>
                  <a:srgbClr val="2E9BFF"/>
                </a:solidFill>
                <a:latin typeface="Calibri"/>
                <a:ea typeface="Calibri"/>
                <a:cs typeface="Calibri"/>
              </a:rPr>
              <a:t>SECTION 2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6D6D12E4-3E99-47D2-AB68-F1A6FDB48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676656"/>
            <a:ext cx="1097280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High-Level Architecture — technology-agnostic</a:t>
            </a:r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392DA38C-8CDC-4450-B3D7-12DB6491A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554480"/>
            <a:ext cx="6766560" cy="4937760"/>
          </a:xfrm>
          <a:prstGeom xmlns:a="http://schemas.openxmlformats.org/drawingml/2006/main" prst="roundRect">
            <a:avLst>
              <a:gd name="adj" fmla="val 1667"/>
            </a:avLst>
          </a:prstGeom>
          <a:solidFill xmlns:a="http://schemas.openxmlformats.org/drawingml/2006/main">
            <a:srgbClr val="F4F6F8"/>
          </a:solidFill>
          <a:ln xmlns:a="http://schemas.openxmlformats.org/drawingml/2006/main" w="12700">
            <a:solidFill>
              <a:srgbClr val="2A3545"/>
            </a:solidFill>
            <a:prstDash val="solid"/>
          </a:ln>
          <a:effectLst xmlns:a="http://schemas.openxmlformats.org/drawingml/2006/main">
            <a:outerShdw blurRad="114300" dist="38100" dir="5400000" sx="100000" sy="100000" kx="0" ky="0" algn="bl" rotWithShape="0">
              <a:srgbClr val="000000">
                <a:alpha val="35000"/>
              </a:srgbClr>
            </a:outerShdw>
          </a:effectLst>
        </p:spPr>
      </p:sp>
      <p:pic>
        <p:nvPicPr>
          <p:cNvPr id="22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8d6832982b44d4b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777240" y="1691640"/>
            <a:ext cx="6492240" cy="4663440"/>
          </a:xfrm>
          <a:prstGeom xmlns:a="http://schemas.openxmlformats.org/drawingml/2006/main" prst="rect">
            <a:avLst/>
          </a:prstGeom>
        </p:spPr>
      </p:pic>
      <p:sp>
        <p:nvSpPr>
          <p:cNvPr id="6" name="Shape 3">
            <a:extLst xmlns:a="http://schemas.openxmlformats.org/drawingml/2006/main">
              <a:ext uri="{FF2B5EF4-FFF2-40B4-BE49-F238E27FC236}">
                <a16:creationId xmlns:a16="http://schemas.microsoft.com/office/drawing/2014/main" id="{F41DB791-A0B2-46AE-92DF-01C8BEABA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0" y="1737360"/>
            <a:ext cx="3840480" cy="96012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161C26"/>
          </a:solidFill>
          <a:ln xmlns:a="http://schemas.openxmlformats.org/drawingml/2006/main" w="12700">
            <a:solidFill>
              <a:srgbClr val="2A3545"/>
            </a:solidFill>
            <a:prstDash val="solid"/>
          </a:ln>
          <a:effectLst xmlns:a="http://schemas.openxmlformats.org/drawingml/2006/main">
            <a:outerShdw blurRad="114300" dist="38100" dir="5400000" sx="100000" sy="100000" kx="0" ky="0" algn="bl" rotWithShape="0">
              <a:srgbClr val="000000">
                <a:alpha val="35000"/>
              </a:srgbClr>
            </a:outerShdw>
          </a:effectLst>
        </p:spPr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1AE846EC-EFD6-4A15-B0AC-19CD9CBB2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9560" y="1856232"/>
            <a:ext cx="33832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2E9BFF"/>
                </a:solidFill>
                <a:latin typeface="Calibri"/>
                <a:ea typeface="Calibri"/>
                <a:cs typeface="Calibri"/>
              </a:rPr>
              <a:t>Separation of concerns</a:t>
            </a:r>
          </a:p>
        </p:txBody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464565AC-738C-4B0E-BF5D-5EDD98461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9560" y="2194560"/>
            <a:ext cx="338328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>
                <a:solidFill>
                  <a:srgbClr val="9FB0C3"/>
                </a:solidFill>
                <a:latin typeface="Calibri"/>
                <a:ea typeface="Calibri"/>
                <a:cs typeface="Calibri"/>
              </a:rPr>
              <a:t>Storage decoupled from compute</a:t>
            </a:r>
          </a:p>
        </p:txBody>
      </p:sp>
      <p:sp>
        <p:nvSpPr>
          <p:cNvPr id="9" name="Shape 6">
            <a:extLst xmlns:a="http://schemas.openxmlformats.org/drawingml/2006/main">
              <a:ext uri="{FF2B5EF4-FFF2-40B4-BE49-F238E27FC236}">
                <a16:creationId xmlns:a16="http://schemas.microsoft.com/office/drawing/2014/main" id="{A7EB1509-F127-42EC-A4DE-514279728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0" y="2907792"/>
            <a:ext cx="3840480" cy="96012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161C26"/>
          </a:solidFill>
          <a:ln xmlns:a="http://schemas.openxmlformats.org/drawingml/2006/main" w="12700">
            <a:solidFill>
              <a:srgbClr val="2A3545"/>
            </a:solidFill>
            <a:prstDash val="solid"/>
          </a:ln>
          <a:effectLst xmlns:a="http://schemas.openxmlformats.org/drawingml/2006/main">
            <a:outerShdw blurRad="114300" dist="38100" dir="5400000" sx="100000" sy="100000" kx="0" ky="0" algn="bl" rotWithShape="0">
              <a:srgbClr val="000000">
                <a:alpha val="35000"/>
              </a:srgbClr>
            </a:outerShdw>
          </a:effectLst>
        </p:spPr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89913F63-1123-4AE4-A4BF-C6772B628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9560" y="3026664"/>
            <a:ext cx="33832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2E9BFF"/>
                </a:solidFill>
                <a:latin typeface="Calibri"/>
                <a:ea typeface="Calibri"/>
                <a:cs typeface="Calibri"/>
              </a:rPr>
              <a:t>Modularity</a:t>
            </a:r>
          </a:p>
        </p:txBody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8AF58E4F-FBEE-4332-A386-07ECAFF62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9560" y="3364992"/>
            <a:ext cx="338328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>
                <a:solidFill>
                  <a:srgbClr val="9FB0C3"/>
                </a:solidFill>
                <a:latin typeface="Calibri"/>
                <a:ea typeface="Calibri"/>
                <a:cs typeface="Calibri"/>
              </a:rPr>
              <a:t>Failures don't cascade</a:t>
            </a:r>
          </a:p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0D9D8AFD-C308-4E74-ACB6-A5B495045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0" y="4078224"/>
            <a:ext cx="3840480" cy="96012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161C26"/>
          </a:solidFill>
          <a:ln xmlns:a="http://schemas.openxmlformats.org/drawingml/2006/main" w="12700">
            <a:solidFill>
              <a:srgbClr val="2A3545"/>
            </a:solidFill>
            <a:prstDash val="solid"/>
          </a:ln>
          <a:effectLst xmlns:a="http://schemas.openxmlformats.org/drawingml/2006/main">
            <a:outerShdw blurRad="114300" dist="38100" dir="5400000" sx="100000" sy="100000" kx="0" ky="0" algn="bl" rotWithShape="0">
              <a:srgbClr val="000000">
                <a:alpha val="35000"/>
              </a:srgbClr>
            </a:outerShdw>
          </a:effectLst>
        </p:spPr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92F28987-AC86-4777-8397-CBE30FAF6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9560" y="4197096"/>
            <a:ext cx="33832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2E9BFF"/>
                </a:solidFill>
                <a:latin typeface="Calibri"/>
                <a:ea typeface="Calibri"/>
                <a:cs typeface="Calibri"/>
              </a:rPr>
              <a:t>Elasticity</a:t>
            </a:r>
          </a:p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605E6563-E308-46DB-B160-80AE2B987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9560" y="4535424"/>
            <a:ext cx="338328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>
                <a:solidFill>
                  <a:srgbClr val="9FB0C3"/>
                </a:solidFill>
                <a:latin typeface="Calibri"/>
                <a:ea typeface="Calibri"/>
                <a:cs typeface="Calibri"/>
              </a:rPr>
              <a:t>Auto-scales for Fashion-Week spikes</a:t>
            </a:r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7228CC7A-C2FF-4AE8-8A20-7B0F08378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0" y="5248656"/>
            <a:ext cx="3840480" cy="96012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161C26"/>
          </a:solidFill>
          <a:ln xmlns:a="http://schemas.openxmlformats.org/drawingml/2006/main" w="12700">
            <a:solidFill>
              <a:srgbClr val="2A3545"/>
            </a:solidFill>
            <a:prstDash val="solid"/>
          </a:ln>
          <a:effectLst xmlns:a="http://schemas.openxmlformats.org/drawingml/2006/main">
            <a:outerShdw blurRad="114300" dist="38100" dir="5400000" sx="100000" sy="100000" kx="0" ky="0" algn="bl" rotWithShape="0">
              <a:srgbClr val="000000">
                <a:alpha val="35000"/>
              </a:srgbClr>
            </a:outerShdw>
          </a:effectLst>
        </p:spPr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01F28437-E0E1-43BD-867C-6C9D824FD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9560" y="5367528"/>
            <a:ext cx="33832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2E9BFF"/>
                </a:solidFill>
                <a:latin typeface="Calibri"/>
                <a:ea typeface="Calibri"/>
                <a:cs typeface="Calibri"/>
              </a:rPr>
              <a:t>Open standards</a:t>
            </a:r>
          </a:p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71DDC770-F8C5-4F07-857D-10C108019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9560" y="5705856"/>
            <a:ext cx="338328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>
                <a:solidFill>
                  <a:srgbClr val="9FB0C3"/>
                </a:solidFill>
                <a:latin typeface="Calibri"/>
                <a:ea typeface="Calibri"/>
                <a:cs typeface="Calibri"/>
              </a:rPr>
              <a:t>Parquet, Airflow, Spark — no lock-in</a:t>
            </a:r>
          </a:p>
        </p:txBody>
      </p:sp>
    </p:spTree>
    <p:extLst>
      <p:ext uri="{BB962C8B-B14F-4D97-AF65-F5344CB8AC3E}">
        <p14:creationId xmlns:p14="http://schemas.microsoft.com/office/powerpoint/2010/main" val="162938351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B0E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EC3188E4-FAEE-4630-8CEE-D0E51685B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20624"/>
            <a:ext cx="10058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 spc="300">
                <a:solidFill>
                  <a:srgbClr val="2E9BFF"/>
                </a:solidFill>
                <a:latin typeface="Calibri"/>
                <a:ea typeface="Calibri"/>
                <a:cs typeface="Calibri"/>
              </a:rPr>
              <a:t>SECTION 3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FA99DECC-6C05-4223-9964-856B46975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676656"/>
            <a:ext cx="1097280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Low-Level Architecture — mapped to AWS</a:t>
            </a:r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232B9A6C-3775-4A74-ACA2-D0C2A71BD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554480"/>
            <a:ext cx="7040880" cy="4937760"/>
          </a:xfrm>
          <a:prstGeom xmlns:a="http://schemas.openxmlformats.org/drawingml/2006/main" prst="roundRect">
            <a:avLst>
              <a:gd name="adj" fmla="val 1667"/>
            </a:avLst>
          </a:prstGeom>
          <a:solidFill xmlns:a="http://schemas.openxmlformats.org/drawingml/2006/main">
            <a:srgbClr val="F4F6F8"/>
          </a:solidFill>
          <a:ln xmlns:a="http://schemas.openxmlformats.org/drawingml/2006/main" w="12700">
            <a:solidFill>
              <a:srgbClr val="2A3545"/>
            </a:solidFill>
            <a:prstDash val="solid"/>
          </a:ln>
          <a:effectLst xmlns:a="http://schemas.openxmlformats.org/drawingml/2006/main">
            <a:outerShdw blurRad="114300" dist="38100" dir="5400000" sx="100000" sy="100000" kx="0" ky="0" algn="bl" rotWithShape="0">
              <a:srgbClr val="000000">
                <a:alpha val="35000"/>
              </a:srgbClr>
            </a:outerShdw>
          </a:effectLst>
        </p:spPr>
      </p:sp>
      <p:pic>
        <p:nvPicPr>
          <p:cNvPr id="22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e5fff791a6f426f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777240" y="1691640"/>
            <a:ext cx="6766560" cy="4663440"/>
          </a:xfrm>
          <a:prstGeom xmlns:a="http://schemas.openxmlformats.org/drawingml/2006/main" prst="rect">
            <a:avLst/>
          </a:prstGeom>
        </p:spPr>
      </p:pic>
      <p:sp>
        <p:nvSpPr>
          <p:cNvPr id="6" name="Shape 3">
            <a:extLst xmlns:a="http://schemas.openxmlformats.org/drawingml/2006/main">
              <a:ext uri="{FF2B5EF4-FFF2-40B4-BE49-F238E27FC236}">
                <a16:creationId xmlns:a16="http://schemas.microsoft.com/office/drawing/2014/main" id="{FFAB0A6B-9172-4400-93DA-CAF5179A2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5280" y="1737360"/>
            <a:ext cx="3611880" cy="96012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161C26"/>
          </a:solidFill>
          <a:ln xmlns:a="http://schemas.openxmlformats.org/drawingml/2006/main" w="12700">
            <a:solidFill>
              <a:srgbClr val="2A3545"/>
            </a:solidFill>
            <a:prstDash val="solid"/>
          </a:ln>
          <a:effectLst xmlns:a="http://schemas.openxmlformats.org/drawingml/2006/main">
            <a:outerShdw blurRad="114300" dist="38100" dir="5400000" sx="100000" sy="100000" kx="0" ky="0" algn="bl" rotWithShape="0">
              <a:srgbClr val="000000">
                <a:alpha val="35000"/>
              </a:srgbClr>
            </a:outerShdw>
          </a:effectLst>
        </p:spPr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F6AF3130-AC8D-4948-8B92-42F1E4D25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3880" y="1856232"/>
            <a:ext cx="32004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4FD08A"/>
                </a:solidFill>
                <a:latin typeface="Calibri"/>
                <a:ea typeface="Calibri"/>
                <a:cs typeface="Calibri"/>
              </a:rPr>
              <a:t>Ingestion</a:t>
            </a:r>
          </a:p>
        </p:txBody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40743D3F-FF0F-460E-9CC8-9A9D34D66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3880" y="2194560"/>
            <a:ext cx="32004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9FB0C3"/>
                </a:solidFill>
                <a:latin typeface="Calibri"/>
                <a:ea typeface="Calibri"/>
                <a:cs typeface="Calibri"/>
              </a:rPr>
              <a:t>Kinesis · Glue · Lambda · DMS</a:t>
            </a:r>
          </a:p>
        </p:txBody>
      </p:sp>
      <p:sp>
        <p:nvSpPr>
          <p:cNvPr id="9" name="Shape 6">
            <a:extLst xmlns:a="http://schemas.openxmlformats.org/drawingml/2006/main">
              <a:ext uri="{FF2B5EF4-FFF2-40B4-BE49-F238E27FC236}">
                <a16:creationId xmlns:a16="http://schemas.microsoft.com/office/drawing/2014/main" id="{40BC1DBC-C05E-4884-BC07-0FBE8DCFB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5280" y="2907792"/>
            <a:ext cx="3611880" cy="96012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161C26"/>
          </a:solidFill>
          <a:ln xmlns:a="http://schemas.openxmlformats.org/drawingml/2006/main" w="12700">
            <a:solidFill>
              <a:srgbClr val="2A3545"/>
            </a:solidFill>
            <a:prstDash val="solid"/>
          </a:ln>
          <a:effectLst xmlns:a="http://schemas.openxmlformats.org/drawingml/2006/main">
            <a:outerShdw blurRad="114300" dist="38100" dir="5400000" sx="100000" sy="100000" kx="0" ky="0" algn="bl" rotWithShape="0">
              <a:srgbClr val="000000">
                <a:alpha val="35000"/>
              </a:srgbClr>
            </a:outerShdw>
          </a:effectLst>
        </p:spPr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40EBDB6A-EF32-4A5B-B7ED-952043BD6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3880" y="3026664"/>
            <a:ext cx="32004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4FD08A"/>
                </a:solidFill>
                <a:latin typeface="Calibri"/>
                <a:ea typeface="Calibri"/>
                <a:cs typeface="Calibri"/>
              </a:rPr>
              <a:t>Storage</a:t>
            </a:r>
          </a:p>
        </p:txBody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9EBDD565-1CB9-43DF-B697-955D92202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3880" y="3364992"/>
            <a:ext cx="32004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9FB0C3"/>
                </a:solidFill>
                <a:latin typeface="Calibri"/>
                <a:ea typeface="Calibri"/>
                <a:cs typeface="Calibri"/>
              </a:rPr>
              <a:t>S3 lakehouse · Redshift · DynamoDB</a:t>
            </a:r>
          </a:p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B62A7D7D-AE1A-4FBC-BA93-68AE674A7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5280" y="4078224"/>
            <a:ext cx="3611880" cy="96012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161C26"/>
          </a:solidFill>
          <a:ln xmlns:a="http://schemas.openxmlformats.org/drawingml/2006/main" w="12700">
            <a:solidFill>
              <a:srgbClr val="2A3545"/>
            </a:solidFill>
            <a:prstDash val="solid"/>
          </a:ln>
          <a:effectLst xmlns:a="http://schemas.openxmlformats.org/drawingml/2006/main">
            <a:outerShdw blurRad="114300" dist="38100" dir="5400000" sx="100000" sy="100000" kx="0" ky="0" algn="bl" rotWithShape="0">
              <a:srgbClr val="000000">
                <a:alpha val="35000"/>
              </a:srgbClr>
            </a:outerShdw>
          </a:effectLst>
        </p:spPr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FBDA18FE-4646-4172-B954-26A2FD6E5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3880" y="4197096"/>
            <a:ext cx="32004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4FD08A"/>
                </a:solidFill>
                <a:latin typeface="Calibri"/>
                <a:ea typeface="Calibri"/>
                <a:cs typeface="Calibri"/>
              </a:rPr>
              <a:t>Governance</a:t>
            </a:r>
          </a:p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3DD78152-3FC2-4B80-B3F1-42AB11144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3880" y="4535424"/>
            <a:ext cx="32004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9FB0C3"/>
                </a:solidFill>
                <a:latin typeface="Calibri"/>
                <a:ea typeface="Calibri"/>
                <a:cs typeface="Calibri"/>
              </a:rPr>
              <a:t>Glue Catalog · MWAA · Lake Formation · Macie</a:t>
            </a:r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68A5794E-945E-4C6C-AEFB-DB9E3D55C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5280" y="5248656"/>
            <a:ext cx="3611880" cy="96012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161C26"/>
          </a:solidFill>
          <a:ln xmlns:a="http://schemas.openxmlformats.org/drawingml/2006/main" w="12700">
            <a:solidFill>
              <a:srgbClr val="2A3545"/>
            </a:solidFill>
            <a:prstDash val="solid"/>
          </a:ln>
          <a:effectLst xmlns:a="http://schemas.openxmlformats.org/drawingml/2006/main">
            <a:outerShdw blurRad="114300" dist="38100" dir="5400000" sx="100000" sy="100000" kx="0" ky="0" algn="bl" rotWithShape="0">
              <a:srgbClr val="000000">
                <a:alpha val="35000"/>
              </a:srgbClr>
            </a:outerShdw>
          </a:effectLst>
        </p:spPr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790DBD81-E100-4A71-AF9D-25690D540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3880" y="5367528"/>
            <a:ext cx="32004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4FD08A"/>
                </a:solidFill>
                <a:latin typeface="Calibri"/>
                <a:ea typeface="Calibri"/>
                <a:cs typeface="Calibri"/>
              </a:rPr>
              <a:t>Consumption</a:t>
            </a:r>
          </a:p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7754C95D-6E00-48FC-8305-19D47D846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3880" y="5705856"/>
            <a:ext cx="32004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9FB0C3"/>
                </a:solidFill>
                <a:latin typeface="Calibri"/>
                <a:ea typeface="Calibri"/>
                <a:cs typeface="Calibri"/>
              </a:rPr>
              <a:t>QuickSight · SageMaker · Athena · API Gateway</a:t>
            </a:r>
          </a:p>
        </p:txBody>
      </p:sp>
    </p:spTree>
    <p:extLst>
      <p:ext uri="{BB962C8B-B14F-4D97-AF65-F5344CB8AC3E}">
        <p14:creationId xmlns:p14="http://schemas.microsoft.com/office/powerpoint/2010/main" val="156230349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B0E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1B8CBA0E-9B5B-4E7F-8E73-CF67F6E22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20624"/>
            <a:ext cx="10058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 spc="300">
                <a:solidFill>
                  <a:srgbClr val="2E9BFF"/>
                </a:solidFill>
                <a:latin typeface="Calibri"/>
                <a:ea typeface="Calibri"/>
                <a:cs typeface="Calibri"/>
              </a:rPr>
              <a:t>SECTION 4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C26E57E0-4E5E-46C9-A266-7D303C0DE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676656"/>
            <a:ext cx="1097280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All eight requirements — fully covered</a:t>
            </a:r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18675DC6-011A-457E-9E04-01BCE5D3C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645920"/>
            <a:ext cx="5303520" cy="777240"/>
          </a:xfrm>
          <a:prstGeom xmlns:a="http://schemas.openxmlformats.org/drawingml/2006/main" prst="roundRect">
            <a:avLst>
              <a:gd name="adj" fmla="val 10588"/>
            </a:avLst>
          </a:prstGeom>
          <a:solidFill xmlns:a="http://schemas.openxmlformats.org/drawingml/2006/main">
            <a:srgbClr val="161C26"/>
          </a:solidFill>
          <a:ln xmlns:a="http://schemas.openxmlformats.org/drawingml/2006/main" w="12700">
            <a:solidFill>
              <a:srgbClr val="2A3545"/>
            </a:solidFill>
            <a:prstDash val="solid"/>
          </a:ln>
          <a:effectLst xmlns:a="http://schemas.openxmlformats.org/drawingml/2006/main">
            <a:outerShdw blurRad="114300" dist="38100" dir="5400000" sx="100000" sy="100000" kx="0" ky="0" algn="bl" rotWithShape="0">
              <a:srgbClr val="000000">
                <a:alpha val="35000"/>
              </a:srgbClr>
            </a:outerShdw>
          </a:effectLst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5F00ADEE-785B-455B-BA0A-4D2FECEA7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1810512"/>
            <a:ext cx="8229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000" b="1">
                <a:solidFill>
                  <a:srgbClr val="2E9BFF"/>
                </a:solidFill>
                <a:latin typeface="Calibri"/>
                <a:ea typeface="Calibri"/>
                <a:cs typeface="Calibri"/>
              </a:rPr>
              <a:t>R1</a:t>
            </a:r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287B4C0A-C410-4B45-AF8C-ABC5B8EC9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1640" y="1828800"/>
            <a:ext cx="3657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>
                <a:solidFill>
                  <a:srgbClr val="D6E2F2"/>
                </a:solidFill>
                <a:latin typeface="Calibri"/>
                <a:ea typeface="Calibri"/>
                <a:cs typeface="Calibri"/>
              </a:rPr>
              <a:t>Unified multi-modal platform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BEFCA346-C493-4B4A-933B-1EE13E644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9240" y="1810512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4FD08A"/>
                </a:solidFill>
                <a:latin typeface="Calibri"/>
                <a:ea typeface="Calibri"/>
                <a:cs typeface="Calibri"/>
              </a:rPr>
              <a:t>✓</a:t>
            </a:r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832C5F26-ADF4-4251-A4C8-533E575BF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645920"/>
            <a:ext cx="5303520" cy="777240"/>
          </a:xfrm>
          <a:prstGeom xmlns:a="http://schemas.openxmlformats.org/drawingml/2006/main" prst="roundRect">
            <a:avLst>
              <a:gd name="adj" fmla="val 10588"/>
            </a:avLst>
          </a:prstGeom>
          <a:solidFill xmlns:a="http://schemas.openxmlformats.org/drawingml/2006/main">
            <a:srgbClr val="161C26"/>
          </a:solidFill>
          <a:ln xmlns:a="http://schemas.openxmlformats.org/drawingml/2006/main" w="12700">
            <a:solidFill>
              <a:srgbClr val="2A3545"/>
            </a:solidFill>
            <a:prstDash val="solid"/>
          </a:ln>
          <a:effectLst xmlns:a="http://schemas.openxmlformats.org/drawingml/2006/main">
            <a:outerShdw blurRad="114300" dist="38100" dir="5400000" sx="100000" sy="100000" kx="0" ky="0" algn="bl" rotWithShape="0">
              <a:srgbClr val="000000">
                <a:alpha val="35000"/>
              </a:srgbClr>
            </a:outerShdw>
          </a:effectLst>
        </p:spPr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FA58A413-892D-46A6-8565-A47EB3E83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3368" y="1810512"/>
            <a:ext cx="8229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000" b="1">
                <a:solidFill>
                  <a:srgbClr val="2E9BFF"/>
                </a:solidFill>
                <a:latin typeface="Calibri"/>
                <a:ea typeface="Calibri"/>
                <a:cs typeface="Calibri"/>
              </a:rPr>
              <a:t>R2</a:t>
            </a:r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64D3F199-60B7-45A3-9BAA-5A43F3294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3760" y="1828800"/>
            <a:ext cx="3657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>
                <a:solidFill>
                  <a:srgbClr val="D6E2F2"/>
                </a:solidFill>
                <a:latin typeface="Calibri"/>
                <a:ea typeface="Calibri"/>
                <a:cs typeface="Calibri"/>
              </a:rPr>
              <a:t>Dev / Pre-Prod / Prod environments</a:t>
            </a:r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2DE0BE71-7508-4A6B-BD31-8F20EB3F2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1360" y="1810512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4FD08A"/>
                </a:solidFill>
                <a:latin typeface="Calibri"/>
                <a:ea typeface="Calibri"/>
                <a:cs typeface="Calibri"/>
              </a:rPr>
              <a:t>✓</a:t>
            </a:r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09D319B7-0F1E-4E2E-BF10-F26F8C5EB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560320"/>
            <a:ext cx="5303520" cy="777240"/>
          </a:xfrm>
          <a:prstGeom xmlns:a="http://schemas.openxmlformats.org/drawingml/2006/main" prst="roundRect">
            <a:avLst>
              <a:gd name="adj" fmla="val 10588"/>
            </a:avLst>
          </a:prstGeom>
          <a:solidFill xmlns:a="http://schemas.openxmlformats.org/drawingml/2006/main">
            <a:srgbClr val="161C26"/>
          </a:solidFill>
          <a:ln xmlns:a="http://schemas.openxmlformats.org/drawingml/2006/main" w="12700">
            <a:solidFill>
              <a:srgbClr val="2A3545"/>
            </a:solidFill>
            <a:prstDash val="solid"/>
          </a:ln>
          <a:effectLst xmlns:a="http://schemas.openxmlformats.org/drawingml/2006/main">
            <a:outerShdw blurRad="114300" dist="38100" dir="5400000" sx="100000" sy="100000" kx="0" ky="0" algn="bl" rotWithShape="0">
              <a:srgbClr val="000000">
                <a:alpha val="35000"/>
              </a:srgbClr>
            </a:outerShdw>
          </a:effectLst>
        </p:spPr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98105A57-6283-4307-9CBE-ABAC79BC7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2724912"/>
            <a:ext cx="8229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000" b="1">
                <a:solidFill>
                  <a:srgbClr val="2E9BFF"/>
                </a:solidFill>
                <a:latin typeface="Calibri"/>
                <a:ea typeface="Calibri"/>
                <a:cs typeface="Calibri"/>
              </a:rPr>
              <a:t>R3</a:t>
            </a:r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21796590-357D-44F3-811E-DDCCB0211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1640" y="2743200"/>
            <a:ext cx="3657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>
                <a:solidFill>
                  <a:srgbClr val="D6E2F2"/>
                </a:solidFill>
                <a:latin typeface="Calibri"/>
                <a:ea typeface="Calibri"/>
                <a:cs typeface="Calibri"/>
              </a:rPr>
              <a:t>Automation &amp; Infrastructure-as-Code</a:t>
            </a:r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7F3DEF5D-2A19-403C-A416-866E60C22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9240" y="2724912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4FD08A"/>
                </a:solidFill>
                <a:latin typeface="Calibri"/>
                <a:ea typeface="Calibri"/>
                <a:cs typeface="Calibri"/>
              </a:rPr>
              <a:t>✓</a:t>
            </a:r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D2631605-E277-4021-8B21-CF35D8972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560320"/>
            <a:ext cx="5303520" cy="777240"/>
          </a:xfrm>
          <a:prstGeom xmlns:a="http://schemas.openxmlformats.org/drawingml/2006/main" prst="roundRect">
            <a:avLst>
              <a:gd name="adj" fmla="val 10588"/>
            </a:avLst>
          </a:prstGeom>
          <a:solidFill xmlns:a="http://schemas.openxmlformats.org/drawingml/2006/main">
            <a:srgbClr val="161C26"/>
          </a:solidFill>
          <a:ln xmlns:a="http://schemas.openxmlformats.org/drawingml/2006/main" w="12700">
            <a:solidFill>
              <a:srgbClr val="2A3545"/>
            </a:solidFill>
            <a:prstDash val="solid"/>
          </a:ln>
          <a:effectLst xmlns:a="http://schemas.openxmlformats.org/drawingml/2006/main">
            <a:outerShdw blurRad="114300" dist="38100" dir="5400000" sx="100000" sy="100000" kx="0" ky="0" algn="bl" rotWithShape="0">
              <a:srgbClr val="000000">
                <a:alpha val="35000"/>
              </a:srgbClr>
            </a:outerShdw>
          </a:effectLst>
        </p:spPr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6C054218-E879-4DE8-9A09-1905E1A17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3368" y="2724912"/>
            <a:ext cx="8229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000" b="1">
                <a:solidFill>
                  <a:srgbClr val="2E9BFF"/>
                </a:solidFill>
                <a:latin typeface="Calibri"/>
                <a:ea typeface="Calibri"/>
                <a:cs typeface="Calibri"/>
              </a:rPr>
              <a:t>R4</a:t>
            </a:r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F243FCCD-590C-4CF9-B406-1F7A59613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3760" y="2743200"/>
            <a:ext cx="3657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>
                <a:solidFill>
                  <a:srgbClr val="D6E2F2"/>
                </a:solidFill>
                <a:latin typeface="Calibri"/>
                <a:ea typeface="Calibri"/>
                <a:cs typeface="Calibri"/>
              </a:rPr>
              <a:t>Security &amp; 99.9% availability</a:t>
            </a:r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EE53F0D6-69EC-49E1-B75D-7DBBBC4D1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1360" y="2724912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4FD08A"/>
                </a:solidFill>
                <a:latin typeface="Calibri"/>
                <a:ea typeface="Calibri"/>
                <a:cs typeface="Calibri"/>
              </a:rPr>
              <a:t>✓</a:t>
            </a:r>
          </a:p>
        </p:txBody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2D6AF6CE-60C9-47F4-B29F-7C6D9DA70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474720"/>
            <a:ext cx="5303520" cy="777240"/>
          </a:xfrm>
          <a:prstGeom xmlns:a="http://schemas.openxmlformats.org/drawingml/2006/main" prst="roundRect">
            <a:avLst>
              <a:gd name="adj" fmla="val 10588"/>
            </a:avLst>
          </a:prstGeom>
          <a:solidFill xmlns:a="http://schemas.openxmlformats.org/drawingml/2006/main">
            <a:srgbClr val="161C26"/>
          </a:solidFill>
          <a:ln xmlns:a="http://schemas.openxmlformats.org/drawingml/2006/main" w="12700">
            <a:solidFill>
              <a:srgbClr val="2A3545"/>
            </a:solidFill>
            <a:prstDash val="solid"/>
          </a:ln>
          <a:effectLst xmlns:a="http://schemas.openxmlformats.org/drawingml/2006/main">
            <a:outerShdw blurRad="114300" dist="38100" dir="5400000" sx="100000" sy="100000" kx="0" ky="0" algn="bl" rotWithShape="0">
              <a:srgbClr val="000000">
                <a:alpha val="35000"/>
              </a:srgbClr>
            </a:outerShdw>
          </a:effectLst>
        </p:spPr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E6300FAC-901C-4D10-BE61-FE8D81E9C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3639312"/>
            <a:ext cx="8229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000" b="1">
                <a:solidFill>
                  <a:srgbClr val="2E9BFF"/>
                </a:solidFill>
                <a:latin typeface="Calibri"/>
                <a:ea typeface="Calibri"/>
                <a:cs typeface="Calibri"/>
              </a:rPr>
              <a:t>R5</a:t>
            </a:r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8F2A0132-6346-4E41-AF85-E7E59AB5F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1640" y="3657600"/>
            <a:ext cx="3657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>
                <a:solidFill>
                  <a:srgbClr val="D6E2F2"/>
                </a:solidFill>
                <a:latin typeface="Calibri"/>
                <a:ea typeface="Calibri"/>
                <a:cs typeface="Calibri"/>
              </a:rPr>
              <a:t>Automated data quality</a:t>
            </a:r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E047811F-F948-41A9-BFFD-CBDC42E7E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9240" y="3639312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4FD08A"/>
                </a:solidFill>
                <a:latin typeface="Calibri"/>
                <a:ea typeface="Calibri"/>
                <a:cs typeface="Calibri"/>
              </a:rPr>
              <a:t>✓</a:t>
            </a:r>
          </a:p>
        </p:txBody>
      </p:sp>
      <p:sp>
        <p:nvSpPr>
          <p:cNvPr id="24" name="Shape 22">
            <a:extLst xmlns:a="http://schemas.openxmlformats.org/drawingml/2006/main">
              <a:ext uri="{FF2B5EF4-FFF2-40B4-BE49-F238E27FC236}">
                <a16:creationId xmlns:a16="http://schemas.microsoft.com/office/drawing/2014/main" id="{46D97F1B-37E6-4048-B4D9-FA9C7B66A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474720"/>
            <a:ext cx="5303520" cy="777240"/>
          </a:xfrm>
          <a:prstGeom xmlns:a="http://schemas.openxmlformats.org/drawingml/2006/main" prst="roundRect">
            <a:avLst>
              <a:gd name="adj" fmla="val 10588"/>
            </a:avLst>
          </a:prstGeom>
          <a:solidFill xmlns:a="http://schemas.openxmlformats.org/drawingml/2006/main">
            <a:srgbClr val="161C26"/>
          </a:solidFill>
          <a:ln xmlns:a="http://schemas.openxmlformats.org/drawingml/2006/main" w="12700">
            <a:solidFill>
              <a:srgbClr val="2A3545"/>
            </a:solidFill>
            <a:prstDash val="solid"/>
          </a:ln>
          <a:effectLst xmlns:a="http://schemas.openxmlformats.org/drawingml/2006/main">
            <a:outerShdw blurRad="114300" dist="38100" dir="5400000" sx="100000" sy="100000" kx="0" ky="0" algn="bl" rotWithShape="0">
              <a:srgbClr val="000000">
                <a:alpha val="35000"/>
              </a:srgbClr>
            </a:outerShdw>
          </a:effectLst>
        </p:spPr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081F610E-9E3E-4492-9E9E-FFF01ED60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3368" y="3639312"/>
            <a:ext cx="8229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000" b="1">
                <a:solidFill>
                  <a:srgbClr val="2E9BFF"/>
                </a:solidFill>
                <a:latin typeface="Calibri"/>
                <a:ea typeface="Calibri"/>
                <a:cs typeface="Calibri"/>
              </a:rPr>
              <a:t>R6</a:t>
            </a:r>
          </a:p>
        </p:txBody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ACEA31EB-456C-4254-8901-9D842640E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3760" y="3657600"/>
            <a:ext cx="3657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>
                <a:solidFill>
                  <a:srgbClr val="D6E2F2"/>
                </a:solidFill>
                <a:latin typeface="Calibri"/>
                <a:ea typeface="Calibri"/>
                <a:cs typeface="Calibri"/>
              </a:rPr>
              <a:t>40–60% cost reduction</a:t>
            </a:r>
          </a:p>
        </p:txBody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1FDA1F99-7087-425C-A228-F8B0A0B51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1360" y="3639312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4FD08A"/>
                </a:solidFill>
                <a:latin typeface="Calibri"/>
                <a:ea typeface="Calibri"/>
                <a:cs typeface="Calibri"/>
              </a:rPr>
              <a:t>✓</a:t>
            </a:r>
          </a:p>
        </p:txBody>
      </p:sp>
      <p:sp>
        <p:nvSpPr>
          <p:cNvPr id="28" name="Shape 26">
            <a:extLst xmlns:a="http://schemas.openxmlformats.org/drawingml/2006/main">
              <a:ext uri="{FF2B5EF4-FFF2-40B4-BE49-F238E27FC236}">
                <a16:creationId xmlns:a16="http://schemas.microsoft.com/office/drawing/2014/main" id="{81103C52-B95D-4080-8F13-FBE8BE7D3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389120"/>
            <a:ext cx="5303520" cy="777240"/>
          </a:xfrm>
          <a:prstGeom xmlns:a="http://schemas.openxmlformats.org/drawingml/2006/main" prst="roundRect">
            <a:avLst>
              <a:gd name="adj" fmla="val 10588"/>
            </a:avLst>
          </a:prstGeom>
          <a:solidFill xmlns:a="http://schemas.openxmlformats.org/drawingml/2006/main">
            <a:srgbClr val="161C26"/>
          </a:solidFill>
          <a:ln xmlns:a="http://schemas.openxmlformats.org/drawingml/2006/main" w="12700">
            <a:solidFill>
              <a:srgbClr val="2A3545"/>
            </a:solidFill>
            <a:prstDash val="solid"/>
          </a:ln>
          <a:effectLst xmlns:a="http://schemas.openxmlformats.org/drawingml/2006/main">
            <a:outerShdw blurRad="114300" dist="38100" dir="5400000" sx="100000" sy="100000" kx="0" ky="0" algn="bl" rotWithShape="0">
              <a:srgbClr val="000000">
                <a:alpha val="35000"/>
              </a:srgbClr>
            </a:outerShdw>
          </a:effectLst>
        </p:spPr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5C5BE48D-85E9-4A76-BA19-E9860137D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4553712"/>
            <a:ext cx="8229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000" b="1">
                <a:solidFill>
                  <a:srgbClr val="2E9BFF"/>
                </a:solidFill>
                <a:latin typeface="Calibri"/>
                <a:ea typeface="Calibri"/>
                <a:cs typeface="Calibri"/>
              </a:rPr>
              <a:t>R7</a:t>
            </a:r>
          </a:p>
        </p:txBody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839C3FB3-07C8-42A1-840C-D52541329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1640" y="4572000"/>
            <a:ext cx="3657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>
                <a:solidFill>
                  <a:srgbClr val="D6E2F2"/>
                </a:solidFill>
                <a:latin typeface="Calibri"/>
                <a:ea typeface="Calibri"/>
                <a:cs typeface="Calibri"/>
              </a:rPr>
              <a:t>Extensibility &amp; interoperability</a:t>
            </a:r>
          </a:p>
        </p:txBody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5A90ACFE-AA11-4305-8377-93329B82E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9240" y="4553712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4FD08A"/>
                </a:solidFill>
                <a:latin typeface="Calibri"/>
                <a:ea typeface="Calibri"/>
                <a:cs typeface="Calibri"/>
              </a:rPr>
              <a:t>✓</a:t>
            </a:r>
          </a:p>
        </p:txBody>
      </p:sp>
      <p:sp>
        <p:nvSpPr>
          <p:cNvPr id="32" name="Shape 30">
            <a:extLst xmlns:a="http://schemas.openxmlformats.org/drawingml/2006/main">
              <a:ext uri="{FF2B5EF4-FFF2-40B4-BE49-F238E27FC236}">
                <a16:creationId xmlns:a16="http://schemas.microsoft.com/office/drawing/2014/main" id="{1CBD5138-039E-4214-AC24-D2DE26C6B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4389120"/>
            <a:ext cx="5303520" cy="777240"/>
          </a:xfrm>
          <a:prstGeom xmlns:a="http://schemas.openxmlformats.org/drawingml/2006/main" prst="roundRect">
            <a:avLst>
              <a:gd name="adj" fmla="val 10588"/>
            </a:avLst>
          </a:prstGeom>
          <a:solidFill xmlns:a="http://schemas.openxmlformats.org/drawingml/2006/main">
            <a:srgbClr val="161C26"/>
          </a:solidFill>
          <a:ln xmlns:a="http://schemas.openxmlformats.org/drawingml/2006/main" w="12700">
            <a:solidFill>
              <a:srgbClr val="2A3545"/>
            </a:solidFill>
            <a:prstDash val="solid"/>
          </a:ln>
          <a:effectLst xmlns:a="http://schemas.openxmlformats.org/drawingml/2006/main">
            <a:outerShdw blurRad="114300" dist="38100" dir="5400000" sx="100000" sy="100000" kx="0" ky="0" algn="bl" rotWithShape="0">
              <a:srgbClr val="000000">
                <a:alpha val="35000"/>
              </a:srgbClr>
            </a:outerShdw>
          </a:effectLst>
        </p:spPr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ED8202CE-A017-4CB9-94E7-8949D9975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3368" y="4553712"/>
            <a:ext cx="8229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000" b="1">
                <a:solidFill>
                  <a:srgbClr val="2E9BFF"/>
                </a:solidFill>
                <a:latin typeface="Calibri"/>
                <a:ea typeface="Calibri"/>
                <a:cs typeface="Calibri"/>
              </a:rPr>
              <a:t>R8</a:t>
            </a:r>
          </a:p>
        </p:txBody>
      </p:sp>
      <p:sp>
        <p:nvSpPr>
          <p:cNvPr id="34" name="Text 32">
            <a:extLst xmlns:a="http://schemas.openxmlformats.org/drawingml/2006/main">
              <a:ext uri="{FF2B5EF4-FFF2-40B4-BE49-F238E27FC236}">
                <a16:creationId xmlns:a16="http://schemas.microsoft.com/office/drawing/2014/main" id="{19FBE5EC-E2C1-4253-BAE4-EB732EC53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3760" y="4572000"/>
            <a:ext cx="3657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>
                <a:solidFill>
                  <a:srgbClr val="D6E2F2"/>
                </a:solidFill>
                <a:latin typeface="Calibri"/>
                <a:ea typeface="Calibri"/>
                <a:cs typeface="Calibri"/>
              </a:rPr>
              <a:t>Sustainability &amp; carbon metrics</a:t>
            </a:r>
          </a:p>
        </p:txBody>
      </p:sp>
      <p:sp>
        <p:nvSpPr>
          <p:cNvPr id="35" name="Text 33">
            <a:extLst xmlns:a="http://schemas.openxmlformats.org/drawingml/2006/main">
              <a:ext uri="{FF2B5EF4-FFF2-40B4-BE49-F238E27FC236}">
                <a16:creationId xmlns:a16="http://schemas.microsoft.com/office/drawing/2014/main" id="{28403B47-FF7D-4E13-8354-AE4AA53B4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1360" y="4553712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4FD08A"/>
                </a:solidFill>
                <a:latin typeface="Calibri"/>
                <a:ea typeface="Calibri"/>
                <a:cs typeface="Calibri"/>
              </a:rPr>
              <a:t>✓</a:t>
            </a:r>
          </a:p>
        </p:txBody>
      </p:sp>
    </p:spTree>
    <p:extLst>
      <p:ext uri="{BB962C8B-B14F-4D97-AF65-F5344CB8AC3E}">
        <p14:creationId xmlns:p14="http://schemas.microsoft.com/office/powerpoint/2010/main" val="115662564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B0E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97CCB05B-B752-4699-91D9-E7BC466EA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20624"/>
            <a:ext cx="10058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 spc="300">
                <a:solidFill>
                  <a:srgbClr val="2E9BFF"/>
                </a:solidFill>
                <a:latin typeface="Calibri"/>
                <a:ea typeface="Calibri"/>
                <a:cs typeface="Calibri"/>
              </a:rPr>
              <a:t>SECTION 4 · R6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3EAA0E4F-B9AF-417A-9244-C1666A838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676656"/>
            <a:ext cx="1097280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Projected ~57% lower infrastructure cost</a:t>
            </a:r>
          </a:p>
        </p:txBody>
      </p:sp>
      <p:pic>
        <p:nvPicPr>
          <p:cNvPr id="20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928a1c714e34661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40080" y="1554480"/>
            <a:ext cx="7955280" cy="4937760"/>
          </a:xfrm>
          <a:prstGeom xmlns:a="http://schemas.openxmlformats.org/drawingml/2006/main" prst="rect">
            <a:avLst/>
          </a:prstGeom>
        </p:spPr>
      </p:pic>
      <p:sp>
        <p:nvSpPr>
          <p:cNvPr id="5" name="Shape 2">
            <a:extLst xmlns:a="http://schemas.openxmlformats.org/drawingml/2006/main">
              <a:ext uri="{FF2B5EF4-FFF2-40B4-BE49-F238E27FC236}">
                <a16:creationId xmlns:a16="http://schemas.microsoft.com/office/drawing/2014/main" id="{ABA4F823-2DE4-4B47-8A5F-75A92D3E9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0" y="1691640"/>
            <a:ext cx="2697480" cy="100584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161C26"/>
          </a:solidFill>
          <a:ln xmlns:a="http://schemas.openxmlformats.org/drawingml/2006/main" w="12700">
            <a:solidFill>
              <a:srgbClr val="2A3545"/>
            </a:solidFill>
            <a:prstDash val="solid"/>
          </a:ln>
          <a:effectLst xmlns:a="http://schemas.openxmlformats.org/drawingml/2006/main">
            <a:outerShdw blurRad="114300" dist="38100" dir="5400000" sx="100000" sy="100000" kx="0" ky="0" algn="bl" rotWithShape="0">
              <a:srgbClr val="000000">
                <a:alpha val="35000"/>
              </a:srgbClr>
            </a:outerShdw>
          </a:effectLst>
        </p:spPr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0C5E2D0F-562F-4F90-A35E-EF759FB31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0" y="1837944"/>
            <a:ext cx="269748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600" b="1">
                <a:solidFill>
                  <a:srgbClr val="9FB0C3"/>
                </a:solidFill>
                <a:latin typeface="Calibri"/>
                <a:ea typeface="Calibri"/>
                <a:cs typeface="Calibri"/>
              </a:rPr>
              <a:t>€1.30M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6356BB47-8107-4885-8CC6-B820EA5CB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0" y="2350008"/>
            <a:ext cx="269748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>
                <a:solidFill>
                  <a:srgbClr val="9FB0C3"/>
                </a:solidFill>
                <a:latin typeface="Calibri"/>
                <a:ea typeface="Calibri"/>
                <a:cs typeface="Calibri"/>
              </a:rPr>
              <a:t>Colocation / year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6BFD6F2A-B078-4D31-87EE-311827CFE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0" y="2880360"/>
            <a:ext cx="2697480" cy="100584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161C26"/>
          </a:solidFill>
          <a:ln xmlns:a="http://schemas.openxmlformats.org/drawingml/2006/main" w="12700">
            <a:solidFill>
              <a:srgbClr val="2A3545"/>
            </a:solidFill>
            <a:prstDash val="solid"/>
          </a:ln>
          <a:effectLst xmlns:a="http://schemas.openxmlformats.org/drawingml/2006/main">
            <a:outerShdw blurRad="114300" dist="38100" dir="5400000" sx="100000" sy="100000" kx="0" ky="0" algn="bl" rotWithShape="0">
              <a:srgbClr val="000000">
                <a:alpha val="35000"/>
              </a:srgbClr>
            </a:outerShdw>
          </a:effectLst>
        </p:spPr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DA07F7F9-AD4D-4A54-8651-1D2CB8E2E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0" y="3026664"/>
            <a:ext cx="269748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600" b="1">
                <a:solidFill>
                  <a:srgbClr val="2E9BFF"/>
                </a:solidFill>
                <a:latin typeface="Calibri"/>
                <a:ea typeface="Calibri"/>
                <a:cs typeface="Calibri"/>
              </a:rPr>
              <a:t>€0.56M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47952769-2291-48AB-83E6-6F8D00A3C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0" y="3538728"/>
            <a:ext cx="269748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>
                <a:solidFill>
                  <a:srgbClr val="9FB0C3"/>
                </a:solidFill>
                <a:latin typeface="Calibri"/>
                <a:ea typeface="Calibri"/>
                <a:cs typeface="Calibri"/>
              </a:rPr>
              <a:t>AWS / year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8B9CB5D7-58FC-4AE0-A739-08B17E614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0" y="4069080"/>
            <a:ext cx="2697480" cy="100584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161C26"/>
          </a:solidFill>
          <a:ln xmlns:a="http://schemas.openxmlformats.org/drawingml/2006/main" w="12700">
            <a:solidFill>
              <a:srgbClr val="2A3545"/>
            </a:solidFill>
            <a:prstDash val="solid"/>
          </a:ln>
          <a:effectLst xmlns:a="http://schemas.openxmlformats.org/drawingml/2006/main">
            <a:outerShdw blurRad="114300" dist="38100" dir="5400000" sx="100000" sy="100000" kx="0" ky="0" algn="bl" rotWithShape="0">
              <a:srgbClr val="000000">
                <a:alpha val="35000"/>
              </a:srgbClr>
            </a:outerShdw>
          </a:effectLst>
        </p:spPr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A4EC8AC1-DBAE-49FC-93B4-FC0B2B09A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0" y="4215384"/>
            <a:ext cx="269748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600" b="1">
                <a:solidFill>
                  <a:srgbClr val="4FD08A"/>
                </a:solidFill>
                <a:latin typeface="Calibri"/>
                <a:ea typeface="Calibri"/>
                <a:cs typeface="Calibri"/>
              </a:rPr>
              <a:t>−57%</a:t>
            </a:r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D266732B-5722-4732-94EF-ADE44BB84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0" y="4727448"/>
            <a:ext cx="269748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>
                <a:solidFill>
                  <a:srgbClr val="9FB0C3"/>
                </a:solidFill>
                <a:latin typeface="Calibri"/>
                <a:ea typeface="Calibri"/>
                <a:cs typeface="Calibri"/>
              </a:rPr>
              <a:t>Cost reduction</a:t>
            </a:r>
          </a:p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182EDCB8-C84C-4D9D-BBF7-330B9D4C9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0" y="5257800"/>
            <a:ext cx="2697480" cy="100584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161C26"/>
          </a:solidFill>
          <a:ln xmlns:a="http://schemas.openxmlformats.org/drawingml/2006/main" w="12700">
            <a:solidFill>
              <a:srgbClr val="2A3545"/>
            </a:solidFill>
            <a:prstDash val="solid"/>
          </a:ln>
          <a:effectLst xmlns:a="http://schemas.openxmlformats.org/drawingml/2006/main">
            <a:outerShdw blurRad="114300" dist="38100" dir="5400000" sx="100000" sy="100000" kx="0" ky="0" algn="bl" rotWithShape="0">
              <a:srgbClr val="000000">
                <a:alpha val="35000"/>
              </a:srgbClr>
            </a:outerShdw>
          </a:effectLst>
        </p:spPr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BFBC4CDA-6747-476E-9B80-582E551A8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0" y="5404104"/>
            <a:ext cx="269748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600" b="1">
                <a:solidFill>
                  <a:srgbClr val="4FD08A"/>
                </a:solidFill>
                <a:latin typeface="Calibri"/>
                <a:ea typeface="Calibri"/>
                <a:cs typeface="Calibri"/>
              </a:rPr>
              <a:t>€0.74M</a:t>
            </a:r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9FC198F5-62F4-4F33-B0B2-7C94D0069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0" y="5916168"/>
            <a:ext cx="269748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>
                <a:solidFill>
                  <a:srgbClr val="9FB0C3"/>
                </a:solidFill>
                <a:latin typeface="Calibri"/>
                <a:ea typeface="Calibri"/>
                <a:cs typeface="Calibri"/>
              </a:rPr>
              <a:t>Saved every year</a:t>
            </a:r>
          </a:p>
        </p:txBody>
      </p:sp>
    </p:spTree>
    <p:extLst>
      <p:ext uri="{BB962C8B-B14F-4D97-AF65-F5344CB8AC3E}">
        <p14:creationId xmlns:p14="http://schemas.microsoft.com/office/powerpoint/2010/main" val="869007187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B0E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FE238A48-E564-4A12-A16E-33229AEA4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20624"/>
            <a:ext cx="10058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 spc="300">
                <a:solidFill>
                  <a:srgbClr val="2E9BFF"/>
                </a:solidFill>
                <a:latin typeface="Calibri"/>
                <a:ea typeface="Calibri"/>
                <a:cs typeface="Calibri"/>
              </a:rPr>
              <a:t>DELIVERY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6200C253-2B54-47B5-AE07-86A60EF0A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676656"/>
            <a:ext cx="1097280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Nine-month delivery in three phases</a:t>
            </a:r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BDF7982D-8C4D-4A3F-A05A-2789B6FF2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737360"/>
            <a:ext cx="3474720" cy="3383280"/>
          </a:xfrm>
          <a:prstGeom xmlns:a="http://schemas.openxmlformats.org/drawingml/2006/main" prst="roundRect">
            <a:avLst>
              <a:gd name="adj" fmla="val 2432"/>
            </a:avLst>
          </a:prstGeom>
          <a:solidFill xmlns:a="http://schemas.openxmlformats.org/drawingml/2006/main">
            <a:srgbClr val="161C26"/>
          </a:solidFill>
          <a:ln xmlns:a="http://schemas.openxmlformats.org/drawingml/2006/main" w="12700">
            <a:solidFill>
              <a:srgbClr val="2A3545"/>
            </a:solidFill>
            <a:prstDash val="solid"/>
          </a:ln>
          <a:effectLst xmlns:a="http://schemas.openxmlformats.org/drawingml/2006/main">
            <a:outerShdw blurRad="114300" dist="38100" dir="5400000" sx="100000" sy="100000" kx="0" ky="0" algn="bl" rotWithShape="0">
              <a:srgbClr val="000000">
                <a:alpha val="35000"/>
              </a:srgbClr>
            </a:outerShdw>
          </a:effectLst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39E58C2F-AC5F-4918-89AC-ECC6DEE46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1965960"/>
            <a:ext cx="30175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900" b="1">
                <a:solidFill>
                  <a:srgbClr val="2E9BFF"/>
                </a:solidFill>
                <a:latin typeface="Calibri"/>
                <a:ea typeface="Calibri"/>
                <a:cs typeface="Calibri"/>
              </a:rPr>
              <a:t>Phase 1 · Foundation</a:t>
            </a:r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4B67E3B5-B6CA-4E6C-8EFD-9AA14BC55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2432304"/>
            <a:ext cx="30175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9FB0C3"/>
                </a:solidFill>
                <a:latin typeface="Calibri"/>
                <a:ea typeface="Calibri"/>
                <a:cs typeface="Calibri"/>
              </a:rPr>
              <a:t>Months 1–3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B7410B09-221C-404E-A866-027A04BBB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2834640"/>
            <a:ext cx="3017520" cy="2103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lnSpc>
                <a:spcPct val="115000"/>
              </a:lnSpc>
              <a:buNone/>
            </a:pPr>
            <a:r>
              <a:rPr sz="1450">
                <a:solidFill>
                  <a:srgbClr val="D6E2F2"/>
                </a:solidFill>
                <a:latin typeface="Calibri"/>
                <a:ea typeface="Calibri"/>
                <a:cs typeface="Calibri"/>
              </a:rPr>
              <a:t>AWS accounts, Terraform baseline, Dev live, DMS migration, Catalog + MWAA, first batch pipelines.</a:t>
            </a:r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94C66EDE-B777-4654-813A-212B305D3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1688" y="1737360"/>
            <a:ext cx="3474720" cy="3383280"/>
          </a:xfrm>
          <a:prstGeom xmlns:a="http://schemas.openxmlformats.org/drawingml/2006/main" prst="roundRect">
            <a:avLst>
              <a:gd name="adj" fmla="val 2432"/>
            </a:avLst>
          </a:prstGeom>
          <a:solidFill xmlns:a="http://schemas.openxmlformats.org/drawingml/2006/main">
            <a:srgbClr val="161C26"/>
          </a:solidFill>
          <a:ln xmlns:a="http://schemas.openxmlformats.org/drawingml/2006/main" w="12700">
            <a:solidFill>
              <a:srgbClr val="2A3545"/>
            </a:solidFill>
            <a:prstDash val="solid"/>
          </a:ln>
          <a:effectLst xmlns:a="http://schemas.openxmlformats.org/drawingml/2006/main">
            <a:outerShdw blurRad="114300" dist="38100" dir="5400000" sx="100000" sy="100000" kx="0" ky="0" algn="bl" rotWithShape="0">
              <a:srgbClr val="000000">
                <a:alpha val="35000"/>
              </a:srgbClr>
            </a:outerShdw>
          </a:effectLst>
        </p:spPr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674FEA85-50D2-4997-ACEF-F4CDC10D0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7720" y="1965960"/>
            <a:ext cx="30175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900" b="1">
                <a:solidFill>
                  <a:srgbClr val="8A6CF6"/>
                </a:solidFill>
                <a:latin typeface="Calibri"/>
                <a:ea typeface="Calibri"/>
                <a:cs typeface="Calibri"/>
              </a:rPr>
              <a:t>Phase 2 · Build &amp; Validate</a:t>
            </a:r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F2AA2822-3AB2-4E4E-922E-0985B3BE6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7720" y="2432304"/>
            <a:ext cx="30175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9FB0C3"/>
                </a:solidFill>
                <a:latin typeface="Calibri"/>
                <a:ea typeface="Calibri"/>
                <a:cs typeface="Calibri"/>
              </a:rPr>
              <a:t>Months 4–6</a:t>
            </a:r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96D7CA3F-8860-4E19-B1AA-10F2C3ADB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7720" y="2834640"/>
            <a:ext cx="3017520" cy="2103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lnSpc>
                <a:spcPct val="115000"/>
              </a:lnSpc>
              <a:buNone/>
            </a:pPr>
            <a:r>
              <a:rPr sz="1450">
                <a:solidFill>
                  <a:srgbClr val="D6E2F2"/>
                </a:solidFill>
                <a:latin typeface="Calibri"/>
                <a:ea typeface="Calibri"/>
                <a:cs typeface="Calibri"/>
              </a:rPr>
              <a:t>Pre-Prod live, Kinesis streaming, Glue DQ + Lake Formation, QuickSight replacing Excel, first ML model.</a:t>
            </a:r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7DD6A566-276A-48CC-A5B7-44975A040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3296" y="1737360"/>
            <a:ext cx="3474720" cy="3383280"/>
          </a:xfrm>
          <a:prstGeom xmlns:a="http://schemas.openxmlformats.org/drawingml/2006/main" prst="roundRect">
            <a:avLst>
              <a:gd name="adj" fmla="val 2432"/>
            </a:avLst>
          </a:prstGeom>
          <a:solidFill xmlns:a="http://schemas.openxmlformats.org/drawingml/2006/main">
            <a:srgbClr val="161C26"/>
          </a:solidFill>
          <a:ln xmlns:a="http://schemas.openxmlformats.org/drawingml/2006/main" w="12700">
            <a:solidFill>
              <a:srgbClr val="2A3545"/>
            </a:solidFill>
            <a:prstDash val="solid"/>
          </a:ln>
          <a:effectLst xmlns:a="http://schemas.openxmlformats.org/drawingml/2006/main">
            <a:outerShdw blurRad="114300" dist="38100" dir="5400000" sx="100000" sy="100000" kx="0" ky="0" algn="bl" rotWithShape="0">
              <a:srgbClr val="000000">
                <a:alpha val="35000"/>
              </a:srgbClr>
            </a:outerShdw>
          </a:effectLst>
        </p:spPr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F7206F50-4D2D-43F8-B583-9C8F2EDBE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9328" y="1965960"/>
            <a:ext cx="30175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900" b="1">
                <a:solidFill>
                  <a:srgbClr val="4FD08A"/>
                </a:solidFill>
                <a:latin typeface="Calibri"/>
                <a:ea typeface="Calibri"/>
                <a:cs typeface="Calibri"/>
              </a:rPr>
              <a:t>Phase 3 · Cutover &amp; ML</a:t>
            </a:r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2841B3B2-85C4-4668-99E8-95364584E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9328" y="2432304"/>
            <a:ext cx="30175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9FB0C3"/>
                </a:solidFill>
                <a:latin typeface="Calibri"/>
                <a:ea typeface="Calibri"/>
                <a:cs typeface="Calibri"/>
              </a:rPr>
              <a:t>Months 7–9</a:t>
            </a:r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0DB17314-8A89-424A-8DB8-92DA8DEEC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9328" y="2834640"/>
            <a:ext cx="3017520" cy="2103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lnSpc>
                <a:spcPct val="115000"/>
              </a:lnSpc>
              <a:buNone/>
            </a:pPr>
            <a:r>
              <a:rPr sz="1450">
                <a:solidFill>
                  <a:srgbClr val="D6E2F2"/>
                </a:solidFill>
                <a:latin typeface="Calibri"/>
                <a:ea typeface="Calibri"/>
                <a:cs typeface="Calibri"/>
              </a:rPr>
              <a:t>Production live, colocation decommissioned, recommendations + dynamic pricing, security audit, handover.</a:t>
            </a:r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30F4A855-D73A-43A8-8B5A-7B6213424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44068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i="1">
                <a:solidFill>
                  <a:srgbClr val="9FB0C3"/>
                </a:solidFill>
                <a:latin typeface="Calibri"/>
                <a:ea typeface="Calibri"/>
                <a:cs typeface="Calibri"/>
              </a:rPr>
              <a:t>Key risks mitigated: parallel DMS CDC before cutover · open-source for lock-in · DPIA before any personal data.</a:t>
            </a:r>
          </a:p>
        </p:txBody>
      </p:sp>
    </p:spTree>
    <p:extLst>
      <p:ext uri="{BB962C8B-B14F-4D97-AF65-F5344CB8AC3E}">
        <p14:creationId xmlns:p14="http://schemas.microsoft.com/office/powerpoint/2010/main" val="2078827544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B0E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97F0F7BF-357F-46DE-BC94-1F49FBC24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20624"/>
            <a:ext cx="10058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 spc="300">
                <a:solidFill>
                  <a:srgbClr val="2E9BFF"/>
                </a:solidFill>
                <a:latin typeface="Calibri"/>
                <a:ea typeface="Calibri"/>
                <a:cs typeface="Calibri"/>
              </a:rPr>
              <a:t>SECTION 5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17144D56-D12A-4343-BD6E-92D50D245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676656"/>
            <a:ext cx="1097280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What it unlocks — ML use cases on real data</a:t>
            </a:r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B2E16DC0-0EA0-489B-ABB8-30D853233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737360"/>
            <a:ext cx="3474720" cy="3566160"/>
          </a:xfrm>
          <a:prstGeom xmlns:a="http://schemas.openxmlformats.org/drawingml/2006/main" prst="roundRect">
            <a:avLst>
              <a:gd name="adj" fmla="val 2368"/>
            </a:avLst>
          </a:prstGeom>
          <a:solidFill xmlns:a="http://schemas.openxmlformats.org/drawingml/2006/main">
            <a:srgbClr val="161C26"/>
          </a:solidFill>
          <a:ln xmlns:a="http://schemas.openxmlformats.org/drawingml/2006/main" w="12700">
            <a:solidFill>
              <a:srgbClr val="2A3545"/>
            </a:solidFill>
            <a:prstDash val="solid"/>
          </a:ln>
          <a:effectLst xmlns:a="http://schemas.openxmlformats.org/drawingml/2006/main">
            <a:outerShdw blurRad="114300" dist="38100" dir="5400000" sx="100000" sy="100000" kx="0" ky="0" algn="bl" rotWithShape="0">
              <a:srgbClr val="000000">
                <a:alpha val="35000"/>
              </a:srgbClr>
            </a:outerShdw>
          </a:effectLst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6019BEE5-FAB5-41F1-BE51-C7424DAC5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1993392"/>
            <a:ext cx="297180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Demand Forecasting</a:t>
            </a:r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E178227D-E73B-4633-9EB1-E76CA5928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2697480"/>
            <a:ext cx="2971800" cy="1280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lnSpc>
                <a:spcPct val="115000"/>
              </a:lnSpc>
              <a:buNone/>
            </a:pPr>
            <a:r>
              <a:rPr sz="1450">
                <a:solidFill>
                  <a:srgbClr val="9FB0C3"/>
                </a:solidFill>
                <a:latin typeface="Calibri"/>
                <a:ea typeface="Calibri"/>
                <a:cs typeface="Calibri"/>
              </a:rPr>
              <a:t>SageMaker DeepAR on sales + weather + events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A7540500-FA0E-4FD1-A9D1-F2088A63E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4526280"/>
            <a:ext cx="297180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4FD08A"/>
                </a:solidFill>
                <a:latin typeface="Calibri"/>
                <a:ea typeface="Calibri"/>
                <a:cs typeface="Calibri"/>
              </a:rPr>
              <a:t>−30% stockouts · −20% overstock</a:t>
            </a:r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C4E41513-3C40-4572-BAE6-8709F3191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1688" y="1737360"/>
            <a:ext cx="3474720" cy="3566160"/>
          </a:xfrm>
          <a:prstGeom xmlns:a="http://schemas.openxmlformats.org/drawingml/2006/main" prst="roundRect">
            <a:avLst>
              <a:gd name="adj" fmla="val 2368"/>
            </a:avLst>
          </a:prstGeom>
          <a:solidFill xmlns:a="http://schemas.openxmlformats.org/drawingml/2006/main">
            <a:srgbClr val="161C26"/>
          </a:solidFill>
          <a:ln xmlns:a="http://schemas.openxmlformats.org/drawingml/2006/main" w="12700">
            <a:solidFill>
              <a:srgbClr val="2A3545"/>
            </a:solidFill>
            <a:prstDash val="solid"/>
          </a:ln>
          <a:effectLst xmlns:a="http://schemas.openxmlformats.org/drawingml/2006/main">
            <a:outerShdw blurRad="114300" dist="38100" dir="5400000" sx="100000" sy="100000" kx="0" ky="0" algn="bl" rotWithShape="0">
              <a:srgbClr val="000000">
                <a:alpha val="35000"/>
              </a:srgbClr>
            </a:outerShdw>
          </a:effectLst>
        </p:spPr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60EF4782-D9E1-4202-90DB-225BFCAFF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7720" y="1993392"/>
            <a:ext cx="297180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Product Recommendations</a:t>
            </a:r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FD978B26-7877-4116-9051-D5C275654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7720" y="2697480"/>
            <a:ext cx="2971800" cy="1280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lnSpc>
                <a:spcPct val="115000"/>
              </a:lnSpc>
              <a:buNone/>
            </a:pPr>
            <a:r>
              <a:rPr sz="1450">
                <a:solidFill>
                  <a:srgbClr val="9FB0C3"/>
                </a:solidFill>
                <a:latin typeface="Calibri"/>
                <a:ea typeface="Calibri"/>
                <a:cs typeface="Calibri"/>
              </a:rPr>
              <a:t>Collaborative filtering, served at ≤5ms via DynamoDB</a:t>
            </a:r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F783C6FB-642F-4C2F-95DC-A9776D779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7720" y="4526280"/>
            <a:ext cx="297180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2E9BFF"/>
                </a:solidFill>
                <a:latin typeface="Calibri"/>
                <a:ea typeface="Calibri"/>
                <a:cs typeface="Calibri"/>
              </a:rPr>
              <a:t>+12–18% average order value</a:t>
            </a:r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C1237148-C9FC-480C-843A-4AB34DF41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3296" y="1737360"/>
            <a:ext cx="3474720" cy="3566160"/>
          </a:xfrm>
          <a:prstGeom xmlns:a="http://schemas.openxmlformats.org/drawingml/2006/main" prst="roundRect">
            <a:avLst>
              <a:gd name="adj" fmla="val 2368"/>
            </a:avLst>
          </a:prstGeom>
          <a:solidFill xmlns:a="http://schemas.openxmlformats.org/drawingml/2006/main">
            <a:srgbClr val="161C26"/>
          </a:solidFill>
          <a:ln xmlns:a="http://schemas.openxmlformats.org/drawingml/2006/main" w="12700">
            <a:solidFill>
              <a:srgbClr val="2A3545"/>
            </a:solidFill>
            <a:prstDash val="solid"/>
          </a:ln>
          <a:effectLst xmlns:a="http://schemas.openxmlformats.org/drawingml/2006/main">
            <a:outerShdw blurRad="114300" dist="38100" dir="5400000" sx="100000" sy="100000" kx="0" ky="0" algn="bl" rotWithShape="0">
              <a:srgbClr val="000000">
                <a:alpha val="35000"/>
              </a:srgbClr>
            </a:outerShdw>
          </a:effectLst>
        </p:spPr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8A20581C-0531-4BB4-AB20-6CC845062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9328" y="1993392"/>
            <a:ext cx="297180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Sentiment Merchandising</a:t>
            </a:r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12CB2AA0-CFCE-4A7A-AA35-3545473AA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9328" y="2697480"/>
            <a:ext cx="2971800" cy="1280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lnSpc>
                <a:spcPct val="115000"/>
              </a:lnSpc>
              <a:buNone/>
            </a:pPr>
            <a:r>
              <a:rPr sz="1450">
                <a:solidFill>
                  <a:srgbClr val="9FB0C3"/>
                </a:solidFill>
                <a:latin typeface="Calibri"/>
                <a:ea typeface="Calibri"/>
                <a:cs typeface="Calibri"/>
              </a:rPr>
              <a:t>Comprehend NLP on reviews, alerts to buyers</a:t>
            </a:r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B7B68124-7266-46EA-9BC3-DBF756326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9328" y="4526280"/>
            <a:ext cx="297180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8A6CF6"/>
                </a:solidFill>
                <a:latin typeface="Calibri"/>
                <a:ea typeface="Calibri"/>
                <a:cs typeface="Calibri"/>
              </a:rPr>
              <a:t>2–3 weeks' earlier warning</a:t>
            </a:r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B4248B0E-AE44-4AD0-9016-0105B3E4B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4864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i="1">
                <a:solidFill>
                  <a:srgbClr val="9FB0C3"/>
                </a:solidFill>
                <a:latin typeface="Calibri"/>
                <a:ea typeface="Calibri"/>
                <a:cs typeface="Calibri"/>
              </a:rPr>
              <a:t>Plus dynamic pricing (+3–7% margin) and return-rate optimisation (−10–15% processing cost).</a:t>
            </a:r>
          </a:p>
        </p:txBody>
      </p:sp>
    </p:spTree>
    <p:extLst>
      <p:ext uri="{BB962C8B-B14F-4D97-AF65-F5344CB8AC3E}">
        <p14:creationId xmlns:p14="http://schemas.microsoft.com/office/powerpoint/2010/main" val="1124199445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B0E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AF39D247-FB22-4FDE-A97C-96540A95B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20624"/>
            <a:ext cx="10058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 spc="300">
                <a:solidFill>
                  <a:srgbClr val="2E9BFF"/>
                </a:solidFill>
                <a:latin typeface="Calibri"/>
                <a:ea typeface="Calibri"/>
                <a:cs typeface="Calibri"/>
              </a:rPr>
              <a:t>SECTION 6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B62B0775-A3F9-4BA7-9A98-27ACF4D66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676656"/>
            <a:ext cx="1097280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 platform that keeps compounding value</a:t>
            </a:r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F18A246D-9343-4372-8929-48BE6101C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737360"/>
            <a:ext cx="10972800" cy="1298448"/>
          </a:xfrm>
          <a:prstGeom xmlns:a="http://schemas.openxmlformats.org/drawingml/2006/main" prst="roundRect">
            <a:avLst>
              <a:gd name="adj" fmla="val 6338"/>
            </a:avLst>
          </a:prstGeom>
          <a:solidFill xmlns:a="http://schemas.openxmlformats.org/drawingml/2006/main">
            <a:srgbClr val="161C26"/>
          </a:solidFill>
          <a:ln xmlns:a="http://schemas.openxmlformats.org/drawingml/2006/main" w="12700">
            <a:solidFill>
              <a:srgbClr val="2A3545"/>
            </a:solidFill>
            <a:prstDash val="solid"/>
          </a:ln>
          <a:effectLst xmlns:a="http://schemas.openxmlformats.org/drawingml/2006/main">
            <a:outerShdw blurRad="114300" dist="38100" dir="5400000" sx="100000" sy="100000" kx="0" ky="0" algn="bl" rotWithShape="0">
              <a:srgbClr val="000000">
                <a:alpha val="35000"/>
              </a:srgbClr>
            </a:outerShdw>
          </a:effectLst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0BAF6590-10C1-4CA4-B7FF-DE15396B0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1920240"/>
            <a:ext cx="329184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2E9BFF"/>
                </a:solidFill>
                <a:latin typeface="Calibri"/>
                <a:ea typeface="Calibri"/>
                <a:cs typeface="Calibri"/>
              </a:rPr>
              <a:t>Short-term · 10–18 mo</a:t>
            </a:r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2C3F2881-9357-48C1-BA34-02E2A4DDA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0" y="1920240"/>
            <a:ext cx="694944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lnSpc>
                <a:spcPct val="110000"/>
              </a:lnSpc>
              <a:buNone/>
            </a:pPr>
            <a:r>
              <a:rPr sz="1550">
                <a:solidFill>
                  <a:srgbClr val="D6E2F2"/>
                </a:solidFill>
                <a:latin typeface="Calibri"/>
                <a:ea typeface="Calibri"/>
                <a:cs typeface="Calibri"/>
              </a:rPr>
              <a:t>Real-time personalisation · supply-chain smart labels · advanced data-quality suites</a:t>
            </a:r>
          </a:p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A9C4D3CA-AC8E-48E2-B20C-B0A025A40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218688"/>
            <a:ext cx="10972800" cy="1298448"/>
          </a:xfrm>
          <a:prstGeom xmlns:a="http://schemas.openxmlformats.org/drawingml/2006/main" prst="roundRect">
            <a:avLst>
              <a:gd name="adj" fmla="val 6338"/>
            </a:avLst>
          </a:prstGeom>
          <a:solidFill xmlns:a="http://schemas.openxmlformats.org/drawingml/2006/main">
            <a:srgbClr val="161C26"/>
          </a:solidFill>
          <a:ln xmlns:a="http://schemas.openxmlformats.org/drawingml/2006/main" w="12700">
            <a:solidFill>
              <a:srgbClr val="2A3545"/>
            </a:solidFill>
            <a:prstDash val="solid"/>
          </a:ln>
          <a:effectLst xmlns:a="http://schemas.openxmlformats.org/drawingml/2006/main">
            <a:outerShdw blurRad="114300" dist="38100" dir="5400000" sx="100000" sy="100000" kx="0" ky="0" algn="bl" rotWithShape="0">
              <a:srgbClr val="000000">
                <a:alpha val="35000"/>
              </a:srgbClr>
            </a:outerShdw>
          </a:effectLst>
        </p:spPr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E1FE9C99-E80E-469C-AD97-5B8D1A4CA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3401568"/>
            <a:ext cx="329184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8A6CF6"/>
                </a:solidFill>
                <a:latin typeface="Calibri"/>
                <a:ea typeface="Calibri"/>
                <a:cs typeface="Calibri"/>
              </a:rPr>
              <a:t>Medium-term · 18–30 mo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CB789598-390D-4A0E-A1B4-388731EBB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0" y="3401568"/>
            <a:ext cx="694944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lnSpc>
                <a:spcPct val="110000"/>
              </a:lnSpc>
              <a:buNone/>
            </a:pPr>
            <a:r>
              <a:rPr sz="1550">
                <a:solidFill>
                  <a:srgbClr val="D6E2F2"/>
                </a:solidFill>
                <a:latin typeface="Calibri"/>
                <a:ea typeface="Calibri"/>
                <a:cs typeface="Calibri"/>
              </a:rPr>
              <a:t>Bedrock virtual shopping assistant · external data monetisation · data mesh</a:t>
            </a:r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921DF04D-CFE7-4434-986F-C044A5EE6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700016"/>
            <a:ext cx="10972800" cy="1298448"/>
          </a:xfrm>
          <a:prstGeom xmlns:a="http://schemas.openxmlformats.org/drawingml/2006/main" prst="roundRect">
            <a:avLst>
              <a:gd name="adj" fmla="val 6338"/>
            </a:avLst>
          </a:prstGeom>
          <a:solidFill xmlns:a="http://schemas.openxmlformats.org/drawingml/2006/main">
            <a:srgbClr val="161C26"/>
          </a:solidFill>
          <a:ln xmlns:a="http://schemas.openxmlformats.org/drawingml/2006/main" w="12700">
            <a:solidFill>
              <a:srgbClr val="2A3545"/>
            </a:solidFill>
            <a:prstDash val="solid"/>
          </a:ln>
          <a:effectLst xmlns:a="http://schemas.openxmlformats.org/drawingml/2006/main">
            <a:outerShdw blurRad="114300" dist="38100" dir="5400000" sx="100000" sy="100000" kx="0" ky="0" algn="bl" rotWithShape="0">
              <a:srgbClr val="000000">
                <a:alpha val="35000"/>
              </a:srgbClr>
            </a:outerShdw>
          </a:effectLst>
        </p:spPr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C8C19642-8362-4361-801D-5046CC380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4882896"/>
            <a:ext cx="329184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4FD08A"/>
                </a:solidFill>
                <a:latin typeface="Calibri"/>
                <a:ea typeface="Calibri"/>
                <a:cs typeface="Calibri"/>
              </a:rPr>
              <a:t>Long-term · 30+ mo</a:t>
            </a:r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66137B0A-52A8-4F0E-A42E-C3BA79762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0" y="4882896"/>
            <a:ext cx="694944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lnSpc>
                <a:spcPct val="110000"/>
              </a:lnSpc>
              <a:buNone/>
            </a:pPr>
            <a:r>
              <a:rPr sz="1550">
                <a:solidFill>
                  <a:srgbClr val="D6E2F2"/>
                </a:solidFill>
                <a:latin typeface="Calibri"/>
                <a:ea typeface="Calibri"/>
                <a:cs typeface="Calibri"/>
              </a:rPr>
              <a:t>AI-agent ecosystem · federated ML across partners · carbon-neutrality roadmap</a:t>
            </a:r>
          </a:p>
        </p:txBody>
      </p:sp>
    </p:spTree>
    <p:extLst>
      <p:ext uri="{BB962C8B-B14F-4D97-AF65-F5344CB8AC3E}">
        <p14:creationId xmlns:p14="http://schemas.microsoft.com/office/powerpoint/2010/main" val="226776170"/>
      </p:ext>
    </p:extLst>
  </p:cSld>
</p:sld>
</file>

<file path=ppt/slides/slide12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ec8341efc87c49b0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016295FA-D05D-449A-8FE5-5A4C7B55C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554480"/>
            <a:ext cx="1097280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2E9BFF"/>
                </a:solidFill>
                <a:latin typeface="Calibri"/>
                <a:ea typeface="Calibri"/>
                <a:cs typeface="Calibri"/>
              </a:rPr>
              <a:t>Explore the live platform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D3B1B913-FC13-4D74-AF9E-50394FB33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10312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4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Manga DataHub — interactive proposal</a:t>
            </a:r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AF6865D6-F567-441C-9B7C-B82739712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063240"/>
            <a:ext cx="1051560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700">
                <a:solidFill>
                  <a:srgbClr val="D6E2F2"/>
                </a:solidFill>
                <a:latin typeface="Calibri"/>
                <a:ea typeface="Calibri"/>
                <a:cs typeface="Calibri"/>
              </a:rPr>
              <a:t>Clickable high- and low-level architecture, data sources, requirements coverage, and ML use cases.</a:t>
            </a:r>
          </a:p>
        </p:txBody>
      </p:sp>
      <p:sp>
        <p:nvSpPr>
          <p:cNvPr id="5" name="Text 3">
            <a:hlinkClick xmlns:r="http://schemas.openxmlformats.org/officeDocument/2006/relationships" xmlns:a="http://schemas.openxmlformats.org/drawingml/2006/main" r:id="R6d2e4a4ed5484d06"/>
            <a:extLst xmlns:a="http://schemas.openxmlformats.org/drawingml/2006/main">
              <a:ext uri="{FF2B5EF4-FFF2-40B4-BE49-F238E27FC236}">
                <a16:creationId xmlns:a16="http://schemas.microsoft.com/office/drawing/2014/main" id="{73980F81-C257-44E7-9D56-34C252CA4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749040"/>
            <a:ext cx="1051560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200" b="1" u="sng">
                <a:solidFill>
                  <a:srgbClr val="4FD08A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2b817a7f5d4449dd"/>
              </a:rPr>
              <a:t>mangacloud-khaki.vercel.app</a:t>
            </a:r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8FF8A5F1-B97F-491C-B1BE-3DDAD2C8F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12064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Thank you — we welcome your questions.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5BE35CD7-03C8-4976-A4EB-2371AD58A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852160"/>
            <a:ext cx="109728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9FB0C3"/>
                </a:solidFill>
                <a:latin typeface="Calibri"/>
                <a:ea typeface="Calibri"/>
                <a:cs typeface="Calibri"/>
              </a:rPr>
              <a:t>CloudCore Solutions · IE University MBD-EN2025</a:t>
            </a:r>
          </a:p>
        </p:txBody>
      </p:sp>
    </p:spTree>
    <p:extLst>
      <p:ext uri="{BB962C8B-B14F-4D97-AF65-F5344CB8AC3E}">
        <p14:creationId xmlns:p14="http://schemas.microsoft.com/office/powerpoint/2010/main" val="442165673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2026-06-17T13:20:55.7060000Z</dcterms:created>
  <dcterms:modified xsi:type="dcterms:W3CDTF">2026-06-17T13:20:55.7060000Z</dcterms:modified>
</coreProperties>
</file>