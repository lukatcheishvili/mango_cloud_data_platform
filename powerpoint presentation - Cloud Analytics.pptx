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81017" autoAdjust="0"/>
  </p:normalViewPr>
  <p:slideViewPr>
    <p:cSldViewPr snapToGrid="0" snapToObjects="1">
      <p:cViewPr varScale="1">
        <p:scale>
          <a:sx n="62" d="100"/>
          <a:sy n="62" d="100"/>
        </p:scale>
        <p:origin x="274"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064912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Good morning. We're </a:t>
            </a:r>
            <a:r>
              <a:rPr lang="en-US" dirty="0" err="1"/>
              <a:t>CloudCore</a:t>
            </a:r>
            <a:r>
              <a:rPr lang="en-US" dirty="0"/>
              <a:t> Solutions, responding to Manga's RFP. Over the next ~13 minutes the six of us walk you through the Manga </a:t>
            </a:r>
            <a:r>
              <a:rPr lang="en-US" dirty="0" err="1"/>
              <a:t>DataHub</a:t>
            </a:r>
            <a:r>
              <a:rPr lang="en-US" dirty="0"/>
              <a:t>: why Manga needs it, the architecture, what it costs, and what it unlocks.</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Anchor the pain in numbers: €280M revenue but only 3.5% growth and 1.2% online, while spending about 2x competitors for half the output. The root cause is architectural: daily </a:t>
            </a:r>
            <a:r>
              <a:rPr lang="en-US" dirty="0" err="1"/>
              <a:t>cron</a:t>
            </a:r>
            <a:r>
              <a:rPr lang="en-US" dirty="0"/>
              <a:t>-job ETL, siloed pipelines, Excel as the BI layer, and an unclear GDPR posture. This is exactly what the Manga </a:t>
            </a:r>
            <a:r>
              <a:rPr lang="en-US" dirty="0" err="1"/>
              <a:t>DataHub</a:t>
            </a:r>
            <a:r>
              <a:rPr lang="en-US" dirty="0"/>
              <a:t> fixes.</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Three pillars: Unify (one governed platform), Accelerate (24h to sub-second), Enable (ML that is impossible today). Stress the open-source core: Airflow, Spark, Parquet. This directly answers CTO Javier's lock-in fear.</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We mapped the proposal to the five named decision-makers. Don't read all five. Highlight two: CFO Manuel gets 40-60% lower cost and clear ROI; CTO Javier gets no lock-in. InfoSec, COO and Head of Data each have their concern addressed.</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conceptual design, no vendor names yet: five layers — Sources to Ingestion to Processing to a three-zone Lakehouse to Consumption — with Security &amp; Governance spanning everything and a clean split between streaming and batch. Four principles: separation of concerns, modularity, elasticity, open standards.</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Same architecture, now end-to-end on AWS. Six sources land through the right ingestion path for their stream type — scheduled pull, CDC, subscription, streaming, batch, file transfer. Everything lands raw in S3, is validated and cleaned into the Curated zone, then served to BI, ML, NLP and partner APIs. Processing &amp; Governance and Security span every layer.</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We don't just claim coverage: the written proposal has a full traceability table plus an Operating Evidence Appendix. Highlights: R3 automation (MWAA replaces </a:t>
            </a:r>
            <a:r>
              <a:rPr lang="en-US" dirty="0" err="1"/>
              <a:t>cron</a:t>
            </a:r>
            <a:r>
              <a:rPr lang="en-US" dirty="0"/>
              <a:t>), R4 security and recovery targets, R5 concrete Glue Data Quality rules, R6 cost assumptions, R8 carbon metrics. All eight covered.</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Replacing fixed colocation with AWS pay-per-use cuts annual infrastructure cost about 57%: EUR 1.30M to EUR 0.56M, about EUR 0.74M saved per year. Not just a chart — the proposal separates metered AWS services from fully-loaded TCO and validates it monthly with Cost Explorer, CUR and FinOps tags. Pause on the 57%.</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Three end-to-end use cases on Manga's actual data: demand forecasting (-30% stockouts), recommendations (+12-18% AOV), sentiment merchandising (2-3 weeks earlier). Two more extend the same platform. These directly attack the 1.2% online-growth problem.</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Phased, controlled-risk delivery — Marta's priority. Production cutover in month 7, handover by month 9. Risks explicitly mitigated: DMS runs in parallel before cutover, open-source addresses lock-in, and a DPIA precedes any personal data.</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Everything you've seen is live and interactive at </a:t>
            </a:r>
            <a:r>
              <a:rPr lang="en-US" dirty="0" err="1"/>
              <a:t>mangacloud-khaki.vercel.app</a:t>
            </a:r>
            <a:r>
              <a:rPr lang="en-US" dirty="0"/>
              <a:t> — open it on your device while we take questions. Thank the panel. Anticipated Q&amp;A: cost → Tina; security/GDPR → Ricardo/Mateus; RTO/RPO → Ricardo; sustainability → Nicklas; lock-in → Mateus; timeline → Ricardo.</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hyperlink" Target="https://mangacloud-khaki.vercel.app/" TargetMode="External"/><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90909"/>
        </a:solidFill>
        <a:effectLst/>
      </p:bgPr>
    </p:bg>
    <p:spTree>
      <p:nvGrpSpPr>
        <p:cNvPr id="1" name=""/>
        <p:cNvGrpSpPr/>
        <p:nvPr/>
      </p:nvGrpSpPr>
      <p:grpSpPr>
        <a:xfrm>
          <a:off x="0" y="0"/>
          <a:ext cx="0" cy="0"/>
          <a:chOff x="0" y="0"/>
          <a:chExt cx="0" cy="0"/>
        </a:xfrm>
      </p:grpSpPr>
      <p:sp>
        <p:nvSpPr>
          <p:cNvPr id="2" name="Shape 0"/>
          <p:cNvSpPr/>
          <p:nvPr/>
        </p:nvSpPr>
        <p:spPr>
          <a:xfrm>
            <a:off x="-2666905" y="-4000358"/>
            <a:ext cx="12382407" cy="12382407"/>
          </a:xfrm>
          <a:prstGeom prst="rect">
            <a:avLst/>
          </a:prstGeom>
          <a:gradFill rotWithShape="1">
            <a:gsLst>
              <a:gs pos="0">
                <a:srgbClr val="6A4CF5">
                  <a:alpha val="52000"/>
                </a:srgbClr>
              </a:gs>
              <a:gs pos="42000">
                <a:srgbClr val="D44DF0">
                  <a:alpha val="22000"/>
                </a:srgbClr>
              </a:gs>
              <a:gs pos="68000">
                <a:srgbClr val="D44DF0">
                  <a:alpha val="0"/>
                </a:srgbClr>
              </a:gs>
            </a:gsLst>
            <a:path path="circle">
              <a:fillToRect l="50000" t="50000" r="50000" b="50000"/>
            </a:path>
          </a:gradFill>
          <a:ln/>
        </p:spPr>
        <p:txBody>
          <a:bodyPr/>
          <a:lstStyle/>
          <a:p>
            <a:endParaRPr lang="en-US"/>
          </a:p>
        </p:txBody>
      </p:sp>
      <p:sp>
        <p:nvSpPr>
          <p:cNvPr id="3" name="Shape 1"/>
          <p:cNvSpPr/>
          <p:nvPr/>
        </p:nvSpPr>
        <p:spPr>
          <a:xfrm>
            <a:off x="11620598" y="6476953"/>
            <a:ext cx="5714858" cy="5714858"/>
          </a:xfrm>
          <a:prstGeom prst="rect">
            <a:avLst/>
          </a:prstGeom>
          <a:gradFill rotWithShape="1">
            <a:gsLst>
              <a:gs pos="0">
                <a:srgbClr val="6A4CF5">
                  <a:alpha val="14000"/>
                </a:srgbClr>
              </a:gs>
              <a:gs pos="60000">
                <a:srgbClr val="6A4CF5">
                  <a:alpha val="0"/>
                </a:srgbClr>
              </a:gs>
            </a:gsLst>
            <a:path path="circle">
              <a:fillToRect l="50000" t="50000" r="50000" b="50000"/>
            </a:path>
          </a:gradFill>
          <a:ln/>
        </p:spPr>
        <p:txBody>
          <a:bodyPr/>
          <a:lstStyle/>
          <a:p>
            <a:endParaRPr lang="en-US"/>
          </a:p>
        </p:txBody>
      </p:sp>
      <p:sp>
        <p:nvSpPr>
          <p:cNvPr id="4" name="Text 2"/>
          <p:cNvSpPr/>
          <p:nvPr/>
        </p:nvSpPr>
        <p:spPr>
          <a:xfrm>
            <a:off x="952405" y="857107"/>
            <a:ext cx="18021355" cy="220980"/>
          </a:xfrm>
          <a:prstGeom prst="rect">
            <a:avLst/>
          </a:prstGeom>
          <a:noFill/>
          <a:ln/>
        </p:spPr>
        <p:txBody>
          <a:bodyPr wrap="square" lIns="25400" tIns="25400" rIns="25400" bIns="25400" rtlCol="0" anchor="t">
            <a:normAutofit lnSpcReduction="10000"/>
          </a:bodyPr>
          <a:lstStyle/>
          <a:p>
            <a:pPr marL="0" indent="0" algn="l">
              <a:buNone/>
            </a:pPr>
            <a:r>
              <a:rPr lang="en-US" sz="1200" kern="0" spc="216" dirty="0">
                <a:solidFill>
                  <a:srgbClr val="888888"/>
                </a:solidFill>
                <a:latin typeface="Arial" pitchFamily="34" charset="0"/>
                <a:ea typeface="Arial" pitchFamily="34" charset="-122"/>
                <a:cs typeface="Arial" pitchFamily="34" charset="-120"/>
              </a:rPr>
              <a:t>MBD-EN2025 · RFP RESPONSE</a:t>
            </a:r>
            <a:endParaRPr lang="en-US" sz="1200" dirty="0"/>
          </a:p>
        </p:txBody>
      </p:sp>
      <p:sp>
        <p:nvSpPr>
          <p:cNvPr id="5" name="Text 3"/>
          <p:cNvSpPr/>
          <p:nvPr/>
        </p:nvSpPr>
        <p:spPr>
          <a:xfrm>
            <a:off x="952405" y="2872931"/>
            <a:ext cx="16874541" cy="2434400"/>
          </a:xfrm>
          <a:prstGeom prst="rect">
            <a:avLst/>
          </a:prstGeom>
          <a:noFill/>
          <a:ln/>
        </p:spPr>
        <p:txBody>
          <a:bodyPr wrap="square" lIns="25400" tIns="25400" rIns="25400" bIns="25400" rtlCol="0" anchor="t">
            <a:normAutofit/>
          </a:bodyPr>
          <a:lstStyle/>
          <a:p>
            <a:pPr marL="0" indent="0" algn="l">
              <a:lnSpc>
                <a:spcPct val="85000"/>
              </a:lnSpc>
              <a:buNone/>
            </a:pPr>
            <a:r>
              <a:rPr lang="en-US" sz="11100" b="1" kern="0" spc="-525" dirty="0">
                <a:solidFill>
                  <a:srgbClr val="FFFFFF"/>
                </a:solidFill>
                <a:latin typeface="Arial" pitchFamily="34" charset="0"/>
                <a:ea typeface="Arial" pitchFamily="34" charset="-122"/>
                <a:cs typeface="Arial" pitchFamily="34" charset="-120"/>
              </a:rPr>
              <a:t>CLOUD ANALYTICS</a:t>
            </a:r>
            <a:endParaRPr lang="en-US" sz="11100" dirty="0"/>
          </a:p>
        </p:txBody>
      </p:sp>
      <p:sp>
        <p:nvSpPr>
          <p:cNvPr id="6" name="Text 4"/>
          <p:cNvSpPr/>
          <p:nvPr/>
        </p:nvSpPr>
        <p:spPr>
          <a:xfrm>
            <a:off x="952405" y="5573983"/>
            <a:ext cx="18021355" cy="632460"/>
          </a:xfrm>
          <a:prstGeom prst="rect">
            <a:avLst/>
          </a:prstGeom>
          <a:noFill/>
          <a:ln/>
        </p:spPr>
        <p:txBody>
          <a:bodyPr wrap="square" lIns="25400" tIns="25400" rIns="25400" bIns="25400" rtlCol="0" anchor="t">
            <a:normAutofit/>
          </a:bodyPr>
          <a:lstStyle/>
          <a:p>
            <a:pPr marL="0" indent="0" algn="l">
              <a:buNone/>
            </a:pPr>
            <a:r>
              <a:rPr lang="en-US" sz="3300" kern="0" spc="-120" dirty="0">
                <a:solidFill>
                  <a:srgbClr val="FFFFFF"/>
                </a:solidFill>
                <a:latin typeface="Arial" pitchFamily="34" charset="0"/>
                <a:ea typeface="Arial" pitchFamily="34" charset="-122"/>
                <a:cs typeface="Arial" pitchFamily="34" charset="-120"/>
              </a:rPr>
              <a:t>Manga DataHub</a:t>
            </a:r>
            <a:endParaRPr lang="en-US" sz="3300" dirty="0"/>
          </a:p>
        </p:txBody>
      </p:sp>
      <p:sp>
        <p:nvSpPr>
          <p:cNvPr id="7" name="Text 5"/>
          <p:cNvSpPr/>
          <p:nvPr/>
        </p:nvSpPr>
        <p:spPr>
          <a:xfrm>
            <a:off x="952405" y="6377798"/>
            <a:ext cx="8633364" cy="67818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kern="0" spc="-22" dirty="0">
                <a:solidFill>
                  <a:srgbClr val="AAAAAA"/>
                </a:solidFill>
                <a:latin typeface="Arial" pitchFamily="34" charset="0"/>
                <a:ea typeface="Arial" pitchFamily="34" charset="-122"/>
                <a:cs typeface="Arial" pitchFamily="34" charset="-120"/>
              </a:rPr>
              <a:t>A cloud-native AWS data lakehouse that replaces Manga's legacy stack — moving from 24-hour data lag to sub-second insight.</a:t>
            </a:r>
            <a:endParaRPr lang="en-US" sz="1800" dirty="0"/>
          </a:p>
        </p:txBody>
      </p:sp>
      <p:sp>
        <p:nvSpPr>
          <p:cNvPr id="8" name="Text 6"/>
          <p:cNvSpPr/>
          <p:nvPr/>
        </p:nvSpPr>
        <p:spPr>
          <a:xfrm>
            <a:off x="952405" y="8850679"/>
            <a:ext cx="2595382" cy="184404"/>
          </a:xfrm>
          <a:prstGeom prst="rect">
            <a:avLst/>
          </a:prstGeom>
          <a:noFill/>
          <a:ln/>
        </p:spPr>
        <p:txBody>
          <a:bodyPr wrap="square" lIns="25400" tIns="25400" rIns="25400" bIns="25400" rtlCol="0" anchor="t">
            <a:normAutofit fontScale="92500" lnSpcReduction="20000"/>
          </a:bodyPr>
          <a:lstStyle/>
          <a:p>
            <a:pPr marL="0" indent="0" algn="l">
              <a:buNone/>
            </a:pPr>
            <a:r>
              <a:rPr lang="en-US" sz="1050" kern="0" spc="126" dirty="0">
                <a:solidFill>
                  <a:srgbClr val="555555"/>
                </a:solidFill>
                <a:latin typeface="Arial" pitchFamily="34" charset="0"/>
                <a:ea typeface="Arial" pitchFamily="34" charset="-122"/>
                <a:cs typeface="Arial" pitchFamily="34" charset="-120"/>
              </a:rPr>
              <a:t>PREPARED BY</a:t>
            </a:r>
            <a:endParaRPr lang="en-US" sz="1050" dirty="0"/>
          </a:p>
        </p:txBody>
      </p:sp>
      <p:sp>
        <p:nvSpPr>
          <p:cNvPr id="9" name="Text 7"/>
          <p:cNvSpPr/>
          <p:nvPr/>
        </p:nvSpPr>
        <p:spPr>
          <a:xfrm>
            <a:off x="952405" y="9073136"/>
            <a:ext cx="2595382" cy="394716"/>
          </a:xfrm>
          <a:prstGeom prst="rect">
            <a:avLst/>
          </a:prstGeom>
          <a:noFill/>
          <a:ln/>
        </p:spPr>
        <p:txBody>
          <a:bodyPr wrap="square" lIns="25400" tIns="25400" rIns="25400" bIns="25400" rtlCol="0" anchor="t">
            <a:normAutofit/>
          </a:bodyPr>
          <a:lstStyle/>
          <a:p>
            <a:pPr marL="0" indent="0" algn="l">
              <a:buNone/>
            </a:pPr>
            <a:r>
              <a:rPr lang="en-US" sz="1950" b="1" kern="0" spc="-45" dirty="0">
                <a:solidFill>
                  <a:srgbClr val="FFFFFF"/>
                </a:solidFill>
                <a:latin typeface="Arial" pitchFamily="34" charset="0"/>
                <a:ea typeface="Arial" pitchFamily="34" charset="-122"/>
                <a:cs typeface="Arial" pitchFamily="34" charset="-120"/>
              </a:rPr>
              <a:t>CloudCore Solutions</a:t>
            </a:r>
            <a:endParaRPr lang="en-US" sz="1950" dirty="0"/>
          </a:p>
        </p:txBody>
      </p:sp>
      <p:sp>
        <p:nvSpPr>
          <p:cNvPr id="10" name="Shape 8"/>
          <p:cNvSpPr/>
          <p:nvPr/>
        </p:nvSpPr>
        <p:spPr>
          <a:xfrm>
            <a:off x="3921348" y="8911687"/>
            <a:ext cx="9525" cy="457057"/>
          </a:xfrm>
          <a:prstGeom prst="rect">
            <a:avLst/>
          </a:prstGeom>
          <a:solidFill>
            <a:srgbClr val="2C2C2C"/>
          </a:solidFill>
          <a:ln/>
        </p:spPr>
        <p:txBody>
          <a:bodyPr/>
          <a:lstStyle/>
          <a:p>
            <a:endParaRPr lang="en-US"/>
          </a:p>
        </p:txBody>
      </p:sp>
      <p:sp>
        <p:nvSpPr>
          <p:cNvPr id="11" name="Text 9"/>
          <p:cNvSpPr/>
          <p:nvPr/>
        </p:nvSpPr>
        <p:spPr>
          <a:xfrm>
            <a:off x="4540282" y="8850679"/>
            <a:ext cx="3626682" cy="184404"/>
          </a:xfrm>
          <a:prstGeom prst="rect">
            <a:avLst/>
          </a:prstGeom>
          <a:noFill/>
          <a:ln/>
        </p:spPr>
        <p:txBody>
          <a:bodyPr wrap="square" lIns="25400" tIns="25400" rIns="25400" bIns="25400" rtlCol="0" anchor="t">
            <a:normAutofit fontScale="92500" lnSpcReduction="20000"/>
          </a:bodyPr>
          <a:lstStyle/>
          <a:p>
            <a:pPr marL="0" indent="0" algn="l">
              <a:buNone/>
            </a:pPr>
            <a:r>
              <a:rPr lang="en-US" sz="1050" kern="0" spc="126" dirty="0">
                <a:solidFill>
                  <a:srgbClr val="555555"/>
                </a:solidFill>
                <a:latin typeface="Arial" pitchFamily="34" charset="0"/>
                <a:ea typeface="Arial" pitchFamily="34" charset="-122"/>
                <a:cs typeface="Arial" pitchFamily="34" charset="-120"/>
              </a:rPr>
              <a:t>FOR</a:t>
            </a:r>
            <a:endParaRPr lang="en-US" sz="1050" dirty="0"/>
          </a:p>
        </p:txBody>
      </p:sp>
      <p:sp>
        <p:nvSpPr>
          <p:cNvPr id="12" name="Text 10"/>
          <p:cNvSpPr/>
          <p:nvPr/>
        </p:nvSpPr>
        <p:spPr>
          <a:xfrm>
            <a:off x="4540282" y="9073136"/>
            <a:ext cx="3626682" cy="394716"/>
          </a:xfrm>
          <a:prstGeom prst="rect">
            <a:avLst/>
          </a:prstGeom>
          <a:noFill/>
          <a:ln/>
        </p:spPr>
        <p:txBody>
          <a:bodyPr wrap="square" lIns="25400" tIns="25400" rIns="25400" bIns="25400" rtlCol="0" anchor="t">
            <a:normAutofit/>
          </a:bodyPr>
          <a:lstStyle/>
          <a:p>
            <a:pPr marL="0" indent="0" algn="l">
              <a:buNone/>
            </a:pPr>
            <a:r>
              <a:rPr lang="en-US" sz="1950" b="1" kern="0" spc="-45" dirty="0">
                <a:solidFill>
                  <a:srgbClr val="FFFFFF"/>
                </a:solidFill>
                <a:latin typeface="Arial" pitchFamily="34" charset="0"/>
                <a:ea typeface="Arial" pitchFamily="34" charset="-122"/>
                <a:cs typeface="Arial" pitchFamily="34" charset="-120"/>
              </a:rPr>
              <a:t>Manga · Retail Data Platform</a:t>
            </a:r>
            <a:endParaRPr lang="en-US" sz="1950" dirty="0"/>
          </a:p>
        </p:txBody>
      </p:sp>
      <p:sp>
        <p:nvSpPr>
          <p:cNvPr id="13" name="Shape 11"/>
          <p:cNvSpPr/>
          <p:nvPr/>
        </p:nvSpPr>
        <p:spPr>
          <a:xfrm>
            <a:off x="14025183" y="9019129"/>
            <a:ext cx="860679" cy="410623"/>
          </a:xfrm>
          <a:prstGeom prst="roundRect">
            <a:avLst>
              <a:gd name="adj" fmla="val 50000"/>
            </a:avLst>
          </a:prstGeom>
          <a:solidFill>
            <a:srgbClr val="FFFFFF">
              <a:alpha val="7000"/>
            </a:srgbClr>
          </a:solidFill>
          <a:ln w="9144">
            <a:solidFill>
              <a:srgbClr val="FFFFFF">
                <a:alpha val="10000"/>
              </a:srgbClr>
            </a:solidFill>
            <a:prstDash val="solid"/>
          </a:ln>
        </p:spPr>
        <p:txBody>
          <a:bodyPr/>
          <a:lstStyle/>
          <a:p>
            <a:endParaRPr lang="en-US"/>
          </a:p>
        </p:txBody>
      </p:sp>
      <p:sp>
        <p:nvSpPr>
          <p:cNvPr id="14" name="Text 12"/>
          <p:cNvSpPr/>
          <p:nvPr/>
        </p:nvSpPr>
        <p:spPr>
          <a:xfrm>
            <a:off x="14281977" y="9133048"/>
            <a:ext cx="423291" cy="220885"/>
          </a:xfrm>
          <a:prstGeom prst="rect">
            <a:avLst/>
          </a:prstGeom>
          <a:noFill/>
          <a:ln/>
        </p:spPr>
        <p:txBody>
          <a:bodyPr wrap="square" lIns="25400" tIns="25400" rIns="25400" bIns="25400" rtlCol="0" anchor="t">
            <a:normAutofit lnSpcReduction="10000"/>
          </a:bodyPr>
          <a:lstStyle/>
          <a:p>
            <a:pPr marL="0" indent="0" algn="l">
              <a:buNone/>
            </a:pPr>
            <a:r>
              <a:rPr lang="en-US" sz="1200" dirty="0">
                <a:solidFill>
                  <a:srgbClr val="FFFFFF"/>
                </a:solidFill>
                <a:latin typeface="Arial" pitchFamily="34" charset="0"/>
                <a:ea typeface="Arial" pitchFamily="34" charset="-122"/>
                <a:cs typeface="Arial" pitchFamily="34" charset="-120"/>
              </a:rPr>
              <a:t>Unify</a:t>
            </a:r>
            <a:endParaRPr lang="en-US" sz="1200" dirty="0"/>
          </a:p>
        </p:txBody>
      </p:sp>
      <p:sp>
        <p:nvSpPr>
          <p:cNvPr id="15" name="Shape 13"/>
          <p:cNvSpPr/>
          <p:nvPr/>
        </p:nvSpPr>
        <p:spPr>
          <a:xfrm>
            <a:off x="15000020" y="9019129"/>
            <a:ext cx="1233297" cy="410623"/>
          </a:xfrm>
          <a:prstGeom prst="roundRect">
            <a:avLst>
              <a:gd name="adj" fmla="val 50000"/>
            </a:avLst>
          </a:prstGeom>
          <a:solidFill>
            <a:srgbClr val="FFFFFF">
              <a:alpha val="7000"/>
            </a:srgbClr>
          </a:solidFill>
          <a:ln w="9144">
            <a:solidFill>
              <a:srgbClr val="FFFFFF">
                <a:alpha val="10000"/>
              </a:srgbClr>
            </a:solidFill>
            <a:prstDash val="solid"/>
          </a:ln>
        </p:spPr>
        <p:txBody>
          <a:bodyPr/>
          <a:lstStyle/>
          <a:p>
            <a:endParaRPr lang="en-US"/>
          </a:p>
        </p:txBody>
      </p:sp>
      <p:sp>
        <p:nvSpPr>
          <p:cNvPr id="16" name="Text 14"/>
          <p:cNvSpPr/>
          <p:nvPr/>
        </p:nvSpPr>
        <p:spPr>
          <a:xfrm>
            <a:off x="15256814" y="9133048"/>
            <a:ext cx="795909" cy="220885"/>
          </a:xfrm>
          <a:prstGeom prst="rect">
            <a:avLst/>
          </a:prstGeom>
          <a:noFill/>
          <a:ln/>
        </p:spPr>
        <p:txBody>
          <a:bodyPr wrap="square" lIns="25400" tIns="25400" rIns="25400" bIns="25400" rtlCol="0" anchor="t">
            <a:normAutofit lnSpcReduction="10000"/>
          </a:bodyPr>
          <a:lstStyle/>
          <a:p>
            <a:pPr marL="0" indent="0" algn="l">
              <a:buNone/>
            </a:pPr>
            <a:r>
              <a:rPr lang="en-US" sz="1200" dirty="0">
                <a:solidFill>
                  <a:srgbClr val="FFFFFF"/>
                </a:solidFill>
                <a:latin typeface="Arial" pitchFamily="34" charset="0"/>
                <a:ea typeface="Arial" pitchFamily="34" charset="-122"/>
                <a:cs typeface="Arial" pitchFamily="34" charset="-120"/>
              </a:rPr>
              <a:t>Accelerate</a:t>
            </a:r>
            <a:endParaRPr lang="en-US" sz="1200" dirty="0"/>
          </a:p>
        </p:txBody>
      </p:sp>
      <p:sp>
        <p:nvSpPr>
          <p:cNvPr id="17" name="Shape 15"/>
          <p:cNvSpPr/>
          <p:nvPr/>
        </p:nvSpPr>
        <p:spPr>
          <a:xfrm>
            <a:off x="16347474" y="9019129"/>
            <a:ext cx="987981" cy="410623"/>
          </a:xfrm>
          <a:prstGeom prst="roundRect">
            <a:avLst>
              <a:gd name="adj" fmla="val 50000"/>
            </a:avLst>
          </a:prstGeom>
          <a:solidFill>
            <a:srgbClr val="FFFFFF">
              <a:alpha val="7000"/>
            </a:srgbClr>
          </a:solidFill>
          <a:ln w="9144">
            <a:solidFill>
              <a:srgbClr val="FFFFFF">
                <a:alpha val="10000"/>
              </a:srgbClr>
            </a:solidFill>
            <a:prstDash val="solid"/>
          </a:ln>
        </p:spPr>
        <p:txBody>
          <a:bodyPr/>
          <a:lstStyle/>
          <a:p>
            <a:endParaRPr lang="en-US"/>
          </a:p>
        </p:txBody>
      </p:sp>
      <p:sp>
        <p:nvSpPr>
          <p:cNvPr id="18" name="Text 16"/>
          <p:cNvSpPr/>
          <p:nvPr/>
        </p:nvSpPr>
        <p:spPr>
          <a:xfrm>
            <a:off x="16604268" y="9133048"/>
            <a:ext cx="550593" cy="220885"/>
          </a:xfrm>
          <a:prstGeom prst="rect">
            <a:avLst/>
          </a:prstGeom>
          <a:noFill/>
          <a:ln/>
        </p:spPr>
        <p:txBody>
          <a:bodyPr wrap="square" lIns="25400" tIns="25400" rIns="25400" bIns="25400" rtlCol="0" anchor="t">
            <a:normAutofit lnSpcReduction="10000"/>
          </a:bodyPr>
          <a:lstStyle/>
          <a:p>
            <a:pPr marL="0" indent="0" algn="l">
              <a:buNone/>
            </a:pPr>
            <a:r>
              <a:rPr lang="en-US" sz="1200" dirty="0">
                <a:solidFill>
                  <a:srgbClr val="FFFFFF"/>
                </a:solidFill>
                <a:latin typeface="Arial" pitchFamily="34" charset="0"/>
                <a:ea typeface="Arial" pitchFamily="34" charset="-122"/>
                <a:cs typeface="Arial" pitchFamily="34" charset="-120"/>
              </a:rPr>
              <a:t>Enable</a:t>
            </a:r>
            <a:endParaRPr lang="en-US" sz="1200" dirty="0"/>
          </a:p>
        </p:txBody>
      </p:sp>
      <p:sp>
        <p:nvSpPr>
          <p:cNvPr id="19" name="Text 17"/>
          <p:cNvSpPr/>
          <p:nvPr/>
        </p:nvSpPr>
        <p:spPr>
          <a:xfrm>
            <a:off x="14025183" y="9720169"/>
            <a:ext cx="3948708" cy="166116"/>
          </a:xfrm>
          <a:prstGeom prst="rect">
            <a:avLst/>
          </a:prstGeom>
          <a:noFill/>
          <a:ln/>
        </p:spPr>
        <p:txBody>
          <a:bodyPr wrap="square" lIns="25400" tIns="25400" rIns="25400" bIns="25400" rtlCol="0" anchor="t">
            <a:normAutofit fontScale="92500" lnSpcReduction="10000"/>
          </a:bodyPr>
          <a:lstStyle/>
          <a:p>
            <a:pPr marL="0" indent="0" algn="l">
              <a:buNone/>
            </a:pPr>
            <a:r>
              <a:rPr lang="en-US" sz="900" kern="0" spc="90" dirty="0">
                <a:solidFill>
                  <a:schemeClr val="bg1"/>
                </a:solidFill>
                <a:latin typeface="Arial" pitchFamily="34" charset="0"/>
                <a:ea typeface="Arial" pitchFamily="34" charset="-122"/>
                <a:cs typeface="Arial" pitchFamily="34" charset="-120"/>
              </a:rPr>
              <a:t>MANGA DATAHUB · CLOUD ANALYTICS · IE UNIVERSITY</a:t>
            </a:r>
            <a:endParaRPr lang="en-US" sz="900" dirty="0">
              <a:solidFill>
                <a:schemeClr val="bg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90909"/>
        </a:solidFill>
        <a:effectLst/>
      </p:bgPr>
    </p:bg>
    <p:spTree>
      <p:nvGrpSpPr>
        <p:cNvPr id="1" name=""/>
        <p:cNvGrpSpPr/>
        <p:nvPr/>
      </p:nvGrpSpPr>
      <p:grpSpPr>
        <a:xfrm>
          <a:off x="0" y="0"/>
          <a:ext cx="0" cy="0"/>
          <a:chOff x="0" y="0"/>
          <a:chExt cx="0" cy="0"/>
        </a:xfrm>
      </p:grpSpPr>
      <p:sp>
        <p:nvSpPr>
          <p:cNvPr id="2" name="Text 0"/>
          <p:cNvSpPr/>
          <p:nvPr/>
        </p:nvSpPr>
        <p:spPr>
          <a:xfrm>
            <a:off x="952405" y="685657"/>
            <a:ext cx="18021355" cy="220980"/>
          </a:xfrm>
          <a:prstGeom prst="rect">
            <a:avLst/>
          </a:prstGeom>
          <a:noFill/>
          <a:ln/>
        </p:spPr>
        <p:txBody>
          <a:bodyPr wrap="square" lIns="25400" tIns="25400" rIns="25400" bIns="25400" rtlCol="0" anchor="t">
            <a:normAutofit lnSpcReduction="10000"/>
          </a:bodyPr>
          <a:lstStyle/>
          <a:p>
            <a:pPr marL="0" indent="0" algn="l">
              <a:buNone/>
            </a:pPr>
            <a:r>
              <a:rPr lang="en-US" sz="1200" kern="0" spc="168" dirty="0">
                <a:solidFill>
                  <a:srgbClr val="888888"/>
                </a:solidFill>
                <a:latin typeface="Arial" pitchFamily="34" charset="0"/>
                <a:ea typeface="Arial" pitchFamily="34" charset="-122"/>
                <a:cs typeface="Arial" pitchFamily="34" charset="-120"/>
              </a:rPr>
              <a:t>THE PROBLEM</a:t>
            </a:r>
            <a:endParaRPr lang="en-US" sz="1200" dirty="0"/>
          </a:p>
        </p:txBody>
      </p:sp>
      <p:sp>
        <p:nvSpPr>
          <p:cNvPr id="3" name="Text 1"/>
          <p:cNvSpPr/>
          <p:nvPr/>
        </p:nvSpPr>
        <p:spPr>
          <a:xfrm>
            <a:off x="952405" y="1001840"/>
            <a:ext cx="16874541" cy="1232535"/>
          </a:xfrm>
          <a:prstGeom prst="rect">
            <a:avLst/>
          </a:prstGeom>
          <a:noFill/>
          <a:ln/>
        </p:spPr>
        <p:txBody>
          <a:bodyPr wrap="square" lIns="25400" tIns="25400" rIns="25400" bIns="25400" rtlCol="0" anchor="t">
            <a:normAutofit/>
          </a:bodyPr>
          <a:lstStyle/>
          <a:p>
            <a:pPr marL="0" indent="0" algn="l">
              <a:lnSpc>
                <a:spcPct val="95000"/>
              </a:lnSpc>
              <a:buNone/>
            </a:pPr>
            <a:r>
              <a:rPr lang="en-US" sz="4950" b="1" kern="0" spc="-240" dirty="0">
                <a:solidFill>
                  <a:srgbClr val="FFFFFF"/>
                </a:solidFill>
                <a:latin typeface="Arial" pitchFamily="34" charset="0"/>
                <a:ea typeface="Arial" pitchFamily="34" charset="-122"/>
                <a:cs typeface="Arial" pitchFamily="34" charset="-120"/>
              </a:rPr>
              <a:t>Steady revenue, but a data architecture that can't keep up</a:t>
            </a:r>
            <a:endParaRPr lang="en-US" sz="4950" dirty="0"/>
          </a:p>
        </p:txBody>
      </p:sp>
      <p:sp>
        <p:nvSpPr>
          <p:cNvPr id="4" name="Shape 2"/>
          <p:cNvSpPr/>
          <p:nvPr/>
        </p:nvSpPr>
        <p:spPr>
          <a:xfrm>
            <a:off x="952405" y="2462880"/>
            <a:ext cx="16383050" cy="9525"/>
          </a:xfrm>
          <a:prstGeom prst="rect">
            <a:avLst/>
          </a:prstGeom>
          <a:solidFill>
            <a:srgbClr val="262626"/>
          </a:solidFill>
          <a:ln/>
        </p:spPr>
        <p:txBody>
          <a:bodyPr/>
          <a:lstStyle/>
          <a:p>
            <a:endParaRPr lang="en-US"/>
          </a:p>
        </p:txBody>
      </p:sp>
      <p:sp>
        <p:nvSpPr>
          <p:cNvPr id="5" name="Shape 3"/>
          <p:cNvSpPr/>
          <p:nvPr/>
        </p:nvSpPr>
        <p:spPr>
          <a:xfrm>
            <a:off x="4850750" y="3287269"/>
            <a:ext cx="9525" cy="1609344"/>
          </a:xfrm>
          <a:prstGeom prst="rect">
            <a:avLst/>
          </a:prstGeom>
          <a:solidFill>
            <a:srgbClr val="1A1A1A"/>
          </a:solidFill>
          <a:ln/>
        </p:spPr>
        <p:txBody>
          <a:bodyPr/>
          <a:lstStyle/>
          <a:p>
            <a:endParaRPr lang="en-US"/>
          </a:p>
        </p:txBody>
      </p:sp>
      <p:sp>
        <p:nvSpPr>
          <p:cNvPr id="6" name="Text 4"/>
          <p:cNvSpPr/>
          <p:nvPr/>
        </p:nvSpPr>
        <p:spPr>
          <a:xfrm>
            <a:off x="952405" y="3515726"/>
            <a:ext cx="3869184" cy="798195"/>
          </a:xfrm>
          <a:prstGeom prst="rect">
            <a:avLst/>
          </a:prstGeom>
          <a:noFill/>
          <a:ln/>
        </p:spPr>
        <p:txBody>
          <a:bodyPr wrap="square" lIns="25400" tIns="25400" rIns="25400" bIns="25400" rtlCol="0" anchor="t">
            <a:normAutofit fontScale="92500" lnSpcReduction="20000"/>
          </a:bodyPr>
          <a:lstStyle/>
          <a:p>
            <a:pPr marL="0" indent="0" algn="l">
              <a:lnSpc>
                <a:spcPct val="95000"/>
              </a:lnSpc>
              <a:buNone/>
            </a:pPr>
            <a:r>
              <a:rPr lang="en-US" sz="6300" b="1" kern="0" spc="-300" dirty="0">
                <a:solidFill>
                  <a:srgbClr val="FFFFFF"/>
                </a:solidFill>
                <a:latin typeface="Arial" pitchFamily="34" charset="0"/>
                <a:ea typeface="Arial" pitchFamily="34" charset="-122"/>
                <a:cs typeface="Arial" pitchFamily="34" charset="-120"/>
              </a:rPr>
              <a:t>€280M</a:t>
            </a:r>
            <a:endParaRPr lang="en-US" sz="6300" dirty="0"/>
          </a:p>
        </p:txBody>
      </p:sp>
      <p:sp>
        <p:nvSpPr>
          <p:cNvPr id="7" name="Text 5"/>
          <p:cNvSpPr/>
          <p:nvPr/>
        </p:nvSpPr>
        <p:spPr>
          <a:xfrm>
            <a:off x="952405" y="4428126"/>
            <a:ext cx="3869184" cy="278130"/>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1350" kern="0" spc="-13" dirty="0">
                <a:solidFill>
                  <a:srgbClr val="999999"/>
                </a:solidFill>
                <a:latin typeface="Arial" pitchFamily="34" charset="0"/>
                <a:ea typeface="Arial" pitchFamily="34" charset="-122"/>
                <a:cs typeface="Arial" pitchFamily="34" charset="-120"/>
              </a:rPr>
              <a:t>annual revenue across 100+ physical stores</a:t>
            </a:r>
            <a:endParaRPr lang="en-US" sz="1350" dirty="0"/>
          </a:p>
        </p:txBody>
      </p:sp>
      <p:sp>
        <p:nvSpPr>
          <p:cNvPr id="8" name="Shape 6"/>
          <p:cNvSpPr/>
          <p:nvPr/>
        </p:nvSpPr>
        <p:spPr>
          <a:xfrm>
            <a:off x="9139287" y="3287269"/>
            <a:ext cx="9525" cy="1609344"/>
          </a:xfrm>
          <a:prstGeom prst="rect">
            <a:avLst/>
          </a:prstGeom>
          <a:solidFill>
            <a:srgbClr val="1A1A1A"/>
          </a:solidFill>
          <a:ln/>
        </p:spPr>
        <p:txBody>
          <a:bodyPr/>
          <a:lstStyle/>
          <a:p>
            <a:endParaRPr lang="en-US"/>
          </a:p>
        </p:txBody>
      </p:sp>
      <p:sp>
        <p:nvSpPr>
          <p:cNvPr id="9" name="Text 7"/>
          <p:cNvSpPr/>
          <p:nvPr/>
        </p:nvSpPr>
        <p:spPr>
          <a:xfrm>
            <a:off x="5240799" y="3515726"/>
            <a:ext cx="3869341" cy="798195"/>
          </a:xfrm>
          <a:prstGeom prst="rect">
            <a:avLst/>
          </a:prstGeom>
          <a:noFill/>
          <a:ln/>
        </p:spPr>
        <p:txBody>
          <a:bodyPr wrap="square" lIns="25400" tIns="25400" rIns="25400" bIns="25400" rtlCol="0" anchor="t">
            <a:normAutofit fontScale="92500" lnSpcReduction="20000"/>
          </a:bodyPr>
          <a:lstStyle/>
          <a:p>
            <a:pPr marL="0" indent="0" algn="l">
              <a:lnSpc>
                <a:spcPct val="95000"/>
              </a:lnSpc>
              <a:buNone/>
            </a:pPr>
            <a:r>
              <a:rPr lang="en-US" sz="6300" b="1" kern="0" spc="-300" dirty="0">
                <a:solidFill>
                  <a:srgbClr val="FFFFFF"/>
                </a:solidFill>
                <a:latin typeface="Arial" pitchFamily="34" charset="0"/>
                <a:ea typeface="Arial" pitchFamily="34" charset="-122"/>
                <a:cs typeface="Arial" pitchFamily="34" charset="-120"/>
              </a:rPr>
              <a:t>+3.5%</a:t>
            </a:r>
            <a:endParaRPr lang="en-US" sz="6300" dirty="0"/>
          </a:p>
        </p:txBody>
      </p:sp>
      <p:sp>
        <p:nvSpPr>
          <p:cNvPr id="10" name="Text 8"/>
          <p:cNvSpPr/>
          <p:nvPr/>
        </p:nvSpPr>
        <p:spPr>
          <a:xfrm>
            <a:off x="5240799" y="4428126"/>
            <a:ext cx="3869341" cy="278130"/>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1350" kern="0" spc="-13" dirty="0">
                <a:solidFill>
                  <a:srgbClr val="999999"/>
                </a:solidFill>
                <a:latin typeface="Arial" pitchFamily="34" charset="0"/>
                <a:ea typeface="Arial" pitchFamily="34" charset="-122"/>
                <a:cs typeface="Arial" pitchFamily="34" charset="-120"/>
              </a:rPr>
              <a:t>growth — trailing the wider market, 1.2% online</a:t>
            </a:r>
            <a:endParaRPr lang="en-US" sz="1350" dirty="0"/>
          </a:p>
        </p:txBody>
      </p:sp>
      <p:sp>
        <p:nvSpPr>
          <p:cNvPr id="11" name="Shape 9"/>
          <p:cNvSpPr/>
          <p:nvPr/>
        </p:nvSpPr>
        <p:spPr>
          <a:xfrm>
            <a:off x="13427823" y="3167253"/>
            <a:ext cx="9525" cy="1849374"/>
          </a:xfrm>
          <a:prstGeom prst="rect">
            <a:avLst/>
          </a:prstGeom>
          <a:solidFill>
            <a:srgbClr val="1A1A1A"/>
          </a:solidFill>
          <a:ln/>
        </p:spPr>
        <p:txBody>
          <a:bodyPr/>
          <a:lstStyle/>
          <a:p>
            <a:endParaRPr lang="en-US"/>
          </a:p>
        </p:txBody>
      </p:sp>
      <p:sp>
        <p:nvSpPr>
          <p:cNvPr id="12" name="Text 10"/>
          <p:cNvSpPr/>
          <p:nvPr/>
        </p:nvSpPr>
        <p:spPr>
          <a:xfrm>
            <a:off x="9529335" y="3395711"/>
            <a:ext cx="3869341" cy="798195"/>
          </a:xfrm>
          <a:prstGeom prst="rect">
            <a:avLst/>
          </a:prstGeom>
          <a:noFill/>
          <a:ln/>
        </p:spPr>
        <p:txBody>
          <a:bodyPr wrap="square" lIns="25400" tIns="25400" rIns="25400" bIns="25400" rtlCol="0" anchor="t">
            <a:normAutofit fontScale="92500" lnSpcReduction="20000"/>
          </a:bodyPr>
          <a:lstStyle/>
          <a:p>
            <a:pPr marL="0" indent="0" algn="l">
              <a:lnSpc>
                <a:spcPct val="95000"/>
              </a:lnSpc>
              <a:buNone/>
            </a:pPr>
            <a:r>
              <a:rPr lang="en-US" sz="6300" b="1" kern="0" spc="-300" dirty="0">
                <a:solidFill>
                  <a:srgbClr val="FFFFFF"/>
                </a:solidFill>
                <a:latin typeface="Arial" pitchFamily="34" charset="0"/>
                <a:ea typeface="Arial" pitchFamily="34" charset="-122"/>
                <a:cs typeface="Arial" pitchFamily="34" charset="-120"/>
              </a:rPr>
              <a:t>2×</a:t>
            </a:r>
            <a:endParaRPr lang="en-US" sz="6300" dirty="0"/>
          </a:p>
        </p:txBody>
      </p:sp>
      <p:sp>
        <p:nvSpPr>
          <p:cNvPr id="13" name="Text 11"/>
          <p:cNvSpPr/>
          <p:nvPr/>
        </p:nvSpPr>
        <p:spPr>
          <a:xfrm>
            <a:off x="9529335" y="4308111"/>
            <a:ext cx="3623110" cy="518160"/>
          </a:xfrm>
          <a:prstGeom prst="rect">
            <a:avLst/>
          </a:prstGeom>
          <a:noFill/>
          <a:ln/>
        </p:spPr>
        <p:txBody>
          <a:bodyPr wrap="square" lIns="25400" tIns="25400" rIns="25400" bIns="25400" rtlCol="0" anchor="t">
            <a:normAutofit fontScale="92500"/>
          </a:bodyPr>
          <a:lstStyle/>
          <a:p>
            <a:pPr marL="0" indent="0" algn="l">
              <a:lnSpc>
                <a:spcPct val="140000"/>
              </a:lnSpc>
              <a:buNone/>
            </a:pPr>
            <a:r>
              <a:rPr lang="en-US" sz="1350" kern="0" spc="-13" dirty="0">
                <a:solidFill>
                  <a:srgbClr val="999999"/>
                </a:solidFill>
                <a:latin typeface="Arial" pitchFamily="34" charset="0"/>
                <a:ea typeface="Arial" pitchFamily="34" charset="-122"/>
                <a:cs typeface="Arial" pitchFamily="34" charset="-120"/>
              </a:rPr>
              <a:t>infrastructure spend vs competitors — half the output</a:t>
            </a:r>
            <a:endParaRPr lang="en-US" sz="1350" dirty="0"/>
          </a:p>
        </p:txBody>
      </p:sp>
      <p:sp>
        <p:nvSpPr>
          <p:cNvPr id="14" name="Text 12"/>
          <p:cNvSpPr/>
          <p:nvPr/>
        </p:nvSpPr>
        <p:spPr>
          <a:xfrm>
            <a:off x="13817872" y="3395711"/>
            <a:ext cx="3869341" cy="798195"/>
          </a:xfrm>
          <a:prstGeom prst="rect">
            <a:avLst/>
          </a:prstGeom>
          <a:noFill/>
          <a:ln/>
        </p:spPr>
        <p:txBody>
          <a:bodyPr wrap="square" lIns="25400" tIns="25400" rIns="25400" bIns="25400" rtlCol="0" anchor="t">
            <a:normAutofit fontScale="92500" lnSpcReduction="20000"/>
          </a:bodyPr>
          <a:lstStyle/>
          <a:p>
            <a:pPr marL="0" indent="0" algn="l">
              <a:lnSpc>
                <a:spcPct val="95000"/>
              </a:lnSpc>
              <a:buNone/>
            </a:pPr>
            <a:r>
              <a:rPr lang="en-US" sz="6300" b="1" kern="0" spc="-300" dirty="0">
                <a:solidFill>
                  <a:srgbClr val="FFFFFF"/>
                </a:solidFill>
                <a:latin typeface="Arial" pitchFamily="34" charset="0"/>
                <a:ea typeface="Arial" pitchFamily="34" charset="-122"/>
                <a:cs typeface="Arial" pitchFamily="34" charset="-120"/>
              </a:rPr>
              <a:t>24h</a:t>
            </a:r>
            <a:endParaRPr lang="en-US" sz="6300" dirty="0"/>
          </a:p>
        </p:txBody>
      </p:sp>
      <p:sp>
        <p:nvSpPr>
          <p:cNvPr id="15" name="Text 13"/>
          <p:cNvSpPr/>
          <p:nvPr/>
        </p:nvSpPr>
        <p:spPr>
          <a:xfrm>
            <a:off x="13817872" y="4308111"/>
            <a:ext cx="3623110" cy="518160"/>
          </a:xfrm>
          <a:prstGeom prst="rect">
            <a:avLst/>
          </a:prstGeom>
          <a:noFill/>
          <a:ln/>
        </p:spPr>
        <p:txBody>
          <a:bodyPr wrap="square" lIns="25400" tIns="25400" rIns="25400" bIns="25400" rtlCol="0" anchor="t">
            <a:normAutofit fontScale="92500"/>
          </a:bodyPr>
          <a:lstStyle/>
          <a:p>
            <a:pPr marL="0" indent="0" algn="l">
              <a:lnSpc>
                <a:spcPct val="140000"/>
              </a:lnSpc>
              <a:buNone/>
            </a:pPr>
            <a:r>
              <a:rPr lang="en-US" sz="1350" kern="0" spc="-13" dirty="0">
                <a:solidFill>
                  <a:srgbClr val="999999"/>
                </a:solidFill>
                <a:latin typeface="Arial" pitchFamily="34" charset="0"/>
                <a:ea typeface="Arial" pitchFamily="34" charset="-122"/>
                <a:cs typeface="Arial" pitchFamily="34" charset="-120"/>
              </a:rPr>
              <a:t>data lag — managers decide on yesterday's numbers</a:t>
            </a:r>
            <a:endParaRPr lang="en-US" sz="1350" dirty="0"/>
          </a:p>
        </p:txBody>
      </p:sp>
      <p:sp>
        <p:nvSpPr>
          <p:cNvPr id="16" name="Text 14"/>
          <p:cNvSpPr/>
          <p:nvPr/>
        </p:nvSpPr>
        <p:spPr>
          <a:xfrm>
            <a:off x="952405" y="5521119"/>
            <a:ext cx="18021355" cy="184404"/>
          </a:xfrm>
          <a:prstGeom prst="rect">
            <a:avLst/>
          </a:prstGeom>
          <a:noFill/>
          <a:ln/>
        </p:spPr>
        <p:txBody>
          <a:bodyPr wrap="square" lIns="25400" tIns="25400" rIns="25400" bIns="25400" rtlCol="0" anchor="t">
            <a:normAutofit fontScale="92500" lnSpcReduction="20000"/>
          </a:bodyPr>
          <a:lstStyle/>
          <a:p>
            <a:pPr marL="0" indent="0" algn="l">
              <a:buNone/>
            </a:pPr>
            <a:r>
              <a:rPr lang="en-US" sz="1050" b="1" kern="0" spc="126" dirty="0">
                <a:solidFill>
                  <a:srgbClr val="666666"/>
                </a:solidFill>
                <a:latin typeface="Arial" pitchFamily="34" charset="0"/>
                <a:ea typeface="Arial" pitchFamily="34" charset="-122"/>
                <a:cs typeface="Arial" pitchFamily="34" charset="-120"/>
              </a:rPr>
              <a:t>THE ROOT CAUSE IS ARCHITECTURAL</a:t>
            </a:r>
            <a:endParaRPr lang="en-US" sz="1050" dirty="0"/>
          </a:p>
        </p:txBody>
      </p:sp>
      <p:sp>
        <p:nvSpPr>
          <p:cNvPr id="17" name="Shape 15"/>
          <p:cNvSpPr/>
          <p:nvPr/>
        </p:nvSpPr>
        <p:spPr>
          <a:xfrm>
            <a:off x="952405" y="5819728"/>
            <a:ext cx="3967211" cy="3444003"/>
          </a:xfrm>
          <a:prstGeom prst="roundRect">
            <a:avLst>
              <a:gd name="adj" fmla="val 4978"/>
            </a:avLst>
          </a:prstGeom>
          <a:solidFill>
            <a:srgbClr val="141414"/>
          </a:solidFill>
          <a:ln/>
        </p:spPr>
        <p:txBody>
          <a:bodyPr/>
          <a:lstStyle/>
          <a:p>
            <a:endParaRPr lang="en-US"/>
          </a:p>
        </p:txBody>
      </p:sp>
      <p:sp>
        <p:nvSpPr>
          <p:cNvPr id="18" name="Text 16"/>
          <p:cNvSpPr/>
          <p:nvPr/>
        </p:nvSpPr>
        <p:spPr>
          <a:xfrm>
            <a:off x="1276160" y="7044453"/>
            <a:ext cx="3651671" cy="394716"/>
          </a:xfrm>
          <a:prstGeom prst="rect">
            <a:avLst/>
          </a:prstGeom>
          <a:noFill/>
          <a:ln/>
        </p:spPr>
        <p:txBody>
          <a:bodyPr wrap="square" lIns="25400" tIns="25400" rIns="25400" bIns="25400" rtlCol="0" anchor="t">
            <a:normAutofit/>
          </a:bodyPr>
          <a:lstStyle/>
          <a:p>
            <a:pPr marL="0" indent="0" algn="l">
              <a:buNone/>
            </a:pPr>
            <a:r>
              <a:rPr lang="en-US" sz="1950" b="1" kern="0" spc="-45" dirty="0">
                <a:solidFill>
                  <a:srgbClr val="FFFFFF"/>
                </a:solidFill>
                <a:latin typeface="Arial" pitchFamily="34" charset="0"/>
                <a:ea typeface="Arial" pitchFamily="34" charset="-122"/>
                <a:cs typeface="Arial" pitchFamily="34" charset="-120"/>
              </a:rPr>
              <a:t>Cron-job ETL</a:t>
            </a:r>
            <a:endParaRPr lang="en-US" sz="1950" dirty="0"/>
          </a:p>
        </p:txBody>
      </p:sp>
      <p:sp>
        <p:nvSpPr>
          <p:cNvPr id="19" name="Text 17"/>
          <p:cNvSpPr/>
          <p:nvPr/>
        </p:nvSpPr>
        <p:spPr>
          <a:xfrm>
            <a:off x="1276160" y="7553374"/>
            <a:ext cx="3419292" cy="523589"/>
          </a:xfrm>
          <a:prstGeom prst="rect">
            <a:avLst/>
          </a:prstGeom>
          <a:noFill/>
          <a:ln/>
        </p:spPr>
        <p:txBody>
          <a:bodyPr wrap="square" lIns="25400" tIns="25400" rIns="25400" bIns="25400" rtlCol="0" anchor="t">
            <a:normAutofit fontScale="92500" lnSpcReduction="20000"/>
          </a:bodyPr>
          <a:lstStyle/>
          <a:p>
            <a:pPr marL="0" indent="0" algn="l">
              <a:lnSpc>
                <a:spcPct val="150000"/>
              </a:lnSpc>
              <a:buNone/>
            </a:pPr>
            <a:r>
              <a:rPr lang="en-US" sz="1275" kern="0" spc="-13" dirty="0">
                <a:solidFill>
                  <a:srgbClr val="999999"/>
                </a:solidFill>
                <a:latin typeface="Arial" pitchFamily="34" charset="0"/>
                <a:ea typeface="Arial" pitchFamily="34" charset="-122"/>
                <a:cs typeface="Arial" pitchFamily="34" charset="-120"/>
              </a:rPr>
              <a:t>Siloed daily scripts, each a different stack, no shared standards.</a:t>
            </a:r>
            <a:endParaRPr lang="en-US" sz="1275" dirty="0"/>
          </a:p>
        </p:txBody>
      </p:sp>
      <p:sp>
        <p:nvSpPr>
          <p:cNvPr id="20" name="Shape 18"/>
          <p:cNvSpPr/>
          <p:nvPr/>
        </p:nvSpPr>
        <p:spPr>
          <a:xfrm>
            <a:off x="5090923" y="5819728"/>
            <a:ext cx="3967354" cy="3444003"/>
          </a:xfrm>
          <a:prstGeom prst="roundRect">
            <a:avLst>
              <a:gd name="adj" fmla="val 4978"/>
            </a:avLst>
          </a:prstGeom>
          <a:solidFill>
            <a:srgbClr val="141414"/>
          </a:solidFill>
          <a:ln/>
        </p:spPr>
        <p:txBody>
          <a:bodyPr/>
          <a:lstStyle/>
          <a:p>
            <a:endParaRPr lang="en-US"/>
          </a:p>
        </p:txBody>
      </p:sp>
      <p:sp>
        <p:nvSpPr>
          <p:cNvPr id="21" name="Text 19"/>
          <p:cNvSpPr/>
          <p:nvPr/>
        </p:nvSpPr>
        <p:spPr>
          <a:xfrm>
            <a:off x="5414678" y="7044453"/>
            <a:ext cx="3651829" cy="394716"/>
          </a:xfrm>
          <a:prstGeom prst="rect">
            <a:avLst/>
          </a:prstGeom>
          <a:noFill/>
          <a:ln/>
        </p:spPr>
        <p:txBody>
          <a:bodyPr wrap="square" lIns="25400" tIns="25400" rIns="25400" bIns="25400" rtlCol="0" anchor="t">
            <a:normAutofit/>
          </a:bodyPr>
          <a:lstStyle/>
          <a:p>
            <a:pPr marL="0" indent="0" algn="l">
              <a:buNone/>
            </a:pPr>
            <a:r>
              <a:rPr lang="en-US" sz="1950" b="1" kern="0" spc="-45" dirty="0">
                <a:solidFill>
                  <a:srgbClr val="FFFFFF"/>
                </a:solidFill>
                <a:latin typeface="Arial" pitchFamily="34" charset="0"/>
                <a:ea typeface="Arial" pitchFamily="34" charset="-122"/>
                <a:cs typeface="Arial" pitchFamily="34" charset="-120"/>
              </a:rPr>
              <a:t>Excel as BI</a:t>
            </a:r>
            <a:endParaRPr lang="en-US" sz="1950" dirty="0"/>
          </a:p>
        </p:txBody>
      </p:sp>
      <p:sp>
        <p:nvSpPr>
          <p:cNvPr id="22" name="Text 20"/>
          <p:cNvSpPr/>
          <p:nvPr/>
        </p:nvSpPr>
        <p:spPr>
          <a:xfrm>
            <a:off x="5414678" y="7553374"/>
            <a:ext cx="3419439" cy="523589"/>
          </a:xfrm>
          <a:prstGeom prst="rect">
            <a:avLst/>
          </a:prstGeom>
          <a:noFill/>
          <a:ln/>
        </p:spPr>
        <p:txBody>
          <a:bodyPr wrap="square" lIns="25400" tIns="25400" rIns="25400" bIns="25400" rtlCol="0" anchor="t">
            <a:normAutofit fontScale="92500" lnSpcReduction="20000"/>
          </a:bodyPr>
          <a:lstStyle/>
          <a:p>
            <a:pPr marL="0" indent="0" algn="l">
              <a:lnSpc>
                <a:spcPct val="150000"/>
              </a:lnSpc>
              <a:buNone/>
            </a:pPr>
            <a:r>
              <a:rPr lang="en-US" sz="1275" kern="0" spc="-13" dirty="0">
                <a:solidFill>
                  <a:srgbClr val="999999"/>
                </a:solidFill>
                <a:latin typeface="Arial" pitchFamily="34" charset="0"/>
                <a:ea typeface="Arial" pitchFamily="34" charset="-122"/>
                <a:cs typeface="Arial" pitchFamily="34" charset="-120"/>
              </a:rPr>
              <a:t>Every report is an Engineering ticket; no self-service.</a:t>
            </a:r>
            <a:endParaRPr lang="en-US" sz="1275" dirty="0"/>
          </a:p>
        </p:txBody>
      </p:sp>
      <p:sp>
        <p:nvSpPr>
          <p:cNvPr id="23" name="Shape 21"/>
          <p:cNvSpPr/>
          <p:nvPr/>
        </p:nvSpPr>
        <p:spPr>
          <a:xfrm>
            <a:off x="9229584" y="5819728"/>
            <a:ext cx="3967211" cy="3444003"/>
          </a:xfrm>
          <a:prstGeom prst="roundRect">
            <a:avLst>
              <a:gd name="adj" fmla="val 4978"/>
            </a:avLst>
          </a:prstGeom>
          <a:solidFill>
            <a:srgbClr val="141414"/>
          </a:solidFill>
          <a:ln/>
        </p:spPr>
        <p:txBody>
          <a:bodyPr/>
          <a:lstStyle/>
          <a:p>
            <a:endParaRPr lang="en-US"/>
          </a:p>
        </p:txBody>
      </p:sp>
      <p:sp>
        <p:nvSpPr>
          <p:cNvPr id="24" name="Text 22"/>
          <p:cNvSpPr/>
          <p:nvPr/>
        </p:nvSpPr>
        <p:spPr>
          <a:xfrm>
            <a:off x="9553338" y="7165897"/>
            <a:ext cx="3651671" cy="394716"/>
          </a:xfrm>
          <a:prstGeom prst="rect">
            <a:avLst/>
          </a:prstGeom>
          <a:noFill/>
          <a:ln/>
        </p:spPr>
        <p:txBody>
          <a:bodyPr wrap="square" lIns="25400" tIns="25400" rIns="25400" bIns="25400" rtlCol="0" anchor="t">
            <a:normAutofit/>
          </a:bodyPr>
          <a:lstStyle/>
          <a:p>
            <a:pPr marL="0" indent="0" algn="l">
              <a:buNone/>
            </a:pPr>
            <a:r>
              <a:rPr lang="en-US" sz="1950" b="1" kern="0" spc="-45" dirty="0">
                <a:solidFill>
                  <a:srgbClr val="FFFFFF"/>
                </a:solidFill>
                <a:latin typeface="Arial" pitchFamily="34" charset="0"/>
                <a:ea typeface="Arial" pitchFamily="34" charset="-122"/>
                <a:cs typeface="Arial" pitchFamily="34" charset="-120"/>
              </a:rPr>
              <a:t>Unclear GDPR</a:t>
            </a:r>
            <a:endParaRPr lang="en-US" sz="1950" dirty="0"/>
          </a:p>
        </p:txBody>
      </p:sp>
      <p:sp>
        <p:nvSpPr>
          <p:cNvPr id="25" name="Text 23"/>
          <p:cNvSpPr/>
          <p:nvPr/>
        </p:nvSpPr>
        <p:spPr>
          <a:xfrm>
            <a:off x="9553338" y="7674818"/>
            <a:ext cx="3651671" cy="280845"/>
          </a:xfrm>
          <a:prstGeom prst="rect">
            <a:avLst/>
          </a:prstGeom>
          <a:noFill/>
          <a:ln/>
        </p:spPr>
        <p:txBody>
          <a:bodyPr wrap="square" lIns="25400" tIns="25400" rIns="25400" bIns="25400" rtlCol="0" anchor="t">
            <a:normAutofit fontScale="92500" lnSpcReduction="20000"/>
          </a:bodyPr>
          <a:lstStyle/>
          <a:p>
            <a:pPr marL="0" indent="0" algn="l">
              <a:lnSpc>
                <a:spcPct val="150000"/>
              </a:lnSpc>
              <a:buNone/>
            </a:pPr>
            <a:r>
              <a:rPr lang="en-US" sz="1275" kern="0" spc="-13" dirty="0">
                <a:solidFill>
                  <a:srgbClr val="999999"/>
                </a:solidFill>
                <a:latin typeface="Arial" pitchFamily="34" charset="0"/>
                <a:ea typeface="Arial" pitchFamily="34" charset="-122"/>
                <a:cs typeface="Arial" pitchFamily="34" charset="-120"/>
              </a:rPr>
              <a:t>Posture uncertain after a prior security incident.</a:t>
            </a:r>
            <a:endParaRPr lang="en-US" sz="1275" dirty="0"/>
          </a:p>
        </p:txBody>
      </p:sp>
      <p:sp>
        <p:nvSpPr>
          <p:cNvPr id="26" name="Shape 24"/>
          <p:cNvSpPr/>
          <p:nvPr/>
        </p:nvSpPr>
        <p:spPr>
          <a:xfrm>
            <a:off x="13368101" y="5819728"/>
            <a:ext cx="3967354" cy="3444003"/>
          </a:xfrm>
          <a:prstGeom prst="roundRect">
            <a:avLst>
              <a:gd name="adj" fmla="val 4978"/>
            </a:avLst>
          </a:prstGeom>
          <a:solidFill>
            <a:srgbClr val="141414"/>
          </a:solidFill>
          <a:ln/>
        </p:spPr>
        <p:txBody>
          <a:bodyPr/>
          <a:lstStyle/>
          <a:p>
            <a:endParaRPr lang="en-US"/>
          </a:p>
        </p:txBody>
      </p:sp>
      <p:sp>
        <p:nvSpPr>
          <p:cNvPr id="27" name="Text 25"/>
          <p:cNvSpPr/>
          <p:nvPr/>
        </p:nvSpPr>
        <p:spPr>
          <a:xfrm>
            <a:off x="13691856" y="7044453"/>
            <a:ext cx="3651829" cy="394716"/>
          </a:xfrm>
          <a:prstGeom prst="rect">
            <a:avLst/>
          </a:prstGeom>
          <a:noFill/>
          <a:ln/>
        </p:spPr>
        <p:txBody>
          <a:bodyPr wrap="square" lIns="25400" tIns="25400" rIns="25400" bIns="25400" rtlCol="0" anchor="t">
            <a:normAutofit/>
          </a:bodyPr>
          <a:lstStyle/>
          <a:p>
            <a:pPr marL="0" indent="0" algn="l">
              <a:buNone/>
            </a:pPr>
            <a:r>
              <a:rPr lang="en-US" sz="1950" b="1" kern="0" spc="-45" dirty="0">
                <a:solidFill>
                  <a:srgbClr val="FFFFFF"/>
                </a:solidFill>
                <a:latin typeface="Arial" pitchFamily="34" charset="0"/>
                <a:ea typeface="Arial" pitchFamily="34" charset="-122"/>
                <a:cs typeface="Arial" pitchFamily="34" charset="-120"/>
              </a:rPr>
              <a:t>Zero ML</a:t>
            </a:r>
            <a:endParaRPr lang="en-US" sz="1950" dirty="0"/>
          </a:p>
        </p:txBody>
      </p:sp>
      <p:sp>
        <p:nvSpPr>
          <p:cNvPr id="28" name="Text 26"/>
          <p:cNvSpPr/>
          <p:nvPr/>
        </p:nvSpPr>
        <p:spPr>
          <a:xfrm>
            <a:off x="13691856" y="7553374"/>
            <a:ext cx="3419439" cy="523589"/>
          </a:xfrm>
          <a:prstGeom prst="rect">
            <a:avLst/>
          </a:prstGeom>
          <a:noFill/>
          <a:ln/>
        </p:spPr>
        <p:txBody>
          <a:bodyPr wrap="square" lIns="25400" tIns="25400" rIns="25400" bIns="25400" rtlCol="0" anchor="t">
            <a:normAutofit fontScale="92500" lnSpcReduction="20000"/>
          </a:bodyPr>
          <a:lstStyle/>
          <a:p>
            <a:pPr marL="0" indent="0" algn="l">
              <a:lnSpc>
                <a:spcPct val="150000"/>
              </a:lnSpc>
              <a:buNone/>
            </a:pPr>
            <a:r>
              <a:rPr lang="en-US" sz="1275" kern="0" spc="-13" dirty="0">
                <a:solidFill>
                  <a:srgbClr val="999999"/>
                </a:solidFill>
                <a:latin typeface="Arial" pitchFamily="34" charset="0"/>
                <a:ea typeface="Arial" pitchFamily="34" charset="-122"/>
                <a:cs typeface="Arial" pitchFamily="34" charset="-120"/>
              </a:rPr>
              <a:t>Personalisation, forecasting and pricing are impossible today.</a:t>
            </a:r>
            <a:endParaRPr lang="en-US" sz="1275" dirty="0"/>
          </a:p>
        </p:txBody>
      </p:sp>
      <p:sp>
        <p:nvSpPr>
          <p:cNvPr id="29" name="Text 27"/>
          <p:cNvSpPr/>
          <p:nvPr/>
        </p:nvSpPr>
        <p:spPr>
          <a:xfrm>
            <a:off x="952405" y="9473186"/>
            <a:ext cx="18021355" cy="166116"/>
          </a:xfrm>
          <a:prstGeom prst="rect">
            <a:avLst/>
          </a:prstGeom>
          <a:noFill/>
          <a:ln/>
        </p:spPr>
        <p:txBody>
          <a:bodyPr wrap="square" lIns="25400" tIns="25400" rIns="25400" bIns="25400" rtlCol="0" anchor="t">
            <a:normAutofit fontScale="92500" lnSpcReduction="10000"/>
          </a:bodyPr>
          <a:lstStyle/>
          <a:p>
            <a:pPr marL="0" indent="0" algn="l">
              <a:buNone/>
            </a:pPr>
            <a:r>
              <a:rPr lang="en-US" sz="900" kern="0" spc="90" dirty="0">
                <a:solidFill>
                  <a:srgbClr val="2A2A2A"/>
                </a:solidFill>
                <a:latin typeface="Arial" pitchFamily="34" charset="0"/>
                <a:ea typeface="Arial" pitchFamily="34" charset="-122"/>
                <a:cs typeface="Arial" pitchFamily="34" charset="-120"/>
              </a:rPr>
              <a:t>MANGA DATAHUB · CLOUD ANALYTICS · IE UNIVERSITY</a:t>
            </a:r>
            <a:endParaRPr lang="en-US" sz="900" dirty="0"/>
          </a:p>
        </p:txBody>
      </p:sp>
    </p:spTree>
  </p:cSld>
  <p:clrMapOvr>
    <a:masterClrMapping/>
  </p:clrMapOvr>
  <p:transition spd="slow">
    <p:push dir="u"/>
  </p:transition>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90909"/>
        </a:solidFill>
        <a:effectLst/>
      </p:bgPr>
    </p:bg>
    <p:spTree>
      <p:nvGrpSpPr>
        <p:cNvPr id="1" name=""/>
        <p:cNvGrpSpPr/>
        <p:nvPr/>
      </p:nvGrpSpPr>
      <p:grpSpPr>
        <a:xfrm>
          <a:off x="0" y="0"/>
          <a:ext cx="0" cy="0"/>
          <a:chOff x="0" y="0"/>
          <a:chExt cx="0" cy="0"/>
        </a:xfrm>
      </p:grpSpPr>
      <p:sp>
        <p:nvSpPr>
          <p:cNvPr id="2" name="Shape 0"/>
          <p:cNvSpPr/>
          <p:nvPr/>
        </p:nvSpPr>
        <p:spPr>
          <a:xfrm>
            <a:off x="12096657" y="-3047953"/>
            <a:ext cx="8096156" cy="8096156"/>
          </a:xfrm>
          <a:prstGeom prst="rect">
            <a:avLst/>
          </a:prstGeom>
          <a:gradFill rotWithShape="1">
            <a:gsLst>
              <a:gs pos="0">
                <a:srgbClr val="6A4CF5">
                  <a:alpha val="16000"/>
                </a:srgbClr>
              </a:gs>
              <a:gs pos="62000">
                <a:srgbClr val="6A4CF5">
                  <a:alpha val="0"/>
                </a:srgbClr>
              </a:gs>
            </a:gsLst>
            <a:path path="circle">
              <a:fillToRect l="50000" t="50000" r="50000" b="50000"/>
            </a:path>
          </a:gradFill>
          <a:ln/>
        </p:spPr>
        <p:txBody>
          <a:bodyPr/>
          <a:lstStyle/>
          <a:p>
            <a:endParaRPr lang="en-US"/>
          </a:p>
        </p:txBody>
      </p:sp>
      <p:sp>
        <p:nvSpPr>
          <p:cNvPr id="3" name="Text 1"/>
          <p:cNvSpPr/>
          <p:nvPr/>
        </p:nvSpPr>
        <p:spPr>
          <a:xfrm>
            <a:off x="952405" y="685657"/>
            <a:ext cx="18021355" cy="220980"/>
          </a:xfrm>
          <a:prstGeom prst="rect">
            <a:avLst/>
          </a:prstGeom>
          <a:noFill/>
          <a:ln/>
        </p:spPr>
        <p:txBody>
          <a:bodyPr wrap="square" lIns="25400" tIns="25400" rIns="25400" bIns="25400" rtlCol="0" anchor="t">
            <a:normAutofit lnSpcReduction="10000"/>
          </a:bodyPr>
          <a:lstStyle/>
          <a:p>
            <a:pPr marL="0" indent="0" algn="l">
              <a:buNone/>
            </a:pPr>
            <a:r>
              <a:rPr lang="en-US" sz="1200" kern="0" spc="168" dirty="0">
                <a:solidFill>
                  <a:srgbClr val="888888"/>
                </a:solidFill>
                <a:latin typeface="Arial" pitchFamily="34" charset="0"/>
                <a:ea typeface="Arial" pitchFamily="34" charset="-122"/>
                <a:cs typeface="Arial" pitchFamily="34" charset="-120"/>
              </a:rPr>
              <a:t>THE SOLUTION</a:t>
            </a:r>
            <a:endParaRPr lang="en-US" sz="1200" dirty="0"/>
          </a:p>
        </p:txBody>
      </p:sp>
      <p:sp>
        <p:nvSpPr>
          <p:cNvPr id="4" name="Text 2"/>
          <p:cNvSpPr/>
          <p:nvPr/>
        </p:nvSpPr>
        <p:spPr>
          <a:xfrm>
            <a:off x="952405" y="1001840"/>
            <a:ext cx="18021355" cy="635318"/>
          </a:xfrm>
          <a:prstGeom prst="rect">
            <a:avLst/>
          </a:prstGeom>
          <a:noFill/>
          <a:ln/>
        </p:spPr>
        <p:txBody>
          <a:bodyPr wrap="square" lIns="25400" tIns="25400" rIns="25400" bIns="25400" rtlCol="0" anchor="t">
            <a:normAutofit fontScale="92500" lnSpcReduction="20000"/>
          </a:bodyPr>
          <a:lstStyle/>
          <a:p>
            <a:pPr marL="0" indent="0" algn="l">
              <a:lnSpc>
                <a:spcPct val="95000"/>
              </a:lnSpc>
              <a:buNone/>
            </a:pPr>
            <a:r>
              <a:rPr lang="en-US" sz="4950" b="1" kern="0" spc="-240" dirty="0">
                <a:solidFill>
                  <a:srgbClr val="FFFFFF"/>
                </a:solidFill>
                <a:latin typeface="Arial" pitchFamily="34" charset="0"/>
                <a:ea typeface="Arial" pitchFamily="34" charset="-122"/>
                <a:cs typeface="Arial" pitchFamily="34" charset="-120"/>
              </a:rPr>
              <a:t>One platform, built on three pillars</a:t>
            </a:r>
            <a:endParaRPr lang="en-US" sz="4950" dirty="0"/>
          </a:p>
        </p:txBody>
      </p:sp>
      <p:sp>
        <p:nvSpPr>
          <p:cNvPr id="5" name="Shape 3"/>
          <p:cNvSpPr/>
          <p:nvPr/>
        </p:nvSpPr>
        <p:spPr>
          <a:xfrm>
            <a:off x="952405" y="1865662"/>
            <a:ext cx="16383050" cy="9525"/>
          </a:xfrm>
          <a:prstGeom prst="rect">
            <a:avLst/>
          </a:prstGeom>
          <a:solidFill>
            <a:srgbClr val="262626"/>
          </a:solidFill>
          <a:ln/>
        </p:spPr>
        <p:txBody>
          <a:bodyPr/>
          <a:lstStyle/>
          <a:p>
            <a:endParaRPr lang="en-US"/>
          </a:p>
        </p:txBody>
      </p:sp>
      <p:sp>
        <p:nvSpPr>
          <p:cNvPr id="6" name="Shape 4"/>
          <p:cNvSpPr/>
          <p:nvPr/>
        </p:nvSpPr>
        <p:spPr>
          <a:xfrm>
            <a:off x="952405" y="2141697"/>
            <a:ext cx="5346812" cy="6254497"/>
          </a:xfrm>
          <a:prstGeom prst="roundRect">
            <a:avLst>
              <a:gd name="adj" fmla="val 3919"/>
            </a:avLst>
          </a:prstGeom>
          <a:solidFill>
            <a:srgbClr val="141414"/>
          </a:solidFill>
          <a:ln/>
        </p:spPr>
        <p:txBody>
          <a:bodyPr/>
          <a:lstStyle/>
          <a:p>
            <a:endParaRPr lang="en-US"/>
          </a:p>
        </p:txBody>
      </p:sp>
      <p:sp>
        <p:nvSpPr>
          <p:cNvPr id="7" name="Text 5"/>
          <p:cNvSpPr/>
          <p:nvPr/>
        </p:nvSpPr>
        <p:spPr>
          <a:xfrm>
            <a:off x="1371457" y="2560749"/>
            <a:ext cx="4959578" cy="7239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5400" b="1" kern="0" spc="-225" dirty="0">
                <a:solidFill>
                  <a:schemeClr val="bg1"/>
                </a:solidFill>
                <a:latin typeface="Arial" pitchFamily="34" charset="0"/>
                <a:ea typeface="Arial" pitchFamily="34" charset="-122"/>
                <a:cs typeface="Arial" pitchFamily="34" charset="-120"/>
              </a:rPr>
              <a:t>01</a:t>
            </a:r>
            <a:endParaRPr lang="en-US" sz="5400" dirty="0">
              <a:solidFill>
                <a:schemeClr val="bg1"/>
              </a:solidFill>
            </a:endParaRPr>
          </a:p>
        </p:txBody>
      </p:sp>
      <p:sp>
        <p:nvSpPr>
          <p:cNvPr id="8" name="Text 6"/>
          <p:cNvSpPr/>
          <p:nvPr/>
        </p:nvSpPr>
        <p:spPr>
          <a:xfrm>
            <a:off x="1371457" y="6479382"/>
            <a:ext cx="4959578" cy="550164"/>
          </a:xfrm>
          <a:prstGeom prst="rect">
            <a:avLst/>
          </a:prstGeom>
          <a:noFill/>
          <a:ln/>
        </p:spPr>
        <p:txBody>
          <a:bodyPr wrap="square" lIns="25400" tIns="25400" rIns="25400" bIns="25400" rtlCol="0" anchor="t">
            <a:normAutofit/>
          </a:bodyPr>
          <a:lstStyle/>
          <a:p>
            <a:pPr marL="0" indent="0" algn="l">
              <a:buNone/>
            </a:pPr>
            <a:r>
              <a:rPr lang="en-US" sz="2850" b="1" kern="0" spc="-105" dirty="0">
                <a:solidFill>
                  <a:srgbClr val="FFFFFF"/>
                </a:solidFill>
                <a:latin typeface="Arial" pitchFamily="34" charset="0"/>
                <a:ea typeface="Arial" pitchFamily="34" charset="-122"/>
                <a:cs typeface="Arial" pitchFamily="34" charset="-120"/>
              </a:rPr>
              <a:t>Unify</a:t>
            </a:r>
            <a:endParaRPr lang="en-US" sz="2850" dirty="0"/>
          </a:p>
        </p:txBody>
      </p:sp>
      <p:sp>
        <p:nvSpPr>
          <p:cNvPr id="9" name="Text 7"/>
          <p:cNvSpPr/>
          <p:nvPr/>
        </p:nvSpPr>
        <p:spPr>
          <a:xfrm>
            <a:off x="1371457" y="7162753"/>
            <a:ext cx="4643968" cy="852488"/>
          </a:xfrm>
          <a:prstGeom prst="rect">
            <a:avLst/>
          </a:prstGeom>
          <a:noFill/>
          <a:ln/>
        </p:spPr>
        <p:txBody>
          <a:bodyPr wrap="square" lIns="25400" tIns="25400" rIns="25400" bIns="25400" rtlCol="0" anchor="t">
            <a:normAutofit fontScale="92500" lnSpcReduction="20000"/>
          </a:bodyPr>
          <a:lstStyle/>
          <a:p>
            <a:pPr marL="0" indent="0" algn="l">
              <a:lnSpc>
                <a:spcPct val="150000"/>
              </a:lnSpc>
              <a:buNone/>
            </a:pPr>
            <a:r>
              <a:rPr lang="en-US" sz="1425" kern="0" spc="-15" dirty="0">
                <a:solidFill>
                  <a:srgbClr val="AAAAAA"/>
                </a:solidFill>
                <a:latin typeface="Arial" pitchFamily="34" charset="0"/>
                <a:ea typeface="Arial" pitchFamily="34" charset="-122"/>
                <a:cs typeface="Arial" pitchFamily="34" charset="-120"/>
              </a:rPr>
              <a:t>A single, governed platform ingesting every source — structured, semi-structured and unstructured — through both real-time streaming and managed batch.</a:t>
            </a:r>
            <a:endParaRPr lang="en-US" sz="1425" dirty="0"/>
          </a:p>
        </p:txBody>
      </p:sp>
      <p:sp>
        <p:nvSpPr>
          <p:cNvPr id="10" name="Shape 8"/>
          <p:cNvSpPr/>
          <p:nvPr/>
        </p:nvSpPr>
        <p:spPr>
          <a:xfrm>
            <a:off x="6470524" y="2141697"/>
            <a:ext cx="5346812" cy="6254497"/>
          </a:xfrm>
          <a:prstGeom prst="roundRect">
            <a:avLst>
              <a:gd name="adj" fmla="val 3919"/>
            </a:avLst>
          </a:prstGeom>
          <a:gradFill rotWithShape="1">
            <a:gsLst>
              <a:gs pos="0">
                <a:srgbClr val="6A4CF5">
                  <a:alpha val="100000"/>
                </a:srgbClr>
              </a:gs>
              <a:gs pos="100000">
                <a:srgbClr val="D44DF0">
                  <a:alpha val="100000"/>
                </a:srgbClr>
              </a:gs>
            </a:gsLst>
            <a:lin ang="3000000" scaled="0"/>
          </a:gradFill>
          <a:ln/>
        </p:spPr>
        <p:txBody>
          <a:bodyPr/>
          <a:lstStyle/>
          <a:p>
            <a:endParaRPr lang="en-US"/>
          </a:p>
        </p:txBody>
      </p:sp>
      <p:sp>
        <p:nvSpPr>
          <p:cNvPr id="11" name="Text 9"/>
          <p:cNvSpPr/>
          <p:nvPr/>
        </p:nvSpPr>
        <p:spPr>
          <a:xfrm>
            <a:off x="6889577" y="2560749"/>
            <a:ext cx="4959578" cy="7239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5400" b="1" kern="0" spc="-225" dirty="0">
                <a:solidFill>
                  <a:schemeClr val="bg1"/>
                </a:solidFill>
                <a:latin typeface="Arial" pitchFamily="34" charset="0"/>
                <a:ea typeface="Arial" pitchFamily="34" charset="-122"/>
                <a:cs typeface="Arial" pitchFamily="34" charset="-120"/>
              </a:rPr>
              <a:t>02</a:t>
            </a:r>
            <a:endParaRPr lang="en-US" sz="5400" dirty="0">
              <a:solidFill>
                <a:schemeClr val="bg1"/>
              </a:solidFill>
            </a:endParaRPr>
          </a:p>
        </p:txBody>
      </p:sp>
      <p:sp>
        <p:nvSpPr>
          <p:cNvPr id="12" name="Text 10"/>
          <p:cNvSpPr/>
          <p:nvPr/>
        </p:nvSpPr>
        <p:spPr>
          <a:xfrm>
            <a:off x="6889577" y="6479382"/>
            <a:ext cx="4959578" cy="550164"/>
          </a:xfrm>
          <a:prstGeom prst="rect">
            <a:avLst/>
          </a:prstGeom>
          <a:noFill/>
          <a:ln/>
        </p:spPr>
        <p:txBody>
          <a:bodyPr wrap="square" lIns="25400" tIns="25400" rIns="25400" bIns="25400" rtlCol="0" anchor="t">
            <a:normAutofit/>
          </a:bodyPr>
          <a:lstStyle/>
          <a:p>
            <a:pPr marL="0" indent="0" algn="l">
              <a:buNone/>
            </a:pPr>
            <a:r>
              <a:rPr lang="en-US" sz="2850" b="1" kern="0" spc="-105" dirty="0">
                <a:solidFill>
                  <a:srgbClr val="FFFFFF"/>
                </a:solidFill>
                <a:latin typeface="Arial" pitchFamily="34" charset="0"/>
                <a:ea typeface="Arial" pitchFamily="34" charset="-122"/>
                <a:cs typeface="Arial" pitchFamily="34" charset="-120"/>
              </a:rPr>
              <a:t>Accelerate</a:t>
            </a:r>
            <a:endParaRPr lang="en-US" sz="2850" dirty="0"/>
          </a:p>
        </p:txBody>
      </p:sp>
      <p:sp>
        <p:nvSpPr>
          <p:cNvPr id="13" name="Text 11"/>
          <p:cNvSpPr/>
          <p:nvPr/>
        </p:nvSpPr>
        <p:spPr>
          <a:xfrm>
            <a:off x="6889577" y="7162753"/>
            <a:ext cx="4643968" cy="852488"/>
          </a:xfrm>
          <a:prstGeom prst="rect">
            <a:avLst/>
          </a:prstGeom>
          <a:noFill/>
          <a:ln/>
        </p:spPr>
        <p:txBody>
          <a:bodyPr wrap="square" lIns="25400" tIns="25400" rIns="25400" bIns="25400" rtlCol="0" anchor="t">
            <a:normAutofit fontScale="92500" lnSpcReduction="20000"/>
          </a:bodyPr>
          <a:lstStyle/>
          <a:p>
            <a:pPr marL="0" indent="0" algn="l">
              <a:lnSpc>
                <a:spcPct val="150000"/>
              </a:lnSpc>
              <a:buNone/>
            </a:pPr>
            <a:r>
              <a:rPr lang="en-US" sz="1425" kern="0" spc="-15" dirty="0">
                <a:solidFill>
                  <a:srgbClr val="FFFFFF">
                    <a:alpha val="85000"/>
                  </a:srgbClr>
                </a:solidFill>
                <a:latin typeface="Arial" pitchFamily="34" charset="0"/>
                <a:ea typeface="Arial" pitchFamily="34" charset="-122"/>
                <a:cs typeface="Arial" pitchFamily="34" charset="-120"/>
              </a:rPr>
              <a:t>Time-to-insight from 24 hours to sub-second. Live, self-service dashboards replace manually compiled Excel reports for every business user.</a:t>
            </a:r>
            <a:endParaRPr lang="en-US" sz="1425" dirty="0"/>
          </a:p>
        </p:txBody>
      </p:sp>
      <p:sp>
        <p:nvSpPr>
          <p:cNvPr id="14" name="Shape 12"/>
          <p:cNvSpPr/>
          <p:nvPr/>
        </p:nvSpPr>
        <p:spPr>
          <a:xfrm>
            <a:off x="11988643" y="2141697"/>
            <a:ext cx="5346812" cy="6254497"/>
          </a:xfrm>
          <a:prstGeom prst="roundRect">
            <a:avLst>
              <a:gd name="adj" fmla="val 3919"/>
            </a:avLst>
          </a:prstGeom>
          <a:solidFill>
            <a:srgbClr val="141414"/>
          </a:solidFill>
          <a:ln/>
        </p:spPr>
        <p:txBody>
          <a:bodyPr/>
          <a:lstStyle/>
          <a:p>
            <a:endParaRPr lang="en-US"/>
          </a:p>
        </p:txBody>
      </p:sp>
      <p:sp>
        <p:nvSpPr>
          <p:cNvPr id="15" name="Text 13"/>
          <p:cNvSpPr/>
          <p:nvPr/>
        </p:nvSpPr>
        <p:spPr>
          <a:xfrm>
            <a:off x="12407696" y="2560749"/>
            <a:ext cx="4959578" cy="7239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5400" b="1" kern="0" spc="-225" dirty="0">
                <a:solidFill>
                  <a:schemeClr val="bg1"/>
                </a:solidFill>
                <a:latin typeface="Arial" pitchFamily="34" charset="0"/>
                <a:ea typeface="Arial" pitchFamily="34" charset="-122"/>
                <a:cs typeface="Arial" pitchFamily="34" charset="-120"/>
              </a:rPr>
              <a:t>03</a:t>
            </a:r>
            <a:endParaRPr lang="en-US" sz="5400" dirty="0">
              <a:solidFill>
                <a:schemeClr val="bg1"/>
              </a:solidFill>
            </a:endParaRPr>
          </a:p>
        </p:txBody>
      </p:sp>
      <p:sp>
        <p:nvSpPr>
          <p:cNvPr id="16" name="Text 14"/>
          <p:cNvSpPr/>
          <p:nvPr/>
        </p:nvSpPr>
        <p:spPr>
          <a:xfrm>
            <a:off x="12407696" y="6479382"/>
            <a:ext cx="4959578" cy="550164"/>
          </a:xfrm>
          <a:prstGeom prst="rect">
            <a:avLst/>
          </a:prstGeom>
          <a:noFill/>
          <a:ln/>
        </p:spPr>
        <p:txBody>
          <a:bodyPr wrap="square" lIns="25400" tIns="25400" rIns="25400" bIns="25400" rtlCol="0" anchor="t">
            <a:normAutofit/>
          </a:bodyPr>
          <a:lstStyle/>
          <a:p>
            <a:pPr marL="0" indent="0" algn="l">
              <a:buNone/>
            </a:pPr>
            <a:r>
              <a:rPr lang="en-US" sz="2850" b="1" kern="0" spc="-105" dirty="0">
                <a:solidFill>
                  <a:srgbClr val="FFFFFF"/>
                </a:solidFill>
                <a:latin typeface="Arial" pitchFamily="34" charset="0"/>
                <a:ea typeface="Arial" pitchFamily="34" charset="-122"/>
                <a:cs typeface="Arial" pitchFamily="34" charset="-120"/>
              </a:rPr>
              <a:t>Enable</a:t>
            </a:r>
            <a:endParaRPr lang="en-US" sz="2850" dirty="0"/>
          </a:p>
        </p:txBody>
      </p:sp>
      <p:sp>
        <p:nvSpPr>
          <p:cNvPr id="17" name="Text 15"/>
          <p:cNvSpPr/>
          <p:nvPr/>
        </p:nvSpPr>
        <p:spPr>
          <a:xfrm>
            <a:off x="12407696" y="7162753"/>
            <a:ext cx="4643968" cy="852488"/>
          </a:xfrm>
          <a:prstGeom prst="rect">
            <a:avLst/>
          </a:prstGeom>
          <a:noFill/>
          <a:ln/>
        </p:spPr>
        <p:txBody>
          <a:bodyPr wrap="square" lIns="25400" tIns="25400" rIns="25400" bIns="25400" rtlCol="0" anchor="t">
            <a:normAutofit fontScale="92500" lnSpcReduction="20000"/>
          </a:bodyPr>
          <a:lstStyle/>
          <a:p>
            <a:pPr marL="0" indent="0" algn="l">
              <a:lnSpc>
                <a:spcPct val="150000"/>
              </a:lnSpc>
              <a:buNone/>
            </a:pPr>
            <a:r>
              <a:rPr lang="en-US" sz="1425" kern="0" spc="-15" dirty="0">
                <a:solidFill>
                  <a:srgbClr val="AAAAAA"/>
                </a:solidFill>
                <a:latin typeface="Arial" pitchFamily="34" charset="0"/>
                <a:ea typeface="Arial" pitchFamily="34" charset="-122"/>
                <a:cs typeface="Arial" pitchFamily="34" charset="-120"/>
              </a:rPr>
              <a:t>ML-powered features — recommendations, demand forecasting, dynamic pricing, sentiment analysis — that are architecturally impossible on the stack today.</a:t>
            </a:r>
            <a:endParaRPr lang="en-US" sz="1425" dirty="0"/>
          </a:p>
        </p:txBody>
      </p:sp>
      <p:sp>
        <p:nvSpPr>
          <p:cNvPr id="18" name="Shape 16"/>
          <p:cNvSpPr/>
          <p:nvPr/>
        </p:nvSpPr>
        <p:spPr>
          <a:xfrm>
            <a:off x="952405" y="8605649"/>
            <a:ext cx="16383050" cy="658082"/>
          </a:xfrm>
          <a:prstGeom prst="roundRect">
            <a:avLst>
              <a:gd name="adj" fmla="val 20263"/>
            </a:avLst>
          </a:prstGeom>
          <a:solidFill>
            <a:srgbClr val="141414"/>
          </a:solidFill>
          <a:ln/>
        </p:spPr>
        <p:txBody>
          <a:bodyPr/>
          <a:lstStyle/>
          <a:p>
            <a:endParaRPr lang="en-US"/>
          </a:p>
        </p:txBody>
      </p:sp>
      <p:sp>
        <p:nvSpPr>
          <p:cNvPr id="19" name="Text 17"/>
          <p:cNvSpPr/>
          <p:nvPr/>
        </p:nvSpPr>
        <p:spPr>
          <a:xfrm>
            <a:off x="1257157" y="8861538"/>
            <a:ext cx="1838016" cy="184404"/>
          </a:xfrm>
          <a:prstGeom prst="rect">
            <a:avLst/>
          </a:prstGeom>
          <a:noFill/>
          <a:ln/>
        </p:spPr>
        <p:txBody>
          <a:bodyPr wrap="none" lIns="25400" tIns="25400" rIns="25400" bIns="25400" rtlCol="0" anchor="t">
            <a:normAutofit fontScale="92500" lnSpcReduction="20000"/>
          </a:bodyPr>
          <a:lstStyle/>
          <a:p>
            <a:pPr marL="0" indent="0" algn="l">
              <a:buNone/>
            </a:pPr>
            <a:r>
              <a:rPr lang="en-US" sz="1050" b="1" kern="0" spc="126" dirty="0">
                <a:solidFill>
                  <a:srgbClr val="666666"/>
                </a:solidFill>
                <a:latin typeface="Arial" pitchFamily="34" charset="0"/>
                <a:ea typeface="Arial" pitchFamily="34" charset="-122"/>
                <a:cs typeface="Arial" pitchFamily="34" charset="-120"/>
              </a:rPr>
              <a:t>OPEN-SOURCE CORE</a:t>
            </a:r>
            <a:endParaRPr lang="en-US" sz="1050" dirty="0"/>
          </a:p>
        </p:txBody>
      </p:sp>
      <p:sp>
        <p:nvSpPr>
          <p:cNvPr id="20" name="Shape 18"/>
          <p:cNvSpPr/>
          <p:nvPr/>
        </p:nvSpPr>
        <p:spPr>
          <a:xfrm>
            <a:off x="3118533" y="8929975"/>
            <a:ext cx="6636116" cy="9525"/>
          </a:xfrm>
          <a:prstGeom prst="rect">
            <a:avLst/>
          </a:prstGeom>
          <a:solidFill>
            <a:srgbClr val="262626"/>
          </a:solidFill>
          <a:ln/>
        </p:spPr>
        <p:txBody>
          <a:bodyPr/>
          <a:lstStyle/>
          <a:p>
            <a:endParaRPr lang="en-US"/>
          </a:p>
        </p:txBody>
      </p:sp>
      <p:sp>
        <p:nvSpPr>
          <p:cNvPr id="21" name="Text 19"/>
          <p:cNvSpPr/>
          <p:nvPr/>
        </p:nvSpPr>
        <p:spPr>
          <a:xfrm>
            <a:off x="9945102" y="8834106"/>
            <a:ext cx="7794161" cy="239268"/>
          </a:xfrm>
          <a:prstGeom prst="rect">
            <a:avLst/>
          </a:prstGeom>
          <a:noFill/>
          <a:ln/>
        </p:spPr>
        <p:txBody>
          <a:bodyPr wrap="square" lIns="25400" tIns="25400" rIns="25400" bIns="25400" rtlCol="0" anchor="t">
            <a:normAutofit lnSpcReduction="10000"/>
          </a:bodyPr>
          <a:lstStyle/>
          <a:p>
            <a:pPr marL="0" indent="0" algn="l">
              <a:buNone/>
            </a:pPr>
            <a:r>
              <a:rPr lang="en-US" sz="1350" kern="0" spc="-13" dirty="0">
                <a:solidFill>
                  <a:srgbClr val="AAAAAA"/>
                </a:solidFill>
                <a:latin typeface="Arial" pitchFamily="34" charset="0"/>
                <a:ea typeface="Arial" pitchFamily="34" charset="-122"/>
                <a:cs typeface="Arial" pitchFamily="34" charset="-120"/>
              </a:rPr>
              <a:t>Airflow · Spark · Parquet — open standards at the heart of the platform mean no vendor lock-in.</a:t>
            </a:r>
            <a:endParaRPr lang="en-US" sz="1350" dirty="0"/>
          </a:p>
        </p:txBody>
      </p:sp>
      <p:sp>
        <p:nvSpPr>
          <p:cNvPr id="22" name="Text 20"/>
          <p:cNvSpPr/>
          <p:nvPr/>
        </p:nvSpPr>
        <p:spPr>
          <a:xfrm>
            <a:off x="952405" y="9473186"/>
            <a:ext cx="18021355" cy="166116"/>
          </a:xfrm>
          <a:prstGeom prst="rect">
            <a:avLst/>
          </a:prstGeom>
          <a:noFill/>
          <a:ln/>
        </p:spPr>
        <p:txBody>
          <a:bodyPr wrap="square" lIns="25400" tIns="25400" rIns="25400" bIns="25400" rtlCol="0" anchor="t">
            <a:normAutofit fontScale="92500" lnSpcReduction="10000"/>
          </a:bodyPr>
          <a:lstStyle/>
          <a:p>
            <a:pPr marL="0" indent="0" algn="l">
              <a:buNone/>
            </a:pPr>
            <a:r>
              <a:rPr lang="en-US" sz="900" kern="0" spc="90" dirty="0">
                <a:solidFill>
                  <a:srgbClr val="2A2A2A"/>
                </a:solidFill>
                <a:latin typeface="Arial" pitchFamily="34" charset="0"/>
                <a:ea typeface="Arial" pitchFamily="34" charset="-122"/>
                <a:cs typeface="Arial" pitchFamily="34" charset="-120"/>
              </a:rPr>
              <a:t>MANGA DATAHUB · CLOUD ANALYTICS · IE UNIVERSITY</a:t>
            </a:r>
            <a:endParaRPr lang="en-US" sz="900" dirty="0"/>
          </a:p>
        </p:txBody>
      </p:sp>
    </p:spTree>
  </p:cSld>
  <p:clrMapOvr>
    <a:masterClrMapping/>
  </p:clrMapOvr>
  <p:transition spd="slow">
    <p:push dir="u"/>
  </p:transition>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90909"/>
        </a:solidFill>
        <a:effectLst/>
      </p:bgPr>
    </p:bg>
    <p:spTree>
      <p:nvGrpSpPr>
        <p:cNvPr id="1" name=""/>
        <p:cNvGrpSpPr/>
        <p:nvPr/>
      </p:nvGrpSpPr>
      <p:grpSpPr>
        <a:xfrm>
          <a:off x="0" y="0"/>
          <a:ext cx="0" cy="0"/>
          <a:chOff x="0" y="0"/>
          <a:chExt cx="0" cy="0"/>
        </a:xfrm>
      </p:grpSpPr>
      <p:sp>
        <p:nvSpPr>
          <p:cNvPr id="2" name="Text 0"/>
          <p:cNvSpPr/>
          <p:nvPr/>
        </p:nvSpPr>
        <p:spPr>
          <a:xfrm>
            <a:off x="952405" y="685657"/>
            <a:ext cx="18021355" cy="220980"/>
          </a:xfrm>
          <a:prstGeom prst="rect">
            <a:avLst/>
          </a:prstGeom>
          <a:noFill/>
          <a:ln/>
        </p:spPr>
        <p:txBody>
          <a:bodyPr wrap="square" lIns="25400" tIns="25400" rIns="25400" bIns="25400" rtlCol="0" anchor="t">
            <a:normAutofit lnSpcReduction="10000"/>
          </a:bodyPr>
          <a:lstStyle/>
          <a:p>
            <a:pPr marL="0" indent="0" algn="l">
              <a:buNone/>
            </a:pPr>
            <a:r>
              <a:rPr lang="en-US" sz="1200" kern="0" spc="168" dirty="0">
                <a:solidFill>
                  <a:srgbClr val="888888"/>
                </a:solidFill>
                <a:latin typeface="Arial" pitchFamily="34" charset="0"/>
                <a:ea typeface="Arial" pitchFamily="34" charset="-122"/>
                <a:cs typeface="Arial" pitchFamily="34" charset="-120"/>
              </a:rPr>
              <a:t>STAKEHOLDERS</a:t>
            </a:r>
            <a:endParaRPr lang="en-US" sz="1200" dirty="0"/>
          </a:p>
        </p:txBody>
      </p:sp>
      <p:sp>
        <p:nvSpPr>
          <p:cNvPr id="3" name="Text 1"/>
          <p:cNvSpPr/>
          <p:nvPr/>
        </p:nvSpPr>
        <p:spPr>
          <a:xfrm>
            <a:off x="952405" y="1001840"/>
            <a:ext cx="7423992" cy="1232535"/>
          </a:xfrm>
          <a:prstGeom prst="rect">
            <a:avLst/>
          </a:prstGeom>
          <a:noFill/>
          <a:ln/>
        </p:spPr>
        <p:txBody>
          <a:bodyPr wrap="square" lIns="25400" tIns="25400" rIns="25400" bIns="25400" rtlCol="0" anchor="t">
            <a:normAutofit fontScale="92500" lnSpcReduction="20000"/>
          </a:bodyPr>
          <a:lstStyle/>
          <a:p>
            <a:pPr marL="0" indent="0" algn="l">
              <a:lnSpc>
                <a:spcPct val="95000"/>
              </a:lnSpc>
              <a:buNone/>
            </a:pPr>
            <a:r>
              <a:rPr lang="en-US" sz="4950" b="1" kern="0" spc="-240" dirty="0">
                <a:solidFill>
                  <a:srgbClr val="FFFFFF"/>
                </a:solidFill>
                <a:latin typeface="Arial" pitchFamily="34" charset="0"/>
                <a:ea typeface="Arial" pitchFamily="34" charset="-122"/>
                <a:cs typeface="Arial" pitchFamily="34" charset="-120"/>
              </a:rPr>
              <a:t>Mapped to every decision-maker's concern</a:t>
            </a:r>
            <a:endParaRPr lang="en-US" sz="4950" dirty="0"/>
          </a:p>
        </p:txBody>
      </p:sp>
      <p:sp>
        <p:nvSpPr>
          <p:cNvPr id="4" name="Text 2"/>
          <p:cNvSpPr/>
          <p:nvPr/>
        </p:nvSpPr>
        <p:spPr>
          <a:xfrm>
            <a:off x="8617221" y="1614345"/>
            <a:ext cx="4316682" cy="563023"/>
          </a:xfrm>
          <a:prstGeom prst="rect">
            <a:avLst/>
          </a:prstGeom>
          <a:noFill/>
          <a:ln/>
        </p:spPr>
        <p:txBody>
          <a:bodyPr wrap="square" lIns="25400" tIns="25400" rIns="25400" bIns="25400" rtlCol="0" anchor="t">
            <a:normAutofit fontScale="92500" lnSpcReduction="10000"/>
          </a:bodyPr>
          <a:lstStyle/>
          <a:p>
            <a:pPr marL="0" indent="0" algn="l">
              <a:lnSpc>
                <a:spcPct val="145000"/>
              </a:lnSpc>
              <a:buNone/>
            </a:pPr>
            <a:r>
              <a:rPr lang="en-US" sz="1425" kern="0" spc="-15" dirty="0">
                <a:solidFill>
                  <a:srgbClr val="999999"/>
                </a:solidFill>
                <a:latin typeface="Arial" pitchFamily="34" charset="0"/>
                <a:ea typeface="Arial" pitchFamily="34" charset="-122"/>
                <a:cs typeface="Arial" pitchFamily="34" charset="-120"/>
              </a:rPr>
              <a:t>Five named stakeholders on the Manga side — each with a concern the architecture answers directly.</a:t>
            </a:r>
            <a:endParaRPr lang="en-US" sz="1425" dirty="0"/>
          </a:p>
        </p:txBody>
      </p:sp>
      <p:sp>
        <p:nvSpPr>
          <p:cNvPr id="5" name="Shape 3"/>
          <p:cNvSpPr/>
          <p:nvPr/>
        </p:nvSpPr>
        <p:spPr>
          <a:xfrm>
            <a:off x="952405" y="2462880"/>
            <a:ext cx="16383050" cy="9525"/>
          </a:xfrm>
          <a:prstGeom prst="rect">
            <a:avLst/>
          </a:prstGeom>
          <a:solidFill>
            <a:srgbClr val="262626"/>
          </a:solidFill>
          <a:ln/>
        </p:spPr>
        <p:txBody>
          <a:bodyPr/>
          <a:lstStyle/>
          <a:p>
            <a:endParaRPr lang="en-US"/>
          </a:p>
        </p:txBody>
      </p:sp>
      <p:sp>
        <p:nvSpPr>
          <p:cNvPr id="6" name="Shape 4"/>
          <p:cNvSpPr/>
          <p:nvPr/>
        </p:nvSpPr>
        <p:spPr>
          <a:xfrm>
            <a:off x="952405" y="2738914"/>
            <a:ext cx="3154680" cy="6524817"/>
          </a:xfrm>
          <a:prstGeom prst="roundRect">
            <a:avLst>
              <a:gd name="adj" fmla="val 6643"/>
            </a:avLst>
          </a:prstGeom>
          <a:gradFill rotWithShape="1">
            <a:gsLst>
              <a:gs pos="0">
                <a:srgbClr val="6A4CF5">
                  <a:alpha val="100000"/>
                </a:srgbClr>
              </a:gs>
              <a:gs pos="75000">
                <a:srgbClr val="1C1C1C">
                  <a:alpha val="100000"/>
                </a:srgbClr>
              </a:gs>
            </a:gsLst>
            <a:lin ang="3900000" scaled="0"/>
          </a:gradFill>
          <a:ln/>
        </p:spPr>
        <p:txBody>
          <a:bodyPr/>
          <a:lstStyle/>
          <a:p>
            <a:endParaRPr lang="en-US"/>
          </a:p>
        </p:txBody>
      </p:sp>
      <p:sp>
        <p:nvSpPr>
          <p:cNvPr id="7" name="Text 5"/>
          <p:cNvSpPr/>
          <p:nvPr/>
        </p:nvSpPr>
        <p:spPr>
          <a:xfrm>
            <a:off x="1276160" y="5142358"/>
            <a:ext cx="2757888" cy="184404"/>
          </a:xfrm>
          <a:prstGeom prst="rect">
            <a:avLst/>
          </a:prstGeom>
          <a:noFill/>
          <a:ln/>
        </p:spPr>
        <p:txBody>
          <a:bodyPr wrap="square" lIns="25400" tIns="25400" rIns="25400" bIns="25400" rtlCol="0" anchor="t">
            <a:normAutofit fontScale="92500" lnSpcReduction="20000"/>
          </a:bodyPr>
          <a:lstStyle/>
          <a:p>
            <a:pPr marL="0" indent="0" algn="l">
              <a:buNone/>
            </a:pPr>
            <a:r>
              <a:rPr lang="en-US" sz="1050" b="1" kern="0" spc="126" dirty="0">
                <a:solidFill>
                  <a:schemeClr val="bg1">
                    <a:lumMod val="95000"/>
                    <a:alpha val="50000"/>
                  </a:schemeClr>
                </a:solidFill>
                <a:latin typeface="Arial" pitchFamily="34" charset="0"/>
                <a:ea typeface="Arial" pitchFamily="34" charset="-122"/>
                <a:cs typeface="Arial" pitchFamily="34" charset="-120"/>
              </a:rPr>
              <a:t>CHAMPION</a:t>
            </a:r>
            <a:endParaRPr lang="en-US" sz="1050" b="1" dirty="0">
              <a:solidFill>
                <a:schemeClr val="bg1">
                  <a:lumMod val="95000"/>
                  <a:alpha val="50000"/>
                </a:schemeClr>
              </a:solidFill>
            </a:endParaRPr>
          </a:p>
        </p:txBody>
      </p:sp>
      <p:sp>
        <p:nvSpPr>
          <p:cNvPr id="8" name="Text 6"/>
          <p:cNvSpPr/>
          <p:nvPr/>
        </p:nvSpPr>
        <p:spPr>
          <a:xfrm>
            <a:off x="1276160" y="5555267"/>
            <a:ext cx="2757888" cy="440436"/>
          </a:xfrm>
          <a:prstGeom prst="rect">
            <a:avLst/>
          </a:prstGeom>
          <a:noFill/>
          <a:ln/>
        </p:spPr>
        <p:txBody>
          <a:bodyPr wrap="square" lIns="25400" tIns="25400" rIns="25400" bIns="25400" rtlCol="0" anchor="t">
            <a:normAutofit/>
          </a:bodyPr>
          <a:lstStyle/>
          <a:p>
            <a:pPr marL="0" indent="0" algn="l">
              <a:buNone/>
            </a:pPr>
            <a:r>
              <a:rPr lang="en-US" sz="2250" b="1" kern="0" spc="-75" dirty="0">
                <a:solidFill>
                  <a:srgbClr val="FFFFFF"/>
                </a:solidFill>
                <a:latin typeface="Arial" pitchFamily="34" charset="0"/>
                <a:ea typeface="Arial" pitchFamily="34" charset="-122"/>
                <a:cs typeface="Arial" pitchFamily="34" charset="-120"/>
              </a:rPr>
              <a:t>Marta Ríos</a:t>
            </a:r>
            <a:endParaRPr lang="en-US" sz="2250" dirty="0"/>
          </a:p>
        </p:txBody>
      </p:sp>
      <p:sp>
        <p:nvSpPr>
          <p:cNvPr id="9" name="Text 7"/>
          <p:cNvSpPr/>
          <p:nvPr/>
        </p:nvSpPr>
        <p:spPr>
          <a:xfrm>
            <a:off x="1276160" y="5995607"/>
            <a:ext cx="2757888" cy="220980"/>
          </a:xfrm>
          <a:prstGeom prst="rect">
            <a:avLst/>
          </a:prstGeom>
          <a:noFill/>
          <a:ln/>
        </p:spPr>
        <p:txBody>
          <a:bodyPr wrap="square" lIns="25400" tIns="25400" rIns="25400" bIns="25400" rtlCol="0" anchor="t">
            <a:normAutofit lnSpcReduction="10000"/>
          </a:bodyPr>
          <a:lstStyle/>
          <a:p>
            <a:pPr marL="0" indent="0" algn="l">
              <a:buNone/>
            </a:pPr>
            <a:r>
              <a:rPr lang="en-US" sz="1200" kern="0" spc="-12" dirty="0">
                <a:solidFill>
                  <a:srgbClr val="FFFFFF">
                    <a:alpha val="60000"/>
                  </a:srgbClr>
                </a:solidFill>
                <a:latin typeface="Arial" pitchFamily="34" charset="0"/>
                <a:ea typeface="Arial" pitchFamily="34" charset="-122"/>
                <a:cs typeface="Arial" pitchFamily="34" charset="-120"/>
              </a:rPr>
              <a:t>COO</a:t>
            </a:r>
            <a:endParaRPr lang="en-US" sz="1200" dirty="0"/>
          </a:p>
        </p:txBody>
      </p:sp>
      <p:sp>
        <p:nvSpPr>
          <p:cNvPr id="10" name="Text 8"/>
          <p:cNvSpPr/>
          <p:nvPr/>
        </p:nvSpPr>
        <p:spPr>
          <a:xfrm>
            <a:off x="1276160" y="6387942"/>
            <a:ext cx="2583371" cy="510445"/>
          </a:xfrm>
          <a:prstGeom prst="rect">
            <a:avLst/>
          </a:prstGeom>
          <a:noFill/>
          <a:ln/>
        </p:spPr>
        <p:txBody>
          <a:bodyPr wrap="square" lIns="25400" tIns="25400" rIns="25400" bIns="25400" rtlCol="0" anchor="t">
            <a:normAutofit fontScale="92500" lnSpcReduction="20000"/>
          </a:bodyPr>
          <a:lstStyle/>
          <a:p>
            <a:pPr marL="0" indent="0" algn="l">
              <a:lnSpc>
                <a:spcPct val="155000"/>
              </a:lnSpc>
              <a:buNone/>
            </a:pPr>
            <a:r>
              <a:rPr lang="en-US" sz="1200" kern="0" spc="-12" dirty="0">
                <a:solidFill>
                  <a:srgbClr val="FFFFFF">
                    <a:alpha val="80000"/>
                  </a:srgbClr>
                </a:solidFill>
                <a:latin typeface="Arial" pitchFamily="34" charset="0"/>
                <a:ea typeface="Arial" pitchFamily="34" charset="-122"/>
                <a:cs typeface="Arial" pitchFamily="34" charset="-120"/>
              </a:rPr>
              <a:t>End-to-end solution with a clear business case and phased delivery.</a:t>
            </a:r>
            <a:endParaRPr lang="en-US" sz="1200" dirty="0"/>
          </a:p>
        </p:txBody>
      </p:sp>
      <p:sp>
        <p:nvSpPr>
          <p:cNvPr id="11" name="Shape 9"/>
          <p:cNvSpPr/>
          <p:nvPr/>
        </p:nvSpPr>
        <p:spPr>
          <a:xfrm>
            <a:off x="4259390" y="2738914"/>
            <a:ext cx="3154823" cy="6524817"/>
          </a:xfrm>
          <a:prstGeom prst="roundRect">
            <a:avLst>
              <a:gd name="adj" fmla="val 6642"/>
            </a:avLst>
          </a:prstGeom>
          <a:solidFill>
            <a:srgbClr val="141414"/>
          </a:solidFill>
          <a:ln/>
        </p:spPr>
        <p:txBody>
          <a:bodyPr/>
          <a:lstStyle/>
          <a:p>
            <a:endParaRPr lang="en-US"/>
          </a:p>
        </p:txBody>
      </p:sp>
      <p:sp>
        <p:nvSpPr>
          <p:cNvPr id="12" name="Text 10"/>
          <p:cNvSpPr/>
          <p:nvPr/>
        </p:nvSpPr>
        <p:spPr>
          <a:xfrm>
            <a:off x="4583145" y="5142358"/>
            <a:ext cx="2758045" cy="184404"/>
          </a:xfrm>
          <a:prstGeom prst="rect">
            <a:avLst/>
          </a:prstGeom>
          <a:noFill/>
          <a:ln/>
        </p:spPr>
        <p:txBody>
          <a:bodyPr wrap="square" lIns="25400" tIns="25400" rIns="25400" bIns="25400" rtlCol="0" anchor="t">
            <a:normAutofit fontScale="92500" lnSpcReduction="20000"/>
          </a:bodyPr>
          <a:lstStyle/>
          <a:p>
            <a:pPr marL="0" indent="0" algn="l">
              <a:buNone/>
            </a:pPr>
            <a:r>
              <a:rPr lang="en-US" sz="1050" b="1" kern="0" spc="126" dirty="0">
                <a:solidFill>
                  <a:schemeClr val="bg1">
                    <a:lumMod val="95000"/>
                  </a:schemeClr>
                </a:solidFill>
                <a:latin typeface="Arial" pitchFamily="34" charset="0"/>
                <a:ea typeface="Arial" pitchFamily="34" charset="-122"/>
                <a:cs typeface="Arial" pitchFamily="34" charset="-120"/>
              </a:rPr>
              <a:t>SKEPTIC</a:t>
            </a:r>
            <a:endParaRPr lang="en-US" sz="1050" b="1" dirty="0">
              <a:solidFill>
                <a:schemeClr val="bg1">
                  <a:lumMod val="95000"/>
                </a:schemeClr>
              </a:solidFill>
            </a:endParaRPr>
          </a:p>
        </p:txBody>
      </p:sp>
      <p:sp>
        <p:nvSpPr>
          <p:cNvPr id="13" name="Text 11"/>
          <p:cNvSpPr/>
          <p:nvPr/>
        </p:nvSpPr>
        <p:spPr>
          <a:xfrm>
            <a:off x="4583145" y="5555267"/>
            <a:ext cx="2758045" cy="440436"/>
          </a:xfrm>
          <a:prstGeom prst="rect">
            <a:avLst/>
          </a:prstGeom>
          <a:noFill/>
          <a:ln/>
        </p:spPr>
        <p:txBody>
          <a:bodyPr wrap="square" lIns="25400" tIns="25400" rIns="25400" bIns="25400" rtlCol="0" anchor="t">
            <a:normAutofit/>
          </a:bodyPr>
          <a:lstStyle/>
          <a:p>
            <a:pPr marL="0" indent="0" algn="l">
              <a:buNone/>
            </a:pPr>
            <a:r>
              <a:rPr lang="en-US" sz="2250" b="1" kern="0" spc="-75" dirty="0">
                <a:solidFill>
                  <a:srgbClr val="FFFFFF"/>
                </a:solidFill>
                <a:latin typeface="Arial" pitchFamily="34" charset="0"/>
                <a:ea typeface="Arial" pitchFamily="34" charset="-122"/>
                <a:cs typeface="Arial" pitchFamily="34" charset="-120"/>
              </a:rPr>
              <a:t>Javier Medina</a:t>
            </a:r>
            <a:endParaRPr lang="en-US" sz="2250" dirty="0"/>
          </a:p>
        </p:txBody>
      </p:sp>
      <p:sp>
        <p:nvSpPr>
          <p:cNvPr id="14" name="Text 12"/>
          <p:cNvSpPr/>
          <p:nvPr/>
        </p:nvSpPr>
        <p:spPr>
          <a:xfrm>
            <a:off x="4583145" y="5995607"/>
            <a:ext cx="2758045" cy="220980"/>
          </a:xfrm>
          <a:prstGeom prst="rect">
            <a:avLst/>
          </a:prstGeom>
          <a:noFill/>
          <a:ln/>
        </p:spPr>
        <p:txBody>
          <a:bodyPr wrap="square" lIns="25400" tIns="25400" rIns="25400" bIns="25400" rtlCol="0" anchor="t">
            <a:normAutofit lnSpcReduction="10000"/>
          </a:bodyPr>
          <a:lstStyle/>
          <a:p>
            <a:pPr marL="0" indent="0" algn="l">
              <a:buNone/>
            </a:pPr>
            <a:r>
              <a:rPr lang="en-US" sz="1200" kern="0" spc="-12" dirty="0">
                <a:solidFill>
                  <a:srgbClr val="666666"/>
                </a:solidFill>
                <a:latin typeface="Arial" pitchFamily="34" charset="0"/>
                <a:ea typeface="Arial" pitchFamily="34" charset="-122"/>
                <a:cs typeface="Arial" pitchFamily="34" charset="-120"/>
              </a:rPr>
              <a:t>CTO</a:t>
            </a:r>
            <a:endParaRPr lang="en-US" sz="1200" dirty="0"/>
          </a:p>
        </p:txBody>
      </p:sp>
      <p:sp>
        <p:nvSpPr>
          <p:cNvPr id="15" name="Text 13"/>
          <p:cNvSpPr/>
          <p:nvPr/>
        </p:nvSpPr>
        <p:spPr>
          <a:xfrm>
            <a:off x="4583145" y="6387942"/>
            <a:ext cx="2583514" cy="510445"/>
          </a:xfrm>
          <a:prstGeom prst="rect">
            <a:avLst/>
          </a:prstGeom>
          <a:noFill/>
          <a:ln/>
        </p:spPr>
        <p:txBody>
          <a:bodyPr wrap="square" lIns="25400" tIns="25400" rIns="25400" bIns="25400" rtlCol="0" anchor="t">
            <a:normAutofit fontScale="92500" lnSpcReduction="20000"/>
          </a:bodyPr>
          <a:lstStyle/>
          <a:p>
            <a:pPr marL="0" indent="0" algn="l">
              <a:lnSpc>
                <a:spcPct val="155000"/>
              </a:lnSpc>
              <a:buNone/>
            </a:pPr>
            <a:r>
              <a:rPr lang="en-US" sz="1200" kern="0" spc="-12" dirty="0">
                <a:solidFill>
                  <a:srgbClr val="999999"/>
                </a:solidFill>
                <a:latin typeface="Arial" pitchFamily="34" charset="0"/>
                <a:ea typeface="Arial" pitchFamily="34" charset="-122"/>
                <a:cs typeface="Arial" pitchFamily="34" charset="-120"/>
              </a:rPr>
              <a:t>Lock-in fear → open-source core: Airflow, Spark, open Parquet.</a:t>
            </a:r>
            <a:endParaRPr lang="en-US" sz="1200" dirty="0"/>
          </a:p>
        </p:txBody>
      </p:sp>
      <p:sp>
        <p:nvSpPr>
          <p:cNvPr id="16" name="Shape 14"/>
          <p:cNvSpPr/>
          <p:nvPr/>
        </p:nvSpPr>
        <p:spPr>
          <a:xfrm>
            <a:off x="7566518" y="2738914"/>
            <a:ext cx="3154680" cy="6524817"/>
          </a:xfrm>
          <a:prstGeom prst="roundRect">
            <a:avLst>
              <a:gd name="adj" fmla="val 6643"/>
            </a:avLst>
          </a:prstGeom>
          <a:solidFill>
            <a:srgbClr val="141414"/>
          </a:solidFill>
          <a:ln/>
        </p:spPr>
        <p:txBody>
          <a:bodyPr/>
          <a:lstStyle/>
          <a:p>
            <a:endParaRPr lang="en-US"/>
          </a:p>
        </p:txBody>
      </p:sp>
      <p:sp>
        <p:nvSpPr>
          <p:cNvPr id="17" name="Text 15"/>
          <p:cNvSpPr/>
          <p:nvPr/>
        </p:nvSpPr>
        <p:spPr>
          <a:xfrm>
            <a:off x="7890273" y="5142358"/>
            <a:ext cx="2757888" cy="184404"/>
          </a:xfrm>
          <a:prstGeom prst="rect">
            <a:avLst/>
          </a:prstGeom>
          <a:noFill/>
          <a:ln/>
        </p:spPr>
        <p:txBody>
          <a:bodyPr wrap="square" lIns="25400" tIns="25400" rIns="25400" bIns="25400" rtlCol="0" anchor="t">
            <a:normAutofit fontScale="92500" lnSpcReduction="20000"/>
          </a:bodyPr>
          <a:lstStyle/>
          <a:p>
            <a:pPr marL="0" indent="0" algn="l">
              <a:buNone/>
            </a:pPr>
            <a:r>
              <a:rPr lang="en-US" sz="1050" b="1" kern="0" spc="126" dirty="0">
                <a:solidFill>
                  <a:schemeClr val="bg1">
                    <a:lumMod val="95000"/>
                  </a:schemeClr>
                </a:solidFill>
                <a:latin typeface="Arial" pitchFamily="34" charset="0"/>
                <a:ea typeface="Arial" pitchFamily="34" charset="-122"/>
                <a:cs typeface="Arial" pitchFamily="34" charset="-120"/>
              </a:rPr>
              <a:t>COST-FOCUSED</a:t>
            </a:r>
            <a:endParaRPr lang="en-US" sz="1050" dirty="0">
              <a:solidFill>
                <a:schemeClr val="bg1">
                  <a:lumMod val="95000"/>
                </a:schemeClr>
              </a:solidFill>
            </a:endParaRPr>
          </a:p>
        </p:txBody>
      </p:sp>
      <p:sp>
        <p:nvSpPr>
          <p:cNvPr id="18" name="Text 16"/>
          <p:cNvSpPr/>
          <p:nvPr/>
        </p:nvSpPr>
        <p:spPr>
          <a:xfrm>
            <a:off x="7890273" y="5555267"/>
            <a:ext cx="2757888" cy="440436"/>
          </a:xfrm>
          <a:prstGeom prst="rect">
            <a:avLst/>
          </a:prstGeom>
          <a:noFill/>
          <a:ln/>
        </p:spPr>
        <p:txBody>
          <a:bodyPr wrap="square" lIns="25400" tIns="25400" rIns="25400" bIns="25400" rtlCol="0" anchor="t">
            <a:normAutofit/>
          </a:bodyPr>
          <a:lstStyle/>
          <a:p>
            <a:pPr marL="0" indent="0" algn="l">
              <a:buNone/>
            </a:pPr>
            <a:r>
              <a:rPr lang="en-US" sz="2250" b="1" kern="0" spc="-75" dirty="0">
                <a:solidFill>
                  <a:srgbClr val="FFFFFF"/>
                </a:solidFill>
                <a:latin typeface="Arial" pitchFamily="34" charset="0"/>
                <a:ea typeface="Arial" pitchFamily="34" charset="-122"/>
                <a:cs typeface="Arial" pitchFamily="34" charset="-120"/>
              </a:rPr>
              <a:t>Manuel Ortega</a:t>
            </a:r>
            <a:endParaRPr lang="en-US" sz="2250" dirty="0"/>
          </a:p>
        </p:txBody>
      </p:sp>
      <p:sp>
        <p:nvSpPr>
          <p:cNvPr id="19" name="Text 17"/>
          <p:cNvSpPr/>
          <p:nvPr/>
        </p:nvSpPr>
        <p:spPr>
          <a:xfrm>
            <a:off x="7890273" y="5995607"/>
            <a:ext cx="2757888" cy="220980"/>
          </a:xfrm>
          <a:prstGeom prst="rect">
            <a:avLst/>
          </a:prstGeom>
          <a:noFill/>
          <a:ln/>
        </p:spPr>
        <p:txBody>
          <a:bodyPr wrap="square" lIns="25400" tIns="25400" rIns="25400" bIns="25400" rtlCol="0" anchor="t">
            <a:normAutofit lnSpcReduction="10000"/>
          </a:bodyPr>
          <a:lstStyle/>
          <a:p>
            <a:pPr marL="0" indent="0" algn="l">
              <a:buNone/>
            </a:pPr>
            <a:r>
              <a:rPr lang="en-US" sz="1200" kern="0" spc="-12" dirty="0">
                <a:solidFill>
                  <a:srgbClr val="666666"/>
                </a:solidFill>
                <a:latin typeface="Arial" pitchFamily="34" charset="0"/>
                <a:ea typeface="Arial" pitchFamily="34" charset="-122"/>
                <a:cs typeface="Arial" pitchFamily="34" charset="-120"/>
              </a:rPr>
              <a:t>CFO</a:t>
            </a:r>
            <a:endParaRPr lang="en-US" sz="1200" dirty="0"/>
          </a:p>
        </p:txBody>
      </p:sp>
      <p:sp>
        <p:nvSpPr>
          <p:cNvPr id="20" name="Text 18"/>
          <p:cNvSpPr/>
          <p:nvPr/>
        </p:nvSpPr>
        <p:spPr>
          <a:xfrm>
            <a:off x="7890273" y="6387942"/>
            <a:ext cx="2583371" cy="510445"/>
          </a:xfrm>
          <a:prstGeom prst="rect">
            <a:avLst/>
          </a:prstGeom>
          <a:noFill/>
          <a:ln/>
        </p:spPr>
        <p:txBody>
          <a:bodyPr wrap="square" lIns="25400" tIns="25400" rIns="25400" bIns="25400" rtlCol="0" anchor="t">
            <a:normAutofit fontScale="92500" lnSpcReduction="20000"/>
          </a:bodyPr>
          <a:lstStyle/>
          <a:p>
            <a:pPr marL="0" indent="0" algn="l">
              <a:lnSpc>
                <a:spcPct val="155000"/>
              </a:lnSpc>
              <a:buNone/>
            </a:pPr>
            <a:r>
              <a:rPr lang="en-US" sz="1200" kern="0" spc="-12" dirty="0">
                <a:solidFill>
                  <a:srgbClr val="999999"/>
                </a:solidFill>
                <a:latin typeface="Arial" pitchFamily="34" charset="0"/>
                <a:ea typeface="Arial" pitchFamily="34" charset="-122"/>
                <a:cs typeface="Arial" pitchFamily="34" charset="-120"/>
              </a:rPr>
              <a:t>~57% lower infra cost and clear, monthly-validated ROI.</a:t>
            </a:r>
            <a:endParaRPr lang="en-US" sz="1200" dirty="0"/>
          </a:p>
        </p:txBody>
      </p:sp>
      <p:sp>
        <p:nvSpPr>
          <p:cNvPr id="21" name="Shape 19"/>
          <p:cNvSpPr/>
          <p:nvPr/>
        </p:nvSpPr>
        <p:spPr>
          <a:xfrm>
            <a:off x="10873504" y="2738914"/>
            <a:ext cx="3154823" cy="6524817"/>
          </a:xfrm>
          <a:prstGeom prst="roundRect">
            <a:avLst>
              <a:gd name="adj" fmla="val 6642"/>
            </a:avLst>
          </a:prstGeom>
          <a:solidFill>
            <a:srgbClr val="141414"/>
          </a:solidFill>
          <a:ln/>
        </p:spPr>
        <p:txBody>
          <a:bodyPr/>
          <a:lstStyle/>
          <a:p>
            <a:endParaRPr lang="en-US"/>
          </a:p>
        </p:txBody>
      </p:sp>
      <p:sp>
        <p:nvSpPr>
          <p:cNvPr id="22" name="Text 20"/>
          <p:cNvSpPr/>
          <p:nvPr/>
        </p:nvSpPr>
        <p:spPr>
          <a:xfrm>
            <a:off x="11197258" y="5142358"/>
            <a:ext cx="2758045" cy="184404"/>
          </a:xfrm>
          <a:prstGeom prst="rect">
            <a:avLst/>
          </a:prstGeom>
          <a:noFill/>
          <a:ln/>
        </p:spPr>
        <p:txBody>
          <a:bodyPr wrap="square" lIns="25400" tIns="25400" rIns="25400" bIns="25400" rtlCol="0" anchor="t">
            <a:normAutofit fontScale="92500" lnSpcReduction="20000"/>
          </a:bodyPr>
          <a:lstStyle/>
          <a:p>
            <a:pPr marL="0" indent="0" algn="l">
              <a:buNone/>
            </a:pPr>
            <a:r>
              <a:rPr lang="en-US" sz="1050" b="1" kern="0" spc="126" dirty="0">
                <a:solidFill>
                  <a:schemeClr val="bg1">
                    <a:lumMod val="95000"/>
                  </a:schemeClr>
                </a:solidFill>
                <a:latin typeface="Arial" pitchFamily="34" charset="0"/>
                <a:ea typeface="Arial" pitchFamily="34" charset="-122"/>
                <a:cs typeface="Arial" pitchFamily="34" charset="-120"/>
              </a:rPr>
              <a:t>SECURITY-FIRST</a:t>
            </a:r>
            <a:endParaRPr lang="en-US" sz="1050" dirty="0">
              <a:solidFill>
                <a:schemeClr val="bg1">
                  <a:lumMod val="95000"/>
                </a:schemeClr>
              </a:solidFill>
            </a:endParaRPr>
          </a:p>
        </p:txBody>
      </p:sp>
      <p:sp>
        <p:nvSpPr>
          <p:cNvPr id="23" name="Text 21"/>
          <p:cNvSpPr/>
          <p:nvPr/>
        </p:nvSpPr>
        <p:spPr>
          <a:xfrm>
            <a:off x="11197258" y="5555267"/>
            <a:ext cx="2758045" cy="440436"/>
          </a:xfrm>
          <a:prstGeom prst="rect">
            <a:avLst/>
          </a:prstGeom>
          <a:noFill/>
          <a:ln/>
        </p:spPr>
        <p:txBody>
          <a:bodyPr wrap="square" lIns="25400" tIns="25400" rIns="25400" bIns="25400" rtlCol="0" anchor="t">
            <a:normAutofit/>
          </a:bodyPr>
          <a:lstStyle/>
          <a:p>
            <a:pPr marL="0" indent="0" algn="l">
              <a:buNone/>
            </a:pPr>
            <a:r>
              <a:rPr lang="en-US" sz="2250" b="1" kern="0" spc="-75" dirty="0">
                <a:solidFill>
                  <a:srgbClr val="FFFFFF"/>
                </a:solidFill>
                <a:latin typeface="Arial" pitchFamily="34" charset="0"/>
                <a:ea typeface="Arial" pitchFamily="34" charset="-122"/>
                <a:cs typeface="Arial" pitchFamily="34" charset="-120"/>
              </a:rPr>
              <a:t>Laura Smith</a:t>
            </a:r>
            <a:endParaRPr lang="en-US" sz="2250" dirty="0"/>
          </a:p>
        </p:txBody>
      </p:sp>
      <p:sp>
        <p:nvSpPr>
          <p:cNvPr id="24" name="Text 22"/>
          <p:cNvSpPr/>
          <p:nvPr/>
        </p:nvSpPr>
        <p:spPr>
          <a:xfrm>
            <a:off x="11197258" y="5995607"/>
            <a:ext cx="2758045" cy="220980"/>
          </a:xfrm>
          <a:prstGeom prst="rect">
            <a:avLst/>
          </a:prstGeom>
          <a:noFill/>
          <a:ln/>
        </p:spPr>
        <p:txBody>
          <a:bodyPr wrap="square" lIns="25400" tIns="25400" rIns="25400" bIns="25400" rtlCol="0" anchor="t">
            <a:normAutofit lnSpcReduction="10000"/>
          </a:bodyPr>
          <a:lstStyle/>
          <a:p>
            <a:pPr marL="0" indent="0" algn="l">
              <a:buNone/>
            </a:pPr>
            <a:r>
              <a:rPr lang="en-US" sz="1200" kern="0" spc="-12" dirty="0">
                <a:solidFill>
                  <a:srgbClr val="666666"/>
                </a:solidFill>
                <a:latin typeface="Arial" pitchFamily="34" charset="0"/>
                <a:ea typeface="Arial" pitchFamily="34" charset="-122"/>
                <a:cs typeface="Arial" pitchFamily="34" charset="-120"/>
              </a:rPr>
              <a:t>InfoSec Manager</a:t>
            </a:r>
            <a:endParaRPr lang="en-US" sz="1200" dirty="0"/>
          </a:p>
        </p:txBody>
      </p:sp>
      <p:sp>
        <p:nvSpPr>
          <p:cNvPr id="25" name="Text 23"/>
          <p:cNvSpPr/>
          <p:nvPr/>
        </p:nvSpPr>
        <p:spPr>
          <a:xfrm>
            <a:off x="11197258" y="6387942"/>
            <a:ext cx="2583514" cy="510445"/>
          </a:xfrm>
          <a:prstGeom prst="rect">
            <a:avLst/>
          </a:prstGeom>
          <a:noFill/>
          <a:ln/>
        </p:spPr>
        <p:txBody>
          <a:bodyPr wrap="square" lIns="25400" tIns="25400" rIns="25400" bIns="25400" rtlCol="0" anchor="t">
            <a:normAutofit fontScale="92500" lnSpcReduction="20000"/>
          </a:bodyPr>
          <a:lstStyle/>
          <a:p>
            <a:pPr marL="0" indent="0" algn="l">
              <a:lnSpc>
                <a:spcPct val="155000"/>
              </a:lnSpc>
              <a:buNone/>
            </a:pPr>
            <a:r>
              <a:rPr lang="en-US" sz="1200" kern="0" spc="-12" dirty="0">
                <a:solidFill>
                  <a:srgbClr val="999999"/>
                </a:solidFill>
                <a:latin typeface="Arial" pitchFamily="34" charset="0"/>
                <a:ea typeface="Arial" pitchFamily="34" charset="-122"/>
                <a:cs typeface="Arial" pitchFamily="34" charset="-120"/>
              </a:rPr>
              <a:t>GDPR by design: Lake Formation, Macie, KMS, audit logging.</a:t>
            </a:r>
            <a:endParaRPr lang="en-US" sz="1200" dirty="0"/>
          </a:p>
        </p:txBody>
      </p:sp>
      <p:sp>
        <p:nvSpPr>
          <p:cNvPr id="26" name="Shape 24"/>
          <p:cNvSpPr/>
          <p:nvPr/>
        </p:nvSpPr>
        <p:spPr>
          <a:xfrm>
            <a:off x="14180632" y="2738914"/>
            <a:ext cx="3154823" cy="6524817"/>
          </a:xfrm>
          <a:prstGeom prst="roundRect">
            <a:avLst>
              <a:gd name="adj" fmla="val 6642"/>
            </a:avLst>
          </a:prstGeom>
          <a:gradFill rotWithShape="1">
            <a:gsLst>
              <a:gs pos="0">
                <a:srgbClr val="6A4CF5">
                  <a:alpha val="100000"/>
                </a:srgbClr>
              </a:gs>
              <a:gs pos="75000">
                <a:srgbClr val="1C1C1C">
                  <a:alpha val="100000"/>
                </a:srgbClr>
              </a:gs>
            </a:gsLst>
            <a:lin ang="3900000" scaled="0"/>
          </a:gradFill>
          <a:ln/>
        </p:spPr>
        <p:txBody>
          <a:bodyPr/>
          <a:lstStyle/>
          <a:p>
            <a:endParaRPr lang="en-US"/>
          </a:p>
        </p:txBody>
      </p:sp>
      <p:sp>
        <p:nvSpPr>
          <p:cNvPr id="27" name="Text 25"/>
          <p:cNvSpPr/>
          <p:nvPr/>
        </p:nvSpPr>
        <p:spPr>
          <a:xfrm>
            <a:off x="14504387" y="5142358"/>
            <a:ext cx="2758045" cy="184404"/>
          </a:xfrm>
          <a:prstGeom prst="rect">
            <a:avLst/>
          </a:prstGeom>
          <a:noFill/>
          <a:ln/>
        </p:spPr>
        <p:txBody>
          <a:bodyPr wrap="square" lIns="25400" tIns="25400" rIns="25400" bIns="25400" rtlCol="0" anchor="t">
            <a:normAutofit fontScale="92500" lnSpcReduction="20000"/>
          </a:bodyPr>
          <a:lstStyle/>
          <a:p>
            <a:pPr marL="0" indent="0" algn="l">
              <a:buNone/>
            </a:pPr>
            <a:r>
              <a:rPr lang="en-US" sz="1050" b="1" kern="0" spc="126" dirty="0">
                <a:solidFill>
                  <a:schemeClr val="bg1">
                    <a:lumMod val="95000"/>
                    <a:alpha val="50000"/>
                  </a:schemeClr>
                </a:solidFill>
                <a:latin typeface="Arial" pitchFamily="34" charset="0"/>
                <a:ea typeface="Arial" pitchFamily="34" charset="-122"/>
                <a:cs typeface="Arial" pitchFamily="34" charset="-120"/>
              </a:rPr>
              <a:t>CHAMPION</a:t>
            </a:r>
            <a:endParaRPr lang="en-US" sz="1050" dirty="0">
              <a:solidFill>
                <a:schemeClr val="bg1">
                  <a:lumMod val="95000"/>
                  <a:alpha val="50000"/>
                </a:schemeClr>
              </a:solidFill>
            </a:endParaRPr>
          </a:p>
        </p:txBody>
      </p:sp>
      <p:sp>
        <p:nvSpPr>
          <p:cNvPr id="28" name="Text 26"/>
          <p:cNvSpPr/>
          <p:nvPr/>
        </p:nvSpPr>
        <p:spPr>
          <a:xfrm>
            <a:off x="14504387" y="5555267"/>
            <a:ext cx="2758045" cy="440436"/>
          </a:xfrm>
          <a:prstGeom prst="rect">
            <a:avLst/>
          </a:prstGeom>
          <a:noFill/>
          <a:ln/>
        </p:spPr>
        <p:txBody>
          <a:bodyPr wrap="square" lIns="25400" tIns="25400" rIns="25400" bIns="25400" rtlCol="0" anchor="t">
            <a:normAutofit/>
          </a:bodyPr>
          <a:lstStyle/>
          <a:p>
            <a:pPr marL="0" indent="0" algn="l">
              <a:buNone/>
            </a:pPr>
            <a:r>
              <a:rPr lang="en-US" sz="2250" b="1" kern="0" spc="-75" dirty="0">
                <a:solidFill>
                  <a:srgbClr val="FFFFFF"/>
                </a:solidFill>
                <a:latin typeface="Arial" pitchFamily="34" charset="0"/>
                <a:ea typeface="Arial" pitchFamily="34" charset="-122"/>
                <a:cs typeface="Arial" pitchFamily="34" charset="-120"/>
              </a:rPr>
              <a:t>Alex Lee</a:t>
            </a:r>
            <a:endParaRPr lang="en-US" sz="2250" dirty="0"/>
          </a:p>
        </p:txBody>
      </p:sp>
      <p:sp>
        <p:nvSpPr>
          <p:cNvPr id="29" name="Text 27"/>
          <p:cNvSpPr/>
          <p:nvPr/>
        </p:nvSpPr>
        <p:spPr>
          <a:xfrm>
            <a:off x="14504387" y="5995607"/>
            <a:ext cx="2758045" cy="220980"/>
          </a:xfrm>
          <a:prstGeom prst="rect">
            <a:avLst/>
          </a:prstGeom>
          <a:noFill/>
          <a:ln/>
        </p:spPr>
        <p:txBody>
          <a:bodyPr wrap="square" lIns="25400" tIns="25400" rIns="25400" bIns="25400" rtlCol="0" anchor="t">
            <a:normAutofit lnSpcReduction="10000"/>
          </a:bodyPr>
          <a:lstStyle/>
          <a:p>
            <a:pPr marL="0" indent="0" algn="l">
              <a:buNone/>
            </a:pPr>
            <a:r>
              <a:rPr lang="en-US" sz="1200" kern="0" spc="-12" dirty="0">
                <a:solidFill>
                  <a:srgbClr val="FFFFFF">
                    <a:alpha val="60000"/>
                  </a:srgbClr>
                </a:solidFill>
                <a:latin typeface="Arial" pitchFamily="34" charset="0"/>
                <a:ea typeface="Arial" pitchFamily="34" charset="-122"/>
                <a:cs typeface="Arial" pitchFamily="34" charset="-120"/>
              </a:rPr>
              <a:t>Head of Data &amp; AI</a:t>
            </a:r>
            <a:endParaRPr lang="en-US" sz="1200" dirty="0"/>
          </a:p>
        </p:txBody>
      </p:sp>
      <p:sp>
        <p:nvSpPr>
          <p:cNvPr id="30" name="Text 28"/>
          <p:cNvSpPr/>
          <p:nvPr/>
        </p:nvSpPr>
        <p:spPr>
          <a:xfrm>
            <a:off x="14504387" y="6387942"/>
            <a:ext cx="2583514" cy="510445"/>
          </a:xfrm>
          <a:prstGeom prst="rect">
            <a:avLst/>
          </a:prstGeom>
          <a:noFill/>
          <a:ln/>
        </p:spPr>
        <p:txBody>
          <a:bodyPr wrap="square" lIns="25400" tIns="25400" rIns="25400" bIns="25400" rtlCol="0" anchor="t">
            <a:normAutofit fontScale="92500" lnSpcReduction="20000"/>
          </a:bodyPr>
          <a:lstStyle/>
          <a:p>
            <a:pPr marL="0" indent="0" algn="l">
              <a:lnSpc>
                <a:spcPct val="155000"/>
              </a:lnSpc>
              <a:buNone/>
            </a:pPr>
            <a:r>
              <a:rPr lang="en-US" sz="1200" kern="0" spc="-12" dirty="0">
                <a:solidFill>
                  <a:srgbClr val="FFFFFF">
                    <a:alpha val="80000"/>
                  </a:srgbClr>
                </a:solidFill>
                <a:latin typeface="Arial" pitchFamily="34" charset="0"/>
                <a:ea typeface="Arial" pitchFamily="34" charset="-122"/>
                <a:cs typeface="Arial" pitchFamily="34" charset="-120"/>
              </a:rPr>
              <a:t>Modern DataOps and an ML platform that finally exists.</a:t>
            </a:r>
            <a:endParaRPr lang="en-US" sz="1200" dirty="0"/>
          </a:p>
        </p:txBody>
      </p:sp>
      <p:sp>
        <p:nvSpPr>
          <p:cNvPr id="31" name="Text 29"/>
          <p:cNvSpPr/>
          <p:nvPr/>
        </p:nvSpPr>
        <p:spPr>
          <a:xfrm>
            <a:off x="952405" y="9473186"/>
            <a:ext cx="18021355" cy="166116"/>
          </a:xfrm>
          <a:prstGeom prst="rect">
            <a:avLst/>
          </a:prstGeom>
          <a:noFill/>
          <a:ln/>
        </p:spPr>
        <p:txBody>
          <a:bodyPr wrap="square" lIns="25400" tIns="25400" rIns="25400" bIns="25400" rtlCol="0" anchor="t">
            <a:normAutofit fontScale="92500" lnSpcReduction="10000"/>
          </a:bodyPr>
          <a:lstStyle/>
          <a:p>
            <a:pPr marL="0" indent="0" algn="l">
              <a:buNone/>
            </a:pPr>
            <a:r>
              <a:rPr lang="en-US" sz="900" kern="0" spc="90" dirty="0">
                <a:solidFill>
                  <a:srgbClr val="2A2A2A"/>
                </a:solidFill>
                <a:latin typeface="Arial" pitchFamily="34" charset="0"/>
                <a:ea typeface="Arial" pitchFamily="34" charset="-122"/>
                <a:cs typeface="Arial" pitchFamily="34" charset="-120"/>
              </a:rPr>
              <a:t>MANGA DATAHUB · CLOUD ANALYTICS · IE UNIVERSITY</a:t>
            </a:r>
            <a:endParaRPr lang="en-US" sz="900" dirty="0"/>
          </a:p>
        </p:txBody>
      </p:sp>
    </p:spTree>
  </p:cSld>
  <p:clrMapOvr>
    <a:masterClrMapping/>
  </p:clrMapOvr>
  <p:transition spd="slow">
    <p:push dir="u"/>
  </p:transition>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90909"/>
        </a:solidFill>
        <a:effectLst/>
      </p:bgPr>
    </p:bg>
    <p:spTree>
      <p:nvGrpSpPr>
        <p:cNvPr id="1" name=""/>
        <p:cNvGrpSpPr/>
        <p:nvPr/>
      </p:nvGrpSpPr>
      <p:grpSpPr>
        <a:xfrm>
          <a:off x="0" y="0"/>
          <a:ext cx="0" cy="0"/>
          <a:chOff x="0" y="0"/>
          <a:chExt cx="0" cy="0"/>
        </a:xfrm>
      </p:grpSpPr>
      <p:sp>
        <p:nvSpPr>
          <p:cNvPr id="2" name="Text 0"/>
          <p:cNvSpPr/>
          <p:nvPr/>
        </p:nvSpPr>
        <p:spPr>
          <a:xfrm>
            <a:off x="952405" y="685657"/>
            <a:ext cx="18021355" cy="220980"/>
          </a:xfrm>
          <a:prstGeom prst="rect">
            <a:avLst/>
          </a:prstGeom>
          <a:noFill/>
          <a:ln/>
        </p:spPr>
        <p:txBody>
          <a:bodyPr wrap="square" lIns="25400" tIns="25400" rIns="25400" bIns="25400" rtlCol="0" anchor="t">
            <a:normAutofit lnSpcReduction="10000"/>
          </a:bodyPr>
          <a:lstStyle/>
          <a:p>
            <a:pPr marL="0" indent="0" algn="l">
              <a:buNone/>
            </a:pPr>
            <a:r>
              <a:rPr lang="en-US" sz="1200" kern="0" spc="168" dirty="0">
                <a:solidFill>
                  <a:srgbClr val="888888"/>
                </a:solidFill>
                <a:latin typeface="Arial" pitchFamily="34" charset="0"/>
                <a:ea typeface="Arial" pitchFamily="34" charset="-122"/>
                <a:cs typeface="Arial" pitchFamily="34" charset="-120"/>
              </a:rPr>
              <a:t>HIGH-LEVEL ARCHITECTURE</a:t>
            </a:r>
            <a:endParaRPr lang="en-US" sz="1200" dirty="0"/>
          </a:p>
        </p:txBody>
      </p:sp>
      <p:sp>
        <p:nvSpPr>
          <p:cNvPr id="3" name="Text 1"/>
          <p:cNvSpPr/>
          <p:nvPr/>
        </p:nvSpPr>
        <p:spPr>
          <a:xfrm>
            <a:off x="952405" y="1001840"/>
            <a:ext cx="18021355" cy="635318"/>
          </a:xfrm>
          <a:prstGeom prst="rect">
            <a:avLst/>
          </a:prstGeom>
          <a:noFill/>
          <a:ln/>
        </p:spPr>
        <p:txBody>
          <a:bodyPr wrap="square" lIns="25400" tIns="25400" rIns="25400" bIns="25400" rtlCol="0" anchor="t">
            <a:normAutofit fontScale="92500" lnSpcReduction="20000"/>
          </a:bodyPr>
          <a:lstStyle/>
          <a:p>
            <a:pPr marL="0" indent="0" algn="l">
              <a:lnSpc>
                <a:spcPct val="95000"/>
              </a:lnSpc>
              <a:buNone/>
            </a:pPr>
            <a:r>
              <a:rPr lang="en-US" sz="4950" b="1" kern="0" spc="-240" dirty="0">
                <a:solidFill>
                  <a:srgbClr val="FFFFFF"/>
                </a:solidFill>
                <a:latin typeface="Arial" pitchFamily="34" charset="0"/>
                <a:ea typeface="Arial" pitchFamily="34" charset="-122"/>
                <a:cs typeface="Arial" pitchFamily="34" charset="-120"/>
              </a:rPr>
              <a:t>Five layers, technology-agnostic</a:t>
            </a:r>
            <a:endParaRPr lang="en-US" sz="4950" dirty="0"/>
          </a:p>
        </p:txBody>
      </p:sp>
      <p:sp>
        <p:nvSpPr>
          <p:cNvPr id="4" name="Shape 2"/>
          <p:cNvSpPr/>
          <p:nvPr/>
        </p:nvSpPr>
        <p:spPr>
          <a:xfrm>
            <a:off x="952405" y="1846660"/>
            <a:ext cx="16383050" cy="9525"/>
          </a:xfrm>
          <a:prstGeom prst="rect">
            <a:avLst/>
          </a:prstGeom>
          <a:solidFill>
            <a:srgbClr val="262626"/>
          </a:solidFill>
          <a:ln/>
        </p:spPr>
        <p:txBody>
          <a:bodyPr/>
          <a:lstStyle/>
          <a:p>
            <a:endParaRPr lang="en-US"/>
          </a:p>
        </p:txBody>
      </p:sp>
      <p:sp>
        <p:nvSpPr>
          <p:cNvPr id="5" name="Shape 3"/>
          <p:cNvSpPr/>
          <p:nvPr/>
        </p:nvSpPr>
        <p:spPr>
          <a:xfrm>
            <a:off x="952405" y="2103692"/>
            <a:ext cx="16383050" cy="505778"/>
          </a:xfrm>
          <a:prstGeom prst="roundRect">
            <a:avLst>
              <a:gd name="adj" fmla="val 22599"/>
            </a:avLst>
          </a:prstGeom>
          <a:solidFill>
            <a:srgbClr val="6A4CF5">
              <a:alpha val="10000"/>
            </a:srgbClr>
          </a:solidFill>
          <a:ln w="9144">
            <a:solidFill>
              <a:srgbClr val="6A4CF5">
                <a:alpha val="22000"/>
              </a:srgbClr>
            </a:solidFill>
            <a:prstDash val="solid"/>
          </a:ln>
        </p:spPr>
        <p:txBody>
          <a:bodyPr/>
          <a:lstStyle/>
          <a:p>
            <a:endParaRPr lang="en-US"/>
          </a:p>
        </p:txBody>
      </p:sp>
      <p:sp>
        <p:nvSpPr>
          <p:cNvPr id="6" name="Text 4"/>
          <p:cNvSpPr/>
          <p:nvPr/>
        </p:nvSpPr>
        <p:spPr>
          <a:xfrm>
            <a:off x="1209151" y="2283429"/>
            <a:ext cx="4222643" cy="184404"/>
          </a:xfrm>
          <a:prstGeom prst="rect">
            <a:avLst/>
          </a:prstGeom>
          <a:noFill/>
          <a:ln/>
        </p:spPr>
        <p:txBody>
          <a:bodyPr wrap="none" lIns="25400" tIns="25400" rIns="25400" bIns="25400" rtlCol="0" anchor="t">
            <a:normAutofit fontScale="92500" lnSpcReduction="20000"/>
          </a:bodyPr>
          <a:lstStyle/>
          <a:p>
            <a:pPr marL="0" indent="0" algn="l">
              <a:buNone/>
            </a:pPr>
            <a:r>
              <a:rPr lang="en-US" sz="1050" b="1" kern="0" spc="105" dirty="0">
                <a:solidFill>
                  <a:srgbClr val="8B6FFF"/>
                </a:solidFill>
                <a:latin typeface="Arial" pitchFamily="34" charset="0"/>
                <a:ea typeface="Arial" pitchFamily="34" charset="-122"/>
                <a:cs typeface="Arial" pitchFamily="34" charset="-120"/>
              </a:rPr>
              <a:t>SECURITY &amp; GOVERNANCE · SPANS EVERY LAYER</a:t>
            </a:r>
            <a:endParaRPr lang="en-US" sz="1050" dirty="0"/>
          </a:p>
        </p:txBody>
      </p:sp>
      <p:sp>
        <p:nvSpPr>
          <p:cNvPr id="7" name="Shape 5"/>
          <p:cNvSpPr/>
          <p:nvPr/>
        </p:nvSpPr>
        <p:spPr>
          <a:xfrm>
            <a:off x="5238370" y="2351866"/>
            <a:ext cx="6828283" cy="9525"/>
          </a:xfrm>
          <a:prstGeom prst="rect">
            <a:avLst/>
          </a:prstGeom>
          <a:solidFill>
            <a:srgbClr val="6A4CF5">
              <a:alpha val="20000"/>
            </a:srgbClr>
          </a:solidFill>
          <a:ln/>
        </p:spPr>
        <p:txBody>
          <a:bodyPr/>
          <a:lstStyle/>
          <a:p>
            <a:endParaRPr lang="en-US"/>
          </a:p>
        </p:txBody>
      </p:sp>
      <p:sp>
        <p:nvSpPr>
          <p:cNvPr id="8" name="Text 6"/>
          <p:cNvSpPr/>
          <p:nvPr/>
        </p:nvSpPr>
        <p:spPr>
          <a:xfrm>
            <a:off x="12257105" y="2265141"/>
            <a:ext cx="5303764" cy="220980"/>
          </a:xfrm>
          <a:prstGeom prst="rect">
            <a:avLst/>
          </a:prstGeom>
          <a:noFill/>
          <a:ln/>
        </p:spPr>
        <p:txBody>
          <a:bodyPr wrap="square" lIns="25400" tIns="25400" rIns="25400" bIns="25400" rtlCol="0" anchor="t">
            <a:normAutofit lnSpcReduction="10000"/>
          </a:bodyPr>
          <a:lstStyle/>
          <a:p>
            <a:pPr marL="0" indent="0" algn="l">
              <a:buNone/>
            </a:pPr>
            <a:r>
              <a:rPr lang="en-US" sz="1200" kern="0" spc="-12" dirty="0">
                <a:solidFill>
                  <a:srgbClr val="AAAAAA"/>
                </a:solidFill>
                <a:latin typeface="Arial" pitchFamily="34" charset="0"/>
                <a:ea typeface="Arial" pitchFamily="34" charset="-122"/>
                <a:cs typeface="Arial" pitchFamily="34" charset="-120"/>
              </a:rPr>
              <a:t>RBAC · KMS at rest · TLS 1.3 in transit · GDPR · audit logs · PII masking</a:t>
            </a:r>
            <a:endParaRPr lang="en-US" sz="1200" dirty="0"/>
          </a:p>
        </p:txBody>
      </p:sp>
      <p:sp>
        <p:nvSpPr>
          <p:cNvPr id="9" name="Shape 7"/>
          <p:cNvSpPr/>
          <p:nvPr/>
        </p:nvSpPr>
        <p:spPr>
          <a:xfrm>
            <a:off x="952405" y="2818924"/>
            <a:ext cx="2489597" cy="5956031"/>
          </a:xfrm>
          <a:prstGeom prst="roundRect">
            <a:avLst>
              <a:gd name="adj" fmla="val 6887"/>
            </a:avLst>
          </a:prstGeom>
          <a:solidFill>
            <a:srgbClr val="141414"/>
          </a:solidFill>
          <a:ln/>
        </p:spPr>
        <p:txBody>
          <a:bodyPr/>
          <a:lstStyle/>
          <a:p>
            <a:endParaRPr lang="en-US"/>
          </a:p>
        </p:txBody>
      </p:sp>
      <p:sp>
        <p:nvSpPr>
          <p:cNvPr id="10" name="Text 8"/>
          <p:cNvSpPr/>
          <p:nvPr/>
        </p:nvSpPr>
        <p:spPr>
          <a:xfrm>
            <a:off x="1161860" y="3085529"/>
            <a:ext cx="2277756" cy="175260"/>
          </a:xfrm>
          <a:prstGeom prst="rect">
            <a:avLst/>
          </a:prstGeom>
          <a:noFill/>
          <a:ln/>
        </p:spPr>
        <p:txBody>
          <a:bodyPr wrap="square" lIns="25400" tIns="25400" rIns="25400" bIns="25400" rtlCol="0" anchor="t">
            <a:normAutofit fontScale="92500" lnSpcReduction="10000"/>
          </a:bodyPr>
          <a:lstStyle/>
          <a:p>
            <a:pPr marL="0" indent="0" algn="l">
              <a:buNone/>
            </a:pPr>
            <a:r>
              <a:rPr lang="en-US" sz="975" b="1" kern="0" spc="98" dirty="0">
                <a:solidFill>
                  <a:srgbClr val="666666"/>
                </a:solidFill>
                <a:latin typeface="Arial" pitchFamily="34" charset="0"/>
                <a:ea typeface="Arial" pitchFamily="34" charset="-122"/>
                <a:cs typeface="Arial" pitchFamily="34" charset="-120"/>
              </a:rPr>
              <a:t>DATA SOURCES</a:t>
            </a:r>
            <a:endParaRPr lang="en-US" sz="975" dirty="0"/>
          </a:p>
        </p:txBody>
      </p:sp>
      <p:sp>
        <p:nvSpPr>
          <p:cNvPr id="11" name="Shape 9"/>
          <p:cNvSpPr/>
          <p:nvPr/>
        </p:nvSpPr>
        <p:spPr>
          <a:xfrm>
            <a:off x="1161860" y="3393853"/>
            <a:ext cx="2070688" cy="411194"/>
          </a:xfrm>
          <a:prstGeom prst="roundRect">
            <a:avLst>
              <a:gd name="adj" fmla="val 18531"/>
            </a:avLst>
          </a:prstGeom>
          <a:solidFill>
            <a:srgbClr val="1C1C1C"/>
          </a:solidFill>
          <a:ln/>
        </p:spPr>
        <p:txBody>
          <a:bodyPr/>
          <a:lstStyle/>
          <a:p>
            <a:endParaRPr lang="en-US"/>
          </a:p>
        </p:txBody>
      </p:sp>
      <p:sp>
        <p:nvSpPr>
          <p:cNvPr id="12" name="Text 10"/>
          <p:cNvSpPr/>
          <p:nvPr/>
        </p:nvSpPr>
        <p:spPr>
          <a:xfrm>
            <a:off x="1314260" y="3508153"/>
            <a:ext cx="1842088" cy="220694"/>
          </a:xfrm>
          <a:prstGeom prst="rect">
            <a:avLst/>
          </a:prstGeom>
          <a:noFill/>
          <a:ln/>
        </p:spPr>
        <p:txBody>
          <a:bodyPr wrap="square" lIns="25400" tIns="25400" rIns="25400" bIns="25400" rtlCol="0" anchor="t">
            <a:normAutofit lnSpcReduction="10000"/>
          </a:bodyPr>
          <a:lstStyle/>
          <a:p>
            <a:pPr marL="0" indent="0" algn="l">
              <a:buNone/>
            </a:pPr>
            <a:r>
              <a:rPr lang="en-US" sz="1200" dirty="0">
                <a:solidFill>
                  <a:srgbClr val="BBBBBB"/>
                </a:solidFill>
                <a:latin typeface="Arial" pitchFamily="34" charset="0"/>
                <a:ea typeface="Arial" pitchFamily="34" charset="-122"/>
                <a:cs typeface="Arial" pitchFamily="34" charset="-120"/>
              </a:rPr>
              <a:t>Structured</a:t>
            </a:r>
            <a:endParaRPr lang="en-US" sz="1200" dirty="0"/>
          </a:p>
        </p:txBody>
      </p:sp>
      <p:sp>
        <p:nvSpPr>
          <p:cNvPr id="13" name="Shape 11"/>
          <p:cNvSpPr/>
          <p:nvPr/>
        </p:nvSpPr>
        <p:spPr>
          <a:xfrm>
            <a:off x="1161860" y="3919205"/>
            <a:ext cx="2070688" cy="411194"/>
          </a:xfrm>
          <a:prstGeom prst="roundRect">
            <a:avLst>
              <a:gd name="adj" fmla="val 18531"/>
            </a:avLst>
          </a:prstGeom>
          <a:solidFill>
            <a:srgbClr val="1C1C1C"/>
          </a:solidFill>
          <a:ln/>
        </p:spPr>
        <p:txBody>
          <a:bodyPr/>
          <a:lstStyle/>
          <a:p>
            <a:endParaRPr lang="en-US"/>
          </a:p>
        </p:txBody>
      </p:sp>
      <p:sp>
        <p:nvSpPr>
          <p:cNvPr id="14" name="Text 12"/>
          <p:cNvSpPr/>
          <p:nvPr/>
        </p:nvSpPr>
        <p:spPr>
          <a:xfrm>
            <a:off x="1314260" y="4033505"/>
            <a:ext cx="1842088" cy="220694"/>
          </a:xfrm>
          <a:prstGeom prst="rect">
            <a:avLst/>
          </a:prstGeom>
          <a:noFill/>
          <a:ln/>
        </p:spPr>
        <p:txBody>
          <a:bodyPr wrap="square" lIns="25400" tIns="25400" rIns="25400" bIns="25400" rtlCol="0" anchor="t">
            <a:normAutofit lnSpcReduction="10000"/>
          </a:bodyPr>
          <a:lstStyle/>
          <a:p>
            <a:pPr marL="0" indent="0" algn="l">
              <a:buNone/>
            </a:pPr>
            <a:r>
              <a:rPr lang="en-US" sz="1200" dirty="0">
                <a:solidFill>
                  <a:srgbClr val="BBBBBB"/>
                </a:solidFill>
                <a:latin typeface="Arial" pitchFamily="34" charset="0"/>
                <a:ea typeface="Arial" pitchFamily="34" charset="-122"/>
                <a:cs typeface="Arial" pitchFamily="34" charset="-120"/>
              </a:rPr>
              <a:t>Streaming</a:t>
            </a:r>
            <a:endParaRPr lang="en-US" sz="1200" dirty="0"/>
          </a:p>
        </p:txBody>
      </p:sp>
      <p:sp>
        <p:nvSpPr>
          <p:cNvPr id="15" name="Shape 13"/>
          <p:cNvSpPr/>
          <p:nvPr/>
        </p:nvSpPr>
        <p:spPr>
          <a:xfrm>
            <a:off x="1161860" y="4444556"/>
            <a:ext cx="2070688" cy="411194"/>
          </a:xfrm>
          <a:prstGeom prst="roundRect">
            <a:avLst>
              <a:gd name="adj" fmla="val 18531"/>
            </a:avLst>
          </a:prstGeom>
          <a:solidFill>
            <a:srgbClr val="1C1C1C"/>
          </a:solidFill>
          <a:ln/>
        </p:spPr>
        <p:txBody>
          <a:bodyPr/>
          <a:lstStyle/>
          <a:p>
            <a:endParaRPr lang="en-US"/>
          </a:p>
        </p:txBody>
      </p:sp>
      <p:sp>
        <p:nvSpPr>
          <p:cNvPr id="16" name="Text 14"/>
          <p:cNvSpPr/>
          <p:nvPr/>
        </p:nvSpPr>
        <p:spPr>
          <a:xfrm>
            <a:off x="1314260" y="4558856"/>
            <a:ext cx="1842088" cy="220694"/>
          </a:xfrm>
          <a:prstGeom prst="rect">
            <a:avLst/>
          </a:prstGeom>
          <a:noFill/>
          <a:ln/>
        </p:spPr>
        <p:txBody>
          <a:bodyPr wrap="square" lIns="25400" tIns="25400" rIns="25400" bIns="25400" rtlCol="0" anchor="t">
            <a:normAutofit lnSpcReduction="10000"/>
          </a:bodyPr>
          <a:lstStyle/>
          <a:p>
            <a:pPr marL="0" indent="0" algn="l">
              <a:buNone/>
            </a:pPr>
            <a:r>
              <a:rPr lang="en-US" sz="1200" dirty="0">
                <a:solidFill>
                  <a:srgbClr val="BBBBBB"/>
                </a:solidFill>
                <a:latin typeface="Arial" pitchFamily="34" charset="0"/>
                <a:ea typeface="Arial" pitchFamily="34" charset="-122"/>
                <a:cs typeface="Arial" pitchFamily="34" charset="-120"/>
              </a:rPr>
              <a:t>Batch</a:t>
            </a:r>
            <a:endParaRPr lang="en-US" sz="1200" dirty="0"/>
          </a:p>
        </p:txBody>
      </p:sp>
      <p:sp>
        <p:nvSpPr>
          <p:cNvPr id="17" name="Shape 15"/>
          <p:cNvSpPr/>
          <p:nvPr/>
        </p:nvSpPr>
        <p:spPr>
          <a:xfrm>
            <a:off x="1161860" y="4969908"/>
            <a:ext cx="2070688" cy="411194"/>
          </a:xfrm>
          <a:prstGeom prst="roundRect">
            <a:avLst>
              <a:gd name="adj" fmla="val 18531"/>
            </a:avLst>
          </a:prstGeom>
          <a:solidFill>
            <a:srgbClr val="1C1C1C"/>
          </a:solidFill>
          <a:ln/>
        </p:spPr>
        <p:txBody>
          <a:bodyPr/>
          <a:lstStyle/>
          <a:p>
            <a:endParaRPr lang="en-US"/>
          </a:p>
        </p:txBody>
      </p:sp>
      <p:sp>
        <p:nvSpPr>
          <p:cNvPr id="18" name="Text 16"/>
          <p:cNvSpPr/>
          <p:nvPr/>
        </p:nvSpPr>
        <p:spPr>
          <a:xfrm>
            <a:off x="1314260" y="5084208"/>
            <a:ext cx="1842088" cy="220694"/>
          </a:xfrm>
          <a:prstGeom prst="rect">
            <a:avLst/>
          </a:prstGeom>
          <a:noFill/>
          <a:ln/>
        </p:spPr>
        <p:txBody>
          <a:bodyPr wrap="square" lIns="25400" tIns="25400" rIns="25400" bIns="25400" rtlCol="0" anchor="t">
            <a:normAutofit lnSpcReduction="10000"/>
          </a:bodyPr>
          <a:lstStyle/>
          <a:p>
            <a:pPr marL="0" indent="0" algn="l">
              <a:buNone/>
            </a:pPr>
            <a:r>
              <a:rPr lang="en-US" sz="1200" dirty="0">
                <a:solidFill>
                  <a:srgbClr val="BBBBBB"/>
                </a:solidFill>
                <a:latin typeface="Arial" pitchFamily="34" charset="0"/>
                <a:ea typeface="Arial" pitchFamily="34" charset="-122"/>
                <a:cs typeface="Arial" pitchFamily="34" charset="-120"/>
              </a:rPr>
              <a:t>Unstructured</a:t>
            </a:r>
            <a:endParaRPr lang="en-US" sz="1200" dirty="0"/>
          </a:p>
        </p:txBody>
      </p:sp>
      <p:sp>
        <p:nvSpPr>
          <p:cNvPr id="19" name="Shape 17"/>
          <p:cNvSpPr/>
          <p:nvPr/>
        </p:nvSpPr>
        <p:spPr>
          <a:xfrm>
            <a:off x="3442002" y="2818924"/>
            <a:ext cx="457057" cy="5956031"/>
          </a:xfrm>
          <a:prstGeom prst="rect">
            <a:avLst/>
          </a:prstGeom>
          <a:solidFill>
            <a:srgbClr val="141414"/>
          </a:solidFill>
          <a:ln/>
        </p:spPr>
        <p:txBody>
          <a:bodyPr/>
          <a:lstStyle/>
          <a:p>
            <a:endParaRPr lang="en-US"/>
          </a:p>
        </p:txBody>
      </p:sp>
      <p:sp>
        <p:nvSpPr>
          <p:cNvPr id="20" name="Text 18"/>
          <p:cNvSpPr/>
          <p:nvPr/>
        </p:nvSpPr>
        <p:spPr>
          <a:xfrm>
            <a:off x="3537157" y="5645993"/>
            <a:ext cx="342948" cy="339852"/>
          </a:xfrm>
          <a:prstGeom prst="rect">
            <a:avLst/>
          </a:prstGeom>
          <a:noFill/>
          <a:ln/>
        </p:spPr>
        <p:txBody>
          <a:bodyPr wrap="square" lIns="25400" tIns="25400" rIns="25400" bIns="25400" rtlCol="0" anchor="t">
            <a:normAutofit lnSpcReduction="10000"/>
          </a:bodyPr>
          <a:lstStyle/>
          <a:p>
            <a:pPr marL="0" indent="0" algn="l">
              <a:buNone/>
            </a:pPr>
            <a:r>
              <a:rPr lang="en-US" sz="2100" dirty="0">
                <a:solidFill>
                  <a:srgbClr val="3A3A3A"/>
                </a:solidFill>
                <a:latin typeface="Arial" pitchFamily="34" charset="0"/>
                <a:ea typeface="Arial" pitchFamily="34" charset="-122"/>
                <a:cs typeface="Arial" pitchFamily="34" charset="-120"/>
              </a:rPr>
              <a:t>→</a:t>
            </a:r>
            <a:endParaRPr lang="en-US" sz="2100" dirty="0"/>
          </a:p>
        </p:txBody>
      </p:sp>
      <p:sp>
        <p:nvSpPr>
          <p:cNvPr id="21" name="Shape 19"/>
          <p:cNvSpPr/>
          <p:nvPr/>
        </p:nvSpPr>
        <p:spPr>
          <a:xfrm>
            <a:off x="3899059" y="2818924"/>
            <a:ext cx="2686908" cy="5956031"/>
          </a:xfrm>
          <a:prstGeom prst="rect">
            <a:avLst/>
          </a:prstGeom>
          <a:solidFill>
            <a:srgbClr val="141414"/>
          </a:solidFill>
          <a:ln/>
        </p:spPr>
        <p:txBody>
          <a:bodyPr/>
          <a:lstStyle/>
          <a:p>
            <a:endParaRPr lang="en-US"/>
          </a:p>
        </p:txBody>
      </p:sp>
      <p:sp>
        <p:nvSpPr>
          <p:cNvPr id="22" name="Shape 20"/>
          <p:cNvSpPr/>
          <p:nvPr/>
        </p:nvSpPr>
        <p:spPr>
          <a:xfrm>
            <a:off x="3899059" y="2818924"/>
            <a:ext cx="9525" cy="5956031"/>
          </a:xfrm>
          <a:prstGeom prst="rect">
            <a:avLst/>
          </a:prstGeom>
          <a:solidFill>
            <a:srgbClr val="090909"/>
          </a:solidFill>
          <a:ln/>
        </p:spPr>
        <p:txBody>
          <a:bodyPr/>
          <a:lstStyle/>
          <a:p>
            <a:endParaRPr lang="en-US"/>
          </a:p>
        </p:txBody>
      </p:sp>
      <p:sp>
        <p:nvSpPr>
          <p:cNvPr id="23" name="Text 21"/>
          <p:cNvSpPr/>
          <p:nvPr/>
        </p:nvSpPr>
        <p:spPr>
          <a:xfrm>
            <a:off x="4117658" y="3085529"/>
            <a:ext cx="2484740" cy="175260"/>
          </a:xfrm>
          <a:prstGeom prst="rect">
            <a:avLst/>
          </a:prstGeom>
          <a:noFill/>
          <a:ln/>
        </p:spPr>
        <p:txBody>
          <a:bodyPr wrap="square" lIns="25400" tIns="25400" rIns="25400" bIns="25400" rtlCol="0" anchor="t">
            <a:normAutofit fontScale="92500" lnSpcReduction="10000"/>
          </a:bodyPr>
          <a:lstStyle/>
          <a:p>
            <a:pPr marL="0" indent="0" algn="l">
              <a:buNone/>
            </a:pPr>
            <a:r>
              <a:rPr lang="en-US" sz="975" b="1" kern="0" spc="98" dirty="0">
                <a:solidFill>
                  <a:srgbClr val="666666"/>
                </a:solidFill>
                <a:latin typeface="Arial" pitchFamily="34" charset="0"/>
                <a:ea typeface="Arial" pitchFamily="34" charset="-122"/>
                <a:cs typeface="Arial" pitchFamily="34" charset="-120"/>
              </a:rPr>
              <a:t>INGESTION</a:t>
            </a:r>
            <a:endParaRPr lang="en-US" sz="975" dirty="0"/>
          </a:p>
        </p:txBody>
      </p:sp>
      <p:sp>
        <p:nvSpPr>
          <p:cNvPr id="24" name="Text 22"/>
          <p:cNvSpPr/>
          <p:nvPr/>
        </p:nvSpPr>
        <p:spPr>
          <a:xfrm>
            <a:off x="4117658" y="3393853"/>
            <a:ext cx="2484740" cy="321564"/>
          </a:xfrm>
          <a:prstGeom prst="rect">
            <a:avLst/>
          </a:prstGeom>
          <a:noFill/>
          <a:ln/>
        </p:spPr>
        <p:txBody>
          <a:bodyPr wrap="square" lIns="25400" tIns="25400" rIns="25400" bIns="25400" rtlCol="0" anchor="t">
            <a:normAutofit/>
          </a:bodyPr>
          <a:lstStyle/>
          <a:p>
            <a:pPr marL="0" indent="0" algn="l">
              <a:buNone/>
            </a:pPr>
            <a:r>
              <a:rPr lang="en-US" sz="1575" b="1" kern="0" spc="-30" dirty="0">
                <a:solidFill>
                  <a:srgbClr val="FFFFFF"/>
                </a:solidFill>
                <a:latin typeface="Arial" pitchFamily="34" charset="0"/>
                <a:ea typeface="Arial" pitchFamily="34" charset="-122"/>
                <a:cs typeface="Arial" pitchFamily="34" charset="-120"/>
              </a:rPr>
              <a:t>Unified entry point</a:t>
            </a:r>
            <a:endParaRPr lang="en-US" sz="1575" dirty="0"/>
          </a:p>
        </p:txBody>
      </p:sp>
      <p:sp>
        <p:nvSpPr>
          <p:cNvPr id="25" name="Text 23"/>
          <p:cNvSpPr/>
          <p:nvPr/>
        </p:nvSpPr>
        <p:spPr>
          <a:xfrm>
            <a:off x="4117658" y="3791474"/>
            <a:ext cx="2335054" cy="480155"/>
          </a:xfrm>
          <a:prstGeom prst="rect">
            <a:avLst/>
          </a:prstGeom>
          <a:noFill/>
          <a:ln/>
        </p:spPr>
        <p:txBody>
          <a:bodyPr wrap="square" lIns="25400" tIns="25400" rIns="25400" bIns="25400" rtlCol="0" anchor="t">
            <a:normAutofit fontScale="92500" lnSpcReduction="20000"/>
          </a:bodyPr>
          <a:lstStyle/>
          <a:p>
            <a:pPr marL="0" indent="0" algn="l">
              <a:lnSpc>
                <a:spcPct val="145000"/>
              </a:lnSpc>
              <a:buNone/>
            </a:pPr>
            <a:r>
              <a:rPr lang="en-US" sz="1200" dirty="0">
                <a:solidFill>
                  <a:srgbClr val="999999"/>
                </a:solidFill>
                <a:latin typeface="Arial" pitchFamily="34" charset="0"/>
                <a:ea typeface="Arial" pitchFamily="34" charset="-122"/>
                <a:cs typeface="Arial" pitchFamily="34" charset="-120"/>
              </a:rPr>
              <a:t>Streaming and batch into one front door.</a:t>
            </a:r>
            <a:endParaRPr lang="en-US" sz="1200" dirty="0"/>
          </a:p>
        </p:txBody>
      </p:sp>
      <p:sp>
        <p:nvSpPr>
          <p:cNvPr id="26" name="Text 24"/>
          <p:cNvSpPr/>
          <p:nvPr/>
        </p:nvSpPr>
        <p:spPr>
          <a:xfrm>
            <a:off x="4117658" y="8325470"/>
            <a:ext cx="2484740" cy="220980"/>
          </a:xfrm>
          <a:prstGeom prst="rect">
            <a:avLst/>
          </a:prstGeom>
          <a:noFill/>
          <a:ln/>
        </p:spPr>
        <p:txBody>
          <a:bodyPr wrap="square" lIns="25400" tIns="25400" rIns="25400" bIns="25400" rtlCol="0" anchor="t">
            <a:normAutofit lnSpcReduction="10000"/>
          </a:bodyPr>
          <a:lstStyle/>
          <a:p>
            <a:pPr marL="0" indent="0" algn="l">
              <a:buNone/>
            </a:pPr>
            <a:r>
              <a:rPr lang="en-US" sz="1200" dirty="0">
                <a:solidFill>
                  <a:srgbClr val="666666"/>
                </a:solidFill>
                <a:latin typeface="Arial" pitchFamily="34" charset="0"/>
                <a:ea typeface="Arial" pitchFamily="34" charset="-122"/>
                <a:cs typeface="Arial" pitchFamily="34" charset="-120"/>
              </a:rPr>
              <a:t>Replaces all cron-job ETL</a:t>
            </a:r>
            <a:endParaRPr lang="en-US" sz="1200" dirty="0"/>
          </a:p>
        </p:txBody>
      </p:sp>
      <p:sp>
        <p:nvSpPr>
          <p:cNvPr id="27" name="Shape 25"/>
          <p:cNvSpPr/>
          <p:nvPr/>
        </p:nvSpPr>
        <p:spPr>
          <a:xfrm>
            <a:off x="6585967" y="2818924"/>
            <a:ext cx="457057" cy="5956031"/>
          </a:xfrm>
          <a:prstGeom prst="rect">
            <a:avLst/>
          </a:prstGeom>
          <a:solidFill>
            <a:srgbClr val="141414"/>
          </a:solidFill>
          <a:ln/>
        </p:spPr>
        <p:txBody>
          <a:bodyPr/>
          <a:lstStyle/>
          <a:p>
            <a:endParaRPr lang="en-US"/>
          </a:p>
        </p:txBody>
      </p:sp>
      <p:sp>
        <p:nvSpPr>
          <p:cNvPr id="28" name="Text 26"/>
          <p:cNvSpPr/>
          <p:nvPr/>
        </p:nvSpPr>
        <p:spPr>
          <a:xfrm>
            <a:off x="6681122" y="5645993"/>
            <a:ext cx="342948" cy="339852"/>
          </a:xfrm>
          <a:prstGeom prst="rect">
            <a:avLst/>
          </a:prstGeom>
          <a:noFill/>
          <a:ln/>
        </p:spPr>
        <p:txBody>
          <a:bodyPr wrap="square" lIns="25400" tIns="25400" rIns="25400" bIns="25400" rtlCol="0" anchor="t">
            <a:normAutofit lnSpcReduction="10000"/>
          </a:bodyPr>
          <a:lstStyle/>
          <a:p>
            <a:pPr marL="0" indent="0" algn="l">
              <a:buNone/>
            </a:pPr>
            <a:r>
              <a:rPr lang="en-US" sz="2100" dirty="0">
                <a:solidFill>
                  <a:srgbClr val="3A3A3A"/>
                </a:solidFill>
                <a:latin typeface="Arial" pitchFamily="34" charset="0"/>
                <a:ea typeface="Arial" pitchFamily="34" charset="-122"/>
                <a:cs typeface="Arial" pitchFamily="34" charset="-120"/>
              </a:rPr>
              <a:t>→</a:t>
            </a:r>
            <a:endParaRPr lang="en-US" sz="2100" dirty="0"/>
          </a:p>
        </p:txBody>
      </p:sp>
      <p:sp>
        <p:nvSpPr>
          <p:cNvPr id="29" name="Shape 27"/>
          <p:cNvSpPr/>
          <p:nvPr/>
        </p:nvSpPr>
        <p:spPr>
          <a:xfrm>
            <a:off x="7043024" y="2818924"/>
            <a:ext cx="2875074" cy="5956031"/>
          </a:xfrm>
          <a:prstGeom prst="rect">
            <a:avLst/>
          </a:prstGeom>
          <a:solidFill>
            <a:srgbClr val="141414"/>
          </a:solidFill>
          <a:ln/>
        </p:spPr>
        <p:txBody>
          <a:bodyPr/>
          <a:lstStyle/>
          <a:p>
            <a:endParaRPr lang="en-US"/>
          </a:p>
        </p:txBody>
      </p:sp>
      <p:sp>
        <p:nvSpPr>
          <p:cNvPr id="30" name="Shape 28"/>
          <p:cNvSpPr/>
          <p:nvPr/>
        </p:nvSpPr>
        <p:spPr>
          <a:xfrm>
            <a:off x="7043024" y="2818924"/>
            <a:ext cx="9525" cy="5956031"/>
          </a:xfrm>
          <a:prstGeom prst="rect">
            <a:avLst/>
          </a:prstGeom>
          <a:solidFill>
            <a:srgbClr val="090909"/>
          </a:solidFill>
          <a:ln/>
        </p:spPr>
        <p:txBody>
          <a:bodyPr/>
          <a:lstStyle/>
          <a:p>
            <a:endParaRPr lang="en-US"/>
          </a:p>
        </p:txBody>
      </p:sp>
      <p:sp>
        <p:nvSpPr>
          <p:cNvPr id="31" name="Text 29"/>
          <p:cNvSpPr/>
          <p:nvPr/>
        </p:nvSpPr>
        <p:spPr>
          <a:xfrm>
            <a:off x="7261623" y="3085529"/>
            <a:ext cx="2691722" cy="175260"/>
          </a:xfrm>
          <a:prstGeom prst="rect">
            <a:avLst/>
          </a:prstGeom>
          <a:noFill/>
          <a:ln/>
        </p:spPr>
        <p:txBody>
          <a:bodyPr wrap="square" lIns="25400" tIns="25400" rIns="25400" bIns="25400" rtlCol="0" anchor="t">
            <a:normAutofit fontScale="92500" lnSpcReduction="10000"/>
          </a:bodyPr>
          <a:lstStyle/>
          <a:p>
            <a:pPr marL="0" indent="0" algn="l">
              <a:buNone/>
            </a:pPr>
            <a:r>
              <a:rPr lang="en-US" sz="975" b="1" kern="0" spc="98" dirty="0">
                <a:solidFill>
                  <a:srgbClr val="666666"/>
                </a:solidFill>
                <a:latin typeface="Arial" pitchFamily="34" charset="0"/>
                <a:ea typeface="Arial" pitchFamily="34" charset="-122"/>
                <a:cs typeface="Arial" pitchFamily="34" charset="-120"/>
              </a:rPr>
              <a:t>PROCESSING</a:t>
            </a:r>
            <a:endParaRPr lang="en-US" sz="975" dirty="0"/>
          </a:p>
        </p:txBody>
      </p:sp>
      <p:sp>
        <p:nvSpPr>
          <p:cNvPr id="32" name="Shape 30"/>
          <p:cNvSpPr/>
          <p:nvPr/>
        </p:nvSpPr>
        <p:spPr>
          <a:xfrm>
            <a:off x="7261623" y="3393853"/>
            <a:ext cx="2447020" cy="2500170"/>
          </a:xfrm>
          <a:prstGeom prst="roundRect">
            <a:avLst>
              <a:gd name="adj" fmla="val 3892"/>
            </a:avLst>
          </a:prstGeom>
          <a:solidFill>
            <a:srgbClr val="1C1C1C"/>
          </a:solidFill>
          <a:ln/>
        </p:spPr>
        <p:txBody>
          <a:bodyPr/>
          <a:lstStyle/>
          <a:p>
            <a:endParaRPr lang="en-US"/>
          </a:p>
        </p:txBody>
      </p:sp>
      <p:sp>
        <p:nvSpPr>
          <p:cNvPr id="33" name="Text 31"/>
          <p:cNvSpPr/>
          <p:nvPr/>
        </p:nvSpPr>
        <p:spPr>
          <a:xfrm>
            <a:off x="7432930" y="4432555"/>
            <a:ext cx="2314847" cy="239268"/>
          </a:xfrm>
          <a:prstGeom prst="rect">
            <a:avLst/>
          </a:prstGeom>
          <a:noFill/>
          <a:ln/>
        </p:spPr>
        <p:txBody>
          <a:bodyPr wrap="square" lIns="25400" tIns="25400" rIns="25400" bIns="25400" rtlCol="0" anchor="t">
            <a:normAutofit lnSpcReduction="10000"/>
          </a:bodyPr>
          <a:lstStyle/>
          <a:p>
            <a:pPr marL="0" indent="0" algn="l">
              <a:buNone/>
            </a:pPr>
            <a:r>
              <a:rPr lang="en-US" sz="1350" dirty="0">
                <a:solidFill>
                  <a:srgbClr val="FFFFFF"/>
                </a:solidFill>
                <a:latin typeface="Arial" pitchFamily="34" charset="0"/>
                <a:ea typeface="Arial" pitchFamily="34" charset="-122"/>
                <a:cs typeface="Arial" pitchFamily="34" charset="-120"/>
              </a:rPr>
              <a:t>Validate · Clean</a:t>
            </a:r>
            <a:endParaRPr lang="en-US" sz="1350" dirty="0"/>
          </a:p>
        </p:txBody>
      </p:sp>
      <p:sp>
        <p:nvSpPr>
          <p:cNvPr id="34" name="Text 32"/>
          <p:cNvSpPr/>
          <p:nvPr/>
        </p:nvSpPr>
        <p:spPr>
          <a:xfrm>
            <a:off x="7432930" y="4690730"/>
            <a:ext cx="2314847" cy="202692"/>
          </a:xfrm>
          <a:prstGeom prst="rect">
            <a:avLst/>
          </a:prstGeom>
          <a:noFill/>
          <a:ln/>
        </p:spPr>
        <p:txBody>
          <a:bodyPr wrap="square" lIns="25400" tIns="25400" rIns="25400" bIns="25400" rtlCol="0" anchor="t">
            <a:normAutofit fontScale="92500" lnSpcReduction="10000"/>
          </a:bodyPr>
          <a:lstStyle/>
          <a:p>
            <a:pPr marL="0" indent="0" algn="l">
              <a:buNone/>
            </a:pPr>
            <a:r>
              <a:rPr lang="en-US" sz="1125" dirty="0">
                <a:solidFill>
                  <a:srgbClr val="777777"/>
                </a:solidFill>
                <a:latin typeface="Arial" pitchFamily="34" charset="0"/>
                <a:ea typeface="Arial" pitchFamily="34" charset="-122"/>
                <a:cs typeface="Arial" pitchFamily="34" charset="-120"/>
              </a:rPr>
              <a:t>Quality gate before storage</a:t>
            </a:r>
            <a:endParaRPr lang="en-US" sz="1125" dirty="0"/>
          </a:p>
        </p:txBody>
      </p:sp>
      <p:sp>
        <p:nvSpPr>
          <p:cNvPr id="35" name="Shape 33"/>
          <p:cNvSpPr/>
          <p:nvPr/>
        </p:nvSpPr>
        <p:spPr>
          <a:xfrm>
            <a:off x="7261623" y="6008180"/>
            <a:ext cx="2447020" cy="2500170"/>
          </a:xfrm>
          <a:prstGeom prst="roundRect">
            <a:avLst>
              <a:gd name="adj" fmla="val 3892"/>
            </a:avLst>
          </a:prstGeom>
          <a:solidFill>
            <a:srgbClr val="1C1C1C"/>
          </a:solidFill>
          <a:ln/>
        </p:spPr>
        <p:txBody>
          <a:bodyPr/>
          <a:lstStyle/>
          <a:p>
            <a:endParaRPr lang="en-US"/>
          </a:p>
        </p:txBody>
      </p:sp>
      <p:sp>
        <p:nvSpPr>
          <p:cNvPr id="36" name="Text 34"/>
          <p:cNvSpPr/>
          <p:nvPr/>
        </p:nvSpPr>
        <p:spPr>
          <a:xfrm>
            <a:off x="7432930" y="7046882"/>
            <a:ext cx="2314847" cy="239268"/>
          </a:xfrm>
          <a:prstGeom prst="rect">
            <a:avLst/>
          </a:prstGeom>
          <a:noFill/>
          <a:ln/>
        </p:spPr>
        <p:txBody>
          <a:bodyPr wrap="square" lIns="25400" tIns="25400" rIns="25400" bIns="25400" rtlCol="0" anchor="t">
            <a:normAutofit lnSpcReduction="10000"/>
          </a:bodyPr>
          <a:lstStyle/>
          <a:p>
            <a:pPr marL="0" indent="0" algn="l">
              <a:buNone/>
            </a:pPr>
            <a:r>
              <a:rPr lang="en-US" sz="1350" dirty="0">
                <a:solidFill>
                  <a:srgbClr val="FFFFFF"/>
                </a:solidFill>
                <a:latin typeface="Arial" pitchFamily="34" charset="0"/>
                <a:ea typeface="Arial" pitchFamily="34" charset="-122"/>
                <a:cs typeface="Arial" pitchFamily="34" charset="-120"/>
              </a:rPr>
              <a:t>Transform · Enrich</a:t>
            </a:r>
            <a:endParaRPr lang="en-US" sz="1350" dirty="0"/>
          </a:p>
        </p:txBody>
      </p:sp>
      <p:sp>
        <p:nvSpPr>
          <p:cNvPr id="37" name="Text 35"/>
          <p:cNvSpPr/>
          <p:nvPr/>
        </p:nvSpPr>
        <p:spPr>
          <a:xfrm>
            <a:off x="7432930" y="7305057"/>
            <a:ext cx="2314847" cy="202692"/>
          </a:xfrm>
          <a:prstGeom prst="rect">
            <a:avLst/>
          </a:prstGeom>
          <a:noFill/>
          <a:ln/>
        </p:spPr>
        <p:txBody>
          <a:bodyPr wrap="square" lIns="25400" tIns="25400" rIns="25400" bIns="25400" rtlCol="0" anchor="t">
            <a:normAutofit fontScale="92500" lnSpcReduction="10000"/>
          </a:bodyPr>
          <a:lstStyle/>
          <a:p>
            <a:pPr marL="0" indent="0" algn="l">
              <a:buNone/>
            </a:pPr>
            <a:r>
              <a:rPr lang="en-US" sz="1125" dirty="0">
                <a:solidFill>
                  <a:srgbClr val="777777"/>
                </a:solidFill>
                <a:latin typeface="Arial" pitchFamily="34" charset="0"/>
                <a:ea typeface="Arial" pitchFamily="34" charset="-122"/>
                <a:cs typeface="Arial" pitchFamily="34" charset="-120"/>
              </a:rPr>
              <a:t>Joins · KPIs · context</a:t>
            </a:r>
            <a:endParaRPr lang="en-US" sz="1125" dirty="0"/>
          </a:p>
        </p:txBody>
      </p:sp>
      <p:sp>
        <p:nvSpPr>
          <p:cNvPr id="38" name="Shape 36"/>
          <p:cNvSpPr/>
          <p:nvPr/>
        </p:nvSpPr>
        <p:spPr>
          <a:xfrm>
            <a:off x="9918098" y="2818924"/>
            <a:ext cx="457057" cy="5956031"/>
          </a:xfrm>
          <a:prstGeom prst="rect">
            <a:avLst/>
          </a:prstGeom>
          <a:solidFill>
            <a:srgbClr val="141414"/>
          </a:solidFill>
          <a:ln/>
        </p:spPr>
        <p:txBody>
          <a:bodyPr/>
          <a:lstStyle/>
          <a:p>
            <a:endParaRPr lang="en-US"/>
          </a:p>
        </p:txBody>
      </p:sp>
      <p:sp>
        <p:nvSpPr>
          <p:cNvPr id="39" name="Text 37"/>
          <p:cNvSpPr/>
          <p:nvPr/>
        </p:nvSpPr>
        <p:spPr>
          <a:xfrm>
            <a:off x="10013253" y="5645993"/>
            <a:ext cx="342948" cy="339852"/>
          </a:xfrm>
          <a:prstGeom prst="rect">
            <a:avLst/>
          </a:prstGeom>
          <a:noFill/>
          <a:ln/>
        </p:spPr>
        <p:txBody>
          <a:bodyPr wrap="square" lIns="25400" tIns="25400" rIns="25400" bIns="25400" rtlCol="0" anchor="t">
            <a:normAutofit lnSpcReduction="10000"/>
          </a:bodyPr>
          <a:lstStyle/>
          <a:p>
            <a:pPr marL="0" indent="0" algn="l">
              <a:buNone/>
            </a:pPr>
            <a:r>
              <a:rPr lang="en-US" sz="2100" dirty="0">
                <a:solidFill>
                  <a:srgbClr val="3A3A3A"/>
                </a:solidFill>
                <a:latin typeface="Arial" pitchFamily="34" charset="0"/>
                <a:ea typeface="Arial" pitchFamily="34" charset="-122"/>
                <a:cs typeface="Arial" pitchFamily="34" charset="-120"/>
              </a:rPr>
              <a:t>→</a:t>
            </a:r>
            <a:endParaRPr lang="en-US" sz="2100" dirty="0"/>
          </a:p>
        </p:txBody>
      </p:sp>
      <p:sp>
        <p:nvSpPr>
          <p:cNvPr id="40" name="Shape 38"/>
          <p:cNvSpPr/>
          <p:nvPr/>
        </p:nvSpPr>
        <p:spPr>
          <a:xfrm>
            <a:off x="10375155" y="2818924"/>
            <a:ext cx="3439859" cy="5956031"/>
          </a:xfrm>
          <a:prstGeom prst="rect">
            <a:avLst/>
          </a:prstGeom>
          <a:solidFill>
            <a:srgbClr val="141414"/>
          </a:solidFill>
          <a:ln/>
        </p:spPr>
        <p:txBody>
          <a:bodyPr/>
          <a:lstStyle/>
          <a:p>
            <a:endParaRPr lang="en-US"/>
          </a:p>
        </p:txBody>
      </p:sp>
      <p:sp>
        <p:nvSpPr>
          <p:cNvPr id="41" name="Shape 39"/>
          <p:cNvSpPr/>
          <p:nvPr/>
        </p:nvSpPr>
        <p:spPr>
          <a:xfrm>
            <a:off x="10375155" y="2818924"/>
            <a:ext cx="9525" cy="5956031"/>
          </a:xfrm>
          <a:prstGeom prst="rect">
            <a:avLst/>
          </a:prstGeom>
          <a:solidFill>
            <a:srgbClr val="090909"/>
          </a:solidFill>
          <a:ln/>
        </p:spPr>
        <p:txBody>
          <a:bodyPr/>
          <a:lstStyle/>
          <a:p>
            <a:endParaRPr lang="en-US"/>
          </a:p>
        </p:txBody>
      </p:sp>
      <p:sp>
        <p:nvSpPr>
          <p:cNvPr id="42" name="Text 40"/>
          <p:cNvSpPr/>
          <p:nvPr/>
        </p:nvSpPr>
        <p:spPr>
          <a:xfrm>
            <a:off x="10593755" y="3085529"/>
            <a:ext cx="3312986" cy="175260"/>
          </a:xfrm>
          <a:prstGeom prst="rect">
            <a:avLst/>
          </a:prstGeom>
          <a:noFill/>
          <a:ln/>
        </p:spPr>
        <p:txBody>
          <a:bodyPr wrap="square" lIns="25400" tIns="25400" rIns="25400" bIns="25400" rtlCol="0" anchor="t">
            <a:normAutofit fontScale="92500" lnSpcReduction="10000"/>
          </a:bodyPr>
          <a:lstStyle/>
          <a:p>
            <a:pPr marL="0" indent="0" algn="l">
              <a:buNone/>
            </a:pPr>
            <a:r>
              <a:rPr lang="en-US" sz="975" b="1" kern="0" spc="98" dirty="0">
                <a:solidFill>
                  <a:srgbClr val="666666"/>
                </a:solidFill>
                <a:latin typeface="Arial" pitchFamily="34" charset="0"/>
                <a:ea typeface="Arial" pitchFamily="34" charset="-122"/>
                <a:cs typeface="Arial" pitchFamily="34" charset="-120"/>
              </a:rPr>
              <a:t>STORAGE — LAKEHOUSE</a:t>
            </a:r>
            <a:endParaRPr lang="en-US" sz="975" dirty="0"/>
          </a:p>
        </p:txBody>
      </p:sp>
      <p:sp>
        <p:nvSpPr>
          <p:cNvPr id="43" name="Shape 41"/>
          <p:cNvSpPr/>
          <p:nvPr/>
        </p:nvSpPr>
        <p:spPr>
          <a:xfrm>
            <a:off x="10593755" y="3393853"/>
            <a:ext cx="3011805" cy="633794"/>
          </a:xfrm>
          <a:prstGeom prst="roundRect">
            <a:avLst>
              <a:gd name="adj" fmla="val 15029"/>
            </a:avLst>
          </a:prstGeom>
          <a:solidFill>
            <a:srgbClr val="1C1C1C"/>
          </a:solidFill>
          <a:ln/>
        </p:spPr>
        <p:txBody>
          <a:bodyPr/>
          <a:lstStyle/>
          <a:p>
            <a:endParaRPr lang="en-US"/>
          </a:p>
        </p:txBody>
      </p:sp>
      <p:sp>
        <p:nvSpPr>
          <p:cNvPr id="44" name="Text 42"/>
          <p:cNvSpPr/>
          <p:nvPr/>
        </p:nvSpPr>
        <p:spPr>
          <a:xfrm>
            <a:off x="10765062" y="3527156"/>
            <a:ext cx="2936110" cy="220980"/>
          </a:xfrm>
          <a:prstGeom prst="rect">
            <a:avLst/>
          </a:prstGeom>
          <a:noFill/>
          <a:ln/>
        </p:spPr>
        <p:txBody>
          <a:bodyPr wrap="square" lIns="25400" tIns="25400" rIns="25400" bIns="25400" rtlCol="0" anchor="t">
            <a:normAutofit lnSpcReduction="10000"/>
          </a:bodyPr>
          <a:lstStyle/>
          <a:p>
            <a:pPr marL="0" indent="0" algn="l">
              <a:buNone/>
            </a:pPr>
            <a:r>
              <a:rPr lang="en-US" sz="1200" dirty="0">
                <a:solidFill>
                  <a:srgbClr val="FFFFFF"/>
                </a:solidFill>
                <a:latin typeface="Arial" pitchFamily="34" charset="0"/>
                <a:ea typeface="Arial" pitchFamily="34" charset="-122"/>
                <a:cs typeface="Arial" pitchFamily="34" charset="-120"/>
              </a:rPr>
              <a:t>Raw</a:t>
            </a:r>
            <a:endParaRPr lang="en-US" sz="1200" dirty="0"/>
          </a:p>
        </p:txBody>
      </p:sp>
      <p:sp>
        <p:nvSpPr>
          <p:cNvPr id="45" name="Text 43"/>
          <p:cNvSpPr/>
          <p:nvPr/>
        </p:nvSpPr>
        <p:spPr>
          <a:xfrm>
            <a:off x="10765062" y="3748040"/>
            <a:ext cx="2936110" cy="184404"/>
          </a:xfrm>
          <a:prstGeom prst="rect">
            <a:avLst/>
          </a:prstGeom>
          <a:noFill/>
          <a:ln/>
        </p:spPr>
        <p:txBody>
          <a:bodyPr wrap="square" lIns="25400" tIns="25400" rIns="25400" bIns="25400" rtlCol="0" anchor="t">
            <a:normAutofit fontScale="92500" lnSpcReduction="20000"/>
          </a:bodyPr>
          <a:lstStyle/>
          <a:p>
            <a:pPr marL="0" indent="0" algn="l">
              <a:buNone/>
            </a:pPr>
            <a:r>
              <a:rPr lang="en-US" sz="1050" dirty="0">
                <a:solidFill>
                  <a:srgbClr val="777777"/>
                </a:solidFill>
                <a:latin typeface="Arial" pitchFamily="34" charset="0"/>
                <a:ea typeface="Arial" pitchFamily="34" charset="-122"/>
                <a:cs typeface="Arial" pitchFamily="34" charset="-120"/>
              </a:rPr>
              <a:t>Immutable landing</a:t>
            </a:r>
            <a:endParaRPr lang="en-US" sz="1050" dirty="0"/>
          </a:p>
        </p:txBody>
      </p:sp>
      <p:sp>
        <p:nvSpPr>
          <p:cNvPr id="46" name="Shape 44"/>
          <p:cNvSpPr/>
          <p:nvPr/>
        </p:nvSpPr>
        <p:spPr>
          <a:xfrm>
            <a:off x="10593755" y="4141804"/>
            <a:ext cx="3011805" cy="633794"/>
          </a:xfrm>
          <a:prstGeom prst="roundRect">
            <a:avLst>
              <a:gd name="adj" fmla="val 15029"/>
            </a:avLst>
          </a:prstGeom>
          <a:solidFill>
            <a:srgbClr val="1C1C1C"/>
          </a:solidFill>
          <a:ln/>
        </p:spPr>
        <p:txBody>
          <a:bodyPr/>
          <a:lstStyle/>
          <a:p>
            <a:endParaRPr lang="en-US"/>
          </a:p>
        </p:txBody>
      </p:sp>
      <p:sp>
        <p:nvSpPr>
          <p:cNvPr id="47" name="Text 45"/>
          <p:cNvSpPr/>
          <p:nvPr/>
        </p:nvSpPr>
        <p:spPr>
          <a:xfrm>
            <a:off x="10765062" y="4275106"/>
            <a:ext cx="2936110" cy="220980"/>
          </a:xfrm>
          <a:prstGeom prst="rect">
            <a:avLst/>
          </a:prstGeom>
          <a:noFill/>
          <a:ln/>
        </p:spPr>
        <p:txBody>
          <a:bodyPr wrap="square" lIns="25400" tIns="25400" rIns="25400" bIns="25400" rtlCol="0" anchor="t">
            <a:normAutofit lnSpcReduction="10000"/>
          </a:bodyPr>
          <a:lstStyle/>
          <a:p>
            <a:pPr marL="0" indent="0" algn="l">
              <a:buNone/>
            </a:pPr>
            <a:r>
              <a:rPr lang="en-US" sz="1200" dirty="0">
                <a:solidFill>
                  <a:srgbClr val="FFFFFF"/>
                </a:solidFill>
                <a:latin typeface="Arial" pitchFamily="34" charset="0"/>
                <a:ea typeface="Arial" pitchFamily="34" charset="-122"/>
                <a:cs typeface="Arial" pitchFamily="34" charset="-120"/>
              </a:rPr>
              <a:t>Cleaned</a:t>
            </a:r>
            <a:endParaRPr lang="en-US" sz="1200" dirty="0"/>
          </a:p>
        </p:txBody>
      </p:sp>
      <p:sp>
        <p:nvSpPr>
          <p:cNvPr id="48" name="Text 46"/>
          <p:cNvSpPr/>
          <p:nvPr/>
        </p:nvSpPr>
        <p:spPr>
          <a:xfrm>
            <a:off x="10765062" y="4495991"/>
            <a:ext cx="2936110" cy="184404"/>
          </a:xfrm>
          <a:prstGeom prst="rect">
            <a:avLst/>
          </a:prstGeom>
          <a:noFill/>
          <a:ln/>
        </p:spPr>
        <p:txBody>
          <a:bodyPr wrap="square" lIns="25400" tIns="25400" rIns="25400" bIns="25400" rtlCol="0" anchor="t">
            <a:normAutofit fontScale="92500" lnSpcReduction="20000"/>
          </a:bodyPr>
          <a:lstStyle/>
          <a:p>
            <a:pPr marL="0" indent="0" algn="l">
              <a:buNone/>
            </a:pPr>
            <a:r>
              <a:rPr lang="en-US" sz="1050" dirty="0">
                <a:solidFill>
                  <a:srgbClr val="777777"/>
                </a:solidFill>
                <a:latin typeface="Arial" pitchFamily="34" charset="0"/>
                <a:ea typeface="Arial" pitchFamily="34" charset="-122"/>
                <a:cs typeface="Arial" pitchFamily="34" charset="-120"/>
              </a:rPr>
              <a:t>Validated · PII-masked</a:t>
            </a:r>
            <a:endParaRPr lang="en-US" sz="1050" dirty="0"/>
          </a:p>
        </p:txBody>
      </p:sp>
      <p:sp>
        <p:nvSpPr>
          <p:cNvPr id="49" name="Shape 47"/>
          <p:cNvSpPr/>
          <p:nvPr/>
        </p:nvSpPr>
        <p:spPr>
          <a:xfrm>
            <a:off x="10593755" y="4889755"/>
            <a:ext cx="3011805" cy="633794"/>
          </a:xfrm>
          <a:prstGeom prst="roundRect">
            <a:avLst>
              <a:gd name="adj" fmla="val 15029"/>
            </a:avLst>
          </a:prstGeom>
          <a:solidFill>
            <a:srgbClr val="1C1C1C"/>
          </a:solidFill>
          <a:ln/>
        </p:spPr>
        <p:txBody>
          <a:bodyPr/>
          <a:lstStyle/>
          <a:p>
            <a:endParaRPr lang="en-US"/>
          </a:p>
        </p:txBody>
      </p:sp>
      <p:sp>
        <p:nvSpPr>
          <p:cNvPr id="50" name="Text 48"/>
          <p:cNvSpPr/>
          <p:nvPr/>
        </p:nvSpPr>
        <p:spPr>
          <a:xfrm>
            <a:off x="10765062" y="5023057"/>
            <a:ext cx="2936110" cy="220980"/>
          </a:xfrm>
          <a:prstGeom prst="rect">
            <a:avLst/>
          </a:prstGeom>
          <a:noFill/>
          <a:ln/>
        </p:spPr>
        <p:txBody>
          <a:bodyPr wrap="square" lIns="25400" tIns="25400" rIns="25400" bIns="25400" rtlCol="0" anchor="t">
            <a:normAutofit lnSpcReduction="10000"/>
          </a:bodyPr>
          <a:lstStyle/>
          <a:p>
            <a:pPr marL="0" indent="0" algn="l">
              <a:buNone/>
            </a:pPr>
            <a:r>
              <a:rPr lang="en-US" sz="1200" dirty="0">
                <a:solidFill>
                  <a:srgbClr val="FFFFFF"/>
                </a:solidFill>
                <a:latin typeface="Arial" pitchFamily="34" charset="0"/>
                <a:ea typeface="Arial" pitchFamily="34" charset="-122"/>
                <a:cs typeface="Arial" pitchFamily="34" charset="-120"/>
              </a:rPr>
              <a:t>Curated</a:t>
            </a:r>
            <a:endParaRPr lang="en-US" sz="1200" dirty="0"/>
          </a:p>
        </p:txBody>
      </p:sp>
      <p:sp>
        <p:nvSpPr>
          <p:cNvPr id="51" name="Text 49"/>
          <p:cNvSpPr/>
          <p:nvPr/>
        </p:nvSpPr>
        <p:spPr>
          <a:xfrm>
            <a:off x="10765062" y="5243942"/>
            <a:ext cx="2936110" cy="184404"/>
          </a:xfrm>
          <a:prstGeom prst="rect">
            <a:avLst/>
          </a:prstGeom>
          <a:noFill/>
          <a:ln/>
        </p:spPr>
        <p:txBody>
          <a:bodyPr wrap="square" lIns="25400" tIns="25400" rIns="25400" bIns="25400" rtlCol="0" anchor="t">
            <a:normAutofit fontScale="92500" lnSpcReduction="20000"/>
          </a:bodyPr>
          <a:lstStyle/>
          <a:p>
            <a:pPr marL="0" indent="0" algn="l">
              <a:buNone/>
            </a:pPr>
            <a:r>
              <a:rPr lang="en-US" sz="1050" dirty="0">
                <a:solidFill>
                  <a:srgbClr val="777777"/>
                </a:solidFill>
                <a:latin typeface="Arial" pitchFamily="34" charset="0"/>
                <a:ea typeface="Arial" pitchFamily="34" charset="-122"/>
                <a:cs typeface="Arial" pitchFamily="34" charset="-120"/>
              </a:rPr>
              <a:t>BI &amp; ML ready · replaces Excel</a:t>
            </a:r>
            <a:endParaRPr lang="en-US" sz="1050" dirty="0"/>
          </a:p>
        </p:txBody>
      </p:sp>
      <p:sp>
        <p:nvSpPr>
          <p:cNvPr id="52" name="Shape 50"/>
          <p:cNvSpPr/>
          <p:nvPr/>
        </p:nvSpPr>
        <p:spPr>
          <a:xfrm>
            <a:off x="13815015" y="2818924"/>
            <a:ext cx="457057" cy="5956031"/>
          </a:xfrm>
          <a:prstGeom prst="rect">
            <a:avLst/>
          </a:prstGeom>
          <a:solidFill>
            <a:srgbClr val="141414"/>
          </a:solidFill>
          <a:ln/>
        </p:spPr>
        <p:txBody>
          <a:bodyPr/>
          <a:lstStyle/>
          <a:p>
            <a:endParaRPr lang="en-US"/>
          </a:p>
        </p:txBody>
      </p:sp>
      <p:sp>
        <p:nvSpPr>
          <p:cNvPr id="53" name="Text 51"/>
          <p:cNvSpPr/>
          <p:nvPr/>
        </p:nvSpPr>
        <p:spPr>
          <a:xfrm>
            <a:off x="13910170" y="5645993"/>
            <a:ext cx="342948" cy="339852"/>
          </a:xfrm>
          <a:prstGeom prst="rect">
            <a:avLst/>
          </a:prstGeom>
          <a:noFill/>
          <a:ln/>
        </p:spPr>
        <p:txBody>
          <a:bodyPr wrap="square" lIns="25400" tIns="25400" rIns="25400" bIns="25400" rtlCol="0" anchor="t">
            <a:normAutofit lnSpcReduction="10000"/>
          </a:bodyPr>
          <a:lstStyle/>
          <a:p>
            <a:pPr marL="0" indent="0" algn="l">
              <a:buNone/>
            </a:pPr>
            <a:r>
              <a:rPr lang="en-US" sz="2100" dirty="0">
                <a:solidFill>
                  <a:srgbClr val="3A3A3A"/>
                </a:solidFill>
                <a:latin typeface="Arial" pitchFamily="34" charset="0"/>
                <a:ea typeface="Arial" pitchFamily="34" charset="-122"/>
                <a:cs typeface="Arial" pitchFamily="34" charset="-120"/>
              </a:rPr>
              <a:t>→</a:t>
            </a:r>
            <a:endParaRPr lang="en-US" sz="2100" dirty="0"/>
          </a:p>
        </p:txBody>
      </p:sp>
      <p:sp>
        <p:nvSpPr>
          <p:cNvPr id="54" name="Shape 52"/>
          <p:cNvSpPr/>
          <p:nvPr/>
        </p:nvSpPr>
        <p:spPr>
          <a:xfrm>
            <a:off x="14272072" y="2818924"/>
            <a:ext cx="3063383" cy="5956031"/>
          </a:xfrm>
          <a:prstGeom prst="rect">
            <a:avLst/>
          </a:prstGeom>
          <a:solidFill>
            <a:srgbClr val="141414"/>
          </a:solidFill>
          <a:ln/>
        </p:spPr>
        <p:txBody>
          <a:bodyPr/>
          <a:lstStyle/>
          <a:p>
            <a:endParaRPr lang="en-US"/>
          </a:p>
        </p:txBody>
      </p:sp>
      <p:sp>
        <p:nvSpPr>
          <p:cNvPr id="55" name="Shape 53"/>
          <p:cNvSpPr/>
          <p:nvPr/>
        </p:nvSpPr>
        <p:spPr>
          <a:xfrm>
            <a:off x="14272072" y="2818924"/>
            <a:ext cx="9525" cy="5956031"/>
          </a:xfrm>
          <a:prstGeom prst="rect">
            <a:avLst/>
          </a:prstGeom>
          <a:solidFill>
            <a:srgbClr val="090909"/>
          </a:solidFill>
          <a:ln/>
        </p:spPr>
        <p:txBody>
          <a:bodyPr/>
          <a:lstStyle/>
          <a:p>
            <a:endParaRPr lang="en-US"/>
          </a:p>
        </p:txBody>
      </p:sp>
      <p:sp>
        <p:nvSpPr>
          <p:cNvPr id="56" name="Text 54"/>
          <p:cNvSpPr/>
          <p:nvPr/>
        </p:nvSpPr>
        <p:spPr>
          <a:xfrm>
            <a:off x="14490670" y="3085529"/>
            <a:ext cx="2898863" cy="175260"/>
          </a:xfrm>
          <a:prstGeom prst="rect">
            <a:avLst/>
          </a:prstGeom>
          <a:noFill/>
          <a:ln/>
        </p:spPr>
        <p:txBody>
          <a:bodyPr wrap="square" lIns="25400" tIns="25400" rIns="25400" bIns="25400" rtlCol="0" anchor="t">
            <a:normAutofit fontScale="92500" lnSpcReduction="10000"/>
          </a:bodyPr>
          <a:lstStyle/>
          <a:p>
            <a:pPr marL="0" indent="0" algn="l">
              <a:buNone/>
            </a:pPr>
            <a:r>
              <a:rPr lang="en-US" sz="975" b="1" kern="0" spc="98" dirty="0">
                <a:solidFill>
                  <a:srgbClr val="666666"/>
                </a:solidFill>
                <a:latin typeface="Arial" pitchFamily="34" charset="0"/>
                <a:ea typeface="Arial" pitchFamily="34" charset="-122"/>
                <a:cs typeface="Arial" pitchFamily="34" charset="-120"/>
              </a:rPr>
              <a:t>CONSUMPTION</a:t>
            </a:r>
            <a:endParaRPr lang="en-US" sz="975" dirty="0"/>
          </a:p>
        </p:txBody>
      </p:sp>
      <p:sp>
        <p:nvSpPr>
          <p:cNvPr id="57" name="Shape 55"/>
          <p:cNvSpPr/>
          <p:nvPr/>
        </p:nvSpPr>
        <p:spPr>
          <a:xfrm>
            <a:off x="14490670" y="3393853"/>
            <a:ext cx="2635330" cy="411194"/>
          </a:xfrm>
          <a:prstGeom prst="roundRect">
            <a:avLst>
              <a:gd name="adj" fmla="val 18531"/>
            </a:avLst>
          </a:prstGeom>
          <a:solidFill>
            <a:srgbClr val="1C1C1C"/>
          </a:solidFill>
          <a:ln/>
        </p:spPr>
        <p:txBody>
          <a:bodyPr/>
          <a:lstStyle/>
          <a:p>
            <a:endParaRPr lang="en-US"/>
          </a:p>
        </p:txBody>
      </p:sp>
      <p:sp>
        <p:nvSpPr>
          <p:cNvPr id="58" name="Text 56"/>
          <p:cNvSpPr/>
          <p:nvPr/>
        </p:nvSpPr>
        <p:spPr>
          <a:xfrm>
            <a:off x="14643070" y="3508153"/>
            <a:ext cx="2409590" cy="220694"/>
          </a:xfrm>
          <a:prstGeom prst="rect">
            <a:avLst/>
          </a:prstGeom>
          <a:noFill/>
          <a:ln/>
        </p:spPr>
        <p:txBody>
          <a:bodyPr wrap="square" lIns="25400" tIns="25400" rIns="25400" bIns="25400" rtlCol="0" anchor="t">
            <a:normAutofit lnSpcReduction="10000"/>
          </a:bodyPr>
          <a:lstStyle/>
          <a:p>
            <a:pPr marL="0" indent="0" algn="l">
              <a:buNone/>
            </a:pPr>
            <a:r>
              <a:rPr lang="en-US" sz="1200" dirty="0">
                <a:solidFill>
                  <a:srgbClr val="BBBBBB"/>
                </a:solidFill>
                <a:latin typeface="Arial" pitchFamily="34" charset="0"/>
                <a:ea typeface="Arial" pitchFamily="34" charset="-122"/>
                <a:cs typeface="Arial" pitchFamily="34" charset="-120"/>
              </a:rPr>
              <a:t>BI dashboards</a:t>
            </a:r>
            <a:endParaRPr lang="en-US" sz="1200" dirty="0"/>
          </a:p>
        </p:txBody>
      </p:sp>
      <p:sp>
        <p:nvSpPr>
          <p:cNvPr id="59" name="Shape 57"/>
          <p:cNvSpPr/>
          <p:nvPr/>
        </p:nvSpPr>
        <p:spPr>
          <a:xfrm>
            <a:off x="14490670" y="3919205"/>
            <a:ext cx="2635330" cy="411194"/>
          </a:xfrm>
          <a:prstGeom prst="roundRect">
            <a:avLst>
              <a:gd name="adj" fmla="val 18531"/>
            </a:avLst>
          </a:prstGeom>
          <a:solidFill>
            <a:srgbClr val="1C1C1C"/>
          </a:solidFill>
          <a:ln/>
        </p:spPr>
        <p:txBody>
          <a:bodyPr/>
          <a:lstStyle/>
          <a:p>
            <a:endParaRPr lang="en-US"/>
          </a:p>
        </p:txBody>
      </p:sp>
      <p:sp>
        <p:nvSpPr>
          <p:cNvPr id="60" name="Text 58"/>
          <p:cNvSpPr/>
          <p:nvPr/>
        </p:nvSpPr>
        <p:spPr>
          <a:xfrm>
            <a:off x="14643070" y="4033505"/>
            <a:ext cx="2409590" cy="220694"/>
          </a:xfrm>
          <a:prstGeom prst="rect">
            <a:avLst/>
          </a:prstGeom>
          <a:noFill/>
          <a:ln/>
        </p:spPr>
        <p:txBody>
          <a:bodyPr wrap="square" lIns="25400" tIns="25400" rIns="25400" bIns="25400" rtlCol="0" anchor="t">
            <a:normAutofit lnSpcReduction="10000"/>
          </a:bodyPr>
          <a:lstStyle/>
          <a:p>
            <a:pPr marL="0" indent="0" algn="l">
              <a:buNone/>
            </a:pPr>
            <a:r>
              <a:rPr lang="en-US" sz="1200" dirty="0">
                <a:solidFill>
                  <a:srgbClr val="BBBBBB"/>
                </a:solidFill>
                <a:latin typeface="Arial" pitchFamily="34" charset="0"/>
                <a:ea typeface="Arial" pitchFamily="34" charset="-122"/>
                <a:cs typeface="Arial" pitchFamily="34" charset="-120"/>
              </a:rPr>
              <a:t>ML platform</a:t>
            </a:r>
            <a:endParaRPr lang="en-US" sz="1200" dirty="0"/>
          </a:p>
        </p:txBody>
      </p:sp>
      <p:sp>
        <p:nvSpPr>
          <p:cNvPr id="61" name="Shape 59"/>
          <p:cNvSpPr/>
          <p:nvPr/>
        </p:nvSpPr>
        <p:spPr>
          <a:xfrm>
            <a:off x="14490670" y="4444556"/>
            <a:ext cx="2635330" cy="411194"/>
          </a:xfrm>
          <a:prstGeom prst="roundRect">
            <a:avLst>
              <a:gd name="adj" fmla="val 18531"/>
            </a:avLst>
          </a:prstGeom>
          <a:solidFill>
            <a:srgbClr val="1C1C1C"/>
          </a:solidFill>
          <a:ln/>
        </p:spPr>
        <p:txBody>
          <a:bodyPr/>
          <a:lstStyle/>
          <a:p>
            <a:endParaRPr lang="en-US"/>
          </a:p>
        </p:txBody>
      </p:sp>
      <p:sp>
        <p:nvSpPr>
          <p:cNvPr id="62" name="Text 60"/>
          <p:cNvSpPr/>
          <p:nvPr/>
        </p:nvSpPr>
        <p:spPr>
          <a:xfrm>
            <a:off x="14643070" y="4558856"/>
            <a:ext cx="2409590" cy="220694"/>
          </a:xfrm>
          <a:prstGeom prst="rect">
            <a:avLst/>
          </a:prstGeom>
          <a:noFill/>
          <a:ln/>
        </p:spPr>
        <p:txBody>
          <a:bodyPr wrap="square" lIns="25400" tIns="25400" rIns="25400" bIns="25400" rtlCol="0" anchor="t">
            <a:normAutofit lnSpcReduction="10000"/>
          </a:bodyPr>
          <a:lstStyle/>
          <a:p>
            <a:pPr marL="0" indent="0" algn="l">
              <a:buNone/>
            </a:pPr>
            <a:r>
              <a:rPr lang="en-US" sz="1200" dirty="0">
                <a:solidFill>
                  <a:srgbClr val="BBBBBB"/>
                </a:solidFill>
                <a:latin typeface="Arial" pitchFamily="34" charset="0"/>
                <a:ea typeface="Arial" pitchFamily="34" charset="-122"/>
                <a:cs typeface="Arial" pitchFamily="34" charset="-120"/>
              </a:rPr>
              <a:t>Partner APIs</a:t>
            </a:r>
            <a:endParaRPr lang="en-US" sz="1200" dirty="0"/>
          </a:p>
        </p:txBody>
      </p:sp>
      <p:sp>
        <p:nvSpPr>
          <p:cNvPr id="63" name="Shape 61"/>
          <p:cNvSpPr/>
          <p:nvPr/>
        </p:nvSpPr>
        <p:spPr>
          <a:xfrm>
            <a:off x="14490670" y="4969908"/>
            <a:ext cx="2635330" cy="411194"/>
          </a:xfrm>
          <a:prstGeom prst="roundRect">
            <a:avLst>
              <a:gd name="adj" fmla="val 18531"/>
            </a:avLst>
          </a:prstGeom>
          <a:solidFill>
            <a:srgbClr val="1C1C1C"/>
          </a:solidFill>
          <a:ln/>
        </p:spPr>
        <p:txBody>
          <a:bodyPr/>
          <a:lstStyle/>
          <a:p>
            <a:endParaRPr lang="en-US"/>
          </a:p>
        </p:txBody>
      </p:sp>
      <p:sp>
        <p:nvSpPr>
          <p:cNvPr id="64" name="Text 62"/>
          <p:cNvSpPr/>
          <p:nvPr/>
        </p:nvSpPr>
        <p:spPr>
          <a:xfrm>
            <a:off x="14643070" y="5084208"/>
            <a:ext cx="2409590" cy="220694"/>
          </a:xfrm>
          <a:prstGeom prst="rect">
            <a:avLst/>
          </a:prstGeom>
          <a:noFill/>
          <a:ln/>
        </p:spPr>
        <p:txBody>
          <a:bodyPr wrap="square" lIns="25400" tIns="25400" rIns="25400" bIns="25400" rtlCol="0" anchor="t">
            <a:normAutofit lnSpcReduction="10000"/>
          </a:bodyPr>
          <a:lstStyle/>
          <a:p>
            <a:pPr marL="0" indent="0" algn="l">
              <a:buNone/>
            </a:pPr>
            <a:r>
              <a:rPr lang="en-US" sz="1200" dirty="0">
                <a:solidFill>
                  <a:srgbClr val="BBBBBB"/>
                </a:solidFill>
                <a:latin typeface="Arial" pitchFamily="34" charset="0"/>
                <a:ea typeface="Arial" pitchFamily="34" charset="-122"/>
                <a:cs typeface="Arial" pitchFamily="34" charset="-120"/>
              </a:rPr>
              <a:t>AI agents</a:t>
            </a:r>
            <a:endParaRPr lang="en-US" sz="1200" dirty="0"/>
          </a:p>
        </p:txBody>
      </p:sp>
      <p:sp>
        <p:nvSpPr>
          <p:cNvPr id="65" name="Shape 63"/>
          <p:cNvSpPr/>
          <p:nvPr/>
        </p:nvSpPr>
        <p:spPr>
          <a:xfrm>
            <a:off x="5041202" y="8946263"/>
            <a:ext cx="9525" cy="374618"/>
          </a:xfrm>
          <a:prstGeom prst="rect">
            <a:avLst/>
          </a:prstGeom>
          <a:solidFill>
            <a:srgbClr val="1A1A1A"/>
          </a:solidFill>
          <a:ln/>
        </p:spPr>
        <p:txBody>
          <a:bodyPr/>
          <a:lstStyle/>
          <a:p>
            <a:endParaRPr lang="en-US"/>
          </a:p>
        </p:txBody>
      </p:sp>
      <p:sp>
        <p:nvSpPr>
          <p:cNvPr id="66" name="Text 64"/>
          <p:cNvSpPr/>
          <p:nvPr/>
        </p:nvSpPr>
        <p:spPr>
          <a:xfrm>
            <a:off x="1005236" y="9060563"/>
            <a:ext cx="3983136" cy="184118"/>
          </a:xfrm>
          <a:prstGeom prst="rect">
            <a:avLst/>
          </a:prstGeom>
          <a:noFill/>
          <a:ln/>
        </p:spPr>
        <p:txBody>
          <a:bodyPr wrap="square" lIns="25400" tIns="25400" rIns="25400" bIns="25400" rtlCol="0" anchor="t">
            <a:normAutofit fontScale="92500" lnSpcReduction="20000"/>
          </a:bodyPr>
          <a:lstStyle/>
          <a:p>
            <a:pPr marL="0" indent="0" algn="ctr">
              <a:buNone/>
            </a:pPr>
            <a:r>
              <a:rPr lang="en-US" sz="1050" kern="0" spc="84" dirty="0">
                <a:solidFill>
                  <a:srgbClr val="666666"/>
                </a:solidFill>
                <a:latin typeface="Arial" pitchFamily="34" charset="0"/>
                <a:ea typeface="Arial" pitchFamily="34" charset="-122"/>
                <a:cs typeface="Arial" pitchFamily="34" charset="-120"/>
              </a:rPr>
              <a:t>SEPARATION OF CONCERNS</a:t>
            </a:r>
            <a:endParaRPr lang="en-US" sz="1050" dirty="0"/>
          </a:p>
        </p:txBody>
      </p:sp>
      <p:sp>
        <p:nvSpPr>
          <p:cNvPr id="67" name="Shape 65"/>
          <p:cNvSpPr/>
          <p:nvPr/>
        </p:nvSpPr>
        <p:spPr>
          <a:xfrm>
            <a:off x="9139287" y="8946263"/>
            <a:ext cx="9525" cy="374618"/>
          </a:xfrm>
          <a:prstGeom prst="rect">
            <a:avLst/>
          </a:prstGeom>
          <a:solidFill>
            <a:srgbClr val="1A1A1A"/>
          </a:solidFill>
          <a:ln/>
        </p:spPr>
        <p:txBody>
          <a:bodyPr/>
          <a:lstStyle/>
          <a:p>
            <a:endParaRPr lang="en-US"/>
          </a:p>
        </p:txBody>
      </p:sp>
      <p:sp>
        <p:nvSpPr>
          <p:cNvPr id="68" name="Text 66"/>
          <p:cNvSpPr/>
          <p:nvPr/>
        </p:nvSpPr>
        <p:spPr>
          <a:xfrm>
            <a:off x="5103175" y="9060563"/>
            <a:ext cx="3983283" cy="184118"/>
          </a:xfrm>
          <a:prstGeom prst="rect">
            <a:avLst/>
          </a:prstGeom>
          <a:noFill/>
          <a:ln/>
        </p:spPr>
        <p:txBody>
          <a:bodyPr wrap="square" lIns="25400" tIns="25400" rIns="25400" bIns="25400" rtlCol="0" anchor="t">
            <a:normAutofit fontScale="92500" lnSpcReduction="20000"/>
          </a:bodyPr>
          <a:lstStyle/>
          <a:p>
            <a:pPr marL="0" indent="0" algn="ctr">
              <a:buNone/>
            </a:pPr>
            <a:r>
              <a:rPr lang="en-US" sz="1050" kern="0" spc="84" dirty="0">
                <a:solidFill>
                  <a:srgbClr val="666666"/>
                </a:solidFill>
                <a:latin typeface="Arial" pitchFamily="34" charset="0"/>
                <a:ea typeface="Arial" pitchFamily="34" charset="-122"/>
                <a:cs typeface="Arial" pitchFamily="34" charset="-120"/>
              </a:rPr>
              <a:t>MODULARITY</a:t>
            </a:r>
            <a:endParaRPr lang="en-US" sz="1050" dirty="0"/>
          </a:p>
        </p:txBody>
      </p:sp>
      <p:sp>
        <p:nvSpPr>
          <p:cNvPr id="69" name="Shape 67"/>
          <p:cNvSpPr/>
          <p:nvPr/>
        </p:nvSpPr>
        <p:spPr>
          <a:xfrm>
            <a:off x="13237371" y="8946263"/>
            <a:ext cx="9525" cy="374618"/>
          </a:xfrm>
          <a:prstGeom prst="rect">
            <a:avLst/>
          </a:prstGeom>
          <a:solidFill>
            <a:srgbClr val="1A1A1A"/>
          </a:solidFill>
          <a:ln/>
        </p:spPr>
        <p:txBody>
          <a:bodyPr/>
          <a:lstStyle/>
          <a:p>
            <a:endParaRPr lang="en-US"/>
          </a:p>
        </p:txBody>
      </p:sp>
      <p:sp>
        <p:nvSpPr>
          <p:cNvPr id="70" name="Text 68"/>
          <p:cNvSpPr/>
          <p:nvPr/>
        </p:nvSpPr>
        <p:spPr>
          <a:xfrm>
            <a:off x="9201259" y="9060563"/>
            <a:ext cx="3983283" cy="184118"/>
          </a:xfrm>
          <a:prstGeom prst="rect">
            <a:avLst/>
          </a:prstGeom>
          <a:noFill/>
          <a:ln/>
        </p:spPr>
        <p:txBody>
          <a:bodyPr wrap="square" lIns="25400" tIns="25400" rIns="25400" bIns="25400" rtlCol="0" anchor="t">
            <a:normAutofit fontScale="92500" lnSpcReduction="20000"/>
          </a:bodyPr>
          <a:lstStyle/>
          <a:p>
            <a:pPr marL="0" indent="0" algn="ctr">
              <a:buNone/>
            </a:pPr>
            <a:r>
              <a:rPr lang="en-US" sz="1050" kern="0" spc="84" dirty="0">
                <a:solidFill>
                  <a:srgbClr val="666666"/>
                </a:solidFill>
                <a:latin typeface="Arial" pitchFamily="34" charset="0"/>
                <a:ea typeface="Arial" pitchFamily="34" charset="-122"/>
                <a:cs typeface="Arial" pitchFamily="34" charset="-120"/>
              </a:rPr>
              <a:t>ELASTICITY</a:t>
            </a:r>
            <a:endParaRPr lang="en-US" sz="1050" dirty="0"/>
          </a:p>
        </p:txBody>
      </p:sp>
      <p:sp>
        <p:nvSpPr>
          <p:cNvPr id="71" name="Text 69"/>
          <p:cNvSpPr/>
          <p:nvPr/>
        </p:nvSpPr>
        <p:spPr>
          <a:xfrm>
            <a:off x="13299481" y="9060563"/>
            <a:ext cx="3983008" cy="184118"/>
          </a:xfrm>
          <a:prstGeom prst="rect">
            <a:avLst/>
          </a:prstGeom>
          <a:noFill/>
          <a:ln/>
        </p:spPr>
        <p:txBody>
          <a:bodyPr wrap="square" lIns="25400" tIns="25400" rIns="25400" bIns="25400" rtlCol="0" anchor="t">
            <a:normAutofit fontScale="92500" lnSpcReduction="20000"/>
          </a:bodyPr>
          <a:lstStyle/>
          <a:p>
            <a:pPr marL="0" indent="0" algn="ctr">
              <a:buNone/>
            </a:pPr>
            <a:r>
              <a:rPr lang="en-US" sz="1050" kern="0" spc="84" dirty="0">
                <a:solidFill>
                  <a:srgbClr val="666666"/>
                </a:solidFill>
                <a:latin typeface="Arial" pitchFamily="34" charset="0"/>
                <a:ea typeface="Arial" pitchFamily="34" charset="-122"/>
                <a:cs typeface="Arial" pitchFamily="34" charset="-120"/>
              </a:rPr>
              <a:t>OPEN STANDARDS</a:t>
            </a:r>
            <a:endParaRPr lang="en-US" sz="1050" dirty="0"/>
          </a:p>
        </p:txBody>
      </p:sp>
      <p:sp>
        <p:nvSpPr>
          <p:cNvPr id="72" name="Text 70"/>
          <p:cNvSpPr/>
          <p:nvPr/>
        </p:nvSpPr>
        <p:spPr>
          <a:xfrm>
            <a:off x="952405" y="9473186"/>
            <a:ext cx="18021355" cy="166116"/>
          </a:xfrm>
          <a:prstGeom prst="rect">
            <a:avLst/>
          </a:prstGeom>
          <a:noFill/>
          <a:ln/>
        </p:spPr>
        <p:txBody>
          <a:bodyPr wrap="square" lIns="25400" tIns="25400" rIns="25400" bIns="25400" rtlCol="0" anchor="t">
            <a:normAutofit fontScale="92500" lnSpcReduction="10000"/>
          </a:bodyPr>
          <a:lstStyle/>
          <a:p>
            <a:pPr marL="0" indent="0" algn="l">
              <a:buNone/>
            </a:pPr>
            <a:r>
              <a:rPr lang="en-US" sz="900" kern="0" spc="90" dirty="0">
                <a:solidFill>
                  <a:srgbClr val="2A2A2A"/>
                </a:solidFill>
                <a:latin typeface="Arial" pitchFamily="34" charset="0"/>
                <a:ea typeface="Arial" pitchFamily="34" charset="-122"/>
                <a:cs typeface="Arial" pitchFamily="34" charset="-120"/>
              </a:rPr>
              <a:t>MANGA DATAHUB · CLOUD ANALYTICS · IE UNIVERSITY</a:t>
            </a:r>
            <a:endParaRPr lang="en-US" sz="900" dirty="0"/>
          </a:p>
        </p:txBody>
      </p:sp>
    </p:spTree>
  </p:cSld>
  <p:clrMapOvr>
    <a:masterClrMapping/>
  </p:clrMapOvr>
  <p:transition spd="slow">
    <p:push dir="u"/>
  </p:transition>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90909"/>
        </a:solidFill>
        <a:effectLst/>
      </p:bgPr>
    </p:bg>
    <p:spTree>
      <p:nvGrpSpPr>
        <p:cNvPr id="1" name=""/>
        <p:cNvGrpSpPr/>
        <p:nvPr/>
      </p:nvGrpSpPr>
      <p:grpSpPr>
        <a:xfrm>
          <a:off x="0" y="0"/>
          <a:ext cx="0" cy="0"/>
          <a:chOff x="0" y="0"/>
          <a:chExt cx="0" cy="0"/>
        </a:xfrm>
      </p:grpSpPr>
      <p:sp>
        <p:nvSpPr>
          <p:cNvPr id="2" name="Text 0"/>
          <p:cNvSpPr/>
          <p:nvPr/>
        </p:nvSpPr>
        <p:spPr>
          <a:xfrm>
            <a:off x="761952" y="533352"/>
            <a:ext cx="18440350" cy="202692"/>
          </a:xfrm>
          <a:prstGeom prst="rect">
            <a:avLst/>
          </a:prstGeom>
          <a:noFill/>
          <a:ln/>
        </p:spPr>
        <p:txBody>
          <a:bodyPr wrap="square" lIns="25400" tIns="25400" rIns="25400" bIns="25400" rtlCol="0" anchor="t">
            <a:normAutofit fontScale="92500" lnSpcReduction="10000"/>
          </a:bodyPr>
          <a:lstStyle/>
          <a:p>
            <a:pPr marL="0" indent="0" algn="l">
              <a:buNone/>
            </a:pPr>
            <a:r>
              <a:rPr lang="en-US" sz="1125" kern="0" spc="158" dirty="0">
                <a:solidFill>
                  <a:srgbClr val="888888"/>
                </a:solidFill>
                <a:latin typeface="Arial" pitchFamily="34" charset="0"/>
                <a:ea typeface="Arial" pitchFamily="34" charset="-122"/>
                <a:cs typeface="Arial" pitchFamily="34" charset="-120"/>
              </a:rPr>
              <a:t>LOW-LEVEL ARCHITECTURE · AWS</a:t>
            </a:r>
            <a:endParaRPr lang="en-US" sz="1125" dirty="0"/>
          </a:p>
        </p:txBody>
      </p:sp>
      <p:sp>
        <p:nvSpPr>
          <p:cNvPr id="3" name="Text 1"/>
          <p:cNvSpPr/>
          <p:nvPr/>
        </p:nvSpPr>
        <p:spPr>
          <a:xfrm>
            <a:off x="761952" y="774097"/>
            <a:ext cx="18440350" cy="514302"/>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3750" b="1" kern="0" spc="-180" dirty="0">
                <a:solidFill>
                  <a:srgbClr val="FFFFFF"/>
                </a:solidFill>
                <a:latin typeface="Arial" pitchFamily="34" charset="0"/>
                <a:ea typeface="Arial" pitchFamily="34" charset="-122"/>
                <a:cs typeface="Arial" pitchFamily="34" charset="-120"/>
              </a:rPr>
              <a:t>End-to-end data flow on AWS</a:t>
            </a:r>
            <a:endParaRPr lang="en-US" sz="3750" dirty="0"/>
          </a:p>
        </p:txBody>
      </p:sp>
      <p:sp>
        <p:nvSpPr>
          <p:cNvPr id="4" name="Shape 2"/>
          <p:cNvSpPr/>
          <p:nvPr/>
        </p:nvSpPr>
        <p:spPr>
          <a:xfrm>
            <a:off x="761952" y="1421607"/>
            <a:ext cx="16763955" cy="9525"/>
          </a:xfrm>
          <a:prstGeom prst="rect">
            <a:avLst/>
          </a:prstGeom>
          <a:solidFill>
            <a:srgbClr val="262626"/>
          </a:solidFill>
          <a:ln/>
        </p:spPr>
        <p:txBody>
          <a:bodyPr/>
          <a:lstStyle/>
          <a:p>
            <a:endParaRPr lang="en-US"/>
          </a:p>
        </p:txBody>
      </p:sp>
      <p:sp>
        <p:nvSpPr>
          <p:cNvPr id="5" name="Shape 3"/>
          <p:cNvSpPr/>
          <p:nvPr/>
        </p:nvSpPr>
        <p:spPr>
          <a:xfrm>
            <a:off x="761952" y="1602343"/>
            <a:ext cx="2408730" cy="7908990"/>
          </a:xfrm>
          <a:prstGeom prst="roundRect">
            <a:avLst>
              <a:gd name="adj" fmla="val 5536"/>
            </a:avLst>
          </a:prstGeom>
          <a:solidFill>
            <a:srgbClr val="6A4CF5">
              <a:alpha val="8000"/>
            </a:srgbClr>
          </a:solidFill>
          <a:ln w="9144">
            <a:solidFill>
              <a:srgbClr val="6A4CF5">
                <a:alpha val="16000"/>
              </a:srgbClr>
            </a:solidFill>
            <a:prstDash val="solid"/>
          </a:ln>
        </p:spPr>
        <p:txBody>
          <a:bodyPr/>
          <a:lstStyle/>
          <a:p>
            <a:endParaRPr lang="en-US"/>
          </a:p>
        </p:txBody>
      </p:sp>
      <p:sp>
        <p:nvSpPr>
          <p:cNvPr id="6" name="Text 4"/>
          <p:cNvSpPr/>
          <p:nvPr/>
        </p:nvSpPr>
        <p:spPr>
          <a:xfrm>
            <a:off x="942404" y="1782795"/>
            <a:ext cx="2252611" cy="175260"/>
          </a:xfrm>
          <a:prstGeom prst="rect">
            <a:avLst/>
          </a:prstGeom>
          <a:noFill/>
          <a:ln/>
        </p:spPr>
        <p:txBody>
          <a:bodyPr wrap="square" lIns="25400" tIns="25400" rIns="25400" bIns="25400" rtlCol="0" anchor="t">
            <a:normAutofit fontScale="92500" lnSpcReduction="10000"/>
          </a:bodyPr>
          <a:lstStyle/>
          <a:p>
            <a:pPr marL="0" indent="0" algn="l">
              <a:buNone/>
            </a:pPr>
            <a:r>
              <a:rPr lang="en-US" sz="975" b="1" kern="0" spc="78" dirty="0">
                <a:solidFill>
                  <a:srgbClr val="8B6FFF"/>
                </a:solidFill>
                <a:latin typeface="Arial" pitchFamily="34" charset="0"/>
                <a:ea typeface="Arial" pitchFamily="34" charset="-122"/>
                <a:cs typeface="Arial" pitchFamily="34" charset="-120"/>
              </a:rPr>
              <a:t>SECURITY &amp; MONITORING</a:t>
            </a:r>
            <a:endParaRPr lang="en-US" sz="975" dirty="0"/>
          </a:p>
        </p:txBody>
      </p:sp>
      <p:sp>
        <p:nvSpPr>
          <p:cNvPr id="7" name="Text 5"/>
          <p:cNvSpPr/>
          <p:nvPr/>
        </p:nvSpPr>
        <p:spPr>
          <a:xfrm>
            <a:off x="942404" y="2015109"/>
            <a:ext cx="2252611" cy="147828"/>
          </a:xfrm>
          <a:prstGeom prst="rect">
            <a:avLst/>
          </a:prstGeom>
          <a:noFill/>
          <a:ln/>
        </p:spPr>
        <p:txBody>
          <a:bodyPr wrap="square" lIns="25400" tIns="25400" rIns="25400" bIns="25400" rtlCol="0" anchor="t">
            <a:normAutofit fontScale="85000" lnSpcReduction="10000"/>
          </a:bodyPr>
          <a:lstStyle/>
          <a:p>
            <a:pPr marL="0" indent="0" algn="l">
              <a:buNone/>
            </a:pPr>
            <a:r>
              <a:rPr lang="en-US" sz="825" kern="0" spc="50" dirty="0">
                <a:solidFill>
                  <a:srgbClr val="666666"/>
                </a:solidFill>
                <a:latin typeface="Arial" pitchFamily="34" charset="0"/>
                <a:ea typeface="Arial" pitchFamily="34" charset="-122"/>
                <a:cs typeface="Arial" pitchFamily="34" charset="-120"/>
              </a:rPr>
              <a:t>SPANS ALL LAYERS</a:t>
            </a:r>
            <a:endParaRPr lang="en-US" sz="825" dirty="0"/>
          </a:p>
        </p:txBody>
      </p:sp>
      <p:sp>
        <p:nvSpPr>
          <p:cNvPr id="8" name="Shape 6"/>
          <p:cNvSpPr/>
          <p:nvPr/>
        </p:nvSpPr>
        <p:spPr>
          <a:xfrm>
            <a:off x="942404" y="2238994"/>
            <a:ext cx="2047828" cy="1102567"/>
          </a:xfrm>
          <a:prstGeom prst="roundRect">
            <a:avLst>
              <a:gd name="adj" fmla="val 6911"/>
            </a:avLst>
          </a:prstGeom>
          <a:solidFill>
            <a:srgbClr val="6A4CF5">
              <a:alpha val="10000"/>
            </a:srgbClr>
          </a:solidFill>
          <a:ln/>
        </p:spPr>
        <p:txBody>
          <a:bodyPr/>
          <a:lstStyle/>
          <a:p>
            <a:endParaRPr lang="en-US"/>
          </a:p>
        </p:txBody>
      </p:sp>
      <p:sp>
        <p:nvSpPr>
          <p:cNvPr id="9" name="Text 7"/>
          <p:cNvSpPr/>
          <p:nvPr/>
        </p:nvSpPr>
        <p:spPr>
          <a:xfrm>
            <a:off x="1066133" y="2643617"/>
            <a:ext cx="1980405" cy="184404"/>
          </a:xfrm>
          <a:prstGeom prst="rect">
            <a:avLst/>
          </a:prstGeom>
          <a:noFill/>
          <a:ln/>
        </p:spPr>
        <p:txBody>
          <a:bodyPr wrap="square" lIns="25400" tIns="25400" rIns="25400" bIns="25400" rtlCol="0" anchor="t">
            <a:normAutofit fontScale="92500" lnSpcReduction="20000"/>
          </a:bodyPr>
          <a:lstStyle/>
          <a:p>
            <a:pPr marL="0" indent="0" algn="l">
              <a:buNone/>
            </a:pPr>
            <a:r>
              <a:rPr lang="en-US" sz="1050" dirty="0">
                <a:solidFill>
                  <a:srgbClr val="FFFFFF"/>
                </a:solidFill>
                <a:latin typeface="Arial" pitchFamily="34" charset="0"/>
                <a:ea typeface="Arial" pitchFamily="34" charset="-122"/>
                <a:cs typeface="Arial" pitchFamily="34" charset="-120"/>
              </a:rPr>
              <a:t>CloudTrail</a:t>
            </a:r>
            <a:endParaRPr lang="en-US" sz="1050" dirty="0"/>
          </a:p>
        </p:txBody>
      </p:sp>
      <p:sp>
        <p:nvSpPr>
          <p:cNvPr id="10" name="Text 8"/>
          <p:cNvSpPr/>
          <p:nvPr/>
        </p:nvSpPr>
        <p:spPr>
          <a:xfrm>
            <a:off x="1066133" y="2808923"/>
            <a:ext cx="1980405" cy="166116"/>
          </a:xfrm>
          <a:prstGeom prst="rect">
            <a:avLst/>
          </a:prstGeom>
          <a:noFill/>
          <a:ln/>
        </p:spPr>
        <p:txBody>
          <a:bodyPr wrap="square" lIns="25400" tIns="25400" rIns="25400" bIns="25400" rtlCol="0" anchor="t">
            <a:normAutofit fontScale="92500" lnSpcReduction="10000"/>
          </a:bodyPr>
          <a:lstStyle/>
          <a:p>
            <a:pPr marL="0" indent="0" algn="l">
              <a:buNone/>
            </a:pPr>
            <a:r>
              <a:rPr lang="en-US" sz="900" dirty="0">
                <a:solidFill>
                  <a:srgbClr val="777777"/>
                </a:solidFill>
                <a:latin typeface="Arial" pitchFamily="34" charset="0"/>
                <a:ea typeface="Arial" pitchFamily="34" charset="-122"/>
                <a:cs typeface="Arial" pitchFamily="34" charset="-120"/>
              </a:rPr>
              <a:t>GDPR audit logs</a:t>
            </a:r>
            <a:endParaRPr lang="en-US" sz="900" dirty="0"/>
          </a:p>
        </p:txBody>
      </p:sp>
      <p:sp>
        <p:nvSpPr>
          <p:cNvPr id="11" name="Shape 9"/>
          <p:cNvSpPr/>
          <p:nvPr/>
        </p:nvSpPr>
        <p:spPr>
          <a:xfrm>
            <a:off x="942404" y="3436716"/>
            <a:ext cx="2047828" cy="1102709"/>
          </a:xfrm>
          <a:prstGeom prst="roundRect">
            <a:avLst>
              <a:gd name="adj" fmla="val 6910"/>
            </a:avLst>
          </a:prstGeom>
          <a:solidFill>
            <a:srgbClr val="6A4CF5">
              <a:alpha val="10000"/>
            </a:srgbClr>
          </a:solidFill>
          <a:ln/>
        </p:spPr>
        <p:txBody>
          <a:bodyPr/>
          <a:lstStyle/>
          <a:p>
            <a:endParaRPr lang="en-US"/>
          </a:p>
        </p:txBody>
      </p:sp>
      <p:sp>
        <p:nvSpPr>
          <p:cNvPr id="12" name="Text 10"/>
          <p:cNvSpPr/>
          <p:nvPr/>
        </p:nvSpPr>
        <p:spPr>
          <a:xfrm>
            <a:off x="1066133" y="3841338"/>
            <a:ext cx="1980405" cy="184404"/>
          </a:xfrm>
          <a:prstGeom prst="rect">
            <a:avLst/>
          </a:prstGeom>
          <a:noFill/>
          <a:ln/>
        </p:spPr>
        <p:txBody>
          <a:bodyPr wrap="square" lIns="25400" tIns="25400" rIns="25400" bIns="25400" rtlCol="0" anchor="t">
            <a:normAutofit fontScale="92500" lnSpcReduction="20000"/>
          </a:bodyPr>
          <a:lstStyle/>
          <a:p>
            <a:pPr marL="0" indent="0" algn="l">
              <a:buNone/>
            </a:pPr>
            <a:r>
              <a:rPr lang="en-US" sz="1050" dirty="0">
                <a:solidFill>
                  <a:srgbClr val="FFFFFF"/>
                </a:solidFill>
                <a:latin typeface="Arial" pitchFamily="34" charset="0"/>
                <a:ea typeface="Arial" pitchFamily="34" charset="-122"/>
                <a:cs typeface="Arial" pitchFamily="34" charset="-120"/>
              </a:rPr>
              <a:t>Amazon VPC</a:t>
            </a:r>
            <a:endParaRPr lang="en-US" sz="1050" dirty="0"/>
          </a:p>
        </p:txBody>
      </p:sp>
      <p:sp>
        <p:nvSpPr>
          <p:cNvPr id="13" name="Text 11"/>
          <p:cNvSpPr/>
          <p:nvPr/>
        </p:nvSpPr>
        <p:spPr>
          <a:xfrm>
            <a:off x="1066133" y="4006644"/>
            <a:ext cx="1980405" cy="166116"/>
          </a:xfrm>
          <a:prstGeom prst="rect">
            <a:avLst/>
          </a:prstGeom>
          <a:noFill/>
          <a:ln/>
        </p:spPr>
        <p:txBody>
          <a:bodyPr wrap="square" lIns="25400" tIns="25400" rIns="25400" bIns="25400" rtlCol="0" anchor="t">
            <a:normAutofit fontScale="92500" lnSpcReduction="10000"/>
          </a:bodyPr>
          <a:lstStyle/>
          <a:p>
            <a:pPr marL="0" indent="0" algn="l">
              <a:buNone/>
            </a:pPr>
            <a:r>
              <a:rPr lang="en-US" sz="900" dirty="0">
                <a:solidFill>
                  <a:srgbClr val="777777"/>
                </a:solidFill>
                <a:latin typeface="Arial" pitchFamily="34" charset="0"/>
                <a:ea typeface="Arial" pitchFamily="34" charset="-122"/>
                <a:cs typeface="Arial" pitchFamily="34" charset="-120"/>
              </a:rPr>
              <a:t>network isolation</a:t>
            </a:r>
            <a:endParaRPr lang="en-US" sz="900" dirty="0"/>
          </a:p>
        </p:txBody>
      </p:sp>
      <p:sp>
        <p:nvSpPr>
          <p:cNvPr id="14" name="Shape 12"/>
          <p:cNvSpPr/>
          <p:nvPr/>
        </p:nvSpPr>
        <p:spPr>
          <a:xfrm>
            <a:off x="942404" y="4634580"/>
            <a:ext cx="2047828" cy="1102709"/>
          </a:xfrm>
          <a:prstGeom prst="roundRect">
            <a:avLst>
              <a:gd name="adj" fmla="val 6910"/>
            </a:avLst>
          </a:prstGeom>
          <a:solidFill>
            <a:srgbClr val="6A4CF5">
              <a:alpha val="10000"/>
            </a:srgbClr>
          </a:solidFill>
          <a:ln/>
        </p:spPr>
        <p:txBody>
          <a:bodyPr/>
          <a:lstStyle/>
          <a:p>
            <a:endParaRPr lang="en-US"/>
          </a:p>
        </p:txBody>
      </p:sp>
      <p:sp>
        <p:nvSpPr>
          <p:cNvPr id="15" name="Text 13"/>
          <p:cNvSpPr/>
          <p:nvPr/>
        </p:nvSpPr>
        <p:spPr>
          <a:xfrm>
            <a:off x="1066133" y="5039202"/>
            <a:ext cx="1980405" cy="184404"/>
          </a:xfrm>
          <a:prstGeom prst="rect">
            <a:avLst/>
          </a:prstGeom>
          <a:noFill/>
          <a:ln/>
        </p:spPr>
        <p:txBody>
          <a:bodyPr wrap="square" lIns="25400" tIns="25400" rIns="25400" bIns="25400" rtlCol="0" anchor="t">
            <a:normAutofit fontScale="92500" lnSpcReduction="20000"/>
          </a:bodyPr>
          <a:lstStyle/>
          <a:p>
            <a:pPr marL="0" indent="0" algn="l">
              <a:buNone/>
            </a:pPr>
            <a:r>
              <a:rPr lang="en-US" sz="1050" dirty="0">
                <a:solidFill>
                  <a:srgbClr val="FFFFFF"/>
                </a:solidFill>
                <a:latin typeface="Arial" pitchFamily="34" charset="0"/>
                <a:ea typeface="Arial" pitchFamily="34" charset="-122"/>
                <a:cs typeface="Arial" pitchFamily="34" charset="-120"/>
              </a:rPr>
              <a:t>Terraform · CDK</a:t>
            </a:r>
            <a:endParaRPr lang="en-US" sz="1050" dirty="0"/>
          </a:p>
        </p:txBody>
      </p:sp>
      <p:sp>
        <p:nvSpPr>
          <p:cNvPr id="16" name="Text 14"/>
          <p:cNvSpPr/>
          <p:nvPr/>
        </p:nvSpPr>
        <p:spPr>
          <a:xfrm>
            <a:off x="1066133" y="5204508"/>
            <a:ext cx="1980405" cy="166116"/>
          </a:xfrm>
          <a:prstGeom prst="rect">
            <a:avLst/>
          </a:prstGeom>
          <a:noFill/>
          <a:ln/>
        </p:spPr>
        <p:txBody>
          <a:bodyPr wrap="square" lIns="25400" tIns="25400" rIns="25400" bIns="25400" rtlCol="0" anchor="t">
            <a:normAutofit fontScale="92500" lnSpcReduction="10000"/>
          </a:bodyPr>
          <a:lstStyle/>
          <a:p>
            <a:pPr marL="0" indent="0" algn="l">
              <a:buNone/>
            </a:pPr>
            <a:r>
              <a:rPr lang="en-US" sz="900" dirty="0">
                <a:solidFill>
                  <a:srgbClr val="777777"/>
                </a:solidFill>
                <a:latin typeface="Arial" pitchFamily="34" charset="0"/>
                <a:ea typeface="Arial" pitchFamily="34" charset="-122"/>
                <a:cs typeface="Arial" pitchFamily="34" charset="-120"/>
              </a:rPr>
              <a:t>IaC · 3 envs</a:t>
            </a:r>
            <a:endParaRPr lang="en-US" sz="900" dirty="0"/>
          </a:p>
        </p:txBody>
      </p:sp>
      <p:sp>
        <p:nvSpPr>
          <p:cNvPr id="17" name="Shape 15"/>
          <p:cNvSpPr/>
          <p:nvPr/>
        </p:nvSpPr>
        <p:spPr>
          <a:xfrm>
            <a:off x="942404" y="5832444"/>
            <a:ext cx="2047828" cy="1102709"/>
          </a:xfrm>
          <a:prstGeom prst="roundRect">
            <a:avLst>
              <a:gd name="adj" fmla="val 6910"/>
            </a:avLst>
          </a:prstGeom>
          <a:solidFill>
            <a:srgbClr val="6A4CF5">
              <a:alpha val="10000"/>
            </a:srgbClr>
          </a:solidFill>
          <a:ln/>
        </p:spPr>
        <p:txBody>
          <a:bodyPr/>
          <a:lstStyle/>
          <a:p>
            <a:endParaRPr lang="en-US"/>
          </a:p>
        </p:txBody>
      </p:sp>
      <p:sp>
        <p:nvSpPr>
          <p:cNvPr id="18" name="Text 16"/>
          <p:cNvSpPr/>
          <p:nvPr/>
        </p:nvSpPr>
        <p:spPr>
          <a:xfrm>
            <a:off x="1066133" y="6237066"/>
            <a:ext cx="1980405" cy="184404"/>
          </a:xfrm>
          <a:prstGeom prst="rect">
            <a:avLst/>
          </a:prstGeom>
          <a:noFill/>
          <a:ln/>
        </p:spPr>
        <p:txBody>
          <a:bodyPr wrap="square" lIns="25400" tIns="25400" rIns="25400" bIns="25400" rtlCol="0" anchor="t">
            <a:normAutofit fontScale="92500" lnSpcReduction="20000"/>
          </a:bodyPr>
          <a:lstStyle/>
          <a:p>
            <a:pPr marL="0" indent="0" algn="l">
              <a:buNone/>
            </a:pPr>
            <a:r>
              <a:rPr lang="en-US" sz="1050" dirty="0">
                <a:solidFill>
                  <a:srgbClr val="FFFFFF"/>
                </a:solidFill>
                <a:latin typeface="Arial" pitchFamily="34" charset="0"/>
                <a:ea typeface="Arial" pitchFamily="34" charset="-122"/>
                <a:cs typeface="Arial" pitchFamily="34" charset="-120"/>
              </a:rPr>
              <a:t>IAM · KMS</a:t>
            </a:r>
            <a:endParaRPr lang="en-US" sz="1050" dirty="0"/>
          </a:p>
        </p:txBody>
      </p:sp>
      <p:sp>
        <p:nvSpPr>
          <p:cNvPr id="19" name="Text 17"/>
          <p:cNvSpPr/>
          <p:nvPr/>
        </p:nvSpPr>
        <p:spPr>
          <a:xfrm>
            <a:off x="1066133" y="6402373"/>
            <a:ext cx="1980405" cy="166116"/>
          </a:xfrm>
          <a:prstGeom prst="rect">
            <a:avLst/>
          </a:prstGeom>
          <a:noFill/>
          <a:ln/>
        </p:spPr>
        <p:txBody>
          <a:bodyPr wrap="square" lIns="25400" tIns="25400" rIns="25400" bIns="25400" rtlCol="0" anchor="t">
            <a:normAutofit fontScale="92500" lnSpcReduction="10000"/>
          </a:bodyPr>
          <a:lstStyle/>
          <a:p>
            <a:pPr marL="0" indent="0" algn="l">
              <a:buNone/>
            </a:pPr>
            <a:r>
              <a:rPr lang="en-US" sz="900" dirty="0">
                <a:solidFill>
                  <a:srgbClr val="777777"/>
                </a:solidFill>
                <a:latin typeface="Arial" pitchFamily="34" charset="0"/>
                <a:ea typeface="Arial" pitchFamily="34" charset="-122"/>
                <a:cs typeface="Arial" pitchFamily="34" charset="-120"/>
              </a:rPr>
              <a:t>auth · encryption</a:t>
            </a:r>
            <a:endParaRPr lang="en-US" sz="900" dirty="0"/>
          </a:p>
        </p:txBody>
      </p:sp>
      <p:sp>
        <p:nvSpPr>
          <p:cNvPr id="20" name="Shape 18"/>
          <p:cNvSpPr/>
          <p:nvPr/>
        </p:nvSpPr>
        <p:spPr>
          <a:xfrm>
            <a:off x="942404" y="7030309"/>
            <a:ext cx="2047828" cy="1102709"/>
          </a:xfrm>
          <a:prstGeom prst="roundRect">
            <a:avLst>
              <a:gd name="adj" fmla="val 6910"/>
            </a:avLst>
          </a:prstGeom>
          <a:solidFill>
            <a:srgbClr val="6A4CF5">
              <a:alpha val="10000"/>
            </a:srgbClr>
          </a:solidFill>
          <a:ln/>
        </p:spPr>
        <p:txBody>
          <a:bodyPr/>
          <a:lstStyle/>
          <a:p>
            <a:endParaRPr lang="en-US"/>
          </a:p>
        </p:txBody>
      </p:sp>
      <p:sp>
        <p:nvSpPr>
          <p:cNvPr id="21" name="Text 19"/>
          <p:cNvSpPr/>
          <p:nvPr/>
        </p:nvSpPr>
        <p:spPr>
          <a:xfrm>
            <a:off x="1066133" y="7434930"/>
            <a:ext cx="1980405" cy="184404"/>
          </a:xfrm>
          <a:prstGeom prst="rect">
            <a:avLst/>
          </a:prstGeom>
          <a:noFill/>
          <a:ln/>
        </p:spPr>
        <p:txBody>
          <a:bodyPr wrap="square" lIns="25400" tIns="25400" rIns="25400" bIns="25400" rtlCol="0" anchor="t">
            <a:normAutofit fontScale="92500" lnSpcReduction="20000"/>
          </a:bodyPr>
          <a:lstStyle/>
          <a:p>
            <a:pPr marL="0" indent="0" algn="l">
              <a:buNone/>
            </a:pPr>
            <a:r>
              <a:rPr lang="en-US" sz="1050" dirty="0">
                <a:solidFill>
                  <a:srgbClr val="FFFFFF"/>
                </a:solidFill>
                <a:latin typeface="Arial" pitchFamily="34" charset="0"/>
                <a:ea typeface="Arial" pitchFamily="34" charset="-122"/>
                <a:cs typeface="Arial" pitchFamily="34" charset="-120"/>
              </a:rPr>
              <a:t>CloudWatch</a:t>
            </a:r>
            <a:endParaRPr lang="en-US" sz="1050" dirty="0"/>
          </a:p>
        </p:txBody>
      </p:sp>
      <p:sp>
        <p:nvSpPr>
          <p:cNvPr id="22" name="Text 20"/>
          <p:cNvSpPr/>
          <p:nvPr/>
        </p:nvSpPr>
        <p:spPr>
          <a:xfrm>
            <a:off x="1066133" y="7600237"/>
            <a:ext cx="1980405" cy="166116"/>
          </a:xfrm>
          <a:prstGeom prst="rect">
            <a:avLst/>
          </a:prstGeom>
          <a:noFill/>
          <a:ln/>
        </p:spPr>
        <p:txBody>
          <a:bodyPr wrap="square" lIns="25400" tIns="25400" rIns="25400" bIns="25400" rtlCol="0" anchor="t">
            <a:normAutofit fontScale="92500" lnSpcReduction="10000"/>
          </a:bodyPr>
          <a:lstStyle/>
          <a:p>
            <a:pPr marL="0" indent="0" algn="l">
              <a:buNone/>
            </a:pPr>
            <a:r>
              <a:rPr lang="en-US" sz="900" dirty="0">
                <a:solidFill>
                  <a:srgbClr val="777777"/>
                </a:solidFill>
                <a:latin typeface="Arial" pitchFamily="34" charset="0"/>
                <a:ea typeface="Arial" pitchFamily="34" charset="-122"/>
                <a:cs typeface="Arial" pitchFamily="34" charset="-120"/>
              </a:rPr>
              <a:t>monitoring · alerts</a:t>
            </a:r>
            <a:endParaRPr lang="en-US" sz="900" dirty="0"/>
          </a:p>
        </p:txBody>
      </p:sp>
      <p:sp>
        <p:nvSpPr>
          <p:cNvPr id="23" name="Shape 21"/>
          <p:cNvSpPr/>
          <p:nvPr/>
        </p:nvSpPr>
        <p:spPr>
          <a:xfrm>
            <a:off x="942404" y="8228173"/>
            <a:ext cx="2047828" cy="1102709"/>
          </a:xfrm>
          <a:prstGeom prst="roundRect">
            <a:avLst>
              <a:gd name="adj" fmla="val 6910"/>
            </a:avLst>
          </a:prstGeom>
          <a:solidFill>
            <a:srgbClr val="6A4CF5">
              <a:alpha val="10000"/>
            </a:srgbClr>
          </a:solidFill>
          <a:ln/>
        </p:spPr>
        <p:txBody>
          <a:bodyPr/>
          <a:lstStyle/>
          <a:p>
            <a:endParaRPr lang="en-US"/>
          </a:p>
        </p:txBody>
      </p:sp>
      <p:sp>
        <p:nvSpPr>
          <p:cNvPr id="24" name="Text 22"/>
          <p:cNvSpPr/>
          <p:nvPr/>
        </p:nvSpPr>
        <p:spPr>
          <a:xfrm>
            <a:off x="1066133" y="8632795"/>
            <a:ext cx="1980405" cy="184404"/>
          </a:xfrm>
          <a:prstGeom prst="rect">
            <a:avLst/>
          </a:prstGeom>
          <a:noFill/>
          <a:ln/>
        </p:spPr>
        <p:txBody>
          <a:bodyPr wrap="square" lIns="25400" tIns="25400" rIns="25400" bIns="25400" rtlCol="0" anchor="t">
            <a:normAutofit fontScale="92500" lnSpcReduction="20000"/>
          </a:bodyPr>
          <a:lstStyle/>
          <a:p>
            <a:pPr marL="0" indent="0" algn="l">
              <a:buNone/>
            </a:pPr>
            <a:r>
              <a:rPr lang="en-US" sz="1050" dirty="0">
                <a:solidFill>
                  <a:srgbClr val="FFFFFF"/>
                </a:solidFill>
                <a:latin typeface="Arial" pitchFamily="34" charset="0"/>
                <a:ea typeface="Arial" pitchFamily="34" charset="-122"/>
                <a:cs typeface="Arial" pitchFamily="34" charset="-120"/>
              </a:rPr>
              <a:t>AWS Organizations</a:t>
            </a:r>
            <a:endParaRPr lang="en-US" sz="1050" dirty="0"/>
          </a:p>
        </p:txBody>
      </p:sp>
      <p:sp>
        <p:nvSpPr>
          <p:cNvPr id="25" name="Text 23"/>
          <p:cNvSpPr/>
          <p:nvPr/>
        </p:nvSpPr>
        <p:spPr>
          <a:xfrm>
            <a:off x="1066133" y="8798101"/>
            <a:ext cx="1980405" cy="166116"/>
          </a:xfrm>
          <a:prstGeom prst="rect">
            <a:avLst/>
          </a:prstGeom>
          <a:noFill/>
          <a:ln/>
        </p:spPr>
        <p:txBody>
          <a:bodyPr wrap="square" lIns="25400" tIns="25400" rIns="25400" bIns="25400" rtlCol="0" anchor="t">
            <a:normAutofit fontScale="92500" lnSpcReduction="10000"/>
          </a:bodyPr>
          <a:lstStyle/>
          <a:p>
            <a:pPr marL="0" indent="0" algn="l">
              <a:buNone/>
            </a:pPr>
            <a:r>
              <a:rPr lang="en-US" sz="900" dirty="0">
                <a:solidFill>
                  <a:srgbClr val="777777"/>
                </a:solidFill>
                <a:latin typeface="Arial" pitchFamily="34" charset="0"/>
                <a:ea typeface="Arial" pitchFamily="34" charset="-122"/>
                <a:cs typeface="Arial" pitchFamily="34" charset="-120"/>
              </a:rPr>
              <a:t>Dev · Pre-Prod · Prod</a:t>
            </a:r>
            <a:endParaRPr lang="en-US" sz="900" dirty="0"/>
          </a:p>
        </p:txBody>
      </p:sp>
      <p:sp>
        <p:nvSpPr>
          <p:cNvPr id="26" name="Text 24"/>
          <p:cNvSpPr/>
          <p:nvPr/>
        </p:nvSpPr>
        <p:spPr>
          <a:xfrm>
            <a:off x="3322987" y="1602343"/>
            <a:ext cx="15623212" cy="166116"/>
          </a:xfrm>
          <a:prstGeom prst="rect">
            <a:avLst/>
          </a:prstGeom>
          <a:noFill/>
          <a:ln/>
        </p:spPr>
        <p:txBody>
          <a:bodyPr wrap="square" lIns="25400" tIns="25400" rIns="25400" bIns="25400" rtlCol="0" anchor="t">
            <a:normAutofit fontScale="92500" lnSpcReduction="10000"/>
          </a:bodyPr>
          <a:lstStyle/>
          <a:p>
            <a:pPr marL="0" indent="0" algn="l">
              <a:buNone/>
            </a:pPr>
            <a:r>
              <a:rPr lang="en-US" sz="900" b="1" kern="0" spc="90" dirty="0">
                <a:solidFill>
                  <a:srgbClr val="666666"/>
                </a:solidFill>
                <a:latin typeface="Arial" pitchFamily="34" charset="0"/>
                <a:ea typeface="Arial" pitchFamily="34" charset="-122"/>
                <a:cs typeface="Arial" pitchFamily="34" charset="-120"/>
              </a:rPr>
              <a:t>DATA SOURCES</a:t>
            </a:r>
            <a:endParaRPr lang="en-US" sz="900" dirty="0"/>
          </a:p>
        </p:txBody>
      </p:sp>
      <p:sp>
        <p:nvSpPr>
          <p:cNvPr id="27" name="Shape 25"/>
          <p:cNvSpPr/>
          <p:nvPr/>
        </p:nvSpPr>
        <p:spPr>
          <a:xfrm>
            <a:off x="3322987" y="1796939"/>
            <a:ext cx="2303574" cy="1514904"/>
          </a:xfrm>
          <a:prstGeom prst="roundRect">
            <a:avLst>
              <a:gd name="adj" fmla="val 5659"/>
            </a:avLst>
          </a:prstGeom>
          <a:solidFill>
            <a:srgbClr val="141414"/>
          </a:solidFill>
          <a:ln/>
        </p:spPr>
        <p:txBody>
          <a:bodyPr/>
          <a:lstStyle/>
          <a:p>
            <a:endParaRPr lang="en-US"/>
          </a:p>
        </p:txBody>
      </p:sp>
      <p:sp>
        <p:nvSpPr>
          <p:cNvPr id="28" name="Text 26"/>
          <p:cNvSpPr/>
          <p:nvPr/>
        </p:nvSpPr>
        <p:spPr>
          <a:xfrm>
            <a:off x="3456290" y="2416874"/>
            <a:ext cx="2240666" cy="184404"/>
          </a:xfrm>
          <a:prstGeom prst="rect">
            <a:avLst/>
          </a:prstGeom>
          <a:noFill/>
          <a:ln/>
        </p:spPr>
        <p:txBody>
          <a:bodyPr wrap="square" lIns="25400" tIns="25400" rIns="25400" bIns="25400" rtlCol="0" anchor="t">
            <a:normAutofit fontScale="92500" lnSpcReduction="20000"/>
          </a:bodyPr>
          <a:lstStyle/>
          <a:p>
            <a:pPr marL="0" indent="0" algn="l">
              <a:buNone/>
            </a:pPr>
            <a:r>
              <a:rPr lang="en-US" sz="1050" dirty="0">
                <a:solidFill>
                  <a:srgbClr val="FFFFFF"/>
                </a:solidFill>
                <a:latin typeface="Arial" pitchFamily="34" charset="0"/>
                <a:ea typeface="Arial" pitchFamily="34" charset="-122"/>
                <a:cs typeface="Arial" pitchFamily="34" charset="-120"/>
              </a:rPr>
              <a:t>External APIs</a:t>
            </a:r>
            <a:endParaRPr lang="en-US" sz="1050" dirty="0"/>
          </a:p>
        </p:txBody>
      </p:sp>
      <p:sp>
        <p:nvSpPr>
          <p:cNvPr id="29" name="Text 27"/>
          <p:cNvSpPr/>
          <p:nvPr/>
        </p:nvSpPr>
        <p:spPr>
          <a:xfrm>
            <a:off x="3456290" y="2582180"/>
            <a:ext cx="2240666" cy="147828"/>
          </a:xfrm>
          <a:prstGeom prst="rect">
            <a:avLst/>
          </a:prstGeom>
          <a:noFill/>
          <a:ln/>
        </p:spPr>
        <p:txBody>
          <a:bodyPr wrap="square" lIns="25400" tIns="25400" rIns="25400" bIns="25400" rtlCol="0" anchor="t">
            <a:normAutofit fontScale="85000" lnSpcReduction="10000"/>
          </a:bodyPr>
          <a:lstStyle/>
          <a:p>
            <a:pPr marL="0" indent="0" algn="l">
              <a:buNone/>
            </a:pPr>
            <a:r>
              <a:rPr lang="en-US" sz="825" dirty="0">
                <a:solidFill>
                  <a:srgbClr val="666666"/>
                </a:solidFill>
                <a:latin typeface="Arial" pitchFamily="34" charset="0"/>
                <a:ea typeface="Arial" pitchFamily="34" charset="-122"/>
                <a:cs typeface="Arial" pitchFamily="34" charset="-120"/>
              </a:rPr>
              <a:t>Weather · Logistics</a:t>
            </a:r>
            <a:endParaRPr lang="en-US" sz="825" dirty="0"/>
          </a:p>
        </p:txBody>
      </p:sp>
      <p:sp>
        <p:nvSpPr>
          <p:cNvPr id="30" name="Shape 28"/>
          <p:cNvSpPr/>
          <p:nvPr/>
        </p:nvSpPr>
        <p:spPr>
          <a:xfrm>
            <a:off x="5702714" y="1796939"/>
            <a:ext cx="2303717" cy="1514904"/>
          </a:xfrm>
          <a:prstGeom prst="roundRect">
            <a:avLst>
              <a:gd name="adj" fmla="val 5659"/>
            </a:avLst>
          </a:prstGeom>
          <a:solidFill>
            <a:srgbClr val="141414"/>
          </a:solidFill>
          <a:ln/>
        </p:spPr>
        <p:txBody>
          <a:bodyPr/>
          <a:lstStyle/>
          <a:p>
            <a:endParaRPr lang="en-US"/>
          </a:p>
        </p:txBody>
      </p:sp>
      <p:sp>
        <p:nvSpPr>
          <p:cNvPr id="31" name="Text 29"/>
          <p:cNvSpPr/>
          <p:nvPr/>
        </p:nvSpPr>
        <p:spPr>
          <a:xfrm>
            <a:off x="5836016" y="2416874"/>
            <a:ext cx="2240823" cy="184404"/>
          </a:xfrm>
          <a:prstGeom prst="rect">
            <a:avLst/>
          </a:prstGeom>
          <a:noFill/>
          <a:ln/>
        </p:spPr>
        <p:txBody>
          <a:bodyPr wrap="square" lIns="25400" tIns="25400" rIns="25400" bIns="25400" rtlCol="0" anchor="t">
            <a:normAutofit fontScale="92500" lnSpcReduction="20000"/>
          </a:bodyPr>
          <a:lstStyle/>
          <a:p>
            <a:pPr marL="0" indent="0" algn="l">
              <a:buNone/>
            </a:pPr>
            <a:r>
              <a:rPr lang="en-US" sz="1050" dirty="0">
                <a:solidFill>
                  <a:srgbClr val="FFFFFF"/>
                </a:solidFill>
                <a:latin typeface="Arial" pitchFamily="34" charset="0"/>
                <a:ea typeface="Arial" pitchFamily="34" charset="-122"/>
                <a:cs typeface="Arial" pitchFamily="34" charset="-120"/>
              </a:rPr>
              <a:t>CRM System</a:t>
            </a:r>
            <a:endParaRPr lang="en-US" sz="1050" dirty="0"/>
          </a:p>
        </p:txBody>
      </p:sp>
      <p:sp>
        <p:nvSpPr>
          <p:cNvPr id="32" name="Text 30"/>
          <p:cNvSpPr/>
          <p:nvPr/>
        </p:nvSpPr>
        <p:spPr>
          <a:xfrm>
            <a:off x="5836016" y="2582180"/>
            <a:ext cx="2240823" cy="147828"/>
          </a:xfrm>
          <a:prstGeom prst="rect">
            <a:avLst/>
          </a:prstGeom>
          <a:noFill/>
          <a:ln/>
        </p:spPr>
        <p:txBody>
          <a:bodyPr wrap="square" lIns="25400" tIns="25400" rIns="25400" bIns="25400" rtlCol="0" anchor="t">
            <a:normAutofit fontScale="85000" lnSpcReduction="10000"/>
          </a:bodyPr>
          <a:lstStyle/>
          <a:p>
            <a:pPr marL="0" indent="0" algn="l">
              <a:buNone/>
            </a:pPr>
            <a:r>
              <a:rPr lang="en-US" sz="825" dirty="0">
                <a:solidFill>
                  <a:srgbClr val="666666"/>
                </a:solidFill>
                <a:latin typeface="Arial" pitchFamily="34" charset="0"/>
                <a:ea typeface="Arial" pitchFamily="34" charset="-122"/>
                <a:cs typeface="Arial" pitchFamily="34" charset="-120"/>
              </a:rPr>
              <a:t>Customers · PII</a:t>
            </a:r>
            <a:endParaRPr lang="en-US" sz="825" dirty="0"/>
          </a:p>
        </p:txBody>
      </p:sp>
      <p:sp>
        <p:nvSpPr>
          <p:cNvPr id="33" name="Shape 31"/>
          <p:cNvSpPr/>
          <p:nvPr/>
        </p:nvSpPr>
        <p:spPr>
          <a:xfrm>
            <a:off x="8082583" y="1796939"/>
            <a:ext cx="2303717" cy="1514904"/>
          </a:xfrm>
          <a:prstGeom prst="roundRect">
            <a:avLst>
              <a:gd name="adj" fmla="val 5659"/>
            </a:avLst>
          </a:prstGeom>
          <a:solidFill>
            <a:srgbClr val="141414"/>
          </a:solidFill>
          <a:ln/>
        </p:spPr>
        <p:txBody>
          <a:bodyPr/>
          <a:lstStyle/>
          <a:p>
            <a:endParaRPr lang="en-US"/>
          </a:p>
        </p:txBody>
      </p:sp>
      <p:sp>
        <p:nvSpPr>
          <p:cNvPr id="34" name="Text 32"/>
          <p:cNvSpPr/>
          <p:nvPr/>
        </p:nvSpPr>
        <p:spPr>
          <a:xfrm>
            <a:off x="8215885" y="2416874"/>
            <a:ext cx="2240823" cy="184404"/>
          </a:xfrm>
          <a:prstGeom prst="rect">
            <a:avLst/>
          </a:prstGeom>
          <a:noFill/>
          <a:ln/>
        </p:spPr>
        <p:txBody>
          <a:bodyPr wrap="square" lIns="25400" tIns="25400" rIns="25400" bIns="25400" rtlCol="0" anchor="t">
            <a:normAutofit fontScale="92500" lnSpcReduction="20000"/>
          </a:bodyPr>
          <a:lstStyle/>
          <a:p>
            <a:pPr marL="0" indent="0" algn="l">
              <a:buNone/>
            </a:pPr>
            <a:r>
              <a:rPr lang="en-US" sz="1050" dirty="0">
                <a:solidFill>
                  <a:srgbClr val="FFFFFF"/>
                </a:solidFill>
                <a:latin typeface="Arial" pitchFamily="34" charset="0"/>
                <a:ea typeface="Arial" pitchFamily="34" charset="-122"/>
                <a:cs typeface="Arial" pitchFamily="34" charset="-120"/>
              </a:rPr>
              <a:t>3rd-Party Data</a:t>
            </a:r>
            <a:endParaRPr lang="en-US" sz="1050" dirty="0"/>
          </a:p>
        </p:txBody>
      </p:sp>
      <p:sp>
        <p:nvSpPr>
          <p:cNvPr id="35" name="Text 33"/>
          <p:cNvSpPr/>
          <p:nvPr/>
        </p:nvSpPr>
        <p:spPr>
          <a:xfrm>
            <a:off x="8215885" y="2582180"/>
            <a:ext cx="2240823" cy="147828"/>
          </a:xfrm>
          <a:prstGeom prst="rect">
            <a:avLst/>
          </a:prstGeom>
          <a:noFill/>
          <a:ln/>
        </p:spPr>
        <p:txBody>
          <a:bodyPr wrap="square" lIns="25400" tIns="25400" rIns="25400" bIns="25400" rtlCol="0" anchor="t">
            <a:normAutofit fontScale="85000" lnSpcReduction="10000"/>
          </a:bodyPr>
          <a:lstStyle/>
          <a:p>
            <a:pPr marL="0" indent="0" algn="l">
              <a:buNone/>
            </a:pPr>
            <a:r>
              <a:rPr lang="en-US" sz="825" dirty="0">
                <a:solidFill>
                  <a:srgbClr val="666666"/>
                </a:solidFill>
                <a:latin typeface="Arial" pitchFamily="34" charset="0"/>
                <a:ea typeface="Arial" pitchFamily="34" charset="-122"/>
                <a:cs typeface="Arial" pitchFamily="34" charset="-120"/>
              </a:rPr>
              <a:t>Market signals</a:t>
            </a:r>
            <a:endParaRPr lang="en-US" sz="825" dirty="0"/>
          </a:p>
        </p:txBody>
      </p:sp>
      <p:sp>
        <p:nvSpPr>
          <p:cNvPr id="36" name="Shape 34"/>
          <p:cNvSpPr/>
          <p:nvPr/>
        </p:nvSpPr>
        <p:spPr>
          <a:xfrm>
            <a:off x="10462452" y="1796939"/>
            <a:ext cx="2303717" cy="1514904"/>
          </a:xfrm>
          <a:prstGeom prst="roundRect">
            <a:avLst>
              <a:gd name="adj" fmla="val 5659"/>
            </a:avLst>
          </a:prstGeom>
          <a:solidFill>
            <a:srgbClr val="141414"/>
          </a:solidFill>
          <a:ln/>
        </p:spPr>
        <p:txBody>
          <a:bodyPr/>
          <a:lstStyle/>
          <a:p>
            <a:endParaRPr lang="en-US"/>
          </a:p>
        </p:txBody>
      </p:sp>
      <p:sp>
        <p:nvSpPr>
          <p:cNvPr id="37" name="Text 35"/>
          <p:cNvSpPr/>
          <p:nvPr/>
        </p:nvSpPr>
        <p:spPr>
          <a:xfrm>
            <a:off x="10595754" y="2416874"/>
            <a:ext cx="2240823" cy="184404"/>
          </a:xfrm>
          <a:prstGeom prst="rect">
            <a:avLst/>
          </a:prstGeom>
          <a:noFill/>
          <a:ln/>
        </p:spPr>
        <p:txBody>
          <a:bodyPr wrap="square" lIns="25400" tIns="25400" rIns="25400" bIns="25400" rtlCol="0" anchor="t">
            <a:normAutofit fontScale="92500" lnSpcReduction="20000"/>
          </a:bodyPr>
          <a:lstStyle/>
          <a:p>
            <a:pPr marL="0" indent="0" algn="l">
              <a:buNone/>
            </a:pPr>
            <a:r>
              <a:rPr lang="en-US" sz="1050" dirty="0">
                <a:solidFill>
                  <a:srgbClr val="FFFFFF"/>
                </a:solidFill>
                <a:latin typeface="Arial" pitchFamily="34" charset="0"/>
                <a:ea typeface="Arial" pitchFamily="34" charset="-122"/>
                <a:cs typeface="Arial" pitchFamily="34" charset="-120"/>
              </a:rPr>
              <a:t>Web &amp; App</a:t>
            </a:r>
            <a:endParaRPr lang="en-US" sz="1050" dirty="0"/>
          </a:p>
        </p:txBody>
      </p:sp>
      <p:sp>
        <p:nvSpPr>
          <p:cNvPr id="38" name="Text 36"/>
          <p:cNvSpPr/>
          <p:nvPr/>
        </p:nvSpPr>
        <p:spPr>
          <a:xfrm>
            <a:off x="10595754" y="2582180"/>
            <a:ext cx="2240823" cy="147828"/>
          </a:xfrm>
          <a:prstGeom prst="rect">
            <a:avLst/>
          </a:prstGeom>
          <a:noFill/>
          <a:ln/>
        </p:spPr>
        <p:txBody>
          <a:bodyPr wrap="square" lIns="25400" tIns="25400" rIns="25400" bIns="25400" rtlCol="0" anchor="t">
            <a:normAutofit fontScale="85000" lnSpcReduction="10000"/>
          </a:bodyPr>
          <a:lstStyle/>
          <a:p>
            <a:pPr marL="0" indent="0" algn="l">
              <a:buNone/>
            </a:pPr>
            <a:r>
              <a:rPr lang="en-US" sz="825" dirty="0">
                <a:solidFill>
                  <a:srgbClr val="666666"/>
                </a:solidFill>
                <a:latin typeface="Arial" pitchFamily="34" charset="0"/>
                <a:ea typeface="Arial" pitchFamily="34" charset="-122"/>
                <a:cs typeface="Arial" pitchFamily="34" charset="-120"/>
              </a:rPr>
              <a:t>Events · Reviews</a:t>
            </a:r>
            <a:endParaRPr lang="en-US" sz="825" dirty="0"/>
          </a:p>
        </p:txBody>
      </p:sp>
      <p:sp>
        <p:nvSpPr>
          <p:cNvPr id="39" name="Shape 37"/>
          <p:cNvSpPr/>
          <p:nvPr/>
        </p:nvSpPr>
        <p:spPr>
          <a:xfrm>
            <a:off x="12842322" y="1796939"/>
            <a:ext cx="2303717" cy="1514904"/>
          </a:xfrm>
          <a:prstGeom prst="roundRect">
            <a:avLst>
              <a:gd name="adj" fmla="val 5659"/>
            </a:avLst>
          </a:prstGeom>
          <a:solidFill>
            <a:srgbClr val="141414"/>
          </a:solidFill>
          <a:ln/>
        </p:spPr>
        <p:txBody>
          <a:bodyPr/>
          <a:lstStyle/>
          <a:p>
            <a:endParaRPr lang="en-US"/>
          </a:p>
        </p:txBody>
      </p:sp>
      <p:sp>
        <p:nvSpPr>
          <p:cNvPr id="40" name="Text 38"/>
          <p:cNvSpPr/>
          <p:nvPr/>
        </p:nvSpPr>
        <p:spPr>
          <a:xfrm>
            <a:off x="12975624" y="2416874"/>
            <a:ext cx="2240823" cy="184404"/>
          </a:xfrm>
          <a:prstGeom prst="rect">
            <a:avLst/>
          </a:prstGeom>
          <a:noFill/>
          <a:ln/>
        </p:spPr>
        <p:txBody>
          <a:bodyPr wrap="square" lIns="25400" tIns="25400" rIns="25400" bIns="25400" rtlCol="0" anchor="t">
            <a:normAutofit fontScale="92500" lnSpcReduction="20000"/>
          </a:bodyPr>
          <a:lstStyle/>
          <a:p>
            <a:pPr marL="0" indent="0" algn="l">
              <a:buNone/>
            </a:pPr>
            <a:r>
              <a:rPr lang="en-US" sz="1050" dirty="0">
                <a:solidFill>
                  <a:srgbClr val="FFFFFF"/>
                </a:solidFill>
                <a:latin typeface="Arial" pitchFamily="34" charset="0"/>
                <a:ea typeface="Arial" pitchFamily="34" charset="-122"/>
                <a:cs typeface="Arial" pitchFamily="34" charset="-120"/>
              </a:rPr>
              <a:t>POS &amp; ERP</a:t>
            </a:r>
            <a:endParaRPr lang="en-US" sz="1050" dirty="0"/>
          </a:p>
        </p:txBody>
      </p:sp>
      <p:sp>
        <p:nvSpPr>
          <p:cNvPr id="41" name="Text 39"/>
          <p:cNvSpPr/>
          <p:nvPr/>
        </p:nvSpPr>
        <p:spPr>
          <a:xfrm>
            <a:off x="12975624" y="2582180"/>
            <a:ext cx="2240823" cy="147828"/>
          </a:xfrm>
          <a:prstGeom prst="rect">
            <a:avLst/>
          </a:prstGeom>
          <a:noFill/>
          <a:ln/>
        </p:spPr>
        <p:txBody>
          <a:bodyPr wrap="square" lIns="25400" tIns="25400" rIns="25400" bIns="25400" rtlCol="0" anchor="t">
            <a:normAutofit fontScale="85000" lnSpcReduction="10000"/>
          </a:bodyPr>
          <a:lstStyle/>
          <a:p>
            <a:pPr marL="0" indent="0" algn="l">
              <a:buNone/>
            </a:pPr>
            <a:r>
              <a:rPr lang="en-US" sz="825" dirty="0">
                <a:solidFill>
                  <a:srgbClr val="666666"/>
                </a:solidFill>
                <a:latin typeface="Arial" pitchFamily="34" charset="0"/>
                <a:ea typeface="Arial" pitchFamily="34" charset="-122"/>
                <a:cs typeface="Arial" pitchFamily="34" charset="-120"/>
              </a:rPr>
              <a:t>Sales · Inventory</a:t>
            </a:r>
            <a:endParaRPr lang="en-US" sz="825" dirty="0"/>
          </a:p>
        </p:txBody>
      </p:sp>
      <p:sp>
        <p:nvSpPr>
          <p:cNvPr id="42" name="Shape 40"/>
          <p:cNvSpPr/>
          <p:nvPr/>
        </p:nvSpPr>
        <p:spPr>
          <a:xfrm>
            <a:off x="15222191" y="1796939"/>
            <a:ext cx="2303717" cy="1514904"/>
          </a:xfrm>
          <a:prstGeom prst="roundRect">
            <a:avLst>
              <a:gd name="adj" fmla="val 5659"/>
            </a:avLst>
          </a:prstGeom>
          <a:solidFill>
            <a:srgbClr val="141414"/>
          </a:solidFill>
          <a:ln/>
        </p:spPr>
        <p:txBody>
          <a:bodyPr/>
          <a:lstStyle/>
          <a:p>
            <a:endParaRPr lang="en-US"/>
          </a:p>
        </p:txBody>
      </p:sp>
      <p:sp>
        <p:nvSpPr>
          <p:cNvPr id="43" name="Text 41"/>
          <p:cNvSpPr/>
          <p:nvPr/>
        </p:nvSpPr>
        <p:spPr>
          <a:xfrm>
            <a:off x="15355493" y="2416874"/>
            <a:ext cx="2240823" cy="184404"/>
          </a:xfrm>
          <a:prstGeom prst="rect">
            <a:avLst/>
          </a:prstGeom>
          <a:noFill/>
          <a:ln/>
        </p:spPr>
        <p:txBody>
          <a:bodyPr wrap="square" lIns="25400" tIns="25400" rIns="25400" bIns="25400" rtlCol="0" anchor="t">
            <a:normAutofit fontScale="92500" lnSpcReduction="20000"/>
          </a:bodyPr>
          <a:lstStyle/>
          <a:p>
            <a:pPr marL="0" indent="0" algn="l">
              <a:buNone/>
            </a:pPr>
            <a:r>
              <a:rPr lang="en-US" sz="1050" dirty="0">
                <a:solidFill>
                  <a:srgbClr val="FFFFFF"/>
                </a:solidFill>
                <a:latin typeface="Arial" pitchFamily="34" charset="0"/>
                <a:ea typeface="Arial" pitchFamily="34" charset="-122"/>
                <a:cs typeface="Arial" pitchFamily="34" charset="-120"/>
              </a:rPr>
              <a:t>SaaS &amp; Files</a:t>
            </a:r>
            <a:endParaRPr lang="en-US" sz="1050" dirty="0"/>
          </a:p>
        </p:txBody>
      </p:sp>
      <p:sp>
        <p:nvSpPr>
          <p:cNvPr id="44" name="Text 42"/>
          <p:cNvSpPr/>
          <p:nvPr/>
        </p:nvSpPr>
        <p:spPr>
          <a:xfrm>
            <a:off x="15355493" y="2582180"/>
            <a:ext cx="2240823" cy="147828"/>
          </a:xfrm>
          <a:prstGeom prst="rect">
            <a:avLst/>
          </a:prstGeom>
          <a:noFill/>
          <a:ln/>
        </p:spPr>
        <p:txBody>
          <a:bodyPr wrap="square" lIns="25400" tIns="25400" rIns="25400" bIns="25400" rtlCol="0" anchor="t">
            <a:normAutofit fontScale="85000" lnSpcReduction="10000"/>
          </a:bodyPr>
          <a:lstStyle/>
          <a:p>
            <a:pPr marL="0" indent="0" algn="l">
              <a:buNone/>
            </a:pPr>
            <a:r>
              <a:rPr lang="en-US" sz="825" dirty="0">
                <a:solidFill>
                  <a:srgbClr val="666666"/>
                </a:solidFill>
                <a:latin typeface="Arial" pitchFamily="34" charset="0"/>
                <a:ea typeface="Arial" pitchFamily="34" charset="-122"/>
                <a:cs typeface="Arial" pitchFamily="34" charset="-120"/>
              </a:rPr>
              <a:t>SFTP partners</a:t>
            </a:r>
            <a:endParaRPr lang="en-US" sz="825" dirty="0"/>
          </a:p>
        </p:txBody>
      </p:sp>
      <p:sp>
        <p:nvSpPr>
          <p:cNvPr id="45" name="Text 43"/>
          <p:cNvSpPr/>
          <p:nvPr/>
        </p:nvSpPr>
        <p:spPr>
          <a:xfrm>
            <a:off x="3207809" y="3406998"/>
            <a:ext cx="2533931" cy="147828"/>
          </a:xfrm>
          <a:prstGeom prst="rect">
            <a:avLst/>
          </a:prstGeom>
          <a:noFill/>
          <a:ln/>
        </p:spPr>
        <p:txBody>
          <a:bodyPr wrap="square" lIns="25400" tIns="25400" rIns="25400" bIns="25400" rtlCol="0" anchor="t">
            <a:normAutofit fontScale="85000" lnSpcReduction="10000"/>
          </a:bodyPr>
          <a:lstStyle/>
          <a:p>
            <a:pPr marL="0" indent="0" algn="ctr">
              <a:buNone/>
            </a:pPr>
            <a:r>
              <a:rPr lang="en-US" sz="825" dirty="0">
                <a:solidFill>
                  <a:schemeClr val="bg1">
                    <a:lumMod val="95000"/>
                  </a:schemeClr>
                </a:solidFill>
                <a:latin typeface="Arial" pitchFamily="34" charset="0"/>
                <a:ea typeface="Arial" pitchFamily="34" charset="-122"/>
                <a:cs typeface="Arial" pitchFamily="34" charset="-120"/>
              </a:rPr>
              <a:t>↓ scheduled pull</a:t>
            </a:r>
            <a:endParaRPr lang="en-US" sz="825" dirty="0">
              <a:solidFill>
                <a:schemeClr val="bg1">
                  <a:lumMod val="95000"/>
                </a:schemeClr>
              </a:solidFill>
            </a:endParaRPr>
          </a:p>
        </p:txBody>
      </p:sp>
      <p:sp>
        <p:nvSpPr>
          <p:cNvPr id="46" name="Text 44"/>
          <p:cNvSpPr/>
          <p:nvPr/>
        </p:nvSpPr>
        <p:spPr>
          <a:xfrm>
            <a:off x="5587528" y="3406998"/>
            <a:ext cx="2534089" cy="147828"/>
          </a:xfrm>
          <a:prstGeom prst="rect">
            <a:avLst/>
          </a:prstGeom>
          <a:noFill/>
          <a:ln/>
        </p:spPr>
        <p:txBody>
          <a:bodyPr wrap="square" lIns="25400" tIns="25400" rIns="25400" bIns="25400" rtlCol="0" anchor="t">
            <a:normAutofit fontScale="85000" lnSpcReduction="10000"/>
          </a:bodyPr>
          <a:lstStyle/>
          <a:p>
            <a:pPr marL="0" indent="0" algn="ctr">
              <a:buNone/>
            </a:pPr>
            <a:r>
              <a:rPr lang="en-US" sz="825" dirty="0">
                <a:solidFill>
                  <a:schemeClr val="bg1">
                    <a:lumMod val="95000"/>
                  </a:schemeClr>
                </a:solidFill>
                <a:latin typeface="Arial" pitchFamily="34" charset="0"/>
                <a:ea typeface="Arial" pitchFamily="34" charset="-122"/>
                <a:cs typeface="Arial" pitchFamily="34" charset="-120"/>
              </a:rPr>
              <a:t>↓ CDC replication</a:t>
            </a:r>
            <a:endParaRPr lang="en-US" sz="825" dirty="0">
              <a:solidFill>
                <a:schemeClr val="bg1">
                  <a:lumMod val="95000"/>
                </a:schemeClr>
              </a:solidFill>
            </a:endParaRPr>
          </a:p>
        </p:txBody>
      </p:sp>
      <p:sp>
        <p:nvSpPr>
          <p:cNvPr id="47" name="Text 45"/>
          <p:cNvSpPr/>
          <p:nvPr/>
        </p:nvSpPr>
        <p:spPr>
          <a:xfrm>
            <a:off x="7967397" y="3406998"/>
            <a:ext cx="2534089" cy="147828"/>
          </a:xfrm>
          <a:prstGeom prst="rect">
            <a:avLst/>
          </a:prstGeom>
          <a:noFill/>
          <a:ln/>
        </p:spPr>
        <p:txBody>
          <a:bodyPr wrap="square" lIns="25400" tIns="25400" rIns="25400" bIns="25400" rtlCol="0" anchor="t">
            <a:normAutofit fontScale="85000" lnSpcReduction="10000"/>
          </a:bodyPr>
          <a:lstStyle/>
          <a:p>
            <a:pPr marL="0" indent="0" algn="ctr">
              <a:buNone/>
            </a:pPr>
            <a:r>
              <a:rPr lang="en-US" sz="825" dirty="0">
                <a:solidFill>
                  <a:schemeClr val="bg1">
                    <a:lumMod val="95000"/>
                  </a:schemeClr>
                </a:solidFill>
                <a:latin typeface="Arial" pitchFamily="34" charset="0"/>
                <a:ea typeface="Arial" pitchFamily="34" charset="-122"/>
                <a:cs typeface="Arial" pitchFamily="34" charset="-120"/>
              </a:rPr>
              <a:t>↓ subscription</a:t>
            </a:r>
            <a:endParaRPr lang="en-US" sz="825" dirty="0">
              <a:solidFill>
                <a:schemeClr val="bg1">
                  <a:lumMod val="95000"/>
                </a:schemeClr>
              </a:solidFill>
            </a:endParaRPr>
          </a:p>
        </p:txBody>
      </p:sp>
      <p:sp>
        <p:nvSpPr>
          <p:cNvPr id="48" name="Text 46"/>
          <p:cNvSpPr/>
          <p:nvPr/>
        </p:nvSpPr>
        <p:spPr>
          <a:xfrm>
            <a:off x="10347266" y="3406998"/>
            <a:ext cx="2534089" cy="147828"/>
          </a:xfrm>
          <a:prstGeom prst="rect">
            <a:avLst/>
          </a:prstGeom>
          <a:noFill/>
          <a:ln/>
        </p:spPr>
        <p:txBody>
          <a:bodyPr wrap="square" lIns="25400" tIns="25400" rIns="25400" bIns="25400" rtlCol="0" anchor="t">
            <a:normAutofit fontScale="85000" lnSpcReduction="10000"/>
          </a:bodyPr>
          <a:lstStyle/>
          <a:p>
            <a:pPr marL="0" indent="0" algn="ctr">
              <a:buNone/>
            </a:pPr>
            <a:r>
              <a:rPr lang="en-US" sz="825" dirty="0">
                <a:solidFill>
                  <a:schemeClr val="bg1">
                    <a:lumMod val="95000"/>
                  </a:schemeClr>
                </a:solidFill>
                <a:latin typeface="Arial" pitchFamily="34" charset="0"/>
                <a:ea typeface="Arial" pitchFamily="34" charset="-122"/>
                <a:cs typeface="Arial" pitchFamily="34" charset="-120"/>
              </a:rPr>
              <a:t>↓ streaming</a:t>
            </a:r>
            <a:endParaRPr lang="en-US" sz="825" dirty="0">
              <a:solidFill>
                <a:schemeClr val="bg1">
                  <a:lumMod val="95000"/>
                </a:schemeClr>
              </a:solidFill>
            </a:endParaRPr>
          </a:p>
        </p:txBody>
      </p:sp>
      <p:sp>
        <p:nvSpPr>
          <p:cNvPr id="49" name="Text 47"/>
          <p:cNvSpPr/>
          <p:nvPr/>
        </p:nvSpPr>
        <p:spPr>
          <a:xfrm>
            <a:off x="12727136" y="3406998"/>
            <a:ext cx="2534089" cy="147828"/>
          </a:xfrm>
          <a:prstGeom prst="rect">
            <a:avLst/>
          </a:prstGeom>
          <a:noFill/>
          <a:ln/>
        </p:spPr>
        <p:txBody>
          <a:bodyPr wrap="square" lIns="25400" tIns="25400" rIns="25400" bIns="25400" rtlCol="0" anchor="t">
            <a:normAutofit fontScale="85000" lnSpcReduction="10000"/>
          </a:bodyPr>
          <a:lstStyle/>
          <a:p>
            <a:pPr marL="0" indent="0" algn="ctr">
              <a:buNone/>
            </a:pPr>
            <a:r>
              <a:rPr lang="en-US" sz="825" dirty="0">
                <a:solidFill>
                  <a:schemeClr val="bg1">
                    <a:lumMod val="95000"/>
                  </a:schemeClr>
                </a:solidFill>
                <a:latin typeface="Arial" pitchFamily="34" charset="0"/>
                <a:ea typeface="Arial" pitchFamily="34" charset="-122"/>
                <a:cs typeface="Arial" pitchFamily="34" charset="-120"/>
              </a:rPr>
              <a:t>↓ batch</a:t>
            </a:r>
            <a:endParaRPr lang="en-US" sz="825" dirty="0">
              <a:solidFill>
                <a:schemeClr val="bg1">
                  <a:lumMod val="95000"/>
                </a:schemeClr>
              </a:solidFill>
            </a:endParaRPr>
          </a:p>
        </p:txBody>
      </p:sp>
      <p:sp>
        <p:nvSpPr>
          <p:cNvPr id="50" name="Text 48"/>
          <p:cNvSpPr/>
          <p:nvPr/>
        </p:nvSpPr>
        <p:spPr>
          <a:xfrm>
            <a:off x="15107005" y="3406998"/>
            <a:ext cx="2534089" cy="147828"/>
          </a:xfrm>
          <a:prstGeom prst="rect">
            <a:avLst/>
          </a:prstGeom>
          <a:noFill/>
          <a:ln/>
        </p:spPr>
        <p:txBody>
          <a:bodyPr wrap="square" lIns="25400" tIns="25400" rIns="25400" bIns="25400" rtlCol="0" anchor="t">
            <a:normAutofit fontScale="85000" lnSpcReduction="10000"/>
          </a:bodyPr>
          <a:lstStyle/>
          <a:p>
            <a:pPr marL="0" indent="0" algn="ctr">
              <a:buNone/>
            </a:pPr>
            <a:r>
              <a:rPr lang="en-US" sz="825" dirty="0">
                <a:solidFill>
                  <a:schemeClr val="bg1">
                    <a:lumMod val="95000"/>
                  </a:schemeClr>
                </a:solidFill>
                <a:latin typeface="Arial" pitchFamily="34" charset="0"/>
                <a:ea typeface="Arial" pitchFamily="34" charset="-122"/>
                <a:cs typeface="Arial" pitchFamily="34" charset="-120"/>
              </a:rPr>
              <a:t>↓ file transfer</a:t>
            </a:r>
            <a:endParaRPr lang="en-US" sz="825" dirty="0">
              <a:solidFill>
                <a:schemeClr val="bg1">
                  <a:lumMod val="95000"/>
                </a:schemeClr>
              </a:solidFill>
            </a:endParaRPr>
          </a:p>
        </p:txBody>
      </p:sp>
      <p:sp>
        <p:nvSpPr>
          <p:cNvPr id="51" name="Text 49"/>
          <p:cNvSpPr/>
          <p:nvPr/>
        </p:nvSpPr>
        <p:spPr>
          <a:xfrm>
            <a:off x="3322987" y="3611881"/>
            <a:ext cx="15623212" cy="166116"/>
          </a:xfrm>
          <a:prstGeom prst="rect">
            <a:avLst/>
          </a:prstGeom>
          <a:noFill/>
          <a:ln/>
        </p:spPr>
        <p:txBody>
          <a:bodyPr wrap="square" lIns="25400" tIns="25400" rIns="25400" bIns="25400" rtlCol="0" anchor="t">
            <a:normAutofit fontScale="92500" lnSpcReduction="10000"/>
          </a:bodyPr>
          <a:lstStyle/>
          <a:p>
            <a:pPr marL="0" indent="0" algn="l">
              <a:buNone/>
            </a:pPr>
            <a:r>
              <a:rPr lang="en-US" sz="900" b="1" kern="0" spc="90" dirty="0">
                <a:solidFill>
                  <a:srgbClr val="666666"/>
                </a:solidFill>
                <a:latin typeface="Arial" pitchFamily="34" charset="0"/>
                <a:ea typeface="Arial" pitchFamily="34" charset="-122"/>
                <a:cs typeface="Arial" pitchFamily="34" charset="-120"/>
              </a:rPr>
              <a:t>INGESTION LAYER</a:t>
            </a:r>
            <a:endParaRPr lang="en-US" sz="900" dirty="0"/>
          </a:p>
        </p:txBody>
      </p:sp>
      <p:sp>
        <p:nvSpPr>
          <p:cNvPr id="52" name="Shape 50"/>
          <p:cNvSpPr/>
          <p:nvPr/>
        </p:nvSpPr>
        <p:spPr>
          <a:xfrm>
            <a:off x="3322987" y="3806476"/>
            <a:ext cx="2303574" cy="1514904"/>
          </a:xfrm>
          <a:prstGeom prst="roundRect">
            <a:avLst>
              <a:gd name="adj" fmla="val 5659"/>
            </a:avLst>
          </a:prstGeom>
          <a:solidFill>
            <a:srgbClr val="141414"/>
          </a:solidFill>
          <a:ln/>
        </p:spPr>
        <p:txBody>
          <a:bodyPr/>
          <a:lstStyle/>
          <a:p>
            <a:endParaRPr lang="en-US"/>
          </a:p>
        </p:txBody>
      </p:sp>
      <p:sp>
        <p:nvSpPr>
          <p:cNvPr id="53" name="Text 51"/>
          <p:cNvSpPr/>
          <p:nvPr/>
        </p:nvSpPr>
        <p:spPr>
          <a:xfrm>
            <a:off x="3456290" y="4426411"/>
            <a:ext cx="2240666" cy="184404"/>
          </a:xfrm>
          <a:prstGeom prst="rect">
            <a:avLst/>
          </a:prstGeom>
          <a:noFill/>
          <a:ln/>
        </p:spPr>
        <p:txBody>
          <a:bodyPr wrap="square" lIns="25400" tIns="25400" rIns="25400" bIns="25400" rtlCol="0" anchor="t">
            <a:normAutofit fontScale="92500" lnSpcReduction="20000"/>
          </a:bodyPr>
          <a:lstStyle/>
          <a:p>
            <a:pPr marL="0" indent="0" algn="l">
              <a:buNone/>
            </a:pPr>
            <a:r>
              <a:rPr lang="en-US" sz="1050" dirty="0">
                <a:solidFill>
                  <a:srgbClr val="FFFFFF"/>
                </a:solidFill>
                <a:latin typeface="Arial" pitchFamily="34" charset="0"/>
                <a:ea typeface="Arial" pitchFamily="34" charset="-122"/>
                <a:cs typeface="Arial" pitchFamily="34" charset="-120"/>
              </a:rPr>
              <a:t>AWS Lambda</a:t>
            </a:r>
            <a:endParaRPr lang="en-US" sz="1050" dirty="0"/>
          </a:p>
        </p:txBody>
      </p:sp>
      <p:sp>
        <p:nvSpPr>
          <p:cNvPr id="54" name="Text 52"/>
          <p:cNvSpPr/>
          <p:nvPr/>
        </p:nvSpPr>
        <p:spPr>
          <a:xfrm>
            <a:off x="3456290" y="4591717"/>
            <a:ext cx="2240666" cy="147828"/>
          </a:xfrm>
          <a:prstGeom prst="rect">
            <a:avLst/>
          </a:prstGeom>
          <a:noFill/>
          <a:ln/>
        </p:spPr>
        <p:txBody>
          <a:bodyPr wrap="square" lIns="25400" tIns="25400" rIns="25400" bIns="25400" rtlCol="0" anchor="t">
            <a:normAutofit fontScale="85000" lnSpcReduction="10000"/>
          </a:bodyPr>
          <a:lstStyle/>
          <a:p>
            <a:pPr marL="0" indent="0" algn="l">
              <a:buNone/>
            </a:pPr>
            <a:r>
              <a:rPr lang="en-US" sz="825" dirty="0">
                <a:solidFill>
                  <a:srgbClr val="666666"/>
                </a:solidFill>
                <a:latin typeface="Arial" pitchFamily="34" charset="0"/>
                <a:ea typeface="Arial" pitchFamily="34" charset="-122"/>
                <a:cs typeface="Arial" pitchFamily="34" charset="-120"/>
              </a:rPr>
              <a:t>API connectors</a:t>
            </a:r>
            <a:endParaRPr lang="en-US" sz="825" dirty="0"/>
          </a:p>
        </p:txBody>
      </p:sp>
      <p:sp>
        <p:nvSpPr>
          <p:cNvPr id="55" name="Shape 53"/>
          <p:cNvSpPr/>
          <p:nvPr/>
        </p:nvSpPr>
        <p:spPr>
          <a:xfrm>
            <a:off x="5702714" y="3806476"/>
            <a:ext cx="2303717" cy="1514904"/>
          </a:xfrm>
          <a:prstGeom prst="roundRect">
            <a:avLst>
              <a:gd name="adj" fmla="val 5659"/>
            </a:avLst>
          </a:prstGeom>
          <a:solidFill>
            <a:srgbClr val="141414"/>
          </a:solidFill>
          <a:ln/>
        </p:spPr>
        <p:txBody>
          <a:bodyPr/>
          <a:lstStyle/>
          <a:p>
            <a:endParaRPr lang="en-US"/>
          </a:p>
        </p:txBody>
      </p:sp>
      <p:sp>
        <p:nvSpPr>
          <p:cNvPr id="56" name="Text 54"/>
          <p:cNvSpPr/>
          <p:nvPr/>
        </p:nvSpPr>
        <p:spPr>
          <a:xfrm>
            <a:off x="5836016" y="4426411"/>
            <a:ext cx="2240823" cy="184404"/>
          </a:xfrm>
          <a:prstGeom prst="rect">
            <a:avLst/>
          </a:prstGeom>
          <a:noFill/>
          <a:ln/>
        </p:spPr>
        <p:txBody>
          <a:bodyPr wrap="square" lIns="25400" tIns="25400" rIns="25400" bIns="25400" rtlCol="0" anchor="t">
            <a:normAutofit fontScale="92500" lnSpcReduction="20000"/>
          </a:bodyPr>
          <a:lstStyle/>
          <a:p>
            <a:pPr marL="0" indent="0" algn="l">
              <a:buNone/>
            </a:pPr>
            <a:r>
              <a:rPr lang="en-US" sz="1050" dirty="0">
                <a:solidFill>
                  <a:srgbClr val="FFFFFF"/>
                </a:solidFill>
                <a:latin typeface="Arial" pitchFamily="34" charset="0"/>
                <a:ea typeface="Arial" pitchFamily="34" charset="-122"/>
                <a:cs typeface="Arial" pitchFamily="34" charset="-120"/>
              </a:rPr>
              <a:t>AWS DMS</a:t>
            </a:r>
            <a:endParaRPr lang="en-US" sz="1050" dirty="0"/>
          </a:p>
        </p:txBody>
      </p:sp>
      <p:sp>
        <p:nvSpPr>
          <p:cNvPr id="57" name="Text 55"/>
          <p:cNvSpPr/>
          <p:nvPr/>
        </p:nvSpPr>
        <p:spPr>
          <a:xfrm>
            <a:off x="5836016" y="4591717"/>
            <a:ext cx="2240823" cy="147828"/>
          </a:xfrm>
          <a:prstGeom prst="rect">
            <a:avLst/>
          </a:prstGeom>
          <a:noFill/>
          <a:ln/>
        </p:spPr>
        <p:txBody>
          <a:bodyPr wrap="square" lIns="25400" tIns="25400" rIns="25400" bIns="25400" rtlCol="0" anchor="t">
            <a:normAutofit fontScale="85000" lnSpcReduction="10000"/>
          </a:bodyPr>
          <a:lstStyle/>
          <a:p>
            <a:pPr marL="0" indent="0" algn="l">
              <a:buNone/>
            </a:pPr>
            <a:r>
              <a:rPr lang="en-US" sz="825" dirty="0">
                <a:solidFill>
                  <a:srgbClr val="666666"/>
                </a:solidFill>
                <a:latin typeface="Arial" pitchFamily="34" charset="0"/>
                <a:ea typeface="Arial" pitchFamily="34" charset="-122"/>
                <a:cs typeface="Arial" pitchFamily="34" charset="-120"/>
              </a:rPr>
              <a:t>DB migration · CDC</a:t>
            </a:r>
            <a:endParaRPr lang="en-US" sz="825" dirty="0"/>
          </a:p>
        </p:txBody>
      </p:sp>
      <p:sp>
        <p:nvSpPr>
          <p:cNvPr id="58" name="Shape 56"/>
          <p:cNvSpPr/>
          <p:nvPr/>
        </p:nvSpPr>
        <p:spPr>
          <a:xfrm>
            <a:off x="8082583" y="3806476"/>
            <a:ext cx="2303717" cy="1514904"/>
          </a:xfrm>
          <a:prstGeom prst="roundRect">
            <a:avLst>
              <a:gd name="adj" fmla="val 5659"/>
            </a:avLst>
          </a:prstGeom>
          <a:solidFill>
            <a:srgbClr val="141414"/>
          </a:solidFill>
          <a:ln/>
        </p:spPr>
        <p:txBody>
          <a:bodyPr/>
          <a:lstStyle/>
          <a:p>
            <a:endParaRPr lang="en-US"/>
          </a:p>
        </p:txBody>
      </p:sp>
      <p:sp>
        <p:nvSpPr>
          <p:cNvPr id="59" name="Text 57"/>
          <p:cNvSpPr/>
          <p:nvPr/>
        </p:nvSpPr>
        <p:spPr>
          <a:xfrm>
            <a:off x="8215885" y="4426411"/>
            <a:ext cx="2240823" cy="184404"/>
          </a:xfrm>
          <a:prstGeom prst="rect">
            <a:avLst/>
          </a:prstGeom>
          <a:noFill/>
          <a:ln/>
        </p:spPr>
        <p:txBody>
          <a:bodyPr wrap="square" lIns="25400" tIns="25400" rIns="25400" bIns="25400" rtlCol="0" anchor="t">
            <a:normAutofit fontScale="92500" lnSpcReduction="20000"/>
          </a:bodyPr>
          <a:lstStyle/>
          <a:p>
            <a:pPr marL="0" indent="0" algn="l">
              <a:buNone/>
            </a:pPr>
            <a:r>
              <a:rPr lang="en-US" sz="1050" dirty="0">
                <a:solidFill>
                  <a:srgbClr val="FFFFFF"/>
                </a:solidFill>
                <a:latin typeface="Arial" pitchFamily="34" charset="0"/>
                <a:ea typeface="Arial" pitchFamily="34" charset="-122"/>
                <a:cs typeface="Arial" pitchFamily="34" charset="-120"/>
              </a:rPr>
              <a:t>Data Exchange</a:t>
            </a:r>
            <a:endParaRPr lang="en-US" sz="1050" dirty="0"/>
          </a:p>
        </p:txBody>
      </p:sp>
      <p:sp>
        <p:nvSpPr>
          <p:cNvPr id="60" name="Text 58"/>
          <p:cNvSpPr/>
          <p:nvPr/>
        </p:nvSpPr>
        <p:spPr>
          <a:xfrm>
            <a:off x="8215885" y="4591717"/>
            <a:ext cx="2240823" cy="147828"/>
          </a:xfrm>
          <a:prstGeom prst="rect">
            <a:avLst/>
          </a:prstGeom>
          <a:noFill/>
          <a:ln/>
        </p:spPr>
        <p:txBody>
          <a:bodyPr wrap="square" lIns="25400" tIns="25400" rIns="25400" bIns="25400" rtlCol="0" anchor="t">
            <a:normAutofit fontScale="85000" lnSpcReduction="10000"/>
          </a:bodyPr>
          <a:lstStyle/>
          <a:p>
            <a:pPr marL="0" indent="0" algn="l">
              <a:buNone/>
            </a:pPr>
            <a:r>
              <a:rPr lang="en-US" sz="825" dirty="0">
                <a:solidFill>
                  <a:srgbClr val="666666"/>
                </a:solidFill>
                <a:latin typeface="Arial" pitchFamily="34" charset="0"/>
                <a:ea typeface="Arial" pitchFamily="34" charset="-122"/>
                <a:cs typeface="Arial" pitchFamily="34" charset="-120"/>
              </a:rPr>
              <a:t>licensed 3rd-party</a:t>
            </a:r>
            <a:endParaRPr lang="en-US" sz="825" dirty="0"/>
          </a:p>
        </p:txBody>
      </p:sp>
      <p:sp>
        <p:nvSpPr>
          <p:cNvPr id="61" name="Shape 59"/>
          <p:cNvSpPr/>
          <p:nvPr/>
        </p:nvSpPr>
        <p:spPr>
          <a:xfrm>
            <a:off x="10462452" y="3806476"/>
            <a:ext cx="2303717" cy="1514904"/>
          </a:xfrm>
          <a:prstGeom prst="roundRect">
            <a:avLst>
              <a:gd name="adj" fmla="val 5659"/>
            </a:avLst>
          </a:prstGeom>
          <a:solidFill>
            <a:srgbClr val="141414"/>
          </a:solidFill>
          <a:ln/>
        </p:spPr>
        <p:txBody>
          <a:bodyPr/>
          <a:lstStyle/>
          <a:p>
            <a:endParaRPr lang="en-US"/>
          </a:p>
        </p:txBody>
      </p:sp>
      <p:sp>
        <p:nvSpPr>
          <p:cNvPr id="62" name="Text 60"/>
          <p:cNvSpPr/>
          <p:nvPr/>
        </p:nvSpPr>
        <p:spPr>
          <a:xfrm>
            <a:off x="10595754" y="4426411"/>
            <a:ext cx="2240823" cy="184404"/>
          </a:xfrm>
          <a:prstGeom prst="rect">
            <a:avLst/>
          </a:prstGeom>
          <a:noFill/>
          <a:ln/>
        </p:spPr>
        <p:txBody>
          <a:bodyPr wrap="square" lIns="25400" tIns="25400" rIns="25400" bIns="25400" rtlCol="0" anchor="t">
            <a:normAutofit fontScale="92500" lnSpcReduction="20000"/>
          </a:bodyPr>
          <a:lstStyle/>
          <a:p>
            <a:pPr marL="0" indent="0" algn="l">
              <a:buNone/>
            </a:pPr>
            <a:r>
              <a:rPr lang="en-US" sz="1050" dirty="0">
                <a:solidFill>
                  <a:srgbClr val="FFFFFF"/>
                </a:solidFill>
                <a:latin typeface="Arial" pitchFamily="34" charset="0"/>
                <a:ea typeface="Arial" pitchFamily="34" charset="-122"/>
                <a:cs typeface="Arial" pitchFamily="34" charset="-120"/>
              </a:rPr>
              <a:t>Kinesis Streams</a:t>
            </a:r>
            <a:endParaRPr lang="en-US" sz="1050" dirty="0"/>
          </a:p>
        </p:txBody>
      </p:sp>
      <p:sp>
        <p:nvSpPr>
          <p:cNvPr id="63" name="Text 61"/>
          <p:cNvSpPr/>
          <p:nvPr/>
        </p:nvSpPr>
        <p:spPr>
          <a:xfrm>
            <a:off x="10595754" y="4591717"/>
            <a:ext cx="2240823" cy="147828"/>
          </a:xfrm>
          <a:prstGeom prst="rect">
            <a:avLst/>
          </a:prstGeom>
          <a:noFill/>
          <a:ln/>
        </p:spPr>
        <p:txBody>
          <a:bodyPr wrap="square" lIns="25400" tIns="25400" rIns="25400" bIns="25400" rtlCol="0" anchor="t">
            <a:normAutofit fontScale="85000" lnSpcReduction="10000"/>
          </a:bodyPr>
          <a:lstStyle/>
          <a:p>
            <a:pPr marL="0" indent="0" algn="l">
              <a:buNone/>
            </a:pPr>
            <a:r>
              <a:rPr lang="en-US" sz="825" dirty="0">
                <a:solidFill>
                  <a:srgbClr val="666666"/>
                </a:solidFill>
                <a:latin typeface="Arial" pitchFamily="34" charset="0"/>
                <a:ea typeface="Arial" pitchFamily="34" charset="-122"/>
                <a:cs typeface="Arial" pitchFamily="34" charset="-120"/>
              </a:rPr>
              <a:t>+ Firehose → S3</a:t>
            </a:r>
            <a:endParaRPr lang="en-US" sz="825" dirty="0"/>
          </a:p>
        </p:txBody>
      </p:sp>
      <p:sp>
        <p:nvSpPr>
          <p:cNvPr id="64" name="Shape 62"/>
          <p:cNvSpPr/>
          <p:nvPr/>
        </p:nvSpPr>
        <p:spPr>
          <a:xfrm>
            <a:off x="12842322" y="3806476"/>
            <a:ext cx="2303717" cy="1514904"/>
          </a:xfrm>
          <a:prstGeom prst="roundRect">
            <a:avLst>
              <a:gd name="adj" fmla="val 5659"/>
            </a:avLst>
          </a:prstGeom>
          <a:solidFill>
            <a:srgbClr val="141414"/>
          </a:solidFill>
          <a:ln/>
        </p:spPr>
        <p:txBody>
          <a:bodyPr/>
          <a:lstStyle/>
          <a:p>
            <a:endParaRPr lang="en-US"/>
          </a:p>
        </p:txBody>
      </p:sp>
      <p:sp>
        <p:nvSpPr>
          <p:cNvPr id="65" name="Text 63"/>
          <p:cNvSpPr/>
          <p:nvPr/>
        </p:nvSpPr>
        <p:spPr>
          <a:xfrm>
            <a:off x="12975624" y="4426411"/>
            <a:ext cx="2240823" cy="184404"/>
          </a:xfrm>
          <a:prstGeom prst="rect">
            <a:avLst/>
          </a:prstGeom>
          <a:noFill/>
          <a:ln/>
        </p:spPr>
        <p:txBody>
          <a:bodyPr wrap="square" lIns="25400" tIns="25400" rIns="25400" bIns="25400" rtlCol="0" anchor="t">
            <a:normAutofit fontScale="92500" lnSpcReduction="20000"/>
          </a:bodyPr>
          <a:lstStyle/>
          <a:p>
            <a:pPr marL="0" indent="0" algn="l">
              <a:buNone/>
            </a:pPr>
            <a:r>
              <a:rPr lang="en-US" sz="1050" dirty="0">
                <a:solidFill>
                  <a:srgbClr val="FFFFFF"/>
                </a:solidFill>
                <a:latin typeface="Arial" pitchFamily="34" charset="0"/>
                <a:ea typeface="Arial" pitchFamily="34" charset="-122"/>
                <a:cs typeface="Arial" pitchFamily="34" charset="-120"/>
              </a:rPr>
              <a:t>AWS Glue ETL</a:t>
            </a:r>
            <a:endParaRPr lang="en-US" sz="1050" dirty="0"/>
          </a:p>
        </p:txBody>
      </p:sp>
      <p:sp>
        <p:nvSpPr>
          <p:cNvPr id="66" name="Text 64"/>
          <p:cNvSpPr/>
          <p:nvPr/>
        </p:nvSpPr>
        <p:spPr>
          <a:xfrm>
            <a:off x="12975624" y="4591717"/>
            <a:ext cx="2240823" cy="147828"/>
          </a:xfrm>
          <a:prstGeom prst="rect">
            <a:avLst/>
          </a:prstGeom>
          <a:noFill/>
          <a:ln/>
        </p:spPr>
        <p:txBody>
          <a:bodyPr wrap="square" lIns="25400" tIns="25400" rIns="25400" bIns="25400" rtlCol="0" anchor="t">
            <a:normAutofit fontScale="85000" lnSpcReduction="10000"/>
          </a:bodyPr>
          <a:lstStyle/>
          <a:p>
            <a:pPr marL="0" indent="0" algn="l">
              <a:buNone/>
            </a:pPr>
            <a:r>
              <a:rPr lang="en-US" sz="825" dirty="0">
                <a:solidFill>
                  <a:srgbClr val="666666"/>
                </a:solidFill>
                <a:latin typeface="Arial" pitchFamily="34" charset="0"/>
                <a:ea typeface="Arial" pitchFamily="34" charset="-122"/>
                <a:cs typeface="Arial" pitchFamily="34" charset="-120"/>
              </a:rPr>
              <a:t>batch pipelines</a:t>
            </a:r>
            <a:endParaRPr lang="en-US" sz="825" dirty="0"/>
          </a:p>
        </p:txBody>
      </p:sp>
      <p:sp>
        <p:nvSpPr>
          <p:cNvPr id="67" name="Shape 65"/>
          <p:cNvSpPr/>
          <p:nvPr/>
        </p:nvSpPr>
        <p:spPr>
          <a:xfrm>
            <a:off x="15222191" y="3806476"/>
            <a:ext cx="2303717" cy="1514904"/>
          </a:xfrm>
          <a:prstGeom prst="roundRect">
            <a:avLst>
              <a:gd name="adj" fmla="val 5659"/>
            </a:avLst>
          </a:prstGeom>
          <a:solidFill>
            <a:srgbClr val="141414"/>
          </a:solidFill>
          <a:ln/>
        </p:spPr>
        <p:txBody>
          <a:bodyPr/>
          <a:lstStyle/>
          <a:p>
            <a:endParaRPr lang="en-US"/>
          </a:p>
        </p:txBody>
      </p:sp>
      <p:sp>
        <p:nvSpPr>
          <p:cNvPr id="68" name="Text 66"/>
          <p:cNvSpPr/>
          <p:nvPr/>
        </p:nvSpPr>
        <p:spPr>
          <a:xfrm>
            <a:off x="15355493" y="4426411"/>
            <a:ext cx="2240823" cy="184404"/>
          </a:xfrm>
          <a:prstGeom prst="rect">
            <a:avLst/>
          </a:prstGeom>
          <a:noFill/>
          <a:ln/>
        </p:spPr>
        <p:txBody>
          <a:bodyPr wrap="square" lIns="25400" tIns="25400" rIns="25400" bIns="25400" rtlCol="0" anchor="t">
            <a:normAutofit fontScale="92500" lnSpcReduction="20000"/>
          </a:bodyPr>
          <a:lstStyle/>
          <a:p>
            <a:pPr marL="0" indent="0" algn="l">
              <a:buNone/>
            </a:pPr>
            <a:r>
              <a:rPr lang="en-US" sz="1050" dirty="0">
                <a:solidFill>
                  <a:srgbClr val="FFFFFF"/>
                </a:solidFill>
                <a:latin typeface="Arial" pitchFamily="34" charset="0"/>
                <a:ea typeface="Arial" pitchFamily="34" charset="-122"/>
                <a:cs typeface="Arial" pitchFamily="34" charset="-120"/>
              </a:rPr>
              <a:t>Transfer Family</a:t>
            </a:r>
            <a:endParaRPr lang="en-US" sz="1050" dirty="0"/>
          </a:p>
        </p:txBody>
      </p:sp>
      <p:sp>
        <p:nvSpPr>
          <p:cNvPr id="69" name="Text 67"/>
          <p:cNvSpPr/>
          <p:nvPr/>
        </p:nvSpPr>
        <p:spPr>
          <a:xfrm>
            <a:off x="15355493" y="4591717"/>
            <a:ext cx="2240823" cy="147828"/>
          </a:xfrm>
          <a:prstGeom prst="rect">
            <a:avLst/>
          </a:prstGeom>
          <a:noFill/>
          <a:ln/>
        </p:spPr>
        <p:txBody>
          <a:bodyPr wrap="square" lIns="25400" tIns="25400" rIns="25400" bIns="25400" rtlCol="0" anchor="t">
            <a:normAutofit fontScale="85000" lnSpcReduction="10000"/>
          </a:bodyPr>
          <a:lstStyle/>
          <a:p>
            <a:pPr marL="0" indent="0" algn="l">
              <a:buNone/>
            </a:pPr>
            <a:r>
              <a:rPr lang="en-US" sz="825" dirty="0">
                <a:solidFill>
                  <a:srgbClr val="666666"/>
                </a:solidFill>
                <a:latin typeface="Arial" pitchFamily="34" charset="0"/>
                <a:ea typeface="Arial" pitchFamily="34" charset="-122"/>
                <a:cs typeface="Arial" pitchFamily="34" charset="-120"/>
              </a:rPr>
              <a:t>SFTP · FTPS</a:t>
            </a:r>
            <a:endParaRPr lang="en-US" sz="825" dirty="0"/>
          </a:p>
        </p:txBody>
      </p:sp>
      <p:sp>
        <p:nvSpPr>
          <p:cNvPr id="70" name="Text 68"/>
          <p:cNvSpPr/>
          <p:nvPr/>
        </p:nvSpPr>
        <p:spPr>
          <a:xfrm>
            <a:off x="2612841" y="5416535"/>
            <a:ext cx="15623212" cy="147828"/>
          </a:xfrm>
          <a:prstGeom prst="rect">
            <a:avLst/>
          </a:prstGeom>
          <a:noFill/>
          <a:ln/>
        </p:spPr>
        <p:txBody>
          <a:bodyPr wrap="square" lIns="25400" tIns="25400" rIns="25400" bIns="25400" rtlCol="0" anchor="t">
            <a:normAutofit fontScale="85000" lnSpcReduction="10000"/>
          </a:bodyPr>
          <a:lstStyle/>
          <a:p>
            <a:pPr marL="0" indent="0" algn="ctr">
              <a:buNone/>
            </a:pPr>
            <a:r>
              <a:rPr lang="en-US" sz="825" dirty="0">
                <a:solidFill>
                  <a:schemeClr val="bg1">
                    <a:lumMod val="95000"/>
                  </a:schemeClr>
                </a:solidFill>
                <a:latin typeface="Arial" pitchFamily="34" charset="0"/>
                <a:ea typeface="Arial" pitchFamily="34" charset="-122"/>
                <a:cs typeface="Arial" pitchFamily="34" charset="-120"/>
              </a:rPr>
              <a:t>↓ land raw data ↓</a:t>
            </a:r>
            <a:endParaRPr lang="en-US" sz="825" dirty="0">
              <a:solidFill>
                <a:schemeClr val="bg1">
                  <a:lumMod val="95000"/>
                </a:schemeClr>
              </a:solidFill>
            </a:endParaRPr>
          </a:p>
        </p:txBody>
      </p:sp>
      <p:sp>
        <p:nvSpPr>
          <p:cNvPr id="71" name="Text 69"/>
          <p:cNvSpPr/>
          <p:nvPr/>
        </p:nvSpPr>
        <p:spPr>
          <a:xfrm>
            <a:off x="3322987" y="5621418"/>
            <a:ext cx="7759271" cy="166116"/>
          </a:xfrm>
          <a:prstGeom prst="rect">
            <a:avLst/>
          </a:prstGeom>
          <a:noFill/>
          <a:ln/>
        </p:spPr>
        <p:txBody>
          <a:bodyPr wrap="square" lIns="25400" tIns="25400" rIns="25400" bIns="25400" rtlCol="0" anchor="t">
            <a:normAutofit fontScale="92500" lnSpcReduction="10000"/>
          </a:bodyPr>
          <a:lstStyle/>
          <a:p>
            <a:pPr marL="0" indent="0" algn="l">
              <a:buNone/>
            </a:pPr>
            <a:r>
              <a:rPr lang="en-US" sz="900" b="1" kern="0" spc="90" dirty="0">
                <a:solidFill>
                  <a:srgbClr val="666666"/>
                </a:solidFill>
                <a:latin typeface="Arial" pitchFamily="34" charset="0"/>
                <a:ea typeface="Arial" pitchFamily="34" charset="-122"/>
                <a:cs typeface="Arial" pitchFamily="34" charset="-120"/>
              </a:rPr>
              <a:t>S3 DATA LAKEHOUSE</a:t>
            </a:r>
            <a:endParaRPr lang="en-US" sz="900" dirty="0"/>
          </a:p>
        </p:txBody>
      </p:sp>
      <p:sp>
        <p:nvSpPr>
          <p:cNvPr id="72" name="Shape 70"/>
          <p:cNvSpPr/>
          <p:nvPr/>
        </p:nvSpPr>
        <p:spPr>
          <a:xfrm>
            <a:off x="3322987" y="5816014"/>
            <a:ext cx="3374565" cy="1685782"/>
          </a:xfrm>
          <a:prstGeom prst="roundRect">
            <a:avLst>
              <a:gd name="adj" fmla="val 5085"/>
            </a:avLst>
          </a:prstGeom>
          <a:solidFill>
            <a:srgbClr val="141414"/>
          </a:solidFill>
          <a:ln/>
        </p:spPr>
        <p:txBody>
          <a:bodyPr/>
          <a:lstStyle/>
          <a:p>
            <a:endParaRPr lang="en-US"/>
          </a:p>
        </p:txBody>
      </p:sp>
      <p:sp>
        <p:nvSpPr>
          <p:cNvPr id="73" name="Text 71"/>
          <p:cNvSpPr/>
          <p:nvPr/>
        </p:nvSpPr>
        <p:spPr>
          <a:xfrm>
            <a:off x="3456290" y="6521387"/>
            <a:ext cx="3418756" cy="184404"/>
          </a:xfrm>
          <a:prstGeom prst="rect">
            <a:avLst/>
          </a:prstGeom>
          <a:noFill/>
          <a:ln/>
        </p:spPr>
        <p:txBody>
          <a:bodyPr wrap="square" lIns="25400" tIns="25400" rIns="25400" bIns="25400" rtlCol="0" anchor="t">
            <a:normAutofit fontScale="92500" lnSpcReduction="20000"/>
          </a:bodyPr>
          <a:lstStyle/>
          <a:p>
            <a:pPr marL="0" indent="0" algn="l">
              <a:buNone/>
            </a:pPr>
            <a:r>
              <a:rPr lang="en-US" sz="1050" dirty="0">
                <a:solidFill>
                  <a:srgbClr val="FFFFFF"/>
                </a:solidFill>
                <a:latin typeface="Arial" pitchFamily="34" charset="0"/>
                <a:ea typeface="Arial" pitchFamily="34" charset="-122"/>
                <a:cs typeface="Arial" pitchFamily="34" charset="-120"/>
              </a:rPr>
              <a:t>S3 Raw Zone</a:t>
            </a:r>
            <a:endParaRPr lang="en-US" sz="1050" dirty="0"/>
          </a:p>
        </p:txBody>
      </p:sp>
      <p:sp>
        <p:nvSpPr>
          <p:cNvPr id="74" name="Text 72"/>
          <p:cNvSpPr/>
          <p:nvPr/>
        </p:nvSpPr>
        <p:spPr>
          <a:xfrm>
            <a:off x="3456290" y="6686694"/>
            <a:ext cx="3418756" cy="147828"/>
          </a:xfrm>
          <a:prstGeom prst="rect">
            <a:avLst/>
          </a:prstGeom>
          <a:noFill/>
          <a:ln/>
        </p:spPr>
        <p:txBody>
          <a:bodyPr wrap="square" lIns="25400" tIns="25400" rIns="25400" bIns="25400" rtlCol="0" anchor="t">
            <a:normAutofit fontScale="85000" lnSpcReduction="10000"/>
          </a:bodyPr>
          <a:lstStyle/>
          <a:p>
            <a:pPr marL="0" indent="0" algn="l">
              <a:buNone/>
            </a:pPr>
            <a:r>
              <a:rPr lang="en-US" sz="825" dirty="0">
                <a:solidFill>
                  <a:srgbClr val="666666"/>
                </a:solidFill>
                <a:latin typeface="Arial" pitchFamily="34" charset="0"/>
                <a:ea typeface="Arial" pitchFamily="34" charset="-122"/>
                <a:cs typeface="Arial" pitchFamily="34" charset="-120"/>
              </a:rPr>
              <a:t>Bronze · immutable</a:t>
            </a:r>
            <a:endParaRPr lang="en-US" sz="825" dirty="0"/>
          </a:p>
        </p:txBody>
      </p:sp>
      <p:sp>
        <p:nvSpPr>
          <p:cNvPr id="75" name="Text 73"/>
          <p:cNvSpPr/>
          <p:nvPr/>
        </p:nvSpPr>
        <p:spPr>
          <a:xfrm>
            <a:off x="6773705" y="5816014"/>
            <a:ext cx="228648" cy="1723882"/>
          </a:xfrm>
          <a:prstGeom prst="rect">
            <a:avLst/>
          </a:prstGeom>
          <a:noFill/>
          <a:ln/>
        </p:spPr>
        <p:txBody>
          <a:bodyPr wrap="square" lIns="25400" tIns="25400" rIns="25400" bIns="25400" rtlCol="0" anchor="ctr">
            <a:normAutofit/>
          </a:bodyPr>
          <a:lstStyle/>
          <a:p>
            <a:pPr marL="0" indent="0" algn="l">
              <a:buNone/>
            </a:pPr>
            <a:r>
              <a:rPr lang="en-US" sz="1200" dirty="0">
                <a:solidFill>
                  <a:srgbClr val="444444"/>
                </a:solidFill>
                <a:latin typeface="Arial" pitchFamily="34" charset="0"/>
                <a:ea typeface="Arial" pitchFamily="34" charset="-122"/>
                <a:cs typeface="Arial" pitchFamily="34" charset="-120"/>
              </a:rPr>
              <a:t>→</a:t>
            </a:r>
            <a:endParaRPr lang="en-US" sz="1200" dirty="0"/>
          </a:p>
        </p:txBody>
      </p:sp>
      <p:sp>
        <p:nvSpPr>
          <p:cNvPr id="76" name="Shape 74"/>
          <p:cNvSpPr/>
          <p:nvPr/>
        </p:nvSpPr>
        <p:spPr>
          <a:xfrm>
            <a:off x="7002305" y="5816014"/>
            <a:ext cx="3374565" cy="1685782"/>
          </a:xfrm>
          <a:prstGeom prst="roundRect">
            <a:avLst>
              <a:gd name="adj" fmla="val 5085"/>
            </a:avLst>
          </a:prstGeom>
          <a:solidFill>
            <a:srgbClr val="141414"/>
          </a:solidFill>
          <a:ln/>
        </p:spPr>
        <p:txBody>
          <a:bodyPr/>
          <a:lstStyle/>
          <a:p>
            <a:endParaRPr lang="en-US"/>
          </a:p>
        </p:txBody>
      </p:sp>
      <p:sp>
        <p:nvSpPr>
          <p:cNvPr id="77" name="Text 75"/>
          <p:cNvSpPr/>
          <p:nvPr/>
        </p:nvSpPr>
        <p:spPr>
          <a:xfrm>
            <a:off x="7135607" y="6521387"/>
            <a:ext cx="3418756" cy="184404"/>
          </a:xfrm>
          <a:prstGeom prst="rect">
            <a:avLst/>
          </a:prstGeom>
          <a:noFill/>
          <a:ln/>
        </p:spPr>
        <p:txBody>
          <a:bodyPr wrap="square" lIns="25400" tIns="25400" rIns="25400" bIns="25400" rtlCol="0" anchor="t">
            <a:normAutofit fontScale="92500" lnSpcReduction="20000"/>
          </a:bodyPr>
          <a:lstStyle/>
          <a:p>
            <a:pPr marL="0" indent="0" algn="l">
              <a:buNone/>
            </a:pPr>
            <a:r>
              <a:rPr lang="en-US" sz="1050" dirty="0">
                <a:solidFill>
                  <a:srgbClr val="FFFFFF"/>
                </a:solidFill>
                <a:latin typeface="Arial" pitchFamily="34" charset="0"/>
                <a:ea typeface="Arial" pitchFamily="34" charset="-122"/>
                <a:cs typeface="Arial" pitchFamily="34" charset="-120"/>
              </a:rPr>
              <a:t>S3 Curated Zone</a:t>
            </a:r>
            <a:endParaRPr lang="en-US" sz="1050" dirty="0"/>
          </a:p>
        </p:txBody>
      </p:sp>
      <p:sp>
        <p:nvSpPr>
          <p:cNvPr id="78" name="Text 76"/>
          <p:cNvSpPr/>
          <p:nvPr/>
        </p:nvSpPr>
        <p:spPr>
          <a:xfrm>
            <a:off x="7135607" y="6686694"/>
            <a:ext cx="3418756" cy="147828"/>
          </a:xfrm>
          <a:prstGeom prst="rect">
            <a:avLst/>
          </a:prstGeom>
          <a:noFill/>
          <a:ln/>
        </p:spPr>
        <p:txBody>
          <a:bodyPr wrap="square" lIns="25400" tIns="25400" rIns="25400" bIns="25400" rtlCol="0" anchor="t">
            <a:normAutofit fontScale="85000" lnSpcReduction="10000"/>
          </a:bodyPr>
          <a:lstStyle/>
          <a:p>
            <a:pPr marL="0" indent="0" algn="l">
              <a:buNone/>
            </a:pPr>
            <a:r>
              <a:rPr lang="en-US" sz="825" dirty="0">
                <a:solidFill>
                  <a:srgbClr val="666666"/>
                </a:solidFill>
                <a:latin typeface="Arial" pitchFamily="34" charset="0"/>
                <a:ea typeface="Arial" pitchFamily="34" charset="-122"/>
                <a:cs typeface="Arial" pitchFamily="34" charset="-120"/>
              </a:rPr>
              <a:t>Silver · PII-masked Parquet</a:t>
            </a:r>
            <a:endParaRPr lang="en-US" sz="825" dirty="0"/>
          </a:p>
        </p:txBody>
      </p:sp>
      <p:sp>
        <p:nvSpPr>
          <p:cNvPr id="79" name="Text 77"/>
          <p:cNvSpPr/>
          <p:nvPr/>
        </p:nvSpPr>
        <p:spPr>
          <a:xfrm>
            <a:off x="10472025" y="5621418"/>
            <a:ext cx="7759271" cy="166116"/>
          </a:xfrm>
          <a:prstGeom prst="rect">
            <a:avLst/>
          </a:prstGeom>
          <a:noFill/>
          <a:ln/>
        </p:spPr>
        <p:txBody>
          <a:bodyPr wrap="square" lIns="25400" tIns="25400" rIns="25400" bIns="25400" rtlCol="0" anchor="t">
            <a:normAutofit fontScale="92500" lnSpcReduction="10000"/>
          </a:bodyPr>
          <a:lstStyle/>
          <a:p>
            <a:pPr marL="0" indent="0" algn="l">
              <a:buNone/>
            </a:pPr>
            <a:r>
              <a:rPr lang="en-US" sz="900" b="1" kern="0" spc="90" dirty="0">
                <a:solidFill>
                  <a:srgbClr val="666666"/>
                </a:solidFill>
                <a:latin typeface="Arial" pitchFamily="34" charset="0"/>
                <a:ea typeface="Arial" pitchFamily="34" charset="-122"/>
                <a:cs typeface="Arial" pitchFamily="34" charset="-120"/>
              </a:rPr>
              <a:t>PROCESSING &amp; GOVERNANCE</a:t>
            </a:r>
            <a:endParaRPr lang="en-US" sz="900" dirty="0"/>
          </a:p>
        </p:txBody>
      </p:sp>
      <p:sp>
        <p:nvSpPr>
          <p:cNvPr id="80" name="Shape 78"/>
          <p:cNvSpPr/>
          <p:nvPr/>
        </p:nvSpPr>
        <p:spPr>
          <a:xfrm>
            <a:off x="10472025" y="5816014"/>
            <a:ext cx="1128141" cy="1685782"/>
          </a:xfrm>
          <a:prstGeom prst="roundRect">
            <a:avLst>
              <a:gd name="adj" fmla="val 6754"/>
            </a:avLst>
          </a:prstGeom>
          <a:solidFill>
            <a:srgbClr val="141414"/>
          </a:solidFill>
          <a:ln/>
        </p:spPr>
        <p:txBody>
          <a:bodyPr/>
          <a:lstStyle/>
          <a:p>
            <a:endParaRPr lang="en-US"/>
          </a:p>
        </p:txBody>
      </p:sp>
      <p:sp>
        <p:nvSpPr>
          <p:cNvPr id="81" name="Text 79"/>
          <p:cNvSpPr/>
          <p:nvPr/>
        </p:nvSpPr>
        <p:spPr>
          <a:xfrm>
            <a:off x="10807686" y="6590254"/>
            <a:ext cx="456819" cy="175260"/>
          </a:xfrm>
          <a:prstGeom prst="rect">
            <a:avLst/>
          </a:prstGeom>
          <a:noFill/>
          <a:ln/>
        </p:spPr>
        <p:txBody>
          <a:bodyPr wrap="square" lIns="25400" tIns="25400" rIns="25400" bIns="25400" rtlCol="0" anchor="t">
            <a:normAutofit fontScale="92500" lnSpcReduction="10000"/>
          </a:bodyPr>
          <a:lstStyle/>
          <a:p>
            <a:pPr marL="0" indent="0" algn="ctr">
              <a:buNone/>
            </a:pPr>
            <a:r>
              <a:rPr lang="en-US" sz="975" dirty="0">
                <a:solidFill>
                  <a:srgbClr val="FFFFFF"/>
                </a:solidFill>
                <a:latin typeface="Arial" pitchFamily="34" charset="0"/>
                <a:ea typeface="Arial" pitchFamily="34" charset="-122"/>
                <a:cs typeface="Arial" pitchFamily="34" charset="-120"/>
              </a:rPr>
              <a:t>MWAA</a:t>
            </a:r>
            <a:endParaRPr lang="en-US" sz="975" dirty="0"/>
          </a:p>
        </p:txBody>
      </p:sp>
      <p:sp>
        <p:nvSpPr>
          <p:cNvPr id="82" name="Shape 80"/>
          <p:cNvSpPr/>
          <p:nvPr/>
        </p:nvSpPr>
        <p:spPr>
          <a:xfrm>
            <a:off x="11657173" y="5816014"/>
            <a:ext cx="1128141" cy="1685782"/>
          </a:xfrm>
          <a:prstGeom prst="roundRect">
            <a:avLst>
              <a:gd name="adj" fmla="val 6754"/>
            </a:avLst>
          </a:prstGeom>
          <a:solidFill>
            <a:srgbClr val="141414"/>
          </a:solidFill>
          <a:ln/>
        </p:spPr>
        <p:txBody>
          <a:bodyPr/>
          <a:lstStyle/>
          <a:p>
            <a:endParaRPr lang="en-US"/>
          </a:p>
        </p:txBody>
      </p:sp>
      <p:sp>
        <p:nvSpPr>
          <p:cNvPr id="83" name="Text 81"/>
          <p:cNvSpPr/>
          <p:nvPr/>
        </p:nvSpPr>
        <p:spPr>
          <a:xfrm>
            <a:off x="11821670" y="6590254"/>
            <a:ext cx="799005" cy="175260"/>
          </a:xfrm>
          <a:prstGeom prst="rect">
            <a:avLst/>
          </a:prstGeom>
          <a:noFill/>
          <a:ln/>
        </p:spPr>
        <p:txBody>
          <a:bodyPr wrap="square" lIns="25400" tIns="25400" rIns="25400" bIns="25400" rtlCol="0" anchor="t">
            <a:normAutofit fontScale="92500" lnSpcReduction="10000"/>
          </a:bodyPr>
          <a:lstStyle/>
          <a:p>
            <a:pPr marL="0" indent="0" algn="ctr">
              <a:buNone/>
            </a:pPr>
            <a:r>
              <a:rPr lang="en-US" sz="975" dirty="0">
                <a:solidFill>
                  <a:srgbClr val="FFFFFF"/>
                </a:solidFill>
                <a:latin typeface="Arial" pitchFamily="34" charset="0"/>
                <a:ea typeface="Arial" pitchFamily="34" charset="-122"/>
                <a:cs typeface="Arial" pitchFamily="34" charset="-120"/>
              </a:rPr>
              <a:t>Glue Catalog</a:t>
            </a:r>
            <a:endParaRPr lang="en-US" sz="975" dirty="0"/>
          </a:p>
        </p:txBody>
      </p:sp>
      <p:sp>
        <p:nvSpPr>
          <p:cNvPr id="84" name="Shape 82"/>
          <p:cNvSpPr/>
          <p:nvPr/>
        </p:nvSpPr>
        <p:spPr>
          <a:xfrm>
            <a:off x="12842322" y="5816014"/>
            <a:ext cx="1128141" cy="1685782"/>
          </a:xfrm>
          <a:prstGeom prst="roundRect">
            <a:avLst>
              <a:gd name="adj" fmla="val 6754"/>
            </a:avLst>
          </a:prstGeom>
          <a:solidFill>
            <a:srgbClr val="141414"/>
          </a:solidFill>
          <a:ln/>
        </p:spPr>
        <p:txBody>
          <a:bodyPr/>
          <a:lstStyle/>
          <a:p>
            <a:endParaRPr lang="en-US"/>
          </a:p>
        </p:txBody>
      </p:sp>
      <p:sp>
        <p:nvSpPr>
          <p:cNvPr id="85" name="Text 83"/>
          <p:cNvSpPr/>
          <p:nvPr/>
        </p:nvSpPr>
        <p:spPr>
          <a:xfrm>
            <a:off x="13127405" y="6590254"/>
            <a:ext cx="557975" cy="175260"/>
          </a:xfrm>
          <a:prstGeom prst="rect">
            <a:avLst/>
          </a:prstGeom>
          <a:noFill/>
          <a:ln/>
        </p:spPr>
        <p:txBody>
          <a:bodyPr wrap="square" lIns="25400" tIns="25400" rIns="25400" bIns="25400" rtlCol="0" anchor="t">
            <a:normAutofit fontScale="92500" lnSpcReduction="10000"/>
          </a:bodyPr>
          <a:lstStyle/>
          <a:p>
            <a:pPr marL="0" indent="0" algn="ctr">
              <a:buNone/>
            </a:pPr>
            <a:r>
              <a:rPr lang="en-US" sz="975" dirty="0">
                <a:solidFill>
                  <a:srgbClr val="FFFFFF"/>
                </a:solidFill>
                <a:latin typeface="Arial" pitchFamily="34" charset="0"/>
                <a:ea typeface="Arial" pitchFamily="34" charset="-122"/>
                <a:cs typeface="Arial" pitchFamily="34" charset="-120"/>
              </a:rPr>
              <a:t>Glue DQ</a:t>
            </a:r>
            <a:endParaRPr lang="en-US" sz="975" dirty="0"/>
          </a:p>
        </p:txBody>
      </p:sp>
      <p:sp>
        <p:nvSpPr>
          <p:cNvPr id="86" name="Shape 84"/>
          <p:cNvSpPr/>
          <p:nvPr/>
        </p:nvSpPr>
        <p:spPr>
          <a:xfrm>
            <a:off x="14027469" y="5816014"/>
            <a:ext cx="1128141" cy="1685782"/>
          </a:xfrm>
          <a:prstGeom prst="roundRect">
            <a:avLst>
              <a:gd name="adj" fmla="val 6754"/>
            </a:avLst>
          </a:prstGeom>
          <a:solidFill>
            <a:srgbClr val="141414"/>
          </a:solidFill>
          <a:ln/>
        </p:spPr>
        <p:txBody>
          <a:bodyPr/>
          <a:lstStyle/>
          <a:p>
            <a:endParaRPr lang="en-US"/>
          </a:p>
        </p:txBody>
      </p:sp>
      <p:sp>
        <p:nvSpPr>
          <p:cNvPr id="87" name="Text 85"/>
          <p:cNvSpPr/>
          <p:nvPr/>
        </p:nvSpPr>
        <p:spPr>
          <a:xfrm>
            <a:off x="14388276" y="6590254"/>
            <a:ext cx="406527" cy="175260"/>
          </a:xfrm>
          <a:prstGeom prst="rect">
            <a:avLst/>
          </a:prstGeom>
          <a:noFill/>
          <a:ln/>
        </p:spPr>
        <p:txBody>
          <a:bodyPr wrap="square" lIns="25400" tIns="25400" rIns="25400" bIns="25400" rtlCol="0" anchor="t">
            <a:normAutofit fontScale="92500" lnSpcReduction="10000"/>
          </a:bodyPr>
          <a:lstStyle/>
          <a:p>
            <a:pPr marL="0" indent="0" algn="ctr">
              <a:buNone/>
            </a:pPr>
            <a:r>
              <a:rPr lang="en-US" sz="975" dirty="0">
                <a:solidFill>
                  <a:srgbClr val="FFFFFF"/>
                </a:solidFill>
                <a:latin typeface="Arial" pitchFamily="34" charset="0"/>
                <a:ea typeface="Arial" pitchFamily="34" charset="-122"/>
                <a:cs typeface="Arial" pitchFamily="34" charset="-120"/>
              </a:rPr>
              <a:t>Macie</a:t>
            </a:r>
            <a:endParaRPr lang="en-US" sz="975" dirty="0"/>
          </a:p>
        </p:txBody>
      </p:sp>
      <p:sp>
        <p:nvSpPr>
          <p:cNvPr id="88" name="Shape 86"/>
          <p:cNvSpPr/>
          <p:nvPr/>
        </p:nvSpPr>
        <p:spPr>
          <a:xfrm>
            <a:off x="15212618" y="5816014"/>
            <a:ext cx="1128141" cy="1685782"/>
          </a:xfrm>
          <a:prstGeom prst="roundRect">
            <a:avLst>
              <a:gd name="adj" fmla="val 6754"/>
            </a:avLst>
          </a:prstGeom>
          <a:solidFill>
            <a:srgbClr val="141414"/>
          </a:solidFill>
          <a:ln/>
        </p:spPr>
        <p:txBody>
          <a:bodyPr/>
          <a:lstStyle/>
          <a:p>
            <a:endParaRPr lang="en-US"/>
          </a:p>
        </p:txBody>
      </p:sp>
      <p:sp>
        <p:nvSpPr>
          <p:cNvPr id="89" name="Text 87"/>
          <p:cNvSpPr/>
          <p:nvPr/>
        </p:nvSpPr>
        <p:spPr>
          <a:xfrm>
            <a:off x="15308392" y="6590254"/>
            <a:ext cx="936451" cy="175260"/>
          </a:xfrm>
          <a:prstGeom prst="rect">
            <a:avLst/>
          </a:prstGeom>
          <a:noFill/>
          <a:ln/>
        </p:spPr>
        <p:txBody>
          <a:bodyPr wrap="square" lIns="25400" tIns="25400" rIns="25400" bIns="25400" rtlCol="0" anchor="t">
            <a:normAutofit fontScale="92500" lnSpcReduction="10000"/>
          </a:bodyPr>
          <a:lstStyle/>
          <a:p>
            <a:pPr marL="0" indent="0" algn="ctr">
              <a:buNone/>
            </a:pPr>
            <a:r>
              <a:rPr lang="en-US" sz="975" dirty="0">
                <a:solidFill>
                  <a:srgbClr val="FFFFFF"/>
                </a:solidFill>
                <a:latin typeface="Arial" pitchFamily="34" charset="0"/>
                <a:ea typeface="Arial" pitchFamily="34" charset="-122"/>
                <a:cs typeface="Arial" pitchFamily="34" charset="-120"/>
              </a:rPr>
              <a:t>Lake Formation</a:t>
            </a:r>
            <a:endParaRPr lang="en-US" sz="975" dirty="0"/>
          </a:p>
        </p:txBody>
      </p:sp>
      <p:sp>
        <p:nvSpPr>
          <p:cNvPr id="90" name="Shape 88"/>
          <p:cNvSpPr/>
          <p:nvPr/>
        </p:nvSpPr>
        <p:spPr>
          <a:xfrm>
            <a:off x="16397767" y="5816014"/>
            <a:ext cx="1128141" cy="1685782"/>
          </a:xfrm>
          <a:prstGeom prst="roundRect">
            <a:avLst>
              <a:gd name="adj" fmla="val 6754"/>
            </a:avLst>
          </a:prstGeom>
          <a:solidFill>
            <a:srgbClr val="141414"/>
          </a:solidFill>
          <a:ln/>
        </p:spPr>
        <p:txBody>
          <a:bodyPr/>
          <a:lstStyle/>
          <a:p>
            <a:endParaRPr lang="en-US"/>
          </a:p>
        </p:txBody>
      </p:sp>
      <p:sp>
        <p:nvSpPr>
          <p:cNvPr id="91" name="Text 89"/>
          <p:cNvSpPr/>
          <p:nvPr/>
        </p:nvSpPr>
        <p:spPr>
          <a:xfrm>
            <a:off x="16813581" y="6590254"/>
            <a:ext cx="296370" cy="175260"/>
          </a:xfrm>
          <a:prstGeom prst="rect">
            <a:avLst/>
          </a:prstGeom>
          <a:noFill/>
          <a:ln/>
        </p:spPr>
        <p:txBody>
          <a:bodyPr wrap="square" lIns="25400" tIns="25400" rIns="25400" bIns="25400" rtlCol="0" anchor="t">
            <a:normAutofit fontScale="92500" lnSpcReduction="10000"/>
          </a:bodyPr>
          <a:lstStyle/>
          <a:p>
            <a:pPr marL="0" indent="0" algn="ctr">
              <a:buNone/>
            </a:pPr>
            <a:r>
              <a:rPr lang="en-US" sz="975" dirty="0">
                <a:solidFill>
                  <a:srgbClr val="FFFFFF"/>
                </a:solidFill>
                <a:latin typeface="Arial" pitchFamily="34" charset="0"/>
                <a:ea typeface="Arial" pitchFamily="34" charset="-122"/>
                <a:cs typeface="Arial" pitchFamily="34" charset="-120"/>
              </a:rPr>
              <a:t>IAM</a:t>
            </a:r>
            <a:endParaRPr lang="en-US" sz="975" dirty="0"/>
          </a:p>
        </p:txBody>
      </p:sp>
      <p:sp>
        <p:nvSpPr>
          <p:cNvPr id="92" name="Text 90"/>
          <p:cNvSpPr/>
          <p:nvPr/>
        </p:nvSpPr>
        <p:spPr>
          <a:xfrm>
            <a:off x="2612841" y="7596951"/>
            <a:ext cx="15623212" cy="147828"/>
          </a:xfrm>
          <a:prstGeom prst="rect">
            <a:avLst/>
          </a:prstGeom>
          <a:noFill/>
          <a:ln/>
        </p:spPr>
        <p:txBody>
          <a:bodyPr wrap="square" lIns="25400" tIns="25400" rIns="25400" bIns="25400" rtlCol="0" anchor="t">
            <a:normAutofit fontScale="85000" lnSpcReduction="10000"/>
          </a:bodyPr>
          <a:lstStyle/>
          <a:p>
            <a:pPr marL="0" indent="0" algn="ctr">
              <a:buNone/>
            </a:pPr>
            <a:r>
              <a:rPr lang="en-US" sz="825" dirty="0">
                <a:solidFill>
                  <a:schemeClr val="bg1">
                    <a:lumMod val="95000"/>
                  </a:schemeClr>
                </a:solidFill>
                <a:latin typeface="Arial" pitchFamily="34" charset="0"/>
                <a:ea typeface="Arial" pitchFamily="34" charset="-122"/>
                <a:cs typeface="Arial" pitchFamily="34" charset="-120"/>
              </a:rPr>
              <a:t>↓ aggregate &amp; load · real-time features · feature store · ad-hoc SQL · NLP pipeline · BI queries</a:t>
            </a:r>
            <a:endParaRPr lang="en-US" sz="825" dirty="0">
              <a:solidFill>
                <a:schemeClr val="bg1">
                  <a:lumMod val="95000"/>
                </a:schemeClr>
              </a:solidFill>
            </a:endParaRPr>
          </a:p>
        </p:txBody>
      </p:sp>
      <p:sp>
        <p:nvSpPr>
          <p:cNvPr id="93" name="Text 91"/>
          <p:cNvSpPr/>
          <p:nvPr/>
        </p:nvSpPr>
        <p:spPr>
          <a:xfrm>
            <a:off x="3322987" y="7801834"/>
            <a:ext cx="15623212" cy="166116"/>
          </a:xfrm>
          <a:prstGeom prst="rect">
            <a:avLst/>
          </a:prstGeom>
          <a:noFill/>
          <a:ln/>
        </p:spPr>
        <p:txBody>
          <a:bodyPr wrap="square" lIns="25400" tIns="25400" rIns="25400" bIns="25400" rtlCol="0" anchor="t">
            <a:normAutofit fontScale="92500" lnSpcReduction="10000"/>
          </a:bodyPr>
          <a:lstStyle/>
          <a:p>
            <a:pPr marL="0" indent="0" algn="l">
              <a:buNone/>
            </a:pPr>
            <a:r>
              <a:rPr lang="en-US" sz="900" b="1" kern="0" spc="90" dirty="0">
                <a:solidFill>
                  <a:srgbClr val="666666"/>
                </a:solidFill>
                <a:latin typeface="Arial" pitchFamily="34" charset="0"/>
                <a:ea typeface="Arial" pitchFamily="34" charset="-122"/>
                <a:cs typeface="Arial" pitchFamily="34" charset="-120"/>
              </a:rPr>
              <a:t>SERVING &amp; CONSUMPTION</a:t>
            </a:r>
            <a:endParaRPr lang="en-US" sz="900" dirty="0"/>
          </a:p>
        </p:txBody>
      </p:sp>
      <p:sp>
        <p:nvSpPr>
          <p:cNvPr id="94" name="Shape 92"/>
          <p:cNvSpPr/>
          <p:nvPr/>
        </p:nvSpPr>
        <p:spPr>
          <a:xfrm>
            <a:off x="3322987" y="7996429"/>
            <a:ext cx="2008108" cy="1514904"/>
          </a:xfrm>
          <a:prstGeom prst="roundRect">
            <a:avLst>
              <a:gd name="adj" fmla="val 5659"/>
            </a:avLst>
          </a:prstGeom>
          <a:solidFill>
            <a:srgbClr val="141414"/>
          </a:solidFill>
          <a:ln/>
        </p:spPr>
        <p:txBody>
          <a:bodyPr/>
          <a:lstStyle/>
          <a:p>
            <a:endParaRPr lang="en-US"/>
          </a:p>
        </p:txBody>
      </p:sp>
      <p:sp>
        <p:nvSpPr>
          <p:cNvPr id="95" name="Text 93"/>
          <p:cNvSpPr/>
          <p:nvPr/>
        </p:nvSpPr>
        <p:spPr>
          <a:xfrm>
            <a:off x="3456290" y="8616364"/>
            <a:ext cx="1915654" cy="184404"/>
          </a:xfrm>
          <a:prstGeom prst="rect">
            <a:avLst/>
          </a:prstGeom>
          <a:noFill/>
          <a:ln/>
        </p:spPr>
        <p:txBody>
          <a:bodyPr wrap="square" lIns="25400" tIns="25400" rIns="25400" bIns="25400" rtlCol="0" anchor="t">
            <a:normAutofit fontScale="92500" lnSpcReduction="20000"/>
          </a:bodyPr>
          <a:lstStyle/>
          <a:p>
            <a:pPr marL="0" indent="0" algn="l">
              <a:buNone/>
            </a:pPr>
            <a:r>
              <a:rPr lang="en-US" sz="1050" dirty="0">
                <a:solidFill>
                  <a:srgbClr val="FFFFFF"/>
                </a:solidFill>
                <a:latin typeface="Arial" pitchFamily="34" charset="0"/>
                <a:ea typeface="Arial" pitchFamily="34" charset="-122"/>
                <a:cs typeface="Arial" pitchFamily="34" charset="-120"/>
              </a:rPr>
              <a:t>Redshift</a:t>
            </a:r>
            <a:endParaRPr lang="en-US" sz="1050" dirty="0"/>
          </a:p>
        </p:txBody>
      </p:sp>
      <p:sp>
        <p:nvSpPr>
          <p:cNvPr id="96" name="Text 94"/>
          <p:cNvSpPr/>
          <p:nvPr/>
        </p:nvSpPr>
        <p:spPr>
          <a:xfrm>
            <a:off x="3456290" y="8781670"/>
            <a:ext cx="1915654" cy="147828"/>
          </a:xfrm>
          <a:prstGeom prst="rect">
            <a:avLst/>
          </a:prstGeom>
          <a:noFill/>
          <a:ln/>
        </p:spPr>
        <p:txBody>
          <a:bodyPr wrap="square" lIns="25400" tIns="25400" rIns="25400" bIns="25400" rtlCol="0" anchor="t">
            <a:normAutofit fontScale="85000" lnSpcReduction="10000"/>
          </a:bodyPr>
          <a:lstStyle/>
          <a:p>
            <a:pPr marL="0" indent="0" algn="l">
              <a:buNone/>
            </a:pPr>
            <a:r>
              <a:rPr lang="en-US" sz="825" dirty="0">
                <a:solidFill>
                  <a:srgbClr val="666666"/>
                </a:solidFill>
                <a:latin typeface="Arial" pitchFamily="34" charset="0"/>
                <a:ea typeface="Arial" pitchFamily="34" charset="-122"/>
                <a:cs typeface="Arial" pitchFamily="34" charset="-120"/>
              </a:rPr>
              <a:t>Gold · columnar DWH</a:t>
            </a:r>
            <a:endParaRPr lang="en-US" sz="825" dirty="0"/>
          </a:p>
        </p:txBody>
      </p:sp>
      <p:sp>
        <p:nvSpPr>
          <p:cNvPr id="97" name="Shape 95"/>
          <p:cNvSpPr/>
          <p:nvPr/>
        </p:nvSpPr>
        <p:spPr>
          <a:xfrm>
            <a:off x="5407248" y="7996429"/>
            <a:ext cx="2008108" cy="1514904"/>
          </a:xfrm>
          <a:prstGeom prst="roundRect">
            <a:avLst>
              <a:gd name="adj" fmla="val 5659"/>
            </a:avLst>
          </a:prstGeom>
          <a:solidFill>
            <a:srgbClr val="141414"/>
          </a:solidFill>
          <a:ln/>
        </p:spPr>
        <p:txBody>
          <a:bodyPr/>
          <a:lstStyle/>
          <a:p>
            <a:endParaRPr lang="en-US"/>
          </a:p>
        </p:txBody>
      </p:sp>
      <p:sp>
        <p:nvSpPr>
          <p:cNvPr id="98" name="Text 96"/>
          <p:cNvSpPr/>
          <p:nvPr/>
        </p:nvSpPr>
        <p:spPr>
          <a:xfrm>
            <a:off x="5540551" y="8616364"/>
            <a:ext cx="1915654" cy="184404"/>
          </a:xfrm>
          <a:prstGeom prst="rect">
            <a:avLst/>
          </a:prstGeom>
          <a:noFill/>
          <a:ln/>
        </p:spPr>
        <p:txBody>
          <a:bodyPr wrap="square" lIns="25400" tIns="25400" rIns="25400" bIns="25400" rtlCol="0" anchor="t">
            <a:normAutofit fontScale="92500" lnSpcReduction="20000"/>
          </a:bodyPr>
          <a:lstStyle/>
          <a:p>
            <a:pPr marL="0" indent="0" algn="l">
              <a:buNone/>
            </a:pPr>
            <a:r>
              <a:rPr lang="en-US" sz="1050" dirty="0">
                <a:solidFill>
                  <a:srgbClr val="FFFFFF"/>
                </a:solidFill>
                <a:latin typeface="Arial" pitchFamily="34" charset="0"/>
                <a:ea typeface="Arial" pitchFamily="34" charset="-122"/>
                <a:cs typeface="Arial" pitchFamily="34" charset="-120"/>
              </a:rPr>
              <a:t>DynamoDB</a:t>
            </a:r>
            <a:endParaRPr lang="en-US" sz="1050" dirty="0"/>
          </a:p>
        </p:txBody>
      </p:sp>
      <p:sp>
        <p:nvSpPr>
          <p:cNvPr id="99" name="Text 97"/>
          <p:cNvSpPr/>
          <p:nvPr/>
        </p:nvSpPr>
        <p:spPr>
          <a:xfrm>
            <a:off x="5540551" y="8781670"/>
            <a:ext cx="1915654" cy="147828"/>
          </a:xfrm>
          <a:prstGeom prst="rect">
            <a:avLst/>
          </a:prstGeom>
          <a:noFill/>
          <a:ln/>
        </p:spPr>
        <p:txBody>
          <a:bodyPr wrap="square" lIns="25400" tIns="25400" rIns="25400" bIns="25400" rtlCol="0" anchor="t">
            <a:normAutofit fontScale="85000" lnSpcReduction="10000"/>
          </a:bodyPr>
          <a:lstStyle/>
          <a:p>
            <a:pPr marL="0" indent="0" algn="l">
              <a:buNone/>
            </a:pPr>
            <a:r>
              <a:rPr lang="en-US" sz="825" dirty="0">
                <a:solidFill>
                  <a:srgbClr val="666666"/>
                </a:solidFill>
                <a:latin typeface="Arial" pitchFamily="34" charset="0"/>
                <a:ea typeface="Arial" pitchFamily="34" charset="-122"/>
                <a:cs typeface="Arial" pitchFamily="34" charset="-120"/>
              </a:rPr>
              <a:t>NoSQL · ML serving</a:t>
            </a:r>
            <a:endParaRPr lang="en-US" sz="825" dirty="0"/>
          </a:p>
        </p:txBody>
      </p:sp>
      <p:sp>
        <p:nvSpPr>
          <p:cNvPr id="100" name="Shape 98"/>
          <p:cNvSpPr/>
          <p:nvPr/>
        </p:nvSpPr>
        <p:spPr>
          <a:xfrm>
            <a:off x="7491509" y="7996429"/>
            <a:ext cx="2008108" cy="1514904"/>
          </a:xfrm>
          <a:prstGeom prst="roundRect">
            <a:avLst>
              <a:gd name="adj" fmla="val 5659"/>
            </a:avLst>
          </a:prstGeom>
          <a:solidFill>
            <a:srgbClr val="141414"/>
          </a:solidFill>
          <a:ln/>
        </p:spPr>
        <p:txBody>
          <a:bodyPr/>
          <a:lstStyle/>
          <a:p>
            <a:endParaRPr lang="en-US"/>
          </a:p>
        </p:txBody>
      </p:sp>
      <p:sp>
        <p:nvSpPr>
          <p:cNvPr id="101" name="Text 99"/>
          <p:cNvSpPr/>
          <p:nvPr/>
        </p:nvSpPr>
        <p:spPr>
          <a:xfrm>
            <a:off x="7624811" y="8616364"/>
            <a:ext cx="1915654" cy="184404"/>
          </a:xfrm>
          <a:prstGeom prst="rect">
            <a:avLst/>
          </a:prstGeom>
          <a:noFill/>
          <a:ln/>
        </p:spPr>
        <p:txBody>
          <a:bodyPr wrap="square" lIns="25400" tIns="25400" rIns="25400" bIns="25400" rtlCol="0" anchor="t">
            <a:normAutofit fontScale="92500" lnSpcReduction="20000"/>
          </a:bodyPr>
          <a:lstStyle/>
          <a:p>
            <a:pPr marL="0" indent="0" algn="l">
              <a:buNone/>
            </a:pPr>
            <a:r>
              <a:rPr lang="en-US" sz="1050" dirty="0">
                <a:solidFill>
                  <a:srgbClr val="FFFFFF"/>
                </a:solidFill>
                <a:latin typeface="Arial" pitchFamily="34" charset="0"/>
                <a:ea typeface="Arial" pitchFamily="34" charset="-122"/>
                <a:cs typeface="Arial" pitchFamily="34" charset="-120"/>
              </a:rPr>
              <a:t>SageMaker</a:t>
            </a:r>
            <a:endParaRPr lang="en-US" sz="1050" dirty="0"/>
          </a:p>
        </p:txBody>
      </p:sp>
      <p:sp>
        <p:nvSpPr>
          <p:cNvPr id="102" name="Text 100"/>
          <p:cNvSpPr/>
          <p:nvPr/>
        </p:nvSpPr>
        <p:spPr>
          <a:xfrm>
            <a:off x="7624811" y="8781670"/>
            <a:ext cx="1915654" cy="147828"/>
          </a:xfrm>
          <a:prstGeom prst="rect">
            <a:avLst/>
          </a:prstGeom>
          <a:noFill/>
          <a:ln/>
        </p:spPr>
        <p:txBody>
          <a:bodyPr wrap="square" lIns="25400" tIns="25400" rIns="25400" bIns="25400" rtlCol="0" anchor="t">
            <a:normAutofit fontScale="85000" lnSpcReduction="10000"/>
          </a:bodyPr>
          <a:lstStyle/>
          <a:p>
            <a:pPr marL="0" indent="0" algn="l">
              <a:buNone/>
            </a:pPr>
            <a:r>
              <a:rPr lang="en-US" sz="825" dirty="0">
                <a:solidFill>
                  <a:srgbClr val="666666"/>
                </a:solidFill>
                <a:latin typeface="Arial" pitchFamily="34" charset="0"/>
                <a:ea typeface="Arial" pitchFamily="34" charset="-122"/>
                <a:cs typeface="Arial" pitchFamily="34" charset="-120"/>
              </a:rPr>
              <a:t>ML forecasting · recs</a:t>
            </a:r>
            <a:endParaRPr lang="en-US" sz="825" dirty="0"/>
          </a:p>
        </p:txBody>
      </p:sp>
      <p:sp>
        <p:nvSpPr>
          <p:cNvPr id="103" name="Shape 101"/>
          <p:cNvSpPr/>
          <p:nvPr/>
        </p:nvSpPr>
        <p:spPr>
          <a:xfrm>
            <a:off x="9575770" y="7996429"/>
            <a:ext cx="2008108" cy="1514904"/>
          </a:xfrm>
          <a:prstGeom prst="roundRect">
            <a:avLst>
              <a:gd name="adj" fmla="val 5659"/>
            </a:avLst>
          </a:prstGeom>
          <a:solidFill>
            <a:srgbClr val="141414"/>
          </a:solidFill>
          <a:ln/>
        </p:spPr>
        <p:txBody>
          <a:bodyPr/>
          <a:lstStyle/>
          <a:p>
            <a:endParaRPr lang="en-US"/>
          </a:p>
        </p:txBody>
      </p:sp>
      <p:sp>
        <p:nvSpPr>
          <p:cNvPr id="104" name="Text 102"/>
          <p:cNvSpPr/>
          <p:nvPr/>
        </p:nvSpPr>
        <p:spPr>
          <a:xfrm>
            <a:off x="9709072" y="8616364"/>
            <a:ext cx="1915654" cy="184404"/>
          </a:xfrm>
          <a:prstGeom prst="rect">
            <a:avLst/>
          </a:prstGeom>
          <a:noFill/>
          <a:ln/>
        </p:spPr>
        <p:txBody>
          <a:bodyPr wrap="square" lIns="25400" tIns="25400" rIns="25400" bIns="25400" rtlCol="0" anchor="t">
            <a:normAutofit fontScale="92500" lnSpcReduction="20000"/>
          </a:bodyPr>
          <a:lstStyle/>
          <a:p>
            <a:pPr marL="0" indent="0" algn="l">
              <a:buNone/>
            </a:pPr>
            <a:r>
              <a:rPr lang="en-US" sz="1050" dirty="0">
                <a:solidFill>
                  <a:srgbClr val="FFFFFF"/>
                </a:solidFill>
                <a:latin typeface="Arial" pitchFamily="34" charset="0"/>
                <a:ea typeface="Arial" pitchFamily="34" charset="-122"/>
                <a:cs typeface="Arial" pitchFamily="34" charset="-120"/>
              </a:rPr>
              <a:t>Athena</a:t>
            </a:r>
            <a:endParaRPr lang="en-US" sz="1050" dirty="0"/>
          </a:p>
        </p:txBody>
      </p:sp>
      <p:sp>
        <p:nvSpPr>
          <p:cNvPr id="105" name="Text 103"/>
          <p:cNvSpPr/>
          <p:nvPr/>
        </p:nvSpPr>
        <p:spPr>
          <a:xfrm>
            <a:off x="9709072" y="8781670"/>
            <a:ext cx="1915654" cy="147828"/>
          </a:xfrm>
          <a:prstGeom prst="rect">
            <a:avLst/>
          </a:prstGeom>
          <a:noFill/>
          <a:ln/>
        </p:spPr>
        <p:txBody>
          <a:bodyPr wrap="square" lIns="25400" tIns="25400" rIns="25400" bIns="25400" rtlCol="0" anchor="t">
            <a:normAutofit fontScale="85000" lnSpcReduction="10000"/>
          </a:bodyPr>
          <a:lstStyle/>
          <a:p>
            <a:pPr marL="0" indent="0" algn="l">
              <a:buNone/>
            </a:pPr>
            <a:r>
              <a:rPr lang="en-US" sz="825" dirty="0">
                <a:solidFill>
                  <a:srgbClr val="666666"/>
                </a:solidFill>
                <a:latin typeface="Arial" pitchFamily="34" charset="0"/>
                <a:ea typeface="Arial" pitchFamily="34" charset="-122"/>
                <a:cs typeface="Arial" pitchFamily="34" charset="-120"/>
              </a:rPr>
              <a:t>serverless SQL</a:t>
            </a:r>
            <a:endParaRPr lang="en-US" sz="825" dirty="0"/>
          </a:p>
        </p:txBody>
      </p:sp>
      <p:sp>
        <p:nvSpPr>
          <p:cNvPr id="106" name="Shape 104"/>
          <p:cNvSpPr/>
          <p:nvPr/>
        </p:nvSpPr>
        <p:spPr>
          <a:xfrm>
            <a:off x="11660030" y="7996429"/>
            <a:ext cx="2008108" cy="1514904"/>
          </a:xfrm>
          <a:prstGeom prst="roundRect">
            <a:avLst>
              <a:gd name="adj" fmla="val 5659"/>
            </a:avLst>
          </a:prstGeom>
          <a:solidFill>
            <a:srgbClr val="141414"/>
          </a:solidFill>
          <a:ln/>
        </p:spPr>
        <p:txBody>
          <a:bodyPr/>
          <a:lstStyle/>
          <a:p>
            <a:endParaRPr lang="en-US"/>
          </a:p>
        </p:txBody>
      </p:sp>
      <p:sp>
        <p:nvSpPr>
          <p:cNvPr id="107" name="Text 105"/>
          <p:cNvSpPr/>
          <p:nvPr/>
        </p:nvSpPr>
        <p:spPr>
          <a:xfrm>
            <a:off x="11793334" y="8616364"/>
            <a:ext cx="1915654" cy="184404"/>
          </a:xfrm>
          <a:prstGeom prst="rect">
            <a:avLst/>
          </a:prstGeom>
          <a:noFill/>
          <a:ln/>
        </p:spPr>
        <p:txBody>
          <a:bodyPr wrap="square" lIns="25400" tIns="25400" rIns="25400" bIns="25400" rtlCol="0" anchor="t">
            <a:normAutofit fontScale="92500" lnSpcReduction="20000"/>
          </a:bodyPr>
          <a:lstStyle/>
          <a:p>
            <a:pPr marL="0" indent="0" algn="l">
              <a:buNone/>
            </a:pPr>
            <a:r>
              <a:rPr lang="en-US" sz="1050" dirty="0">
                <a:solidFill>
                  <a:srgbClr val="FFFFFF"/>
                </a:solidFill>
                <a:latin typeface="Arial" pitchFamily="34" charset="0"/>
                <a:ea typeface="Arial" pitchFamily="34" charset="-122"/>
                <a:cs typeface="Arial" pitchFamily="34" charset="-120"/>
              </a:rPr>
              <a:t>Comprehend</a:t>
            </a:r>
            <a:endParaRPr lang="en-US" sz="1050" dirty="0"/>
          </a:p>
        </p:txBody>
      </p:sp>
      <p:sp>
        <p:nvSpPr>
          <p:cNvPr id="108" name="Text 106"/>
          <p:cNvSpPr/>
          <p:nvPr/>
        </p:nvSpPr>
        <p:spPr>
          <a:xfrm>
            <a:off x="11793334" y="8781670"/>
            <a:ext cx="1915654" cy="147828"/>
          </a:xfrm>
          <a:prstGeom prst="rect">
            <a:avLst/>
          </a:prstGeom>
          <a:noFill/>
          <a:ln/>
        </p:spPr>
        <p:txBody>
          <a:bodyPr wrap="square" lIns="25400" tIns="25400" rIns="25400" bIns="25400" rtlCol="0" anchor="t">
            <a:normAutofit fontScale="85000" lnSpcReduction="10000"/>
          </a:bodyPr>
          <a:lstStyle/>
          <a:p>
            <a:pPr marL="0" indent="0" algn="l">
              <a:buNone/>
            </a:pPr>
            <a:r>
              <a:rPr lang="en-US" sz="825" dirty="0">
                <a:solidFill>
                  <a:srgbClr val="666666"/>
                </a:solidFill>
                <a:latin typeface="Arial" pitchFamily="34" charset="0"/>
                <a:ea typeface="Arial" pitchFamily="34" charset="-122"/>
                <a:cs typeface="Arial" pitchFamily="34" charset="-120"/>
              </a:rPr>
              <a:t>NLP sentiment</a:t>
            </a:r>
            <a:endParaRPr lang="en-US" sz="825" dirty="0"/>
          </a:p>
        </p:txBody>
      </p:sp>
      <p:sp>
        <p:nvSpPr>
          <p:cNvPr id="109" name="Shape 107"/>
          <p:cNvSpPr/>
          <p:nvPr/>
        </p:nvSpPr>
        <p:spPr>
          <a:xfrm>
            <a:off x="13744291" y="7996429"/>
            <a:ext cx="2008108" cy="1514904"/>
          </a:xfrm>
          <a:prstGeom prst="roundRect">
            <a:avLst>
              <a:gd name="adj" fmla="val 5659"/>
            </a:avLst>
          </a:prstGeom>
          <a:solidFill>
            <a:srgbClr val="141414"/>
          </a:solidFill>
          <a:ln/>
        </p:spPr>
        <p:txBody>
          <a:bodyPr/>
          <a:lstStyle/>
          <a:p>
            <a:endParaRPr lang="en-US"/>
          </a:p>
        </p:txBody>
      </p:sp>
      <p:sp>
        <p:nvSpPr>
          <p:cNvPr id="110" name="Text 108"/>
          <p:cNvSpPr/>
          <p:nvPr/>
        </p:nvSpPr>
        <p:spPr>
          <a:xfrm>
            <a:off x="13877594" y="8616364"/>
            <a:ext cx="1915654" cy="184404"/>
          </a:xfrm>
          <a:prstGeom prst="rect">
            <a:avLst/>
          </a:prstGeom>
          <a:noFill/>
          <a:ln/>
        </p:spPr>
        <p:txBody>
          <a:bodyPr wrap="square" lIns="25400" tIns="25400" rIns="25400" bIns="25400" rtlCol="0" anchor="t">
            <a:normAutofit fontScale="92500" lnSpcReduction="20000"/>
          </a:bodyPr>
          <a:lstStyle/>
          <a:p>
            <a:pPr marL="0" indent="0" algn="l">
              <a:buNone/>
            </a:pPr>
            <a:r>
              <a:rPr lang="en-US" sz="1050" dirty="0">
                <a:solidFill>
                  <a:srgbClr val="FFFFFF"/>
                </a:solidFill>
                <a:latin typeface="Arial" pitchFamily="34" charset="0"/>
                <a:ea typeface="Arial" pitchFamily="34" charset="-122"/>
                <a:cs typeface="Arial" pitchFamily="34" charset="-120"/>
              </a:rPr>
              <a:t>QuickSight</a:t>
            </a:r>
            <a:endParaRPr lang="en-US" sz="1050" dirty="0"/>
          </a:p>
        </p:txBody>
      </p:sp>
      <p:sp>
        <p:nvSpPr>
          <p:cNvPr id="111" name="Text 109"/>
          <p:cNvSpPr/>
          <p:nvPr/>
        </p:nvSpPr>
        <p:spPr>
          <a:xfrm>
            <a:off x="13877594" y="8781670"/>
            <a:ext cx="1915654" cy="147828"/>
          </a:xfrm>
          <a:prstGeom prst="rect">
            <a:avLst/>
          </a:prstGeom>
          <a:noFill/>
          <a:ln/>
        </p:spPr>
        <p:txBody>
          <a:bodyPr wrap="square" lIns="25400" tIns="25400" rIns="25400" bIns="25400" rtlCol="0" anchor="t">
            <a:normAutofit fontScale="85000" lnSpcReduction="10000"/>
          </a:bodyPr>
          <a:lstStyle/>
          <a:p>
            <a:pPr marL="0" indent="0" algn="l">
              <a:buNone/>
            </a:pPr>
            <a:r>
              <a:rPr lang="en-US" sz="825" dirty="0">
                <a:solidFill>
                  <a:srgbClr val="666666"/>
                </a:solidFill>
                <a:latin typeface="Arial" pitchFamily="34" charset="0"/>
                <a:ea typeface="Arial" pitchFamily="34" charset="-122"/>
                <a:cs typeface="Arial" pitchFamily="34" charset="-120"/>
              </a:rPr>
              <a:t>BI dashboards</a:t>
            </a:r>
            <a:endParaRPr lang="en-US" sz="825" dirty="0"/>
          </a:p>
        </p:txBody>
      </p:sp>
      <p:sp>
        <p:nvSpPr>
          <p:cNvPr id="112" name="Text 110"/>
          <p:cNvSpPr/>
          <p:nvPr/>
        </p:nvSpPr>
        <p:spPr>
          <a:xfrm>
            <a:off x="15828552" y="7996429"/>
            <a:ext cx="219075" cy="1553004"/>
          </a:xfrm>
          <a:prstGeom prst="rect">
            <a:avLst/>
          </a:prstGeom>
          <a:noFill/>
          <a:ln/>
        </p:spPr>
        <p:txBody>
          <a:bodyPr wrap="none" lIns="25400" tIns="25400" rIns="25400" bIns="25400" rtlCol="0" anchor="ctr">
            <a:normAutofit/>
          </a:bodyPr>
          <a:lstStyle/>
          <a:p>
            <a:pPr marL="0" indent="0" algn="l">
              <a:buNone/>
            </a:pPr>
            <a:r>
              <a:rPr lang="en-US" sz="1125" dirty="0">
                <a:solidFill>
                  <a:srgbClr val="444444"/>
                </a:solidFill>
                <a:latin typeface="Arial" pitchFamily="34" charset="0"/>
                <a:ea typeface="Arial" pitchFamily="34" charset="-122"/>
                <a:cs typeface="Arial" pitchFamily="34" charset="-120"/>
              </a:rPr>
              <a:t>→</a:t>
            </a:r>
            <a:endParaRPr lang="en-US" sz="1125" dirty="0"/>
          </a:p>
        </p:txBody>
      </p:sp>
      <p:sp>
        <p:nvSpPr>
          <p:cNvPr id="113" name="Shape 111"/>
          <p:cNvSpPr/>
          <p:nvPr/>
        </p:nvSpPr>
        <p:spPr>
          <a:xfrm>
            <a:off x="16047580" y="7996429"/>
            <a:ext cx="1478328" cy="1514904"/>
          </a:xfrm>
          <a:prstGeom prst="roundRect">
            <a:avLst>
              <a:gd name="adj" fmla="val 5799"/>
            </a:avLst>
          </a:prstGeom>
          <a:solidFill>
            <a:srgbClr val="1C1C1C"/>
          </a:solidFill>
          <a:ln w="9144">
            <a:solidFill>
              <a:srgbClr val="262626"/>
            </a:solidFill>
            <a:prstDash val="solid"/>
          </a:ln>
        </p:spPr>
        <p:txBody>
          <a:bodyPr/>
          <a:lstStyle/>
          <a:p>
            <a:endParaRPr lang="en-US"/>
          </a:p>
        </p:txBody>
      </p:sp>
      <p:sp>
        <p:nvSpPr>
          <p:cNvPr id="114" name="Text 112"/>
          <p:cNvSpPr/>
          <p:nvPr/>
        </p:nvSpPr>
        <p:spPr>
          <a:xfrm>
            <a:off x="16228030" y="8616364"/>
            <a:ext cx="1193626" cy="184404"/>
          </a:xfrm>
          <a:prstGeom prst="rect">
            <a:avLst/>
          </a:prstGeom>
          <a:noFill/>
          <a:ln/>
        </p:spPr>
        <p:txBody>
          <a:bodyPr wrap="none" lIns="25400" tIns="25400" rIns="25400" bIns="25400" rtlCol="0" anchor="t">
            <a:normAutofit fontScale="92500" lnSpcReduction="20000"/>
          </a:bodyPr>
          <a:lstStyle/>
          <a:p>
            <a:pPr marL="0" indent="0" algn="l">
              <a:buNone/>
            </a:pPr>
            <a:r>
              <a:rPr lang="en-US" sz="1050" dirty="0">
                <a:solidFill>
                  <a:srgbClr val="FFFFFF"/>
                </a:solidFill>
                <a:latin typeface="Arial" pitchFamily="34" charset="0"/>
                <a:ea typeface="Arial" pitchFamily="34" charset="-122"/>
                <a:cs typeface="Arial" pitchFamily="34" charset="-120"/>
              </a:rPr>
              <a:t>API Gateway</a:t>
            </a:r>
            <a:endParaRPr lang="en-US" sz="1050" dirty="0"/>
          </a:p>
        </p:txBody>
      </p:sp>
      <p:sp>
        <p:nvSpPr>
          <p:cNvPr id="115" name="Text 113"/>
          <p:cNvSpPr/>
          <p:nvPr/>
        </p:nvSpPr>
        <p:spPr>
          <a:xfrm>
            <a:off x="16228030" y="8781670"/>
            <a:ext cx="1193626" cy="147828"/>
          </a:xfrm>
          <a:prstGeom prst="rect">
            <a:avLst/>
          </a:prstGeom>
          <a:noFill/>
          <a:ln/>
        </p:spPr>
        <p:txBody>
          <a:bodyPr wrap="none" lIns="25400" tIns="25400" rIns="25400" bIns="25400" rtlCol="0" anchor="t">
            <a:normAutofit fontScale="85000" lnSpcReduction="10000"/>
          </a:bodyPr>
          <a:lstStyle/>
          <a:p>
            <a:pPr marL="0" indent="0" algn="l">
              <a:buNone/>
            </a:pPr>
            <a:r>
              <a:rPr lang="en-US" sz="825" dirty="0">
                <a:solidFill>
                  <a:srgbClr val="666666"/>
                </a:solidFill>
                <a:latin typeface="Arial" pitchFamily="34" charset="0"/>
                <a:ea typeface="Arial" pitchFamily="34" charset="-122"/>
                <a:cs typeface="Arial" pitchFamily="34" charset="-120"/>
              </a:rPr>
              <a:t>Partner APIs · AI agents</a:t>
            </a:r>
            <a:endParaRPr lang="en-US" sz="825" dirty="0"/>
          </a:p>
        </p:txBody>
      </p:sp>
      <p:sp>
        <p:nvSpPr>
          <p:cNvPr id="116" name="Text 114"/>
          <p:cNvSpPr/>
          <p:nvPr/>
        </p:nvSpPr>
        <p:spPr>
          <a:xfrm>
            <a:off x="761952" y="9625490"/>
            <a:ext cx="18440350" cy="166116"/>
          </a:xfrm>
          <a:prstGeom prst="rect">
            <a:avLst/>
          </a:prstGeom>
          <a:noFill/>
          <a:ln/>
        </p:spPr>
        <p:txBody>
          <a:bodyPr wrap="square" lIns="25400" tIns="25400" rIns="25400" bIns="25400" rtlCol="0" anchor="t">
            <a:normAutofit fontScale="92500" lnSpcReduction="10000"/>
          </a:bodyPr>
          <a:lstStyle/>
          <a:p>
            <a:pPr marL="0" indent="0" algn="l">
              <a:buNone/>
            </a:pPr>
            <a:r>
              <a:rPr lang="en-US" sz="900" kern="0" spc="90" dirty="0">
                <a:solidFill>
                  <a:srgbClr val="2A2A2A"/>
                </a:solidFill>
                <a:latin typeface="Arial" pitchFamily="34" charset="0"/>
                <a:ea typeface="Arial" pitchFamily="34" charset="-122"/>
                <a:cs typeface="Arial" pitchFamily="34" charset="-120"/>
              </a:rPr>
              <a:t>MANGA DATAHUB · CLOUD ANALYTICS · IE UNIVERSITY</a:t>
            </a:r>
            <a:endParaRPr lang="en-US" sz="900" dirty="0"/>
          </a:p>
        </p:txBody>
      </p:sp>
    </p:spTree>
  </p:cSld>
  <p:clrMapOvr>
    <a:masterClrMapping/>
  </p:clrMapOvr>
  <p:transition spd="slow">
    <p:push dir="u"/>
  </p:transition>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90909"/>
        </a:solidFill>
        <a:effectLst/>
      </p:bgPr>
    </p:bg>
    <p:spTree>
      <p:nvGrpSpPr>
        <p:cNvPr id="1" name=""/>
        <p:cNvGrpSpPr/>
        <p:nvPr/>
      </p:nvGrpSpPr>
      <p:grpSpPr>
        <a:xfrm>
          <a:off x="0" y="0"/>
          <a:ext cx="0" cy="0"/>
          <a:chOff x="0" y="0"/>
          <a:chExt cx="0" cy="0"/>
        </a:xfrm>
      </p:grpSpPr>
      <p:sp>
        <p:nvSpPr>
          <p:cNvPr id="2" name="Text 0"/>
          <p:cNvSpPr/>
          <p:nvPr/>
        </p:nvSpPr>
        <p:spPr>
          <a:xfrm>
            <a:off x="952405" y="685657"/>
            <a:ext cx="15744228" cy="220980"/>
          </a:xfrm>
          <a:prstGeom prst="rect">
            <a:avLst/>
          </a:prstGeom>
          <a:noFill/>
          <a:ln/>
        </p:spPr>
        <p:txBody>
          <a:bodyPr wrap="square" lIns="25400" tIns="25400" rIns="25400" bIns="25400" rtlCol="0" anchor="t">
            <a:normAutofit lnSpcReduction="10000"/>
          </a:bodyPr>
          <a:lstStyle/>
          <a:p>
            <a:pPr marL="0" indent="0" algn="l">
              <a:buNone/>
            </a:pPr>
            <a:r>
              <a:rPr lang="en-US" sz="1200" kern="0" spc="168" dirty="0">
                <a:solidFill>
                  <a:srgbClr val="888888"/>
                </a:solidFill>
                <a:latin typeface="Arial" pitchFamily="34" charset="0"/>
                <a:ea typeface="Arial" pitchFamily="34" charset="-122"/>
                <a:cs typeface="Arial" pitchFamily="34" charset="-120"/>
              </a:rPr>
              <a:t>REQUIREMENTS COVERAGE</a:t>
            </a:r>
            <a:endParaRPr lang="en-US" sz="1200" dirty="0"/>
          </a:p>
        </p:txBody>
      </p:sp>
      <p:sp>
        <p:nvSpPr>
          <p:cNvPr id="3" name="Text 1"/>
          <p:cNvSpPr/>
          <p:nvPr/>
        </p:nvSpPr>
        <p:spPr>
          <a:xfrm>
            <a:off x="952405" y="1001840"/>
            <a:ext cx="14742323" cy="1232535"/>
          </a:xfrm>
          <a:prstGeom prst="rect">
            <a:avLst/>
          </a:prstGeom>
          <a:noFill/>
          <a:ln/>
        </p:spPr>
        <p:txBody>
          <a:bodyPr wrap="square" lIns="25400" tIns="25400" rIns="25400" bIns="25400" rtlCol="0" anchor="t">
            <a:normAutofit/>
          </a:bodyPr>
          <a:lstStyle/>
          <a:p>
            <a:pPr marL="0" indent="0" algn="l">
              <a:lnSpc>
                <a:spcPct val="95000"/>
              </a:lnSpc>
              <a:buNone/>
            </a:pPr>
            <a:r>
              <a:rPr lang="en-US" sz="4950" b="1" kern="0" spc="-240" dirty="0">
                <a:solidFill>
                  <a:srgbClr val="FFFFFF"/>
                </a:solidFill>
                <a:latin typeface="Arial" pitchFamily="34" charset="0"/>
                <a:ea typeface="Arial" pitchFamily="34" charset="-122"/>
                <a:cs typeface="Arial" pitchFamily="34" charset="-120"/>
              </a:rPr>
              <a:t>All eight RFP requirements, fully covered</a:t>
            </a:r>
            <a:endParaRPr lang="en-US" sz="4950" dirty="0"/>
          </a:p>
        </p:txBody>
      </p:sp>
      <p:sp>
        <p:nvSpPr>
          <p:cNvPr id="4" name="Text 2"/>
          <p:cNvSpPr/>
          <p:nvPr/>
        </p:nvSpPr>
        <p:spPr>
          <a:xfrm>
            <a:off x="15836696" y="1186720"/>
            <a:ext cx="1648635" cy="1028653"/>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7800" b="1" kern="0" spc="-375" dirty="0">
                <a:solidFill>
                  <a:srgbClr val="FFFFFF"/>
                </a:solidFill>
                <a:latin typeface="Arial" pitchFamily="34" charset="0"/>
                <a:ea typeface="Arial" pitchFamily="34" charset="-122"/>
                <a:cs typeface="Arial" pitchFamily="34" charset="-120"/>
              </a:rPr>
              <a:t>8/8</a:t>
            </a:r>
            <a:endParaRPr lang="en-US" sz="7800" dirty="0"/>
          </a:p>
        </p:txBody>
      </p:sp>
      <p:sp>
        <p:nvSpPr>
          <p:cNvPr id="5" name="Shape 3"/>
          <p:cNvSpPr/>
          <p:nvPr/>
        </p:nvSpPr>
        <p:spPr>
          <a:xfrm>
            <a:off x="952405" y="2443877"/>
            <a:ext cx="16383050" cy="9525"/>
          </a:xfrm>
          <a:prstGeom prst="rect">
            <a:avLst/>
          </a:prstGeom>
          <a:solidFill>
            <a:srgbClr val="262626"/>
          </a:solidFill>
          <a:ln/>
        </p:spPr>
        <p:txBody>
          <a:bodyPr/>
          <a:lstStyle/>
          <a:p>
            <a:endParaRPr lang="en-US"/>
          </a:p>
        </p:txBody>
      </p:sp>
      <p:sp>
        <p:nvSpPr>
          <p:cNvPr id="6" name="Shape 4"/>
          <p:cNvSpPr/>
          <p:nvPr/>
        </p:nvSpPr>
        <p:spPr>
          <a:xfrm>
            <a:off x="952405" y="3477007"/>
            <a:ext cx="16383050" cy="9525"/>
          </a:xfrm>
          <a:prstGeom prst="rect">
            <a:avLst/>
          </a:prstGeom>
          <a:solidFill>
            <a:srgbClr val="1A1A1A"/>
          </a:solidFill>
          <a:ln/>
        </p:spPr>
        <p:txBody>
          <a:bodyPr/>
          <a:lstStyle/>
          <a:p>
            <a:endParaRPr lang="en-US"/>
          </a:p>
        </p:txBody>
      </p:sp>
      <p:sp>
        <p:nvSpPr>
          <p:cNvPr id="7" name="Text 5"/>
          <p:cNvSpPr/>
          <p:nvPr/>
        </p:nvSpPr>
        <p:spPr>
          <a:xfrm>
            <a:off x="952405" y="2997518"/>
            <a:ext cx="380952" cy="220980"/>
          </a:xfrm>
          <a:prstGeom prst="rect">
            <a:avLst/>
          </a:prstGeom>
          <a:noFill/>
          <a:ln/>
        </p:spPr>
        <p:txBody>
          <a:bodyPr wrap="square" lIns="25400" tIns="25400" rIns="25400" bIns="25400" rtlCol="0" anchor="t">
            <a:normAutofit lnSpcReduction="10000"/>
          </a:bodyPr>
          <a:lstStyle/>
          <a:p>
            <a:pPr marL="0" indent="0" algn="l">
              <a:buNone/>
            </a:pPr>
            <a:r>
              <a:rPr lang="en-US" sz="1200" b="1" dirty="0">
                <a:solidFill>
                  <a:srgbClr val="555555"/>
                </a:solidFill>
                <a:latin typeface="Arial" pitchFamily="34" charset="0"/>
                <a:ea typeface="Arial" pitchFamily="34" charset="-122"/>
                <a:cs typeface="Arial" pitchFamily="34" charset="-120"/>
              </a:rPr>
              <a:t>R1</a:t>
            </a:r>
            <a:endParaRPr lang="en-US" sz="1200" dirty="0"/>
          </a:p>
        </p:txBody>
      </p:sp>
      <p:sp>
        <p:nvSpPr>
          <p:cNvPr id="8" name="Shape 6"/>
          <p:cNvSpPr/>
          <p:nvPr/>
        </p:nvSpPr>
        <p:spPr>
          <a:xfrm>
            <a:off x="1485615" y="2972801"/>
            <a:ext cx="859822" cy="232315"/>
          </a:xfrm>
          <a:prstGeom prst="roundRect">
            <a:avLst>
              <a:gd name="adj" fmla="val 50000"/>
            </a:avLst>
          </a:prstGeom>
          <a:solidFill>
            <a:srgbClr val="22C55E">
              <a:alpha val="12000"/>
            </a:srgbClr>
          </a:solidFill>
          <a:ln/>
        </p:spPr>
        <p:txBody>
          <a:bodyPr/>
          <a:lstStyle/>
          <a:p>
            <a:endParaRPr lang="en-US"/>
          </a:p>
        </p:txBody>
      </p:sp>
      <p:sp>
        <p:nvSpPr>
          <p:cNvPr id="9" name="Text 7"/>
          <p:cNvSpPr/>
          <p:nvPr/>
        </p:nvSpPr>
        <p:spPr>
          <a:xfrm>
            <a:off x="1609440" y="3020426"/>
            <a:ext cx="688372" cy="175165"/>
          </a:xfrm>
          <a:prstGeom prst="rect">
            <a:avLst/>
          </a:prstGeom>
          <a:noFill/>
          <a:ln/>
        </p:spPr>
        <p:txBody>
          <a:bodyPr wrap="none" lIns="25400" tIns="25400" rIns="25400" bIns="25400" rtlCol="0" anchor="t">
            <a:normAutofit fontScale="92500" lnSpcReduction="10000"/>
          </a:bodyPr>
          <a:lstStyle/>
          <a:p>
            <a:pPr marL="0" indent="0" algn="l">
              <a:buNone/>
            </a:pPr>
            <a:r>
              <a:rPr lang="en-US" sz="975" b="1" dirty="0">
                <a:solidFill>
                  <a:srgbClr val="22C55E"/>
                </a:solidFill>
                <a:latin typeface="Arial" pitchFamily="34" charset="0"/>
                <a:ea typeface="Arial" pitchFamily="34" charset="-122"/>
                <a:cs typeface="Arial" pitchFamily="34" charset="-120"/>
              </a:rPr>
              <a:t>COVERED</a:t>
            </a:r>
            <a:endParaRPr lang="en-US" sz="975" dirty="0"/>
          </a:p>
        </p:txBody>
      </p:sp>
      <p:sp>
        <p:nvSpPr>
          <p:cNvPr id="10" name="Text 8"/>
          <p:cNvSpPr/>
          <p:nvPr/>
        </p:nvSpPr>
        <p:spPr>
          <a:xfrm>
            <a:off x="2573893" y="2983802"/>
            <a:ext cx="13331625" cy="248412"/>
          </a:xfrm>
          <a:prstGeom prst="rect">
            <a:avLst/>
          </a:prstGeom>
          <a:noFill/>
          <a:ln/>
        </p:spPr>
        <p:txBody>
          <a:bodyPr wrap="square" lIns="25400" tIns="25400" rIns="25400" bIns="25400" rtlCol="0" anchor="t">
            <a:normAutofit lnSpcReduction="10000"/>
          </a:bodyPr>
          <a:lstStyle/>
          <a:p>
            <a:pPr marL="0" indent="0" algn="l">
              <a:buNone/>
            </a:pPr>
            <a:r>
              <a:rPr lang="en-US" sz="1425" kern="0" spc="-15" dirty="0">
                <a:solidFill>
                  <a:srgbClr val="FFFFFF"/>
                </a:solidFill>
                <a:latin typeface="Arial" pitchFamily="34" charset="0"/>
                <a:ea typeface="Arial" pitchFamily="34" charset="-122"/>
                <a:cs typeface="Arial" pitchFamily="34" charset="-120"/>
              </a:rPr>
              <a:t>Unified multi-modal platform</a:t>
            </a:r>
            <a:endParaRPr lang="en-US" sz="1425" dirty="0"/>
          </a:p>
        </p:txBody>
      </p:sp>
      <p:sp>
        <p:nvSpPr>
          <p:cNvPr id="11" name="Text 9"/>
          <p:cNvSpPr/>
          <p:nvPr/>
        </p:nvSpPr>
        <p:spPr>
          <a:xfrm>
            <a:off x="14922010" y="3006662"/>
            <a:ext cx="2654789" cy="202692"/>
          </a:xfrm>
          <a:prstGeom prst="rect">
            <a:avLst/>
          </a:prstGeom>
          <a:noFill/>
          <a:ln/>
        </p:spPr>
        <p:txBody>
          <a:bodyPr wrap="square" lIns="25400" tIns="25400" rIns="25400" bIns="25400" rtlCol="0" anchor="t">
            <a:normAutofit fontScale="92500" lnSpcReduction="10000"/>
          </a:bodyPr>
          <a:lstStyle/>
          <a:p>
            <a:pPr marL="0" indent="0" algn="l">
              <a:buNone/>
            </a:pPr>
            <a:r>
              <a:rPr lang="en-US" sz="1125" dirty="0">
                <a:solidFill>
                  <a:srgbClr val="666666"/>
                </a:solidFill>
                <a:latin typeface="Arial" pitchFamily="34" charset="0"/>
                <a:ea typeface="Arial" pitchFamily="34" charset="-122"/>
                <a:cs typeface="Arial" pitchFamily="34" charset="-120"/>
              </a:rPr>
              <a:t>Kinesis · Glue · S3 · Redshift · Athena</a:t>
            </a:r>
            <a:endParaRPr lang="en-US" sz="1125" dirty="0"/>
          </a:p>
        </p:txBody>
      </p:sp>
      <p:sp>
        <p:nvSpPr>
          <p:cNvPr id="12" name="Shape 10"/>
          <p:cNvSpPr/>
          <p:nvPr/>
        </p:nvSpPr>
        <p:spPr>
          <a:xfrm>
            <a:off x="952405" y="4262391"/>
            <a:ext cx="16383050" cy="9525"/>
          </a:xfrm>
          <a:prstGeom prst="rect">
            <a:avLst/>
          </a:prstGeom>
          <a:solidFill>
            <a:srgbClr val="1A1A1A"/>
          </a:solidFill>
          <a:ln/>
        </p:spPr>
        <p:txBody>
          <a:bodyPr/>
          <a:lstStyle/>
          <a:p>
            <a:endParaRPr lang="en-US"/>
          </a:p>
        </p:txBody>
      </p:sp>
      <p:sp>
        <p:nvSpPr>
          <p:cNvPr id="13" name="Text 11"/>
          <p:cNvSpPr/>
          <p:nvPr/>
        </p:nvSpPr>
        <p:spPr>
          <a:xfrm>
            <a:off x="952405" y="3782759"/>
            <a:ext cx="380952" cy="220980"/>
          </a:xfrm>
          <a:prstGeom prst="rect">
            <a:avLst/>
          </a:prstGeom>
          <a:noFill/>
          <a:ln/>
        </p:spPr>
        <p:txBody>
          <a:bodyPr wrap="square" lIns="25400" tIns="25400" rIns="25400" bIns="25400" rtlCol="0" anchor="t">
            <a:normAutofit lnSpcReduction="10000"/>
          </a:bodyPr>
          <a:lstStyle/>
          <a:p>
            <a:pPr marL="0" indent="0" algn="l">
              <a:buNone/>
            </a:pPr>
            <a:r>
              <a:rPr lang="en-US" sz="1200" b="1" dirty="0">
                <a:solidFill>
                  <a:srgbClr val="555555"/>
                </a:solidFill>
                <a:latin typeface="Arial" pitchFamily="34" charset="0"/>
                <a:ea typeface="Arial" pitchFamily="34" charset="-122"/>
                <a:cs typeface="Arial" pitchFamily="34" charset="-120"/>
              </a:rPr>
              <a:t>R2</a:t>
            </a:r>
            <a:endParaRPr lang="en-US" sz="1200" dirty="0"/>
          </a:p>
        </p:txBody>
      </p:sp>
      <p:sp>
        <p:nvSpPr>
          <p:cNvPr id="14" name="Shape 12"/>
          <p:cNvSpPr/>
          <p:nvPr/>
        </p:nvSpPr>
        <p:spPr>
          <a:xfrm>
            <a:off x="1485615" y="3758042"/>
            <a:ext cx="859822" cy="232315"/>
          </a:xfrm>
          <a:prstGeom prst="roundRect">
            <a:avLst>
              <a:gd name="adj" fmla="val 50000"/>
            </a:avLst>
          </a:prstGeom>
          <a:solidFill>
            <a:srgbClr val="22C55E">
              <a:alpha val="12000"/>
            </a:srgbClr>
          </a:solidFill>
          <a:ln/>
        </p:spPr>
        <p:txBody>
          <a:bodyPr/>
          <a:lstStyle/>
          <a:p>
            <a:endParaRPr lang="en-US"/>
          </a:p>
        </p:txBody>
      </p:sp>
      <p:sp>
        <p:nvSpPr>
          <p:cNvPr id="15" name="Text 13"/>
          <p:cNvSpPr/>
          <p:nvPr/>
        </p:nvSpPr>
        <p:spPr>
          <a:xfrm>
            <a:off x="1609440" y="3805667"/>
            <a:ext cx="688372" cy="175165"/>
          </a:xfrm>
          <a:prstGeom prst="rect">
            <a:avLst/>
          </a:prstGeom>
          <a:noFill/>
          <a:ln/>
        </p:spPr>
        <p:txBody>
          <a:bodyPr wrap="none" lIns="25400" tIns="25400" rIns="25400" bIns="25400" rtlCol="0" anchor="t">
            <a:normAutofit fontScale="92500" lnSpcReduction="10000"/>
          </a:bodyPr>
          <a:lstStyle/>
          <a:p>
            <a:pPr marL="0" indent="0" algn="l">
              <a:buNone/>
            </a:pPr>
            <a:r>
              <a:rPr lang="en-US" sz="975" b="1" dirty="0">
                <a:solidFill>
                  <a:srgbClr val="22C55E"/>
                </a:solidFill>
                <a:latin typeface="Arial" pitchFamily="34" charset="0"/>
                <a:ea typeface="Arial" pitchFamily="34" charset="-122"/>
                <a:cs typeface="Arial" pitchFamily="34" charset="-120"/>
              </a:rPr>
              <a:t>COVERED</a:t>
            </a:r>
            <a:endParaRPr lang="en-US" sz="975" dirty="0"/>
          </a:p>
        </p:txBody>
      </p:sp>
      <p:sp>
        <p:nvSpPr>
          <p:cNvPr id="16" name="Text 14"/>
          <p:cNvSpPr/>
          <p:nvPr/>
        </p:nvSpPr>
        <p:spPr>
          <a:xfrm>
            <a:off x="2573893" y="3769043"/>
            <a:ext cx="12581174" cy="248412"/>
          </a:xfrm>
          <a:prstGeom prst="rect">
            <a:avLst/>
          </a:prstGeom>
          <a:noFill/>
          <a:ln/>
        </p:spPr>
        <p:txBody>
          <a:bodyPr wrap="square" lIns="25400" tIns="25400" rIns="25400" bIns="25400" rtlCol="0" anchor="t">
            <a:normAutofit lnSpcReduction="10000"/>
          </a:bodyPr>
          <a:lstStyle/>
          <a:p>
            <a:pPr marL="0" indent="0" algn="l">
              <a:buNone/>
            </a:pPr>
            <a:r>
              <a:rPr lang="en-US" sz="1425" kern="0" spc="-15" dirty="0">
                <a:solidFill>
                  <a:srgbClr val="FFFFFF"/>
                </a:solidFill>
                <a:latin typeface="Arial" pitchFamily="34" charset="0"/>
                <a:ea typeface="Arial" pitchFamily="34" charset="-122"/>
                <a:cs typeface="Arial" pitchFamily="34" charset="-120"/>
              </a:rPr>
              <a:t>Multi-environment Dev/Pre/Prod</a:t>
            </a:r>
            <a:endParaRPr lang="en-US" sz="1425" dirty="0"/>
          </a:p>
        </p:txBody>
      </p:sp>
      <p:sp>
        <p:nvSpPr>
          <p:cNvPr id="17" name="Text 15"/>
          <p:cNvSpPr/>
          <p:nvPr/>
        </p:nvSpPr>
        <p:spPr>
          <a:xfrm>
            <a:off x="14239782" y="3791903"/>
            <a:ext cx="3405241" cy="202692"/>
          </a:xfrm>
          <a:prstGeom prst="rect">
            <a:avLst/>
          </a:prstGeom>
          <a:noFill/>
          <a:ln/>
        </p:spPr>
        <p:txBody>
          <a:bodyPr wrap="square" lIns="25400" tIns="25400" rIns="25400" bIns="25400" rtlCol="0" anchor="t">
            <a:normAutofit fontScale="92500" lnSpcReduction="10000"/>
          </a:bodyPr>
          <a:lstStyle/>
          <a:p>
            <a:pPr marL="0" indent="0" algn="l">
              <a:buNone/>
            </a:pPr>
            <a:r>
              <a:rPr lang="en-US" sz="1125" dirty="0">
                <a:solidFill>
                  <a:srgbClr val="666666"/>
                </a:solidFill>
                <a:latin typeface="Arial" pitchFamily="34" charset="0"/>
                <a:ea typeface="Arial" pitchFamily="34" charset="-122"/>
                <a:cs typeface="Arial" pitchFamily="34" charset="-120"/>
              </a:rPr>
              <a:t>AWS Organizations · Terraform · Lake Formation</a:t>
            </a:r>
            <a:endParaRPr lang="en-US" sz="1125" dirty="0"/>
          </a:p>
        </p:txBody>
      </p:sp>
      <p:sp>
        <p:nvSpPr>
          <p:cNvPr id="18" name="Shape 16"/>
          <p:cNvSpPr/>
          <p:nvPr/>
        </p:nvSpPr>
        <p:spPr>
          <a:xfrm>
            <a:off x="952405" y="5047632"/>
            <a:ext cx="16383050" cy="9525"/>
          </a:xfrm>
          <a:prstGeom prst="rect">
            <a:avLst/>
          </a:prstGeom>
          <a:solidFill>
            <a:srgbClr val="1A1A1A"/>
          </a:solidFill>
          <a:ln/>
        </p:spPr>
        <p:txBody>
          <a:bodyPr/>
          <a:lstStyle/>
          <a:p>
            <a:endParaRPr lang="en-US"/>
          </a:p>
        </p:txBody>
      </p:sp>
      <p:sp>
        <p:nvSpPr>
          <p:cNvPr id="19" name="Text 17"/>
          <p:cNvSpPr/>
          <p:nvPr/>
        </p:nvSpPr>
        <p:spPr>
          <a:xfrm>
            <a:off x="952405" y="4568143"/>
            <a:ext cx="380952" cy="220980"/>
          </a:xfrm>
          <a:prstGeom prst="rect">
            <a:avLst/>
          </a:prstGeom>
          <a:noFill/>
          <a:ln/>
        </p:spPr>
        <p:txBody>
          <a:bodyPr wrap="square" lIns="25400" tIns="25400" rIns="25400" bIns="25400" rtlCol="0" anchor="t">
            <a:normAutofit lnSpcReduction="10000"/>
          </a:bodyPr>
          <a:lstStyle/>
          <a:p>
            <a:pPr marL="0" indent="0" algn="l">
              <a:buNone/>
            </a:pPr>
            <a:r>
              <a:rPr lang="en-US" sz="1200" b="1" dirty="0">
                <a:solidFill>
                  <a:srgbClr val="555555"/>
                </a:solidFill>
                <a:latin typeface="Arial" pitchFamily="34" charset="0"/>
                <a:ea typeface="Arial" pitchFamily="34" charset="-122"/>
                <a:cs typeface="Arial" pitchFamily="34" charset="-120"/>
              </a:rPr>
              <a:t>R3</a:t>
            </a:r>
            <a:endParaRPr lang="en-US" sz="1200" dirty="0"/>
          </a:p>
        </p:txBody>
      </p:sp>
      <p:sp>
        <p:nvSpPr>
          <p:cNvPr id="20" name="Shape 18"/>
          <p:cNvSpPr/>
          <p:nvPr/>
        </p:nvSpPr>
        <p:spPr>
          <a:xfrm>
            <a:off x="1485615" y="4543426"/>
            <a:ext cx="859822" cy="232315"/>
          </a:xfrm>
          <a:prstGeom prst="roundRect">
            <a:avLst>
              <a:gd name="adj" fmla="val 50000"/>
            </a:avLst>
          </a:prstGeom>
          <a:solidFill>
            <a:srgbClr val="22C55E">
              <a:alpha val="12000"/>
            </a:srgbClr>
          </a:solidFill>
          <a:ln/>
        </p:spPr>
        <p:txBody>
          <a:bodyPr/>
          <a:lstStyle/>
          <a:p>
            <a:endParaRPr lang="en-US"/>
          </a:p>
        </p:txBody>
      </p:sp>
      <p:sp>
        <p:nvSpPr>
          <p:cNvPr id="21" name="Text 19"/>
          <p:cNvSpPr/>
          <p:nvPr/>
        </p:nvSpPr>
        <p:spPr>
          <a:xfrm>
            <a:off x="1609440" y="4591051"/>
            <a:ext cx="688372" cy="175165"/>
          </a:xfrm>
          <a:prstGeom prst="rect">
            <a:avLst/>
          </a:prstGeom>
          <a:noFill/>
          <a:ln/>
        </p:spPr>
        <p:txBody>
          <a:bodyPr wrap="none" lIns="25400" tIns="25400" rIns="25400" bIns="25400" rtlCol="0" anchor="t">
            <a:normAutofit fontScale="92500" lnSpcReduction="10000"/>
          </a:bodyPr>
          <a:lstStyle/>
          <a:p>
            <a:pPr marL="0" indent="0" algn="l">
              <a:buNone/>
            </a:pPr>
            <a:r>
              <a:rPr lang="en-US" sz="975" b="1" dirty="0">
                <a:solidFill>
                  <a:srgbClr val="22C55E"/>
                </a:solidFill>
                <a:latin typeface="Arial" pitchFamily="34" charset="0"/>
                <a:ea typeface="Arial" pitchFamily="34" charset="-122"/>
                <a:cs typeface="Arial" pitchFamily="34" charset="-120"/>
              </a:rPr>
              <a:t>COVERED</a:t>
            </a:r>
            <a:endParaRPr lang="en-US" sz="975" dirty="0"/>
          </a:p>
        </p:txBody>
      </p:sp>
      <p:sp>
        <p:nvSpPr>
          <p:cNvPr id="22" name="Text 20"/>
          <p:cNvSpPr/>
          <p:nvPr/>
        </p:nvSpPr>
        <p:spPr>
          <a:xfrm>
            <a:off x="2573893" y="4554427"/>
            <a:ext cx="12345430" cy="248412"/>
          </a:xfrm>
          <a:prstGeom prst="rect">
            <a:avLst/>
          </a:prstGeom>
          <a:noFill/>
          <a:ln/>
        </p:spPr>
        <p:txBody>
          <a:bodyPr wrap="square" lIns="25400" tIns="25400" rIns="25400" bIns="25400" rtlCol="0" anchor="t">
            <a:normAutofit lnSpcReduction="10000"/>
          </a:bodyPr>
          <a:lstStyle/>
          <a:p>
            <a:pPr marL="0" indent="0" algn="l">
              <a:buNone/>
            </a:pPr>
            <a:r>
              <a:rPr lang="en-US" sz="1425" kern="0" spc="-15" dirty="0">
                <a:solidFill>
                  <a:srgbClr val="FFFFFF"/>
                </a:solidFill>
                <a:latin typeface="Arial" pitchFamily="34" charset="0"/>
                <a:ea typeface="Arial" pitchFamily="34" charset="-122"/>
                <a:cs typeface="Arial" pitchFamily="34" charset="-120"/>
              </a:rPr>
              <a:t>Automation &amp; IaC</a:t>
            </a:r>
            <a:endParaRPr lang="en-US" sz="1425" dirty="0"/>
          </a:p>
        </p:txBody>
      </p:sp>
      <p:sp>
        <p:nvSpPr>
          <p:cNvPr id="23" name="Text 21"/>
          <p:cNvSpPr/>
          <p:nvPr/>
        </p:nvSpPr>
        <p:spPr>
          <a:xfrm>
            <a:off x="14025469" y="4577287"/>
            <a:ext cx="3640984" cy="202692"/>
          </a:xfrm>
          <a:prstGeom prst="rect">
            <a:avLst/>
          </a:prstGeom>
          <a:noFill/>
          <a:ln/>
        </p:spPr>
        <p:txBody>
          <a:bodyPr wrap="square" lIns="25400" tIns="25400" rIns="25400" bIns="25400" rtlCol="0" anchor="t">
            <a:normAutofit fontScale="92500" lnSpcReduction="10000"/>
          </a:bodyPr>
          <a:lstStyle/>
          <a:p>
            <a:pPr marL="0" indent="0" algn="l">
              <a:buNone/>
            </a:pPr>
            <a:r>
              <a:rPr lang="en-US" sz="1125" dirty="0">
                <a:solidFill>
                  <a:srgbClr val="666666"/>
                </a:solidFill>
                <a:latin typeface="Arial" pitchFamily="34" charset="0"/>
                <a:ea typeface="Arial" pitchFamily="34" charset="-122"/>
                <a:cs typeface="Arial" pitchFamily="34" charset="-120"/>
              </a:rPr>
              <a:t>MWAA replaces cron · Terraform/CDK · EventBridge</a:t>
            </a:r>
            <a:endParaRPr lang="en-US" sz="1125" dirty="0"/>
          </a:p>
        </p:txBody>
      </p:sp>
      <p:sp>
        <p:nvSpPr>
          <p:cNvPr id="24" name="Shape 22"/>
          <p:cNvSpPr/>
          <p:nvPr/>
        </p:nvSpPr>
        <p:spPr>
          <a:xfrm>
            <a:off x="952405" y="5833016"/>
            <a:ext cx="16383050" cy="9525"/>
          </a:xfrm>
          <a:prstGeom prst="rect">
            <a:avLst/>
          </a:prstGeom>
          <a:solidFill>
            <a:srgbClr val="1A1A1A"/>
          </a:solidFill>
          <a:ln/>
        </p:spPr>
        <p:txBody>
          <a:bodyPr/>
          <a:lstStyle/>
          <a:p>
            <a:endParaRPr lang="en-US"/>
          </a:p>
        </p:txBody>
      </p:sp>
      <p:sp>
        <p:nvSpPr>
          <p:cNvPr id="25" name="Text 23"/>
          <p:cNvSpPr/>
          <p:nvPr/>
        </p:nvSpPr>
        <p:spPr>
          <a:xfrm>
            <a:off x="952405" y="5353384"/>
            <a:ext cx="380952" cy="220980"/>
          </a:xfrm>
          <a:prstGeom prst="rect">
            <a:avLst/>
          </a:prstGeom>
          <a:noFill/>
          <a:ln/>
        </p:spPr>
        <p:txBody>
          <a:bodyPr wrap="square" lIns="25400" tIns="25400" rIns="25400" bIns="25400" rtlCol="0" anchor="t">
            <a:normAutofit lnSpcReduction="10000"/>
          </a:bodyPr>
          <a:lstStyle/>
          <a:p>
            <a:pPr marL="0" indent="0" algn="l">
              <a:buNone/>
            </a:pPr>
            <a:r>
              <a:rPr lang="en-US" sz="1200" b="1" dirty="0">
                <a:solidFill>
                  <a:srgbClr val="555555"/>
                </a:solidFill>
                <a:latin typeface="Arial" pitchFamily="34" charset="0"/>
                <a:ea typeface="Arial" pitchFamily="34" charset="-122"/>
                <a:cs typeface="Arial" pitchFamily="34" charset="-120"/>
              </a:rPr>
              <a:t>R4</a:t>
            </a:r>
            <a:endParaRPr lang="en-US" sz="1200" dirty="0"/>
          </a:p>
        </p:txBody>
      </p:sp>
      <p:sp>
        <p:nvSpPr>
          <p:cNvPr id="26" name="Shape 24"/>
          <p:cNvSpPr/>
          <p:nvPr/>
        </p:nvSpPr>
        <p:spPr>
          <a:xfrm>
            <a:off x="1485615" y="5328667"/>
            <a:ext cx="859822" cy="232315"/>
          </a:xfrm>
          <a:prstGeom prst="roundRect">
            <a:avLst>
              <a:gd name="adj" fmla="val 50000"/>
            </a:avLst>
          </a:prstGeom>
          <a:solidFill>
            <a:srgbClr val="22C55E">
              <a:alpha val="12000"/>
            </a:srgbClr>
          </a:solidFill>
          <a:ln/>
        </p:spPr>
        <p:txBody>
          <a:bodyPr/>
          <a:lstStyle/>
          <a:p>
            <a:endParaRPr lang="en-US"/>
          </a:p>
        </p:txBody>
      </p:sp>
      <p:sp>
        <p:nvSpPr>
          <p:cNvPr id="27" name="Text 25"/>
          <p:cNvSpPr/>
          <p:nvPr/>
        </p:nvSpPr>
        <p:spPr>
          <a:xfrm>
            <a:off x="1609440" y="5376292"/>
            <a:ext cx="688372" cy="175165"/>
          </a:xfrm>
          <a:prstGeom prst="rect">
            <a:avLst/>
          </a:prstGeom>
          <a:noFill/>
          <a:ln/>
        </p:spPr>
        <p:txBody>
          <a:bodyPr wrap="none" lIns="25400" tIns="25400" rIns="25400" bIns="25400" rtlCol="0" anchor="t">
            <a:normAutofit fontScale="92500" lnSpcReduction="10000"/>
          </a:bodyPr>
          <a:lstStyle/>
          <a:p>
            <a:pPr marL="0" indent="0" algn="l">
              <a:buNone/>
            </a:pPr>
            <a:r>
              <a:rPr lang="en-US" sz="975" b="1" dirty="0">
                <a:solidFill>
                  <a:srgbClr val="22C55E"/>
                </a:solidFill>
                <a:latin typeface="Arial" pitchFamily="34" charset="0"/>
                <a:ea typeface="Arial" pitchFamily="34" charset="-122"/>
                <a:cs typeface="Arial" pitchFamily="34" charset="-120"/>
              </a:rPr>
              <a:t>COVERED</a:t>
            </a:r>
            <a:endParaRPr lang="en-US" sz="975" dirty="0"/>
          </a:p>
        </p:txBody>
      </p:sp>
      <p:sp>
        <p:nvSpPr>
          <p:cNvPr id="28" name="Text 26"/>
          <p:cNvSpPr/>
          <p:nvPr/>
        </p:nvSpPr>
        <p:spPr>
          <a:xfrm>
            <a:off x="2573893" y="5339668"/>
            <a:ext cx="12511237" cy="248412"/>
          </a:xfrm>
          <a:prstGeom prst="rect">
            <a:avLst/>
          </a:prstGeom>
          <a:noFill/>
          <a:ln/>
        </p:spPr>
        <p:txBody>
          <a:bodyPr wrap="square" lIns="25400" tIns="25400" rIns="25400" bIns="25400" rtlCol="0" anchor="t">
            <a:normAutofit lnSpcReduction="10000"/>
          </a:bodyPr>
          <a:lstStyle/>
          <a:p>
            <a:pPr marL="0" indent="0" algn="l">
              <a:buNone/>
            </a:pPr>
            <a:r>
              <a:rPr lang="en-US" sz="1425" kern="0" spc="-15" dirty="0">
                <a:solidFill>
                  <a:srgbClr val="FFFFFF"/>
                </a:solidFill>
                <a:latin typeface="Arial" pitchFamily="34" charset="0"/>
                <a:ea typeface="Arial" pitchFamily="34" charset="-122"/>
                <a:cs typeface="Arial" pitchFamily="34" charset="-120"/>
              </a:rPr>
              <a:t>Security &amp; high availability</a:t>
            </a:r>
            <a:endParaRPr lang="en-US" sz="1425" dirty="0"/>
          </a:p>
        </p:txBody>
      </p:sp>
      <p:sp>
        <p:nvSpPr>
          <p:cNvPr id="29" name="Text 27"/>
          <p:cNvSpPr/>
          <p:nvPr/>
        </p:nvSpPr>
        <p:spPr>
          <a:xfrm>
            <a:off x="14176202" y="5362528"/>
            <a:ext cx="3475178" cy="202692"/>
          </a:xfrm>
          <a:prstGeom prst="rect">
            <a:avLst/>
          </a:prstGeom>
          <a:noFill/>
          <a:ln/>
        </p:spPr>
        <p:txBody>
          <a:bodyPr wrap="square" lIns="25400" tIns="25400" rIns="25400" bIns="25400" rtlCol="0" anchor="t">
            <a:normAutofit fontScale="92500" lnSpcReduction="10000"/>
          </a:bodyPr>
          <a:lstStyle/>
          <a:p>
            <a:pPr marL="0" indent="0" algn="l">
              <a:buNone/>
            </a:pPr>
            <a:r>
              <a:rPr lang="en-US" sz="1125" dirty="0">
                <a:solidFill>
                  <a:srgbClr val="666666"/>
                </a:solidFill>
                <a:latin typeface="Arial" pitchFamily="34" charset="0"/>
                <a:ea typeface="Arial" pitchFamily="34" charset="-122"/>
                <a:cs typeface="Arial" pitchFamily="34" charset="-120"/>
              </a:rPr>
              <a:t>IAM · KMS · Lake Formation · Macie · 99.9% SLA</a:t>
            </a:r>
            <a:endParaRPr lang="en-US" sz="1125" dirty="0"/>
          </a:p>
        </p:txBody>
      </p:sp>
      <p:sp>
        <p:nvSpPr>
          <p:cNvPr id="30" name="Shape 28"/>
          <p:cNvSpPr/>
          <p:nvPr/>
        </p:nvSpPr>
        <p:spPr>
          <a:xfrm>
            <a:off x="952405" y="6618257"/>
            <a:ext cx="16383050" cy="9525"/>
          </a:xfrm>
          <a:prstGeom prst="rect">
            <a:avLst/>
          </a:prstGeom>
          <a:solidFill>
            <a:srgbClr val="1A1A1A"/>
          </a:solidFill>
          <a:ln/>
        </p:spPr>
        <p:txBody>
          <a:bodyPr/>
          <a:lstStyle/>
          <a:p>
            <a:endParaRPr lang="en-US"/>
          </a:p>
        </p:txBody>
      </p:sp>
      <p:sp>
        <p:nvSpPr>
          <p:cNvPr id="31" name="Text 29"/>
          <p:cNvSpPr/>
          <p:nvPr/>
        </p:nvSpPr>
        <p:spPr>
          <a:xfrm>
            <a:off x="952405" y="6138768"/>
            <a:ext cx="380952" cy="220980"/>
          </a:xfrm>
          <a:prstGeom prst="rect">
            <a:avLst/>
          </a:prstGeom>
          <a:noFill/>
          <a:ln/>
        </p:spPr>
        <p:txBody>
          <a:bodyPr wrap="square" lIns="25400" tIns="25400" rIns="25400" bIns="25400" rtlCol="0" anchor="t">
            <a:normAutofit lnSpcReduction="10000"/>
          </a:bodyPr>
          <a:lstStyle/>
          <a:p>
            <a:pPr marL="0" indent="0" algn="l">
              <a:buNone/>
            </a:pPr>
            <a:r>
              <a:rPr lang="en-US" sz="1200" b="1" dirty="0">
                <a:solidFill>
                  <a:srgbClr val="555555"/>
                </a:solidFill>
                <a:latin typeface="Arial" pitchFamily="34" charset="0"/>
                <a:ea typeface="Arial" pitchFamily="34" charset="-122"/>
                <a:cs typeface="Arial" pitchFamily="34" charset="-120"/>
              </a:rPr>
              <a:t>R5</a:t>
            </a:r>
            <a:endParaRPr lang="en-US" sz="1200" dirty="0"/>
          </a:p>
        </p:txBody>
      </p:sp>
      <p:sp>
        <p:nvSpPr>
          <p:cNvPr id="32" name="Shape 30"/>
          <p:cNvSpPr/>
          <p:nvPr/>
        </p:nvSpPr>
        <p:spPr>
          <a:xfrm>
            <a:off x="1485615" y="6114051"/>
            <a:ext cx="859822" cy="232315"/>
          </a:xfrm>
          <a:prstGeom prst="roundRect">
            <a:avLst>
              <a:gd name="adj" fmla="val 50000"/>
            </a:avLst>
          </a:prstGeom>
          <a:solidFill>
            <a:srgbClr val="22C55E">
              <a:alpha val="12000"/>
            </a:srgbClr>
          </a:solidFill>
          <a:ln/>
        </p:spPr>
        <p:txBody>
          <a:bodyPr/>
          <a:lstStyle/>
          <a:p>
            <a:endParaRPr lang="en-US"/>
          </a:p>
        </p:txBody>
      </p:sp>
      <p:sp>
        <p:nvSpPr>
          <p:cNvPr id="33" name="Text 31"/>
          <p:cNvSpPr/>
          <p:nvPr/>
        </p:nvSpPr>
        <p:spPr>
          <a:xfrm>
            <a:off x="1609440" y="6161676"/>
            <a:ext cx="688372" cy="175165"/>
          </a:xfrm>
          <a:prstGeom prst="rect">
            <a:avLst/>
          </a:prstGeom>
          <a:noFill/>
          <a:ln/>
        </p:spPr>
        <p:txBody>
          <a:bodyPr wrap="none" lIns="25400" tIns="25400" rIns="25400" bIns="25400" rtlCol="0" anchor="t">
            <a:normAutofit fontScale="92500" lnSpcReduction="10000"/>
          </a:bodyPr>
          <a:lstStyle/>
          <a:p>
            <a:pPr marL="0" indent="0" algn="l">
              <a:buNone/>
            </a:pPr>
            <a:r>
              <a:rPr lang="en-US" sz="975" b="1" dirty="0">
                <a:solidFill>
                  <a:srgbClr val="22C55E"/>
                </a:solidFill>
                <a:latin typeface="Arial" pitchFamily="34" charset="0"/>
                <a:ea typeface="Arial" pitchFamily="34" charset="-122"/>
                <a:cs typeface="Arial" pitchFamily="34" charset="-120"/>
              </a:rPr>
              <a:t>COVERED</a:t>
            </a:r>
            <a:endParaRPr lang="en-US" sz="975" dirty="0"/>
          </a:p>
        </p:txBody>
      </p:sp>
      <p:sp>
        <p:nvSpPr>
          <p:cNvPr id="34" name="Text 32"/>
          <p:cNvSpPr/>
          <p:nvPr/>
        </p:nvSpPr>
        <p:spPr>
          <a:xfrm>
            <a:off x="2573893" y="6125052"/>
            <a:ext cx="12866268" cy="248412"/>
          </a:xfrm>
          <a:prstGeom prst="rect">
            <a:avLst/>
          </a:prstGeom>
          <a:noFill/>
          <a:ln/>
        </p:spPr>
        <p:txBody>
          <a:bodyPr wrap="square" lIns="25400" tIns="25400" rIns="25400" bIns="25400" rtlCol="0" anchor="t">
            <a:normAutofit lnSpcReduction="10000"/>
          </a:bodyPr>
          <a:lstStyle/>
          <a:p>
            <a:pPr marL="0" indent="0" algn="l">
              <a:buNone/>
            </a:pPr>
            <a:r>
              <a:rPr lang="en-US" sz="1425" kern="0" spc="-15" dirty="0">
                <a:solidFill>
                  <a:srgbClr val="FFFFFF"/>
                </a:solidFill>
                <a:latin typeface="Arial" pitchFamily="34" charset="0"/>
                <a:ea typeface="Arial" pitchFamily="34" charset="-122"/>
                <a:cs typeface="Arial" pitchFamily="34" charset="-120"/>
              </a:rPr>
              <a:t>Data quality monitoring</a:t>
            </a:r>
            <a:endParaRPr lang="en-US" sz="1425" dirty="0"/>
          </a:p>
        </p:txBody>
      </p:sp>
      <p:sp>
        <p:nvSpPr>
          <p:cNvPr id="35" name="Text 33"/>
          <p:cNvSpPr/>
          <p:nvPr/>
        </p:nvSpPr>
        <p:spPr>
          <a:xfrm>
            <a:off x="14498957" y="6147913"/>
            <a:ext cx="3120148" cy="202692"/>
          </a:xfrm>
          <a:prstGeom prst="rect">
            <a:avLst/>
          </a:prstGeom>
          <a:noFill/>
          <a:ln/>
        </p:spPr>
        <p:txBody>
          <a:bodyPr wrap="square" lIns="25400" tIns="25400" rIns="25400" bIns="25400" rtlCol="0" anchor="t">
            <a:normAutofit fontScale="92500" lnSpcReduction="10000"/>
          </a:bodyPr>
          <a:lstStyle/>
          <a:p>
            <a:pPr marL="0" indent="0" algn="l">
              <a:buNone/>
            </a:pPr>
            <a:r>
              <a:rPr lang="en-US" sz="1125" dirty="0">
                <a:solidFill>
                  <a:srgbClr val="666666"/>
                </a:solidFill>
                <a:latin typeface="Arial" pitchFamily="34" charset="0"/>
                <a:ea typeface="Arial" pitchFamily="34" charset="-122"/>
                <a:cs typeface="Arial" pitchFamily="34" charset="-120"/>
              </a:rPr>
              <a:t>Glue Data Quality · CloudWatch · SNS alerts</a:t>
            </a:r>
            <a:endParaRPr lang="en-US" sz="1125" dirty="0"/>
          </a:p>
        </p:txBody>
      </p:sp>
      <p:sp>
        <p:nvSpPr>
          <p:cNvPr id="36" name="Shape 34"/>
          <p:cNvSpPr/>
          <p:nvPr/>
        </p:nvSpPr>
        <p:spPr>
          <a:xfrm>
            <a:off x="952405" y="7403641"/>
            <a:ext cx="16383050" cy="9525"/>
          </a:xfrm>
          <a:prstGeom prst="rect">
            <a:avLst/>
          </a:prstGeom>
          <a:solidFill>
            <a:srgbClr val="1A1A1A"/>
          </a:solidFill>
          <a:ln/>
        </p:spPr>
        <p:txBody>
          <a:bodyPr/>
          <a:lstStyle/>
          <a:p>
            <a:endParaRPr lang="en-US"/>
          </a:p>
        </p:txBody>
      </p:sp>
      <p:sp>
        <p:nvSpPr>
          <p:cNvPr id="37" name="Text 35"/>
          <p:cNvSpPr/>
          <p:nvPr/>
        </p:nvSpPr>
        <p:spPr>
          <a:xfrm>
            <a:off x="952405" y="6924009"/>
            <a:ext cx="380952" cy="220980"/>
          </a:xfrm>
          <a:prstGeom prst="rect">
            <a:avLst/>
          </a:prstGeom>
          <a:noFill/>
          <a:ln/>
        </p:spPr>
        <p:txBody>
          <a:bodyPr wrap="square" lIns="25400" tIns="25400" rIns="25400" bIns="25400" rtlCol="0" anchor="t">
            <a:normAutofit lnSpcReduction="10000"/>
          </a:bodyPr>
          <a:lstStyle/>
          <a:p>
            <a:pPr marL="0" indent="0" algn="l">
              <a:buNone/>
            </a:pPr>
            <a:r>
              <a:rPr lang="en-US" sz="1200" b="1" dirty="0">
                <a:solidFill>
                  <a:srgbClr val="555555"/>
                </a:solidFill>
                <a:latin typeface="Arial" pitchFamily="34" charset="0"/>
                <a:ea typeface="Arial" pitchFamily="34" charset="-122"/>
                <a:cs typeface="Arial" pitchFamily="34" charset="-120"/>
              </a:rPr>
              <a:t>R6</a:t>
            </a:r>
            <a:endParaRPr lang="en-US" sz="1200" dirty="0"/>
          </a:p>
        </p:txBody>
      </p:sp>
      <p:sp>
        <p:nvSpPr>
          <p:cNvPr id="38" name="Shape 36"/>
          <p:cNvSpPr/>
          <p:nvPr/>
        </p:nvSpPr>
        <p:spPr>
          <a:xfrm>
            <a:off x="1485615" y="6899292"/>
            <a:ext cx="859822" cy="232315"/>
          </a:xfrm>
          <a:prstGeom prst="roundRect">
            <a:avLst>
              <a:gd name="adj" fmla="val 50000"/>
            </a:avLst>
          </a:prstGeom>
          <a:solidFill>
            <a:srgbClr val="22C55E">
              <a:alpha val="12000"/>
            </a:srgbClr>
          </a:solidFill>
          <a:ln/>
        </p:spPr>
        <p:txBody>
          <a:bodyPr/>
          <a:lstStyle/>
          <a:p>
            <a:endParaRPr lang="en-US"/>
          </a:p>
        </p:txBody>
      </p:sp>
      <p:sp>
        <p:nvSpPr>
          <p:cNvPr id="39" name="Text 37"/>
          <p:cNvSpPr/>
          <p:nvPr/>
        </p:nvSpPr>
        <p:spPr>
          <a:xfrm>
            <a:off x="1609440" y="6946917"/>
            <a:ext cx="688372" cy="175165"/>
          </a:xfrm>
          <a:prstGeom prst="rect">
            <a:avLst/>
          </a:prstGeom>
          <a:noFill/>
          <a:ln/>
        </p:spPr>
        <p:txBody>
          <a:bodyPr wrap="none" lIns="25400" tIns="25400" rIns="25400" bIns="25400" rtlCol="0" anchor="t">
            <a:normAutofit fontScale="92500" lnSpcReduction="10000"/>
          </a:bodyPr>
          <a:lstStyle/>
          <a:p>
            <a:pPr marL="0" indent="0" algn="l">
              <a:buNone/>
            </a:pPr>
            <a:r>
              <a:rPr lang="en-US" sz="975" b="1" dirty="0">
                <a:solidFill>
                  <a:srgbClr val="22C55E"/>
                </a:solidFill>
                <a:latin typeface="Arial" pitchFamily="34" charset="0"/>
                <a:ea typeface="Arial" pitchFamily="34" charset="-122"/>
                <a:cs typeface="Arial" pitchFamily="34" charset="-120"/>
              </a:rPr>
              <a:t>COVERED</a:t>
            </a:r>
            <a:endParaRPr lang="en-US" sz="975" dirty="0"/>
          </a:p>
        </p:txBody>
      </p:sp>
      <p:sp>
        <p:nvSpPr>
          <p:cNvPr id="40" name="Text 38"/>
          <p:cNvSpPr/>
          <p:nvPr/>
        </p:nvSpPr>
        <p:spPr>
          <a:xfrm>
            <a:off x="2573893" y="6910293"/>
            <a:ext cx="12874754" cy="248412"/>
          </a:xfrm>
          <a:prstGeom prst="rect">
            <a:avLst/>
          </a:prstGeom>
          <a:noFill/>
          <a:ln/>
        </p:spPr>
        <p:txBody>
          <a:bodyPr wrap="square" lIns="25400" tIns="25400" rIns="25400" bIns="25400" rtlCol="0" anchor="t">
            <a:normAutofit lnSpcReduction="10000"/>
          </a:bodyPr>
          <a:lstStyle/>
          <a:p>
            <a:pPr marL="0" indent="0" algn="l">
              <a:buNone/>
            </a:pPr>
            <a:r>
              <a:rPr lang="en-US" sz="1425" kern="0" spc="-15" dirty="0">
                <a:solidFill>
                  <a:srgbClr val="FFFFFF"/>
                </a:solidFill>
                <a:latin typeface="Arial" pitchFamily="34" charset="0"/>
                <a:ea typeface="Arial" pitchFamily="34" charset="-122"/>
                <a:cs typeface="Arial" pitchFamily="34" charset="-120"/>
              </a:rPr>
              <a:t>Cost optimisation</a:t>
            </a:r>
            <a:endParaRPr lang="en-US" sz="1425" dirty="0"/>
          </a:p>
        </p:txBody>
      </p:sp>
      <p:sp>
        <p:nvSpPr>
          <p:cNvPr id="41" name="Text 39"/>
          <p:cNvSpPr/>
          <p:nvPr/>
        </p:nvSpPr>
        <p:spPr>
          <a:xfrm>
            <a:off x="14506673" y="6933154"/>
            <a:ext cx="3111661" cy="202692"/>
          </a:xfrm>
          <a:prstGeom prst="rect">
            <a:avLst/>
          </a:prstGeom>
          <a:noFill/>
          <a:ln/>
        </p:spPr>
        <p:txBody>
          <a:bodyPr wrap="square" lIns="25400" tIns="25400" rIns="25400" bIns="25400" rtlCol="0" anchor="t">
            <a:normAutofit fontScale="92500" lnSpcReduction="10000"/>
          </a:bodyPr>
          <a:lstStyle/>
          <a:p>
            <a:pPr marL="0" indent="0" algn="l">
              <a:buNone/>
            </a:pPr>
            <a:r>
              <a:rPr lang="en-US" sz="1125" dirty="0">
                <a:solidFill>
                  <a:srgbClr val="666666"/>
                </a:solidFill>
                <a:latin typeface="Arial" pitchFamily="34" charset="0"/>
                <a:ea typeface="Arial" pitchFamily="34" charset="-122"/>
                <a:cs typeface="Arial" pitchFamily="34" charset="-120"/>
              </a:rPr>
              <a:t>Intelligent-Tiering · Spot · pay-per-session BI</a:t>
            </a:r>
            <a:endParaRPr lang="en-US" sz="1125" dirty="0"/>
          </a:p>
        </p:txBody>
      </p:sp>
      <p:sp>
        <p:nvSpPr>
          <p:cNvPr id="42" name="Shape 40"/>
          <p:cNvSpPr/>
          <p:nvPr/>
        </p:nvSpPr>
        <p:spPr>
          <a:xfrm>
            <a:off x="952405" y="8188882"/>
            <a:ext cx="16383050" cy="9525"/>
          </a:xfrm>
          <a:prstGeom prst="rect">
            <a:avLst/>
          </a:prstGeom>
          <a:solidFill>
            <a:srgbClr val="1A1A1A"/>
          </a:solidFill>
          <a:ln/>
        </p:spPr>
        <p:txBody>
          <a:bodyPr/>
          <a:lstStyle/>
          <a:p>
            <a:endParaRPr lang="en-US"/>
          </a:p>
        </p:txBody>
      </p:sp>
      <p:sp>
        <p:nvSpPr>
          <p:cNvPr id="43" name="Text 41"/>
          <p:cNvSpPr/>
          <p:nvPr/>
        </p:nvSpPr>
        <p:spPr>
          <a:xfrm>
            <a:off x="952405" y="7709393"/>
            <a:ext cx="380952" cy="220980"/>
          </a:xfrm>
          <a:prstGeom prst="rect">
            <a:avLst/>
          </a:prstGeom>
          <a:noFill/>
          <a:ln/>
        </p:spPr>
        <p:txBody>
          <a:bodyPr wrap="square" lIns="25400" tIns="25400" rIns="25400" bIns="25400" rtlCol="0" anchor="t">
            <a:normAutofit lnSpcReduction="10000"/>
          </a:bodyPr>
          <a:lstStyle/>
          <a:p>
            <a:pPr marL="0" indent="0" algn="l">
              <a:buNone/>
            </a:pPr>
            <a:r>
              <a:rPr lang="en-US" sz="1200" b="1" dirty="0">
                <a:solidFill>
                  <a:srgbClr val="555555"/>
                </a:solidFill>
                <a:latin typeface="Arial" pitchFamily="34" charset="0"/>
                <a:ea typeface="Arial" pitchFamily="34" charset="-122"/>
                <a:cs typeface="Arial" pitchFamily="34" charset="-120"/>
              </a:rPr>
              <a:t>R7</a:t>
            </a:r>
            <a:endParaRPr lang="en-US" sz="1200" dirty="0"/>
          </a:p>
        </p:txBody>
      </p:sp>
      <p:sp>
        <p:nvSpPr>
          <p:cNvPr id="44" name="Shape 42"/>
          <p:cNvSpPr/>
          <p:nvPr/>
        </p:nvSpPr>
        <p:spPr>
          <a:xfrm>
            <a:off x="1485615" y="7684676"/>
            <a:ext cx="859822" cy="232315"/>
          </a:xfrm>
          <a:prstGeom prst="roundRect">
            <a:avLst>
              <a:gd name="adj" fmla="val 50000"/>
            </a:avLst>
          </a:prstGeom>
          <a:solidFill>
            <a:srgbClr val="22C55E">
              <a:alpha val="12000"/>
            </a:srgbClr>
          </a:solidFill>
          <a:ln/>
        </p:spPr>
        <p:txBody>
          <a:bodyPr/>
          <a:lstStyle/>
          <a:p>
            <a:endParaRPr lang="en-US"/>
          </a:p>
        </p:txBody>
      </p:sp>
      <p:sp>
        <p:nvSpPr>
          <p:cNvPr id="45" name="Text 43"/>
          <p:cNvSpPr/>
          <p:nvPr/>
        </p:nvSpPr>
        <p:spPr>
          <a:xfrm>
            <a:off x="1609440" y="7732301"/>
            <a:ext cx="688372" cy="175165"/>
          </a:xfrm>
          <a:prstGeom prst="rect">
            <a:avLst/>
          </a:prstGeom>
          <a:noFill/>
          <a:ln/>
        </p:spPr>
        <p:txBody>
          <a:bodyPr wrap="none" lIns="25400" tIns="25400" rIns="25400" bIns="25400" rtlCol="0" anchor="t">
            <a:normAutofit fontScale="92500" lnSpcReduction="10000"/>
          </a:bodyPr>
          <a:lstStyle/>
          <a:p>
            <a:pPr marL="0" indent="0" algn="l">
              <a:buNone/>
            </a:pPr>
            <a:r>
              <a:rPr lang="en-US" sz="975" b="1" dirty="0">
                <a:solidFill>
                  <a:srgbClr val="22C55E"/>
                </a:solidFill>
                <a:latin typeface="Arial" pitchFamily="34" charset="0"/>
                <a:ea typeface="Arial" pitchFamily="34" charset="-122"/>
                <a:cs typeface="Arial" pitchFamily="34" charset="-120"/>
              </a:rPr>
              <a:t>COVERED</a:t>
            </a:r>
            <a:endParaRPr lang="en-US" sz="975" dirty="0"/>
          </a:p>
        </p:txBody>
      </p:sp>
      <p:sp>
        <p:nvSpPr>
          <p:cNvPr id="46" name="Text 44"/>
          <p:cNvSpPr/>
          <p:nvPr/>
        </p:nvSpPr>
        <p:spPr>
          <a:xfrm>
            <a:off x="2573893" y="7695677"/>
            <a:ext cx="12633353" cy="248412"/>
          </a:xfrm>
          <a:prstGeom prst="rect">
            <a:avLst/>
          </a:prstGeom>
          <a:noFill/>
          <a:ln/>
        </p:spPr>
        <p:txBody>
          <a:bodyPr wrap="square" lIns="25400" tIns="25400" rIns="25400" bIns="25400" rtlCol="0" anchor="t">
            <a:normAutofit lnSpcReduction="10000"/>
          </a:bodyPr>
          <a:lstStyle/>
          <a:p>
            <a:pPr marL="0" indent="0" algn="l">
              <a:buNone/>
            </a:pPr>
            <a:r>
              <a:rPr lang="en-US" sz="1425" kern="0" spc="-15" dirty="0">
                <a:solidFill>
                  <a:srgbClr val="FFFFFF"/>
                </a:solidFill>
                <a:latin typeface="Arial" pitchFamily="34" charset="0"/>
                <a:ea typeface="Arial" pitchFamily="34" charset="-122"/>
                <a:cs typeface="Arial" pitchFamily="34" charset="-120"/>
              </a:rPr>
              <a:t>Extensibility &amp; interoperability</a:t>
            </a:r>
            <a:endParaRPr lang="en-US" sz="1425" dirty="0"/>
          </a:p>
        </p:txBody>
      </p:sp>
      <p:sp>
        <p:nvSpPr>
          <p:cNvPr id="47" name="Text 45"/>
          <p:cNvSpPr/>
          <p:nvPr/>
        </p:nvSpPr>
        <p:spPr>
          <a:xfrm>
            <a:off x="14287216" y="7718538"/>
            <a:ext cx="3353063" cy="202692"/>
          </a:xfrm>
          <a:prstGeom prst="rect">
            <a:avLst/>
          </a:prstGeom>
          <a:noFill/>
          <a:ln/>
        </p:spPr>
        <p:txBody>
          <a:bodyPr wrap="square" lIns="25400" tIns="25400" rIns="25400" bIns="25400" rtlCol="0" anchor="t">
            <a:normAutofit fontScale="92500" lnSpcReduction="10000"/>
          </a:bodyPr>
          <a:lstStyle/>
          <a:p>
            <a:pPr marL="0" indent="0" algn="l">
              <a:buNone/>
            </a:pPr>
            <a:r>
              <a:rPr lang="en-US" sz="1125" dirty="0">
                <a:solidFill>
                  <a:srgbClr val="666666"/>
                </a:solidFill>
                <a:latin typeface="Arial" pitchFamily="34" charset="0"/>
                <a:ea typeface="Arial" pitchFamily="34" charset="-122"/>
                <a:cs typeface="Arial" pitchFamily="34" charset="-120"/>
              </a:rPr>
              <a:t>API Gateway · Data Exchange · Transfer Family</a:t>
            </a:r>
            <a:endParaRPr lang="en-US" sz="1125" dirty="0"/>
          </a:p>
        </p:txBody>
      </p:sp>
      <p:sp>
        <p:nvSpPr>
          <p:cNvPr id="48" name="Text 46"/>
          <p:cNvSpPr/>
          <p:nvPr/>
        </p:nvSpPr>
        <p:spPr>
          <a:xfrm>
            <a:off x="952405" y="8494634"/>
            <a:ext cx="380952" cy="220980"/>
          </a:xfrm>
          <a:prstGeom prst="rect">
            <a:avLst/>
          </a:prstGeom>
          <a:noFill/>
          <a:ln/>
        </p:spPr>
        <p:txBody>
          <a:bodyPr wrap="square" lIns="25400" tIns="25400" rIns="25400" bIns="25400" rtlCol="0" anchor="t">
            <a:normAutofit lnSpcReduction="10000"/>
          </a:bodyPr>
          <a:lstStyle/>
          <a:p>
            <a:pPr marL="0" indent="0" algn="l">
              <a:buNone/>
            </a:pPr>
            <a:r>
              <a:rPr lang="en-US" sz="1200" b="1" dirty="0">
                <a:solidFill>
                  <a:srgbClr val="555555"/>
                </a:solidFill>
                <a:latin typeface="Arial" pitchFamily="34" charset="0"/>
                <a:ea typeface="Arial" pitchFamily="34" charset="-122"/>
                <a:cs typeface="Arial" pitchFamily="34" charset="-120"/>
              </a:rPr>
              <a:t>R8</a:t>
            </a:r>
            <a:endParaRPr lang="en-US" sz="1200" dirty="0"/>
          </a:p>
        </p:txBody>
      </p:sp>
      <p:sp>
        <p:nvSpPr>
          <p:cNvPr id="49" name="Shape 47"/>
          <p:cNvSpPr/>
          <p:nvPr/>
        </p:nvSpPr>
        <p:spPr>
          <a:xfrm>
            <a:off x="1485615" y="8469917"/>
            <a:ext cx="859822" cy="232315"/>
          </a:xfrm>
          <a:prstGeom prst="roundRect">
            <a:avLst>
              <a:gd name="adj" fmla="val 50000"/>
            </a:avLst>
          </a:prstGeom>
          <a:solidFill>
            <a:srgbClr val="22C55E">
              <a:alpha val="12000"/>
            </a:srgbClr>
          </a:solidFill>
          <a:ln/>
        </p:spPr>
        <p:txBody>
          <a:bodyPr/>
          <a:lstStyle/>
          <a:p>
            <a:endParaRPr lang="en-US"/>
          </a:p>
        </p:txBody>
      </p:sp>
      <p:sp>
        <p:nvSpPr>
          <p:cNvPr id="50" name="Text 48"/>
          <p:cNvSpPr/>
          <p:nvPr/>
        </p:nvSpPr>
        <p:spPr>
          <a:xfrm>
            <a:off x="1609440" y="8517542"/>
            <a:ext cx="688372" cy="175165"/>
          </a:xfrm>
          <a:prstGeom prst="rect">
            <a:avLst/>
          </a:prstGeom>
          <a:noFill/>
          <a:ln/>
        </p:spPr>
        <p:txBody>
          <a:bodyPr wrap="none" lIns="25400" tIns="25400" rIns="25400" bIns="25400" rtlCol="0" anchor="t">
            <a:normAutofit fontScale="92500" lnSpcReduction="10000"/>
          </a:bodyPr>
          <a:lstStyle/>
          <a:p>
            <a:pPr marL="0" indent="0" algn="l">
              <a:buNone/>
            </a:pPr>
            <a:r>
              <a:rPr lang="en-US" sz="975" b="1" dirty="0">
                <a:solidFill>
                  <a:srgbClr val="22C55E"/>
                </a:solidFill>
                <a:latin typeface="Arial" pitchFamily="34" charset="0"/>
                <a:ea typeface="Arial" pitchFamily="34" charset="-122"/>
                <a:cs typeface="Arial" pitchFamily="34" charset="-120"/>
              </a:rPr>
              <a:t>COVERED</a:t>
            </a:r>
            <a:endParaRPr lang="en-US" sz="975" dirty="0"/>
          </a:p>
        </p:txBody>
      </p:sp>
      <p:sp>
        <p:nvSpPr>
          <p:cNvPr id="51" name="Text 49"/>
          <p:cNvSpPr/>
          <p:nvPr/>
        </p:nvSpPr>
        <p:spPr>
          <a:xfrm>
            <a:off x="2573893" y="8480918"/>
            <a:ext cx="12277694" cy="248412"/>
          </a:xfrm>
          <a:prstGeom prst="rect">
            <a:avLst/>
          </a:prstGeom>
          <a:noFill/>
          <a:ln/>
        </p:spPr>
        <p:txBody>
          <a:bodyPr wrap="square" lIns="25400" tIns="25400" rIns="25400" bIns="25400" rtlCol="0" anchor="t">
            <a:normAutofit lnSpcReduction="10000"/>
          </a:bodyPr>
          <a:lstStyle/>
          <a:p>
            <a:pPr marL="0" indent="0" algn="l">
              <a:buNone/>
            </a:pPr>
            <a:r>
              <a:rPr lang="en-US" sz="1425" kern="0" spc="-15" dirty="0">
                <a:solidFill>
                  <a:srgbClr val="FFFFFF"/>
                </a:solidFill>
                <a:latin typeface="Arial" pitchFamily="34" charset="0"/>
                <a:ea typeface="Arial" pitchFamily="34" charset="-122"/>
                <a:cs typeface="Arial" pitchFamily="34" charset="-120"/>
              </a:rPr>
              <a:t>Sustainability</a:t>
            </a:r>
            <a:endParaRPr lang="en-US" sz="1425" dirty="0"/>
          </a:p>
        </p:txBody>
      </p:sp>
      <p:sp>
        <p:nvSpPr>
          <p:cNvPr id="52" name="Text 50"/>
          <p:cNvSpPr/>
          <p:nvPr/>
        </p:nvSpPr>
        <p:spPr>
          <a:xfrm>
            <a:off x="13963891" y="8503779"/>
            <a:ext cx="3708721" cy="202692"/>
          </a:xfrm>
          <a:prstGeom prst="rect">
            <a:avLst/>
          </a:prstGeom>
          <a:noFill/>
          <a:ln/>
        </p:spPr>
        <p:txBody>
          <a:bodyPr wrap="square" lIns="25400" tIns="25400" rIns="25400" bIns="25400" rtlCol="0" anchor="t">
            <a:normAutofit fontScale="92500" lnSpcReduction="10000"/>
          </a:bodyPr>
          <a:lstStyle/>
          <a:p>
            <a:pPr marL="0" indent="0" algn="l">
              <a:buNone/>
            </a:pPr>
            <a:r>
              <a:rPr lang="en-US" sz="1125" dirty="0">
                <a:solidFill>
                  <a:srgbClr val="666666"/>
                </a:solidFill>
                <a:latin typeface="Arial" pitchFamily="34" charset="0"/>
                <a:ea typeface="Arial" pitchFamily="34" charset="-122"/>
                <a:cs typeface="Arial" pitchFamily="34" charset="-120"/>
              </a:rPr>
              <a:t>Carbon Footprint Tool · EU green regions · 40–55% ↓</a:t>
            </a:r>
            <a:endParaRPr lang="en-US" sz="1125" dirty="0"/>
          </a:p>
        </p:txBody>
      </p:sp>
      <p:sp>
        <p:nvSpPr>
          <p:cNvPr id="53" name="Text 51"/>
          <p:cNvSpPr/>
          <p:nvPr/>
        </p:nvSpPr>
        <p:spPr>
          <a:xfrm>
            <a:off x="952405" y="9164719"/>
            <a:ext cx="18021355" cy="175260"/>
          </a:xfrm>
          <a:prstGeom prst="rect">
            <a:avLst/>
          </a:prstGeom>
          <a:noFill/>
          <a:ln/>
        </p:spPr>
        <p:txBody>
          <a:bodyPr wrap="square" lIns="25400" tIns="25400" rIns="25400" bIns="25400" rtlCol="0" anchor="t">
            <a:normAutofit fontScale="92500" lnSpcReduction="10000"/>
          </a:bodyPr>
          <a:lstStyle/>
          <a:p>
            <a:pPr marL="0" indent="0" algn="l">
              <a:buNone/>
            </a:pPr>
            <a:r>
              <a:rPr lang="en-US" sz="975" kern="0" spc="39" dirty="0">
                <a:solidFill>
                  <a:schemeClr val="bg1">
                    <a:lumMod val="95000"/>
                  </a:schemeClr>
                </a:solidFill>
                <a:latin typeface="Arial" pitchFamily="34" charset="0"/>
                <a:ea typeface="Arial" pitchFamily="34" charset="-122"/>
                <a:cs typeface="Arial" pitchFamily="34" charset="-120"/>
              </a:rPr>
              <a:t>BACKED BY A TRACEABILITY TABLE + OPERATING EVIDENCE APPENDIX IN THE WRITTEN PROPOSAL</a:t>
            </a:r>
            <a:endParaRPr lang="en-US" sz="975" dirty="0">
              <a:solidFill>
                <a:schemeClr val="bg1">
                  <a:lumMod val="95000"/>
                </a:schemeClr>
              </a:solidFill>
            </a:endParaRPr>
          </a:p>
        </p:txBody>
      </p:sp>
      <p:sp>
        <p:nvSpPr>
          <p:cNvPr id="54" name="Text 52"/>
          <p:cNvSpPr/>
          <p:nvPr/>
        </p:nvSpPr>
        <p:spPr>
          <a:xfrm>
            <a:off x="952405" y="9473186"/>
            <a:ext cx="18021355" cy="166116"/>
          </a:xfrm>
          <a:prstGeom prst="rect">
            <a:avLst/>
          </a:prstGeom>
          <a:noFill/>
          <a:ln/>
        </p:spPr>
        <p:txBody>
          <a:bodyPr wrap="square" lIns="25400" tIns="25400" rIns="25400" bIns="25400" rtlCol="0" anchor="t">
            <a:normAutofit fontScale="92500" lnSpcReduction="10000"/>
          </a:bodyPr>
          <a:lstStyle/>
          <a:p>
            <a:pPr marL="0" indent="0" algn="l">
              <a:buNone/>
            </a:pPr>
            <a:r>
              <a:rPr lang="en-US" sz="900" kern="0" spc="90" dirty="0">
                <a:solidFill>
                  <a:schemeClr val="bg1">
                    <a:lumMod val="95000"/>
                  </a:schemeClr>
                </a:solidFill>
                <a:latin typeface="Arial" pitchFamily="34" charset="0"/>
                <a:ea typeface="Arial" pitchFamily="34" charset="-122"/>
                <a:cs typeface="Arial" pitchFamily="34" charset="-120"/>
              </a:rPr>
              <a:t>MANGA DATAHUB · CLOUD ANALYTICS · IE UNIVERSITY</a:t>
            </a:r>
            <a:endParaRPr lang="en-US" sz="900" dirty="0">
              <a:solidFill>
                <a:schemeClr val="bg1">
                  <a:lumMod val="95000"/>
                </a:schemeClr>
              </a:solidFill>
            </a:endParaRPr>
          </a:p>
        </p:txBody>
      </p:sp>
    </p:spTree>
  </p:cSld>
  <p:clrMapOvr>
    <a:masterClrMapping/>
  </p:clrMapOvr>
  <p:transition spd="slow">
    <p:push dir="u"/>
  </p:transition>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90909"/>
        </a:solidFill>
        <a:effectLst/>
      </p:bgPr>
    </p:bg>
    <p:spTree>
      <p:nvGrpSpPr>
        <p:cNvPr id="1" name=""/>
        <p:cNvGrpSpPr/>
        <p:nvPr/>
      </p:nvGrpSpPr>
      <p:grpSpPr>
        <a:xfrm>
          <a:off x="0" y="0"/>
          <a:ext cx="0" cy="0"/>
          <a:chOff x="0" y="0"/>
          <a:chExt cx="0" cy="0"/>
        </a:xfrm>
      </p:grpSpPr>
      <p:sp>
        <p:nvSpPr>
          <p:cNvPr id="2" name="Shape 0"/>
          <p:cNvSpPr/>
          <p:nvPr/>
        </p:nvSpPr>
        <p:spPr>
          <a:xfrm>
            <a:off x="13525407" y="-1904953"/>
            <a:ext cx="6667406" cy="6667406"/>
          </a:xfrm>
          <a:prstGeom prst="rect">
            <a:avLst/>
          </a:prstGeom>
          <a:gradFill rotWithShape="1">
            <a:gsLst>
              <a:gs pos="0">
                <a:srgbClr val="FF7A3D">
                  <a:alpha val="10000"/>
                </a:srgbClr>
              </a:gs>
              <a:gs pos="60000">
                <a:srgbClr val="FF7A3D">
                  <a:alpha val="0"/>
                </a:srgbClr>
              </a:gs>
            </a:gsLst>
            <a:path path="circle">
              <a:fillToRect l="50000" t="50000" r="50000" b="50000"/>
            </a:path>
          </a:gradFill>
          <a:ln/>
        </p:spPr>
        <p:txBody>
          <a:bodyPr/>
          <a:lstStyle/>
          <a:p>
            <a:endParaRPr lang="en-US"/>
          </a:p>
        </p:txBody>
      </p:sp>
      <p:sp>
        <p:nvSpPr>
          <p:cNvPr id="3" name="Text 1"/>
          <p:cNvSpPr/>
          <p:nvPr/>
        </p:nvSpPr>
        <p:spPr>
          <a:xfrm>
            <a:off x="952405" y="685657"/>
            <a:ext cx="18021355" cy="220980"/>
          </a:xfrm>
          <a:prstGeom prst="rect">
            <a:avLst/>
          </a:prstGeom>
          <a:noFill/>
          <a:ln/>
        </p:spPr>
        <p:txBody>
          <a:bodyPr wrap="square" lIns="25400" tIns="25400" rIns="25400" bIns="25400" rtlCol="0" anchor="t">
            <a:normAutofit lnSpcReduction="10000"/>
          </a:bodyPr>
          <a:lstStyle/>
          <a:p>
            <a:pPr marL="0" indent="0" algn="l">
              <a:buNone/>
            </a:pPr>
            <a:r>
              <a:rPr lang="en-US" sz="1200" kern="0" spc="168" dirty="0">
                <a:solidFill>
                  <a:srgbClr val="888888"/>
                </a:solidFill>
                <a:latin typeface="Arial" pitchFamily="34" charset="0"/>
                <a:ea typeface="Arial" pitchFamily="34" charset="-122"/>
                <a:cs typeface="Arial" pitchFamily="34" charset="-120"/>
              </a:rPr>
              <a:t>COST &amp; ROI</a:t>
            </a:r>
            <a:endParaRPr lang="en-US" sz="1200" dirty="0"/>
          </a:p>
        </p:txBody>
      </p:sp>
      <p:sp>
        <p:nvSpPr>
          <p:cNvPr id="4" name="Text 2"/>
          <p:cNvSpPr/>
          <p:nvPr/>
        </p:nvSpPr>
        <p:spPr>
          <a:xfrm>
            <a:off x="952405" y="1001840"/>
            <a:ext cx="18021355" cy="635318"/>
          </a:xfrm>
          <a:prstGeom prst="rect">
            <a:avLst/>
          </a:prstGeom>
          <a:noFill/>
          <a:ln/>
        </p:spPr>
        <p:txBody>
          <a:bodyPr wrap="square" lIns="25400" tIns="25400" rIns="25400" bIns="25400" rtlCol="0" anchor="t">
            <a:normAutofit fontScale="92500" lnSpcReduction="20000"/>
          </a:bodyPr>
          <a:lstStyle/>
          <a:p>
            <a:pPr marL="0" indent="0" algn="l">
              <a:lnSpc>
                <a:spcPct val="95000"/>
              </a:lnSpc>
              <a:buNone/>
            </a:pPr>
            <a:r>
              <a:rPr lang="en-US" sz="4950" b="1" kern="0" spc="-240" dirty="0">
                <a:solidFill>
                  <a:srgbClr val="FFFFFF"/>
                </a:solidFill>
                <a:latin typeface="Arial" pitchFamily="34" charset="0"/>
                <a:ea typeface="Arial" pitchFamily="34" charset="-122"/>
                <a:cs typeface="Arial" pitchFamily="34" charset="-120"/>
              </a:rPr>
              <a:t>From fixed colocation to pay-per-use</a:t>
            </a:r>
            <a:endParaRPr lang="en-US" sz="4950" dirty="0"/>
          </a:p>
        </p:txBody>
      </p:sp>
      <p:sp>
        <p:nvSpPr>
          <p:cNvPr id="5" name="Shape 3"/>
          <p:cNvSpPr/>
          <p:nvPr/>
        </p:nvSpPr>
        <p:spPr>
          <a:xfrm>
            <a:off x="952405" y="1846660"/>
            <a:ext cx="16383050" cy="9525"/>
          </a:xfrm>
          <a:prstGeom prst="rect">
            <a:avLst/>
          </a:prstGeom>
          <a:solidFill>
            <a:srgbClr val="262626"/>
          </a:solidFill>
          <a:ln/>
        </p:spPr>
        <p:txBody>
          <a:bodyPr/>
          <a:lstStyle/>
          <a:p>
            <a:endParaRPr lang="en-US"/>
          </a:p>
        </p:txBody>
      </p:sp>
      <p:sp>
        <p:nvSpPr>
          <p:cNvPr id="6" name="Shape 4"/>
          <p:cNvSpPr/>
          <p:nvPr/>
        </p:nvSpPr>
        <p:spPr>
          <a:xfrm>
            <a:off x="952405" y="2118980"/>
            <a:ext cx="152305" cy="152305"/>
          </a:xfrm>
          <a:prstGeom prst="roundRect">
            <a:avLst>
              <a:gd name="adj" fmla="val 25016"/>
            </a:avLst>
          </a:prstGeom>
          <a:solidFill>
            <a:srgbClr val="4B4B5A"/>
          </a:solidFill>
          <a:ln/>
        </p:spPr>
        <p:txBody>
          <a:bodyPr/>
          <a:lstStyle/>
          <a:p>
            <a:endParaRPr lang="en-US"/>
          </a:p>
        </p:txBody>
      </p:sp>
      <p:sp>
        <p:nvSpPr>
          <p:cNvPr id="7" name="Text 5"/>
          <p:cNvSpPr/>
          <p:nvPr/>
        </p:nvSpPr>
        <p:spPr>
          <a:xfrm>
            <a:off x="1199864" y="2103692"/>
            <a:ext cx="1438037" cy="220980"/>
          </a:xfrm>
          <a:prstGeom prst="rect">
            <a:avLst/>
          </a:prstGeom>
          <a:noFill/>
          <a:ln/>
        </p:spPr>
        <p:txBody>
          <a:bodyPr wrap="square" lIns="25400" tIns="25400" rIns="25400" bIns="25400" rtlCol="0" anchor="t">
            <a:normAutofit lnSpcReduction="10000"/>
          </a:bodyPr>
          <a:lstStyle/>
          <a:p>
            <a:pPr marL="0" indent="0" algn="l">
              <a:buNone/>
            </a:pPr>
            <a:r>
              <a:rPr lang="en-US" sz="1200" kern="0" spc="-12" dirty="0">
                <a:solidFill>
                  <a:srgbClr val="999999"/>
                </a:solidFill>
                <a:latin typeface="Arial" pitchFamily="34" charset="0"/>
                <a:ea typeface="Arial" pitchFamily="34" charset="-122"/>
                <a:cs typeface="Arial" pitchFamily="34" charset="-120"/>
              </a:rPr>
              <a:t>Colocation (current)</a:t>
            </a:r>
            <a:endParaRPr lang="en-US" sz="1200" dirty="0"/>
          </a:p>
        </p:txBody>
      </p:sp>
      <p:sp>
        <p:nvSpPr>
          <p:cNvPr id="8" name="Shape 6"/>
          <p:cNvSpPr/>
          <p:nvPr/>
        </p:nvSpPr>
        <p:spPr>
          <a:xfrm>
            <a:off x="2811923" y="2118980"/>
            <a:ext cx="152305" cy="152305"/>
          </a:xfrm>
          <a:prstGeom prst="roundRect">
            <a:avLst>
              <a:gd name="adj" fmla="val 25016"/>
            </a:avLst>
          </a:prstGeom>
          <a:solidFill>
            <a:srgbClr val="22C55E"/>
          </a:solidFill>
          <a:ln/>
        </p:spPr>
        <p:txBody>
          <a:bodyPr/>
          <a:lstStyle/>
          <a:p>
            <a:endParaRPr lang="en-US"/>
          </a:p>
        </p:txBody>
      </p:sp>
      <p:sp>
        <p:nvSpPr>
          <p:cNvPr id="9" name="Text 7"/>
          <p:cNvSpPr/>
          <p:nvPr/>
        </p:nvSpPr>
        <p:spPr>
          <a:xfrm>
            <a:off x="3059383" y="2103692"/>
            <a:ext cx="1175338" cy="220980"/>
          </a:xfrm>
          <a:prstGeom prst="rect">
            <a:avLst/>
          </a:prstGeom>
          <a:noFill/>
          <a:ln/>
        </p:spPr>
        <p:txBody>
          <a:bodyPr wrap="square" lIns="25400" tIns="25400" rIns="25400" bIns="25400" rtlCol="0" anchor="t">
            <a:normAutofit lnSpcReduction="10000"/>
          </a:bodyPr>
          <a:lstStyle/>
          <a:p>
            <a:pPr marL="0" indent="0" algn="l">
              <a:buNone/>
            </a:pPr>
            <a:r>
              <a:rPr lang="en-US" sz="1200" kern="0" spc="-12" dirty="0">
                <a:solidFill>
                  <a:srgbClr val="FFFFFF"/>
                </a:solidFill>
                <a:latin typeface="Arial" pitchFamily="34" charset="0"/>
                <a:ea typeface="Arial" pitchFamily="34" charset="-122"/>
                <a:cs typeface="Arial" pitchFamily="34" charset="-120"/>
              </a:rPr>
              <a:t>AWS (proposed)</a:t>
            </a:r>
            <a:endParaRPr lang="en-US" sz="1200" dirty="0"/>
          </a:p>
        </p:txBody>
      </p:sp>
      <p:sp>
        <p:nvSpPr>
          <p:cNvPr id="10" name="Text 8"/>
          <p:cNvSpPr/>
          <p:nvPr/>
        </p:nvSpPr>
        <p:spPr>
          <a:xfrm>
            <a:off x="952405" y="2703481"/>
            <a:ext cx="11135751" cy="220980"/>
          </a:xfrm>
          <a:prstGeom prst="rect">
            <a:avLst/>
          </a:prstGeom>
          <a:noFill/>
          <a:ln/>
        </p:spPr>
        <p:txBody>
          <a:bodyPr wrap="square" lIns="25400" tIns="25400" rIns="25400" bIns="25400" rtlCol="0" anchor="t">
            <a:normAutofit lnSpcReduction="10000"/>
          </a:bodyPr>
          <a:lstStyle/>
          <a:p>
            <a:pPr marL="0" indent="0" algn="l">
              <a:buNone/>
            </a:pPr>
            <a:r>
              <a:rPr lang="en-US" sz="1200" kern="0" spc="-12" dirty="0">
                <a:solidFill>
                  <a:srgbClr val="CCCCCC"/>
                </a:solidFill>
                <a:latin typeface="Arial" pitchFamily="34" charset="0"/>
                <a:ea typeface="Arial" pitchFamily="34" charset="-122"/>
                <a:cs typeface="Arial" pitchFamily="34" charset="-120"/>
              </a:rPr>
              <a:t>Compute &amp; servers</a:t>
            </a:r>
            <a:endParaRPr lang="en-US" sz="1200" dirty="0"/>
          </a:p>
        </p:txBody>
      </p:sp>
      <p:sp>
        <p:nvSpPr>
          <p:cNvPr id="11" name="Shape 9"/>
          <p:cNvSpPr/>
          <p:nvPr/>
        </p:nvSpPr>
        <p:spPr>
          <a:xfrm>
            <a:off x="952405" y="2972372"/>
            <a:ext cx="8301182" cy="190452"/>
          </a:xfrm>
          <a:prstGeom prst="roundRect">
            <a:avLst>
              <a:gd name="adj" fmla="val 20005"/>
            </a:avLst>
          </a:prstGeom>
          <a:solidFill>
            <a:srgbClr val="4B4B5A"/>
          </a:solidFill>
          <a:ln/>
        </p:spPr>
        <p:txBody>
          <a:bodyPr/>
          <a:lstStyle/>
          <a:p>
            <a:endParaRPr lang="en-US"/>
          </a:p>
        </p:txBody>
      </p:sp>
      <p:sp>
        <p:nvSpPr>
          <p:cNvPr id="12" name="Text 10"/>
          <p:cNvSpPr/>
          <p:nvPr/>
        </p:nvSpPr>
        <p:spPr>
          <a:xfrm>
            <a:off x="9367744" y="2962514"/>
            <a:ext cx="574834" cy="248412"/>
          </a:xfrm>
          <a:prstGeom prst="rect">
            <a:avLst/>
          </a:prstGeom>
          <a:noFill/>
          <a:ln/>
        </p:spPr>
        <p:txBody>
          <a:bodyPr wrap="square" lIns="25400" tIns="25400" rIns="25400" bIns="25400" rtlCol="0" anchor="t">
            <a:normAutofit/>
          </a:bodyPr>
          <a:lstStyle/>
          <a:p>
            <a:pPr marL="0" indent="0" algn="l">
              <a:buNone/>
            </a:pPr>
            <a:r>
              <a:rPr lang="en-US" sz="1200" b="1" dirty="0">
                <a:solidFill>
                  <a:srgbClr val="8A8A99"/>
                </a:solidFill>
                <a:latin typeface="Arial" pitchFamily="34" charset="0"/>
                <a:ea typeface="Arial" pitchFamily="34" charset="-122"/>
                <a:cs typeface="Arial" pitchFamily="34" charset="-120"/>
              </a:rPr>
              <a:t>€420k</a:t>
            </a:r>
            <a:endParaRPr lang="en-US" sz="1200" dirty="0"/>
          </a:p>
        </p:txBody>
      </p:sp>
      <p:sp>
        <p:nvSpPr>
          <p:cNvPr id="13" name="Shape 11"/>
          <p:cNvSpPr/>
          <p:nvPr/>
        </p:nvSpPr>
        <p:spPr>
          <a:xfrm>
            <a:off x="952405" y="3239691"/>
            <a:ext cx="3462148" cy="190452"/>
          </a:xfrm>
          <a:prstGeom prst="roundRect">
            <a:avLst>
              <a:gd name="adj" fmla="val 20005"/>
            </a:avLst>
          </a:prstGeom>
          <a:solidFill>
            <a:srgbClr val="22C55E"/>
          </a:solidFill>
          <a:ln/>
        </p:spPr>
        <p:txBody>
          <a:bodyPr/>
          <a:lstStyle/>
          <a:p>
            <a:endParaRPr lang="en-US"/>
          </a:p>
        </p:txBody>
      </p:sp>
      <p:sp>
        <p:nvSpPr>
          <p:cNvPr id="14" name="Text 12"/>
          <p:cNvSpPr/>
          <p:nvPr/>
        </p:nvSpPr>
        <p:spPr>
          <a:xfrm>
            <a:off x="4528710" y="3229833"/>
            <a:ext cx="536400" cy="248412"/>
          </a:xfrm>
          <a:prstGeom prst="rect">
            <a:avLst/>
          </a:prstGeom>
          <a:noFill/>
          <a:ln/>
        </p:spPr>
        <p:txBody>
          <a:bodyPr wrap="square" lIns="25400" tIns="25400" rIns="25400" bIns="25400" rtlCol="0" anchor="t">
            <a:normAutofit/>
          </a:bodyPr>
          <a:lstStyle/>
          <a:p>
            <a:pPr marL="0" indent="0" algn="l">
              <a:buNone/>
            </a:pPr>
            <a:r>
              <a:rPr lang="en-US" sz="1200" b="1" dirty="0">
                <a:solidFill>
                  <a:srgbClr val="22C55E"/>
                </a:solidFill>
                <a:latin typeface="Arial" pitchFamily="34" charset="0"/>
                <a:ea typeface="Arial" pitchFamily="34" charset="-122"/>
                <a:cs typeface="Arial" pitchFamily="34" charset="-120"/>
              </a:rPr>
              <a:t>€175k</a:t>
            </a:r>
            <a:endParaRPr lang="en-US" sz="1200" dirty="0"/>
          </a:p>
        </p:txBody>
      </p:sp>
      <p:sp>
        <p:nvSpPr>
          <p:cNvPr id="15" name="Text 13"/>
          <p:cNvSpPr/>
          <p:nvPr/>
        </p:nvSpPr>
        <p:spPr>
          <a:xfrm>
            <a:off x="952405" y="4007930"/>
            <a:ext cx="11135751" cy="220980"/>
          </a:xfrm>
          <a:prstGeom prst="rect">
            <a:avLst/>
          </a:prstGeom>
          <a:noFill/>
          <a:ln/>
        </p:spPr>
        <p:txBody>
          <a:bodyPr wrap="square" lIns="25400" tIns="25400" rIns="25400" bIns="25400" rtlCol="0" anchor="t">
            <a:normAutofit lnSpcReduction="10000"/>
          </a:bodyPr>
          <a:lstStyle/>
          <a:p>
            <a:pPr marL="0" indent="0" algn="l">
              <a:buNone/>
            </a:pPr>
            <a:r>
              <a:rPr lang="en-US" sz="1200" kern="0" spc="-12" dirty="0">
                <a:solidFill>
                  <a:srgbClr val="CCCCCC"/>
                </a:solidFill>
                <a:latin typeface="Arial" pitchFamily="34" charset="0"/>
                <a:ea typeface="Arial" pitchFamily="34" charset="-122"/>
                <a:cs typeface="Arial" pitchFamily="34" charset="-120"/>
              </a:rPr>
              <a:t>ETL build &amp; maintenance</a:t>
            </a:r>
            <a:endParaRPr lang="en-US" sz="1200" dirty="0"/>
          </a:p>
        </p:txBody>
      </p:sp>
      <p:sp>
        <p:nvSpPr>
          <p:cNvPr id="16" name="Shape 14"/>
          <p:cNvSpPr/>
          <p:nvPr/>
        </p:nvSpPr>
        <p:spPr>
          <a:xfrm>
            <a:off x="952405" y="4276821"/>
            <a:ext cx="7116748" cy="190452"/>
          </a:xfrm>
          <a:prstGeom prst="roundRect">
            <a:avLst>
              <a:gd name="adj" fmla="val 20005"/>
            </a:avLst>
          </a:prstGeom>
          <a:solidFill>
            <a:srgbClr val="4B4B5A"/>
          </a:solidFill>
          <a:ln/>
        </p:spPr>
        <p:txBody>
          <a:bodyPr/>
          <a:lstStyle/>
          <a:p>
            <a:endParaRPr lang="en-US"/>
          </a:p>
        </p:txBody>
      </p:sp>
      <p:sp>
        <p:nvSpPr>
          <p:cNvPr id="17" name="Text 15"/>
          <p:cNvSpPr/>
          <p:nvPr/>
        </p:nvSpPr>
        <p:spPr>
          <a:xfrm>
            <a:off x="8183310" y="4266963"/>
            <a:ext cx="579692" cy="248412"/>
          </a:xfrm>
          <a:prstGeom prst="rect">
            <a:avLst/>
          </a:prstGeom>
          <a:noFill/>
          <a:ln/>
        </p:spPr>
        <p:txBody>
          <a:bodyPr wrap="square" lIns="25400" tIns="25400" rIns="25400" bIns="25400" rtlCol="0" anchor="t">
            <a:normAutofit/>
          </a:bodyPr>
          <a:lstStyle/>
          <a:p>
            <a:pPr marL="0" indent="0" algn="l">
              <a:buNone/>
            </a:pPr>
            <a:r>
              <a:rPr lang="en-US" sz="1200" b="1" dirty="0">
                <a:solidFill>
                  <a:srgbClr val="8A8A99"/>
                </a:solidFill>
                <a:latin typeface="Arial" pitchFamily="34" charset="0"/>
                <a:ea typeface="Arial" pitchFamily="34" charset="-122"/>
                <a:cs typeface="Arial" pitchFamily="34" charset="-120"/>
              </a:rPr>
              <a:t>€360k</a:t>
            </a:r>
            <a:endParaRPr lang="en-US" sz="1200" dirty="0"/>
          </a:p>
        </p:txBody>
      </p:sp>
      <p:sp>
        <p:nvSpPr>
          <p:cNvPr id="18" name="Shape 16"/>
          <p:cNvSpPr/>
          <p:nvPr/>
        </p:nvSpPr>
        <p:spPr>
          <a:xfrm>
            <a:off x="952405" y="4544140"/>
            <a:ext cx="2368868" cy="190452"/>
          </a:xfrm>
          <a:prstGeom prst="roundRect">
            <a:avLst>
              <a:gd name="adj" fmla="val 20005"/>
            </a:avLst>
          </a:prstGeom>
          <a:solidFill>
            <a:srgbClr val="22C55E"/>
          </a:solidFill>
          <a:ln/>
        </p:spPr>
        <p:txBody>
          <a:bodyPr/>
          <a:lstStyle/>
          <a:p>
            <a:endParaRPr lang="en-US"/>
          </a:p>
        </p:txBody>
      </p:sp>
      <p:sp>
        <p:nvSpPr>
          <p:cNvPr id="19" name="Text 17"/>
          <p:cNvSpPr/>
          <p:nvPr/>
        </p:nvSpPr>
        <p:spPr>
          <a:xfrm>
            <a:off x="3435430" y="4534282"/>
            <a:ext cx="539115" cy="248412"/>
          </a:xfrm>
          <a:prstGeom prst="rect">
            <a:avLst/>
          </a:prstGeom>
          <a:noFill/>
          <a:ln/>
        </p:spPr>
        <p:txBody>
          <a:bodyPr wrap="square" lIns="25400" tIns="25400" rIns="25400" bIns="25400" rtlCol="0" anchor="t">
            <a:normAutofit/>
          </a:bodyPr>
          <a:lstStyle/>
          <a:p>
            <a:pPr marL="0" indent="0" algn="l">
              <a:buNone/>
            </a:pPr>
            <a:r>
              <a:rPr lang="en-US" sz="1200" b="1" dirty="0">
                <a:solidFill>
                  <a:srgbClr val="22C55E"/>
                </a:solidFill>
                <a:latin typeface="Arial" pitchFamily="34" charset="0"/>
                <a:ea typeface="Arial" pitchFamily="34" charset="-122"/>
                <a:cs typeface="Arial" pitchFamily="34" charset="-120"/>
              </a:rPr>
              <a:t>€120k</a:t>
            </a:r>
            <a:endParaRPr lang="en-US" sz="1200" dirty="0"/>
          </a:p>
        </p:txBody>
      </p:sp>
      <p:sp>
        <p:nvSpPr>
          <p:cNvPr id="20" name="Text 18"/>
          <p:cNvSpPr/>
          <p:nvPr/>
        </p:nvSpPr>
        <p:spPr>
          <a:xfrm>
            <a:off x="952405" y="5312379"/>
            <a:ext cx="11135751" cy="220980"/>
          </a:xfrm>
          <a:prstGeom prst="rect">
            <a:avLst/>
          </a:prstGeom>
          <a:noFill/>
          <a:ln/>
        </p:spPr>
        <p:txBody>
          <a:bodyPr wrap="square" lIns="25400" tIns="25400" rIns="25400" bIns="25400" rtlCol="0" anchor="t">
            <a:normAutofit lnSpcReduction="10000"/>
          </a:bodyPr>
          <a:lstStyle/>
          <a:p>
            <a:pPr marL="0" indent="0" algn="l">
              <a:buNone/>
            </a:pPr>
            <a:r>
              <a:rPr lang="en-US" sz="1200" kern="0" spc="-12" dirty="0">
                <a:solidFill>
                  <a:srgbClr val="CCCCCC"/>
                </a:solidFill>
                <a:latin typeface="Arial" pitchFamily="34" charset="0"/>
                <a:ea typeface="Arial" pitchFamily="34" charset="-122"/>
                <a:cs typeface="Arial" pitchFamily="34" charset="-120"/>
              </a:rPr>
              <a:t>Ops / DBA staff</a:t>
            </a:r>
            <a:endParaRPr lang="en-US" sz="1200" dirty="0"/>
          </a:p>
        </p:txBody>
      </p:sp>
      <p:sp>
        <p:nvSpPr>
          <p:cNvPr id="21" name="Shape 19"/>
          <p:cNvSpPr/>
          <p:nvPr/>
        </p:nvSpPr>
        <p:spPr>
          <a:xfrm>
            <a:off x="952405" y="5581270"/>
            <a:ext cx="2966086" cy="190452"/>
          </a:xfrm>
          <a:prstGeom prst="roundRect">
            <a:avLst>
              <a:gd name="adj" fmla="val 20005"/>
            </a:avLst>
          </a:prstGeom>
          <a:solidFill>
            <a:srgbClr val="4B4B5A"/>
          </a:solidFill>
          <a:ln/>
        </p:spPr>
        <p:txBody>
          <a:bodyPr/>
          <a:lstStyle/>
          <a:p>
            <a:endParaRPr lang="en-US"/>
          </a:p>
        </p:txBody>
      </p:sp>
      <p:sp>
        <p:nvSpPr>
          <p:cNvPr id="22" name="Text 20"/>
          <p:cNvSpPr/>
          <p:nvPr/>
        </p:nvSpPr>
        <p:spPr>
          <a:xfrm>
            <a:off x="4032647" y="5571412"/>
            <a:ext cx="545259" cy="248412"/>
          </a:xfrm>
          <a:prstGeom prst="rect">
            <a:avLst/>
          </a:prstGeom>
          <a:noFill/>
          <a:ln/>
        </p:spPr>
        <p:txBody>
          <a:bodyPr wrap="square" lIns="25400" tIns="25400" rIns="25400" bIns="25400" rtlCol="0" anchor="t">
            <a:normAutofit/>
          </a:bodyPr>
          <a:lstStyle/>
          <a:p>
            <a:pPr marL="0" indent="0" algn="l">
              <a:buNone/>
            </a:pPr>
            <a:r>
              <a:rPr lang="en-US" sz="1200" b="1" dirty="0">
                <a:solidFill>
                  <a:srgbClr val="8A8A99"/>
                </a:solidFill>
                <a:latin typeface="Arial" pitchFamily="34" charset="0"/>
                <a:ea typeface="Arial" pitchFamily="34" charset="-122"/>
                <a:cs typeface="Arial" pitchFamily="34" charset="-120"/>
              </a:rPr>
              <a:t>€150k</a:t>
            </a:r>
            <a:endParaRPr lang="en-US" sz="1200" dirty="0"/>
          </a:p>
        </p:txBody>
      </p:sp>
      <p:sp>
        <p:nvSpPr>
          <p:cNvPr id="23" name="Shape 21"/>
          <p:cNvSpPr/>
          <p:nvPr/>
        </p:nvSpPr>
        <p:spPr>
          <a:xfrm>
            <a:off x="952405" y="5848589"/>
            <a:ext cx="1477899" cy="190452"/>
          </a:xfrm>
          <a:prstGeom prst="roundRect">
            <a:avLst>
              <a:gd name="adj" fmla="val 20005"/>
            </a:avLst>
          </a:prstGeom>
          <a:solidFill>
            <a:srgbClr val="22C55E"/>
          </a:solidFill>
          <a:ln/>
        </p:spPr>
        <p:txBody>
          <a:bodyPr/>
          <a:lstStyle/>
          <a:p>
            <a:endParaRPr lang="en-US"/>
          </a:p>
        </p:txBody>
      </p:sp>
      <p:sp>
        <p:nvSpPr>
          <p:cNvPr id="24" name="Text 22"/>
          <p:cNvSpPr/>
          <p:nvPr/>
        </p:nvSpPr>
        <p:spPr>
          <a:xfrm>
            <a:off x="2544461" y="5838731"/>
            <a:ext cx="475393" cy="248412"/>
          </a:xfrm>
          <a:prstGeom prst="rect">
            <a:avLst/>
          </a:prstGeom>
          <a:noFill/>
          <a:ln/>
        </p:spPr>
        <p:txBody>
          <a:bodyPr wrap="square" lIns="25400" tIns="25400" rIns="25400" bIns="25400" rtlCol="0" anchor="t">
            <a:normAutofit/>
          </a:bodyPr>
          <a:lstStyle/>
          <a:p>
            <a:pPr marL="0" indent="0" algn="l">
              <a:buNone/>
            </a:pPr>
            <a:r>
              <a:rPr lang="en-US" sz="1200" b="1" dirty="0">
                <a:solidFill>
                  <a:srgbClr val="22C55E"/>
                </a:solidFill>
                <a:latin typeface="Arial" pitchFamily="34" charset="0"/>
                <a:ea typeface="Arial" pitchFamily="34" charset="-122"/>
                <a:cs typeface="Arial" pitchFamily="34" charset="-120"/>
              </a:rPr>
              <a:t>€75k</a:t>
            </a:r>
            <a:endParaRPr lang="en-US" sz="1200" dirty="0"/>
          </a:p>
        </p:txBody>
      </p:sp>
      <p:sp>
        <p:nvSpPr>
          <p:cNvPr id="25" name="Text 23"/>
          <p:cNvSpPr/>
          <p:nvPr/>
        </p:nvSpPr>
        <p:spPr>
          <a:xfrm>
            <a:off x="952405" y="6616685"/>
            <a:ext cx="11135751" cy="220980"/>
          </a:xfrm>
          <a:prstGeom prst="rect">
            <a:avLst/>
          </a:prstGeom>
          <a:noFill/>
          <a:ln/>
        </p:spPr>
        <p:txBody>
          <a:bodyPr wrap="square" lIns="25400" tIns="25400" rIns="25400" bIns="25400" rtlCol="0" anchor="t">
            <a:normAutofit lnSpcReduction="10000"/>
          </a:bodyPr>
          <a:lstStyle/>
          <a:p>
            <a:pPr marL="0" indent="0" algn="l">
              <a:buNone/>
            </a:pPr>
            <a:r>
              <a:rPr lang="en-US" sz="1200" kern="0" spc="-12" dirty="0">
                <a:solidFill>
                  <a:srgbClr val="CCCCCC"/>
                </a:solidFill>
                <a:latin typeface="Arial" pitchFamily="34" charset="0"/>
                <a:ea typeface="Arial" pitchFamily="34" charset="-122"/>
                <a:cs typeface="Arial" pitchFamily="34" charset="-120"/>
              </a:rPr>
              <a:t>Storage &amp; backup</a:t>
            </a:r>
            <a:endParaRPr lang="en-US" sz="1200" dirty="0"/>
          </a:p>
        </p:txBody>
      </p:sp>
      <p:sp>
        <p:nvSpPr>
          <p:cNvPr id="26" name="Shape 24"/>
          <p:cNvSpPr/>
          <p:nvPr/>
        </p:nvSpPr>
        <p:spPr>
          <a:xfrm>
            <a:off x="952405" y="6885576"/>
            <a:ext cx="2368868" cy="190452"/>
          </a:xfrm>
          <a:prstGeom prst="roundRect">
            <a:avLst>
              <a:gd name="adj" fmla="val 20005"/>
            </a:avLst>
          </a:prstGeom>
          <a:solidFill>
            <a:srgbClr val="4B4B5A"/>
          </a:solidFill>
          <a:ln/>
        </p:spPr>
        <p:txBody>
          <a:bodyPr/>
          <a:lstStyle/>
          <a:p>
            <a:endParaRPr lang="en-US"/>
          </a:p>
        </p:txBody>
      </p:sp>
      <p:sp>
        <p:nvSpPr>
          <p:cNvPr id="27" name="Text 25"/>
          <p:cNvSpPr/>
          <p:nvPr/>
        </p:nvSpPr>
        <p:spPr>
          <a:xfrm>
            <a:off x="3435430" y="6875718"/>
            <a:ext cx="539115" cy="248412"/>
          </a:xfrm>
          <a:prstGeom prst="rect">
            <a:avLst/>
          </a:prstGeom>
          <a:noFill/>
          <a:ln/>
        </p:spPr>
        <p:txBody>
          <a:bodyPr wrap="square" lIns="25400" tIns="25400" rIns="25400" bIns="25400" rtlCol="0" anchor="t">
            <a:normAutofit/>
          </a:bodyPr>
          <a:lstStyle/>
          <a:p>
            <a:pPr marL="0" indent="0" algn="l">
              <a:buNone/>
            </a:pPr>
            <a:r>
              <a:rPr lang="en-US" sz="1200" b="1" dirty="0">
                <a:solidFill>
                  <a:srgbClr val="8A8A99"/>
                </a:solidFill>
                <a:latin typeface="Arial" pitchFamily="34" charset="0"/>
                <a:ea typeface="Arial" pitchFamily="34" charset="-122"/>
                <a:cs typeface="Arial" pitchFamily="34" charset="-120"/>
              </a:rPr>
              <a:t>€120k</a:t>
            </a:r>
            <a:endParaRPr lang="en-US" sz="1200" dirty="0"/>
          </a:p>
        </p:txBody>
      </p:sp>
      <p:sp>
        <p:nvSpPr>
          <p:cNvPr id="28" name="Shape 26"/>
          <p:cNvSpPr/>
          <p:nvPr/>
        </p:nvSpPr>
        <p:spPr>
          <a:xfrm>
            <a:off x="952405" y="7152895"/>
            <a:ext cx="1680353" cy="190452"/>
          </a:xfrm>
          <a:prstGeom prst="roundRect">
            <a:avLst>
              <a:gd name="adj" fmla="val 20005"/>
            </a:avLst>
          </a:prstGeom>
          <a:solidFill>
            <a:srgbClr val="22C55E"/>
          </a:solidFill>
          <a:ln/>
        </p:spPr>
        <p:txBody>
          <a:bodyPr/>
          <a:lstStyle/>
          <a:p>
            <a:endParaRPr lang="en-US"/>
          </a:p>
        </p:txBody>
      </p:sp>
      <p:sp>
        <p:nvSpPr>
          <p:cNvPr id="29" name="Text 27"/>
          <p:cNvSpPr/>
          <p:nvPr/>
        </p:nvSpPr>
        <p:spPr>
          <a:xfrm>
            <a:off x="2746915" y="7143037"/>
            <a:ext cx="481536" cy="248412"/>
          </a:xfrm>
          <a:prstGeom prst="rect">
            <a:avLst/>
          </a:prstGeom>
          <a:noFill/>
          <a:ln/>
        </p:spPr>
        <p:txBody>
          <a:bodyPr wrap="square" lIns="25400" tIns="25400" rIns="25400" bIns="25400" rtlCol="0" anchor="t">
            <a:normAutofit/>
          </a:bodyPr>
          <a:lstStyle/>
          <a:p>
            <a:pPr marL="0" indent="0" algn="l">
              <a:buNone/>
            </a:pPr>
            <a:r>
              <a:rPr lang="en-US" sz="1200" b="1" dirty="0">
                <a:solidFill>
                  <a:srgbClr val="22C55E"/>
                </a:solidFill>
                <a:latin typeface="Arial" pitchFamily="34" charset="0"/>
                <a:ea typeface="Arial" pitchFamily="34" charset="-122"/>
                <a:cs typeface="Arial" pitchFamily="34" charset="-120"/>
              </a:rPr>
              <a:t>€85k</a:t>
            </a:r>
            <a:endParaRPr lang="en-US" sz="1200" dirty="0"/>
          </a:p>
        </p:txBody>
      </p:sp>
      <p:sp>
        <p:nvSpPr>
          <p:cNvPr id="30" name="Text 28"/>
          <p:cNvSpPr/>
          <p:nvPr/>
        </p:nvSpPr>
        <p:spPr>
          <a:xfrm>
            <a:off x="952405" y="7921134"/>
            <a:ext cx="11135751" cy="220980"/>
          </a:xfrm>
          <a:prstGeom prst="rect">
            <a:avLst/>
          </a:prstGeom>
          <a:noFill/>
          <a:ln/>
        </p:spPr>
        <p:txBody>
          <a:bodyPr wrap="square" lIns="25400" tIns="25400" rIns="25400" bIns="25400" rtlCol="0" anchor="t">
            <a:normAutofit lnSpcReduction="10000"/>
          </a:bodyPr>
          <a:lstStyle/>
          <a:p>
            <a:pPr marL="0" indent="0" algn="l">
              <a:buNone/>
            </a:pPr>
            <a:r>
              <a:rPr lang="en-US" sz="1200" kern="0" spc="-12" dirty="0">
                <a:solidFill>
                  <a:srgbClr val="CCCCCC"/>
                </a:solidFill>
                <a:latin typeface="Arial" pitchFamily="34" charset="0"/>
                <a:ea typeface="Arial" pitchFamily="34" charset="-122"/>
                <a:cs typeface="Arial" pitchFamily="34" charset="-120"/>
              </a:rPr>
              <a:t>BI / ETL software licenses</a:t>
            </a:r>
            <a:endParaRPr lang="en-US" sz="1200" dirty="0"/>
          </a:p>
        </p:txBody>
      </p:sp>
      <p:sp>
        <p:nvSpPr>
          <p:cNvPr id="31" name="Shape 29"/>
          <p:cNvSpPr/>
          <p:nvPr/>
        </p:nvSpPr>
        <p:spPr>
          <a:xfrm>
            <a:off x="952405" y="8190025"/>
            <a:ext cx="2176415" cy="190452"/>
          </a:xfrm>
          <a:prstGeom prst="roundRect">
            <a:avLst>
              <a:gd name="adj" fmla="val 20005"/>
            </a:avLst>
          </a:prstGeom>
          <a:solidFill>
            <a:srgbClr val="4B4B5A"/>
          </a:solidFill>
          <a:ln/>
        </p:spPr>
        <p:txBody>
          <a:bodyPr/>
          <a:lstStyle/>
          <a:p>
            <a:endParaRPr lang="en-US"/>
          </a:p>
        </p:txBody>
      </p:sp>
      <p:sp>
        <p:nvSpPr>
          <p:cNvPr id="32" name="Text 30"/>
          <p:cNvSpPr/>
          <p:nvPr/>
        </p:nvSpPr>
        <p:spPr>
          <a:xfrm>
            <a:off x="3242977" y="8180166"/>
            <a:ext cx="512826" cy="248412"/>
          </a:xfrm>
          <a:prstGeom prst="rect">
            <a:avLst/>
          </a:prstGeom>
          <a:noFill/>
          <a:ln/>
        </p:spPr>
        <p:txBody>
          <a:bodyPr wrap="square" lIns="25400" tIns="25400" rIns="25400" bIns="25400" rtlCol="0" anchor="t">
            <a:normAutofit/>
          </a:bodyPr>
          <a:lstStyle/>
          <a:p>
            <a:pPr marL="0" indent="0" algn="l">
              <a:buNone/>
            </a:pPr>
            <a:r>
              <a:rPr lang="en-US" sz="1200" b="1" dirty="0">
                <a:solidFill>
                  <a:srgbClr val="8A8A99"/>
                </a:solidFill>
                <a:latin typeface="Arial" pitchFamily="34" charset="0"/>
                <a:ea typeface="Arial" pitchFamily="34" charset="-122"/>
                <a:cs typeface="Arial" pitchFamily="34" charset="-120"/>
              </a:rPr>
              <a:t>€110k</a:t>
            </a:r>
            <a:endParaRPr lang="en-US" sz="1200" dirty="0"/>
          </a:p>
        </p:txBody>
      </p:sp>
      <p:sp>
        <p:nvSpPr>
          <p:cNvPr id="33" name="Shape 31"/>
          <p:cNvSpPr/>
          <p:nvPr/>
        </p:nvSpPr>
        <p:spPr>
          <a:xfrm>
            <a:off x="952405" y="8457344"/>
            <a:ext cx="789527" cy="190452"/>
          </a:xfrm>
          <a:prstGeom prst="roundRect">
            <a:avLst>
              <a:gd name="adj" fmla="val 20005"/>
            </a:avLst>
          </a:prstGeom>
          <a:solidFill>
            <a:srgbClr val="22C55E"/>
          </a:solidFill>
          <a:ln/>
        </p:spPr>
        <p:txBody>
          <a:bodyPr/>
          <a:lstStyle/>
          <a:p>
            <a:endParaRPr lang="en-US"/>
          </a:p>
        </p:txBody>
      </p:sp>
      <p:sp>
        <p:nvSpPr>
          <p:cNvPr id="34" name="Text 32"/>
          <p:cNvSpPr/>
          <p:nvPr/>
        </p:nvSpPr>
        <p:spPr>
          <a:xfrm>
            <a:off x="1856089" y="8447486"/>
            <a:ext cx="489680" cy="248412"/>
          </a:xfrm>
          <a:prstGeom prst="rect">
            <a:avLst/>
          </a:prstGeom>
          <a:noFill/>
          <a:ln/>
        </p:spPr>
        <p:txBody>
          <a:bodyPr wrap="square" lIns="25400" tIns="25400" rIns="25400" bIns="25400" rtlCol="0" anchor="t">
            <a:normAutofit/>
          </a:bodyPr>
          <a:lstStyle/>
          <a:p>
            <a:pPr marL="0" indent="0" algn="l">
              <a:buNone/>
            </a:pPr>
            <a:r>
              <a:rPr lang="en-US" sz="1200" b="1" dirty="0">
                <a:solidFill>
                  <a:srgbClr val="22C55E"/>
                </a:solidFill>
                <a:latin typeface="Arial" pitchFamily="34" charset="0"/>
                <a:ea typeface="Arial" pitchFamily="34" charset="-122"/>
                <a:cs typeface="Arial" pitchFamily="34" charset="-120"/>
              </a:rPr>
              <a:t>€40k</a:t>
            </a:r>
            <a:endParaRPr lang="en-US" sz="1200" dirty="0"/>
          </a:p>
        </p:txBody>
      </p:sp>
      <p:sp>
        <p:nvSpPr>
          <p:cNvPr id="35" name="Shape 33"/>
          <p:cNvSpPr/>
          <p:nvPr/>
        </p:nvSpPr>
        <p:spPr>
          <a:xfrm>
            <a:off x="952405" y="9017986"/>
            <a:ext cx="10123410" cy="9525"/>
          </a:xfrm>
          <a:prstGeom prst="rect">
            <a:avLst/>
          </a:prstGeom>
          <a:solidFill>
            <a:srgbClr val="262626"/>
          </a:solidFill>
          <a:ln/>
        </p:spPr>
        <p:txBody>
          <a:bodyPr/>
          <a:lstStyle/>
          <a:p>
            <a:endParaRPr lang="en-US"/>
          </a:p>
        </p:txBody>
      </p:sp>
      <p:sp>
        <p:nvSpPr>
          <p:cNvPr id="36" name="Text 34"/>
          <p:cNvSpPr/>
          <p:nvPr/>
        </p:nvSpPr>
        <p:spPr>
          <a:xfrm>
            <a:off x="952405" y="9122380"/>
            <a:ext cx="10427112" cy="217599"/>
          </a:xfrm>
          <a:prstGeom prst="rect">
            <a:avLst/>
          </a:prstGeom>
          <a:noFill/>
          <a:ln/>
        </p:spPr>
        <p:txBody>
          <a:bodyPr wrap="square" lIns="25400" tIns="25400" rIns="25400" bIns="25400" rtlCol="0" anchor="t">
            <a:normAutofit fontScale="92500" lnSpcReduction="20000"/>
          </a:bodyPr>
          <a:lstStyle/>
          <a:p>
            <a:pPr marL="0" indent="0" algn="l">
              <a:lnSpc>
                <a:spcPct val="145000"/>
              </a:lnSpc>
              <a:buNone/>
            </a:pPr>
            <a:r>
              <a:rPr lang="en-US" sz="975" kern="0" spc="-10" dirty="0">
                <a:solidFill>
                  <a:schemeClr val="bg1">
                    <a:lumMod val="95000"/>
                  </a:schemeClr>
                </a:solidFill>
                <a:latin typeface="Arial" pitchFamily="34" charset="0"/>
                <a:ea typeface="Arial" pitchFamily="34" charset="-122"/>
                <a:cs typeface="Arial" pitchFamily="34" charset="-120"/>
              </a:rPr>
              <a:t>Illustrative estimates — RFP as-is colocation vs AWS pay-per-use (S3 Intelligent-Tiering, Spot Glue DPUs, Redshift RIs, QuickSight per-session). Excludes one-time migration.</a:t>
            </a:r>
            <a:endParaRPr lang="en-US" sz="975" dirty="0">
              <a:solidFill>
                <a:schemeClr val="bg1">
                  <a:lumMod val="95000"/>
                </a:schemeClr>
              </a:solidFill>
            </a:endParaRPr>
          </a:p>
        </p:txBody>
      </p:sp>
      <p:sp>
        <p:nvSpPr>
          <p:cNvPr id="37" name="Shape 35"/>
          <p:cNvSpPr/>
          <p:nvPr/>
        </p:nvSpPr>
        <p:spPr>
          <a:xfrm>
            <a:off x="11380567" y="2103692"/>
            <a:ext cx="5954888" cy="2844213"/>
          </a:xfrm>
          <a:prstGeom prst="roundRect">
            <a:avLst>
              <a:gd name="adj" fmla="val 7368"/>
            </a:avLst>
          </a:prstGeom>
          <a:gradFill rotWithShape="1">
            <a:gsLst>
              <a:gs pos="0">
                <a:srgbClr val="FF7A3D">
                  <a:alpha val="14000"/>
                </a:srgbClr>
              </a:gs>
              <a:gs pos="100000">
                <a:srgbClr val="6A4CF5">
                  <a:alpha val="14000"/>
                </a:srgbClr>
              </a:gs>
            </a:gsLst>
            <a:lin ang="2700000" scaled="0"/>
          </a:gradFill>
          <a:ln w="9144">
            <a:solidFill>
              <a:srgbClr val="FF7A3D">
                <a:alpha val="20000"/>
              </a:srgbClr>
            </a:solidFill>
            <a:prstDash val="solid"/>
          </a:ln>
        </p:spPr>
        <p:txBody>
          <a:bodyPr/>
          <a:lstStyle/>
          <a:p>
            <a:endParaRPr lang="en-US"/>
          </a:p>
        </p:txBody>
      </p:sp>
      <p:sp>
        <p:nvSpPr>
          <p:cNvPr id="38" name="Text 36"/>
          <p:cNvSpPr/>
          <p:nvPr/>
        </p:nvSpPr>
        <p:spPr>
          <a:xfrm>
            <a:off x="12556993" y="2518887"/>
            <a:ext cx="1424050" cy="568452"/>
          </a:xfrm>
          <a:prstGeom prst="rect">
            <a:avLst/>
          </a:prstGeom>
          <a:noFill/>
          <a:ln/>
        </p:spPr>
        <p:txBody>
          <a:bodyPr wrap="square" lIns="25400" tIns="25400" rIns="25400" bIns="25400" rtlCol="0" anchor="t">
            <a:normAutofit/>
          </a:bodyPr>
          <a:lstStyle/>
          <a:p>
            <a:pPr marL="0" indent="0" algn="ctr">
              <a:buNone/>
            </a:pPr>
            <a:r>
              <a:rPr lang="en-US" sz="3000" b="1" kern="0" spc="-112" dirty="0">
                <a:solidFill>
                  <a:srgbClr val="8A8A99"/>
                </a:solidFill>
                <a:latin typeface="Arial" pitchFamily="34" charset="0"/>
                <a:ea typeface="Arial" pitchFamily="34" charset="-122"/>
                <a:cs typeface="Arial" pitchFamily="34" charset="-120"/>
              </a:rPr>
              <a:t>€1.30M</a:t>
            </a:r>
            <a:endParaRPr lang="en-US" sz="3000" dirty="0"/>
          </a:p>
        </p:txBody>
      </p:sp>
      <p:sp>
        <p:nvSpPr>
          <p:cNvPr id="39" name="Text 37"/>
          <p:cNvSpPr/>
          <p:nvPr/>
        </p:nvSpPr>
        <p:spPr>
          <a:xfrm>
            <a:off x="14011516" y="2692623"/>
            <a:ext cx="342948" cy="339852"/>
          </a:xfrm>
          <a:prstGeom prst="rect">
            <a:avLst/>
          </a:prstGeom>
          <a:noFill/>
          <a:ln/>
        </p:spPr>
        <p:txBody>
          <a:bodyPr wrap="square" lIns="25400" tIns="25400" rIns="25400" bIns="25400" rtlCol="0" anchor="t">
            <a:normAutofit lnSpcReduction="10000"/>
          </a:bodyPr>
          <a:lstStyle/>
          <a:p>
            <a:pPr marL="0" indent="0" algn="ctr">
              <a:buNone/>
            </a:pPr>
            <a:r>
              <a:rPr lang="en-US" sz="2100" dirty="0">
                <a:solidFill>
                  <a:srgbClr val="666666"/>
                </a:solidFill>
                <a:latin typeface="Arial" pitchFamily="34" charset="0"/>
                <a:ea typeface="Arial" pitchFamily="34" charset="-122"/>
                <a:cs typeface="Arial" pitchFamily="34" charset="-120"/>
              </a:rPr>
              <a:t>→</a:t>
            </a:r>
            <a:endParaRPr lang="en-US" sz="2100" dirty="0"/>
          </a:p>
        </p:txBody>
      </p:sp>
      <p:sp>
        <p:nvSpPr>
          <p:cNvPr id="40" name="Text 38"/>
          <p:cNvSpPr/>
          <p:nvPr/>
        </p:nvSpPr>
        <p:spPr>
          <a:xfrm>
            <a:off x="14367434" y="2436591"/>
            <a:ext cx="1809098" cy="678180"/>
          </a:xfrm>
          <a:prstGeom prst="rect">
            <a:avLst/>
          </a:prstGeom>
          <a:noFill/>
          <a:ln/>
        </p:spPr>
        <p:txBody>
          <a:bodyPr wrap="square" lIns="25400" tIns="25400" rIns="25400" bIns="25400" rtlCol="0" anchor="t">
            <a:normAutofit/>
          </a:bodyPr>
          <a:lstStyle/>
          <a:p>
            <a:pPr marL="0" indent="0" algn="ctr">
              <a:buNone/>
            </a:pPr>
            <a:r>
              <a:rPr lang="en-US" sz="3600" b="1" kern="0" spc="-150" dirty="0">
                <a:solidFill>
                  <a:srgbClr val="22C55E"/>
                </a:solidFill>
                <a:latin typeface="Arial" pitchFamily="34" charset="0"/>
                <a:ea typeface="Arial" pitchFamily="34" charset="-122"/>
                <a:cs typeface="Arial" pitchFamily="34" charset="-120"/>
              </a:rPr>
              <a:t>€0.56M</a:t>
            </a:r>
            <a:endParaRPr lang="en-US" sz="3600" dirty="0"/>
          </a:p>
        </p:txBody>
      </p:sp>
      <p:sp>
        <p:nvSpPr>
          <p:cNvPr id="41" name="Text 39"/>
          <p:cNvSpPr/>
          <p:nvPr/>
        </p:nvSpPr>
        <p:spPr>
          <a:xfrm>
            <a:off x="11449012" y="3133678"/>
            <a:ext cx="5818000" cy="202692"/>
          </a:xfrm>
          <a:prstGeom prst="rect">
            <a:avLst/>
          </a:prstGeom>
          <a:noFill/>
          <a:ln/>
        </p:spPr>
        <p:txBody>
          <a:bodyPr wrap="square" lIns="25400" tIns="25400" rIns="25400" bIns="25400" rtlCol="0" anchor="t">
            <a:normAutofit fontScale="92500" lnSpcReduction="10000"/>
          </a:bodyPr>
          <a:lstStyle/>
          <a:p>
            <a:pPr marL="0" indent="0" algn="ctr">
              <a:buNone/>
            </a:pPr>
            <a:r>
              <a:rPr lang="en-US" sz="1125" dirty="0">
                <a:solidFill>
                  <a:srgbClr val="888888"/>
                </a:solidFill>
                <a:latin typeface="Arial" pitchFamily="34" charset="0"/>
                <a:ea typeface="Arial" pitchFamily="34" charset="-122"/>
                <a:cs typeface="Arial" pitchFamily="34" charset="-120"/>
              </a:rPr>
              <a:t>per year</a:t>
            </a:r>
            <a:endParaRPr lang="en-US" sz="1125" dirty="0"/>
          </a:p>
        </p:txBody>
      </p:sp>
      <p:sp>
        <p:nvSpPr>
          <p:cNvPr id="42" name="Shape 40"/>
          <p:cNvSpPr/>
          <p:nvPr/>
        </p:nvSpPr>
        <p:spPr>
          <a:xfrm>
            <a:off x="11713466" y="3526727"/>
            <a:ext cx="5289091" cy="9525"/>
          </a:xfrm>
          <a:prstGeom prst="rect">
            <a:avLst/>
          </a:prstGeom>
          <a:solidFill>
            <a:srgbClr val="2C2C2C"/>
          </a:solidFill>
          <a:ln/>
        </p:spPr>
        <p:txBody>
          <a:bodyPr/>
          <a:lstStyle/>
          <a:p>
            <a:endParaRPr lang="en-US"/>
          </a:p>
        </p:txBody>
      </p:sp>
      <p:sp>
        <p:nvSpPr>
          <p:cNvPr id="43" name="Text 41"/>
          <p:cNvSpPr/>
          <p:nvPr/>
        </p:nvSpPr>
        <p:spPr>
          <a:xfrm>
            <a:off x="12254463" y="3764614"/>
            <a:ext cx="1667494" cy="647748"/>
          </a:xfrm>
          <a:prstGeom prst="rect">
            <a:avLst/>
          </a:prstGeom>
          <a:noFill/>
          <a:ln/>
        </p:spPr>
        <p:txBody>
          <a:bodyPr wrap="square" lIns="25400" tIns="25400" rIns="25400" bIns="25400" rtlCol="0" anchor="t">
            <a:normAutofit fontScale="92500" lnSpcReduction="20000"/>
          </a:bodyPr>
          <a:lstStyle/>
          <a:p>
            <a:pPr marL="0" indent="0" algn="ctr">
              <a:lnSpc>
                <a:spcPct val="100000"/>
              </a:lnSpc>
              <a:buNone/>
            </a:pPr>
            <a:r>
              <a:rPr lang="en-US" sz="4800" b="1" kern="0" spc="-225" dirty="0">
                <a:solidFill>
                  <a:srgbClr val="FFFFFF"/>
                </a:solidFill>
                <a:latin typeface="Arial" pitchFamily="34" charset="0"/>
                <a:ea typeface="Arial" pitchFamily="34" charset="-122"/>
                <a:cs typeface="Arial" pitchFamily="34" charset="-120"/>
              </a:rPr>
              <a:t>−57%</a:t>
            </a:r>
            <a:endParaRPr lang="en-US" sz="4800" dirty="0"/>
          </a:p>
        </p:txBody>
      </p:sp>
      <p:sp>
        <p:nvSpPr>
          <p:cNvPr id="44" name="Text 42"/>
          <p:cNvSpPr/>
          <p:nvPr/>
        </p:nvSpPr>
        <p:spPr>
          <a:xfrm>
            <a:off x="12254463" y="4450414"/>
            <a:ext cx="1667494" cy="202692"/>
          </a:xfrm>
          <a:prstGeom prst="rect">
            <a:avLst/>
          </a:prstGeom>
          <a:noFill/>
          <a:ln/>
        </p:spPr>
        <p:txBody>
          <a:bodyPr wrap="square" lIns="25400" tIns="25400" rIns="25400" bIns="25400" rtlCol="0" anchor="t">
            <a:normAutofit fontScale="92500" lnSpcReduction="10000"/>
          </a:bodyPr>
          <a:lstStyle/>
          <a:p>
            <a:pPr marL="0" indent="0" algn="ctr">
              <a:buNone/>
            </a:pPr>
            <a:r>
              <a:rPr lang="en-US" sz="1125" dirty="0">
                <a:solidFill>
                  <a:srgbClr val="999999"/>
                </a:solidFill>
                <a:latin typeface="Arial" pitchFamily="34" charset="0"/>
                <a:ea typeface="Arial" pitchFamily="34" charset="-122"/>
                <a:cs typeface="Arial" pitchFamily="34" charset="-120"/>
              </a:rPr>
              <a:t>infrastructure cost</a:t>
            </a:r>
            <a:endParaRPr lang="en-US" sz="1125" dirty="0"/>
          </a:p>
        </p:txBody>
      </p:sp>
      <p:sp>
        <p:nvSpPr>
          <p:cNvPr id="45" name="Text 43"/>
          <p:cNvSpPr/>
          <p:nvPr/>
        </p:nvSpPr>
        <p:spPr>
          <a:xfrm>
            <a:off x="14199091" y="3764614"/>
            <a:ext cx="2290801" cy="647748"/>
          </a:xfrm>
          <a:prstGeom prst="rect">
            <a:avLst/>
          </a:prstGeom>
          <a:noFill/>
          <a:ln/>
        </p:spPr>
        <p:txBody>
          <a:bodyPr wrap="square" lIns="25400" tIns="25400" rIns="25400" bIns="25400" rtlCol="0" anchor="t">
            <a:normAutofit fontScale="92500" lnSpcReduction="20000"/>
          </a:bodyPr>
          <a:lstStyle/>
          <a:p>
            <a:pPr marL="0" indent="0" algn="ctr">
              <a:lnSpc>
                <a:spcPct val="100000"/>
              </a:lnSpc>
              <a:buNone/>
            </a:pPr>
            <a:r>
              <a:rPr lang="en-US" sz="4800" b="1" kern="0" spc="-225" dirty="0">
                <a:solidFill>
                  <a:srgbClr val="FFFFFF"/>
                </a:solidFill>
                <a:latin typeface="Arial" pitchFamily="34" charset="0"/>
                <a:ea typeface="Arial" pitchFamily="34" charset="-122"/>
                <a:cs typeface="Arial" pitchFamily="34" charset="-120"/>
              </a:rPr>
              <a:t>€0.74M</a:t>
            </a:r>
            <a:endParaRPr lang="en-US" sz="4800" dirty="0"/>
          </a:p>
        </p:txBody>
      </p:sp>
      <p:sp>
        <p:nvSpPr>
          <p:cNvPr id="46" name="Text 44"/>
          <p:cNvSpPr/>
          <p:nvPr/>
        </p:nvSpPr>
        <p:spPr>
          <a:xfrm>
            <a:off x="14199091" y="4450414"/>
            <a:ext cx="2290801" cy="202692"/>
          </a:xfrm>
          <a:prstGeom prst="rect">
            <a:avLst/>
          </a:prstGeom>
          <a:noFill/>
          <a:ln/>
        </p:spPr>
        <p:txBody>
          <a:bodyPr wrap="square" lIns="25400" tIns="25400" rIns="25400" bIns="25400" rtlCol="0" anchor="t">
            <a:normAutofit fontScale="92500" lnSpcReduction="10000"/>
          </a:bodyPr>
          <a:lstStyle/>
          <a:p>
            <a:pPr marL="0" indent="0" algn="ctr">
              <a:buNone/>
            </a:pPr>
            <a:r>
              <a:rPr lang="en-US" sz="1125" dirty="0">
                <a:solidFill>
                  <a:srgbClr val="999999"/>
                </a:solidFill>
                <a:latin typeface="Arial" pitchFamily="34" charset="0"/>
                <a:ea typeface="Arial" pitchFamily="34" charset="-122"/>
                <a:cs typeface="Arial" pitchFamily="34" charset="-120"/>
              </a:rPr>
              <a:t>saved every year</a:t>
            </a:r>
            <a:endParaRPr lang="en-US" sz="1125" dirty="0"/>
          </a:p>
        </p:txBody>
      </p:sp>
      <p:sp>
        <p:nvSpPr>
          <p:cNvPr id="47" name="Shape 45"/>
          <p:cNvSpPr/>
          <p:nvPr/>
        </p:nvSpPr>
        <p:spPr>
          <a:xfrm>
            <a:off x="11380567" y="5119212"/>
            <a:ext cx="5954888" cy="4182666"/>
          </a:xfrm>
          <a:prstGeom prst="roundRect">
            <a:avLst>
              <a:gd name="adj" fmla="val 4099"/>
            </a:avLst>
          </a:prstGeom>
          <a:solidFill>
            <a:srgbClr val="141414"/>
          </a:solidFill>
          <a:ln/>
        </p:spPr>
        <p:txBody>
          <a:bodyPr/>
          <a:lstStyle/>
          <a:p>
            <a:endParaRPr lang="en-US"/>
          </a:p>
        </p:txBody>
      </p:sp>
      <p:sp>
        <p:nvSpPr>
          <p:cNvPr id="48" name="Text 46"/>
          <p:cNvSpPr/>
          <p:nvPr/>
        </p:nvSpPr>
        <p:spPr>
          <a:xfrm>
            <a:off x="11647172" y="5385817"/>
            <a:ext cx="5963846" cy="175260"/>
          </a:xfrm>
          <a:prstGeom prst="rect">
            <a:avLst/>
          </a:prstGeom>
          <a:noFill/>
          <a:ln/>
        </p:spPr>
        <p:txBody>
          <a:bodyPr wrap="square" lIns="25400" tIns="25400" rIns="25400" bIns="25400" rtlCol="0" anchor="t">
            <a:normAutofit fontScale="92500" lnSpcReduction="10000"/>
          </a:bodyPr>
          <a:lstStyle/>
          <a:p>
            <a:pPr marL="0" indent="0" algn="l">
              <a:buNone/>
            </a:pPr>
            <a:r>
              <a:rPr lang="en-US" sz="975" b="1" kern="0" spc="98" dirty="0">
                <a:solidFill>
                  <a:srgbClr val="666666"/>
                </a:solidFill>
                <a:latin typeface="Arial" pitchFamily="34" charset="0"/>
                <a:ea typeface="Arial" pitchFamily="34" charset="-122"/>
                <a:cs typeface="Arial" pitchFamily="34" charset="-120"/>
              </a:rPr>
              <a:t>AWS BUDGET BRIDGE → €560K</a:t>
            </a:r>
            <a:endParaRPr lang="en-US" sz="975" dirty="0"/>
          </a:p>
        </p:txBody>
      </p:sp>
      <p:sp>
        <p:nvSpPr>
          <p:cNvPr id="49" name="Text 47"/>
          <p:cNvSpPr/>
          <p:nvPr/>
        </p:nvSpPr>
        <p:spPr>
          <a:xfrm>
            <a:off x="11647172" y="6455808"/>
            <a:ext cx="1497130" cy="230124"/>
          </a:xfrm>
          <a:prstGeom prst="rect">
            <a:avLst/>
          </a:prstGeom>
          <a:noFill/>
          <a:ln/>
        </p:spPr>
        <p:txBody>
          <a:bodyPr wrap="square" lIns="25400" tIns="25400" rIns="25400" bIns="25400" rtlCol="0" anchor="t">
            <a:normAutofit lnSpcReduction="10000"/>
          </a:bodyPr>
          <a:lstStyle/>
          <a:p>
            <a:pPr marL="0" indent="0" algn="l">
              <a:buNone/>
            </a:pPr>
            <a:r>
              <a:rPr lang="en-US" sz="1275" dirty="0">
                <a:solidFill>
                  <a:srgbClr val="AAAAAA"/>
                </a:solidFill>
                <a:latin typeface="Arial" pitchFamily="34" charset="0"/>
                <a:ea typeface="Arial" pitchFamily="34" charset="-122"/>
                <a:cs typeface="Arial" pitchFamily="34" charset="-120"/>
              </a:rPr>
              <a:t>Direct AWS meters</a:t>
            </a:r>
            <a:endParaRPr lang="en-US" sz="1275" dirty="0"/>
          </a:p>
        </p:txBody>
      </p:sp>
      <p:sp>
        <p:nvSpPr>
          <p:cNvPr id="50" name="Text 48"/>
          <p:cNvSpPr/>
          <p:nvPr/>
        </p:nvSpPr>
        <p:spPr>
          <a:xfrm>
            <a:off x="16517067" y="6414660"/>
            <a:ext cx="627983" cy="312420"/>
          </a:xfrm>
          <a:prstGeom prst="rect">
            <a:avLst/>
          </a:prstGeom>
          <a:noFill/>
          <a:ln/>
        </p:spPr>
        <p:txBody>
          <a:bodyPr wrap="square" lIns="25400" tIns="25400" rIns="25400" bIns="25400" rtlCol="0" anchor="t">
            <a:normAutofit/>
          </a:bodyPr>
          <a:lstStyle/>
          <a:p>
            <a:pPr marL="0" indent="0" algn="l">
              <a:buNone/>
            </a:pPr>
            <a:r>
              <a:rPr lang="en-US" sz="1500" b="1" kern="0" spc="-30" dirty="0">
                <a:solidFill>
                  <a:srgbClr val="FFFFFF"/>
                </a:solidFill>
                <a:latin typeface="Arial" pitchFamily="34" charset="0"/>
                <a:ea typeface="Arial" pitchFamily="34" charset="-122"/>
                <a:cs typeface="Arial" pitchFamily="34" charset="-120"/>
              </a:rPr>
              <a:t>€217k</a:t>
            </a:r>
            <a:endParaRPr lang="en-US" sz="1500" dirty="0"/>
          </a:p>
        </p:txBody>
      </p:sp>
      <p:sp>
        <p:nvSpPr>
          <p:cNvPr id="51" name="Text 49"/>
          <p:cNvSpPr/>
          <p:nvPr/>
        </p:nvSpPr>
        <p:spPr>
          <a:xfrm>
            <a:off x="11647172" y="6882433"/>
            <a:ext cx="1790867" cy="230124"/>
          </a:xfrm>
          <a:prstGeom prst="rect">
            <a:avLst/>
          </a:prstGeom>
          <a:noFill/>
          <a:ln/>
        </p:spPr>
        <p:txBody>
          <a:bodyPr wrap="square" lIns="25400" tIns="25400" rIns="25400" bIns="25400" rtlCol="0" anchor="t">
            <a:normAutofit lnSpcReduction="10000"/>
          </a:bodyPr>
          <a:lstStyle/>
          <a:p>
            <a:pPr marL="0" indent="0" algn="l">
              <a:buNone/>
            </a:pPr>
            <a:r>
              <a:rPr lang="en-US" sz="1275" dirty="0">
                <a:solidFill>
                  <a:srgbClr val="AAAAAA"/>
                </a:solidFill>
                <a:latin typeface="Arial" pitchFamily="34" charset="0"/>
                <a:ea typeface="Arial" pitchFamily="34" charset="-122"/>
                <a:cs typeface="Arial" pitchFamily="34" charset="-120"/>
              </a:rPr>
              <a:t>Platform ops &amp; FinOps</a:t>
            </a:r>
            <a:endParaRPr lang="en-US" sz="1275" dirty="0"/>
          </a:p>
        </p:txBody>
      </p:sp>
      <p:sp>
        <p:nvSpPr>
          <p:cNvPr id="52" name="Text 50"/>
          <p:cNvSpPr/>
          <p:nvPr/>
        </p:nvSpPr>
        <p:spPr>
          <a:xfrm>
            <a:off x="16512496" y="6841285"/>
            <a:ext cx="632555" cy="312420"/>
          </a:xfrm>
          <a:prstGeom prst="rect">
            <a:avLst/>
          </a:prstGeom>
          <a:noFill/>
          <a:ln/>
        </p:spPr>
        <p:txBody>
          <a:bodyPr wrap="square" lIns="25400" tIns="25400" rIns="25400" bIns="25400" rtlCol="0" anchor="t">
            <a:normAutofit/>
          </a:bodyPr>
          <a:lstStyle/>
          <a:p>
            <a:pPr marL="0" indent="0" algn="l">
              <a:buNone/>
            </a:pPr>
            <a:r>
              <a:rPr lang="en-US" sz="1500" b="1" kern="0" spc="-30" dirty="0">
                <a:solidFill>
                  <a:srgbClr val="FFFFFF"/>
                </a:solidFill>
                <a:latin typeface="Arial" pitchFamily="34" charset="0"/>
                <a:ea typeface="Arial" pitchFamily="34" charset="-122"/>
                <a:cs typeface="Arial" pitchFamily="34" charset="-120"/>
              </a:rPr>
              <a:t>€175k</a:t>
            </a:r>
            <a:endParaRPr lang="en-US" sz="1500" dirty="0"/>
          </a:p>
        </p:txBody>
      </p:sp>
      <p:sp>
        <p:nvSpPr>
          <p:cNvPr id="53" name="Text 51"/>
          <p:cNvSpPr/>
          <p:nvPr/>
        </p:nvSpPr>
        <p:spPr>
          <a:xfrm>
            <a:off x="11647172" y="7309057"/>
            <a:ext cx="2134110" cy="230124"/>
          </a:xfrm>
          <a:prstGeom prst="rect">
            <a:avLst/>
          </a:prstGeom>
          <a:noFill/>
          <a:ln/>
        </p:spPr>
        <p:txBody>
          <a:bodyPr wrap="square" lIns="25400" tIns="25400" rIns="25400" bIns="25400" rtlCol="0" anchor="t">
            <a:normAutofit lnSpcReduction="10000"/>
          </a:bodyPr>
          <a:lstStyle/>
          <a:p>
            <a:pPr marL="0" indent="0" algn="l">
              <a:buNone/>
            </a:pPr>
            <a:r>
              <a:rPr lang="en-US" sz="1275" dirty="0">
                <a:solidFill>
                  <a:srgbClr val="AAAAAA"/>
                </a:solidFill>
                <a:latin typeface="Arial" pitchFamily="34" charset="0"/>
                <a:ea typeface="Arial" pitchFamily="34" charset="-122"/>
                <a:cs typeface="Arial" pitchFamily="34" charset="-120"/>
              </a:rPr>
              <a:t>Security, governance &amp; DR</a:t>
            </a:r>
            <a:endParaRPr lang="en-US" sz="1275" dirty="0"/>
          </a:p>
        </p:txBody>
      </p:sp>
      <p:sp>
        <p:nvSpPr>
          <p:cNvPr id="54" name="Text 52"/>
          <p:cNvSpPr/>
          <p:nvPr/>
        </p:nvSpPr>
        <p:spPr>
          <a:xfrm>
            <a:off x="16574360" y="7267909"/>
            <a:ext cx="570690" cy="312420"/>
          </a:xfrm>
          <a:prstGeom prst="rect">
            <a:avLst/>
          </a:prstGeom>
          <a:noFill/>
          <a:ln/>
        </p:spPr>
        <p:txBody>
          <a:bodyPr wrap="square" lIns="25400" tIns="25400" rIns="25400" bIns="25400" rtlCol="0" anchor="t">
            <a:normAutofit/>
          </a:bodyPr>
          <a:lstStyle/>
          <a:p>
            <a:pPr marL="0" indent="0" algn="l">
              <a:buNone/>
            </a:pPr>
            <a:r>
              <a:rPr lang="en-US" sz="1500" b="1" kern="0" spc="-30" dirty="0">
                <a:solidFill>
                  <a:srgbClr val="FFFFFF"/>
                </a:solidFill>
                <a:latin typeface="Arial" pitchFamily="34" charset="0"/>
                <a:ea typeface="Arial" pitchFamily="34" charset="-122"/>
                <a:cs typeface="Arial" pitchFamily="34" charset="-120"/>
              </a:rPr>
              <a:t>€65k</a:t>
            </a:r>
            <a:endParaRPr lang="en-US" sz="1500" dirty="0"/>
          </a:p>
        </p:txBody>
      </p:sp>
      <p:sp>
        <p:nvSpPr>
          <p:cNvPr id="55" name="Text 53"/>
          <p:cNvSpPr/>
          <p:nvPr/>
        </p:nvSpPr>
        <p:spPr>
          <a:xfrm>
            <a:off x="11647172" y="7735682"/>
            <a:ext cx="976027" cy="230124"/>
          </a:xfrm>
          <a:prstGeom prst="rect">
            <a:avLst/>
          </a:prstGeom>
          <a:noFill/>
          <a:ln/>
        </p:spPr>
        <p:txBody>
          <a:bodyPr wrap="square" lIns="25400" tIns="25400" rIns="25400" bIns="25400" rtlCol="0" anchor="t">
            <a:normAutofit lnSpcReduction="10000"/>
          </a:bodyPr>
          <a:lstStyle/>
          <a:p>
            <a:pPr marL="0" indent="0" algn="l">
              <a:buNone/>
            </a:pPr>
            <a:r>
              <a:rPr lang="en-US" sz="1275" dirty="0">
                <a:solidFill>
                  <a:srgbClr val="AAAAAA"/>
                </a:solidFill>
                <a:latin typeface="Arial" pitchFamily="34" charset="0"/>
                <a:ea typeface="Arial" pitchFamily="34" charset="-122"/>
                <a:cs typeface="Arial" pitchFamily="34" charset="-120"/>
              </a:rPr>
              <a:t>Contingency</a:t>
            </a:r>
            <a:endParaRPr lang="en-US" sz="1275" dirty="0"/>
          </a:p>
        </p:txBody>
      </p:sp>
      <p:sp>
        <p:nvSpPr>
          <p:cNvPr id="56" name="Text 54"/>
          <p:cNvSpPr/>
          <p:nvPr/>
        </p:nvSpPr>
        <p:spPr>
          <a:xfrm>
            <a:off x="16506352" y="7694534"/>
            <a:ext cx="638699" cy="312420"/>
          </a:xfrm>
          <a:prstGeom prst="rect">
            <a:avLst/>
          </a:prstGeom>
          <a:noFill/>
          <a:ln/>
        </p:spPr>
        <p:txBody>
          <a:bodyPr wrap="square" lIns="25400" tIns="25400" rIns="25400" bIns="25400" rtlCol="0" anchor="t">
            <a:normAutofit/>
          </a:bodyPr>
          <a:lstStyle/>
          <a:p>
            <a:pPr marL="0" indent="0" algn="l">
              <a:buNone/>
            </a:pPr>
            <a:r>
              <a:rPr lang="en-US" sz="1500" b="1" kern="0" spc="-30" dirty="0">
                <a:solidFill>
                  <a:srgbClr val="FFFFFF"/>
                </a:solidFill>
                <a:latin typeface="Arial" pitchFamily="34" charset="0"/>
                <a:ea typeface="Arial" pitchFamily="34" charset="-122"/>
                <a:cs typeface="Arial" pitchFamily="34" charset="-120"/>
              </a:rPr>
              <a:t>€103k</a:t>
            </a:r>
            <a:endParaRPr lang="en-US" sz="1500" dirty="0"/>
          </a:p>
        </p:txBody>
      </p:sp>
      <p:sp>
        <p:nvSpPr>
          <p:cNvPr id="57" name="Shape 55"/>
          <p:cNvSpPr/>
          <p:nvPr/>
        </p:nvSpPr>
        <p:spPr>
          <a:xfrm>
            <a:off x="11647172" y="8746238"/>
            <a:ext cx="5421678" cy="9525"/>
          </a:xfrm>
          <a:prstGeom prst="rect">
            <a:avLst/>
          </a:prstGeom>
          <a:solidFill>
            <a:srgbClr val="262626"/>
          </a:solidFill>
          <a:ln/>
        </p:spPr>
        <p:txBody>
          <a:bodyPr/>
          <a:lstStyle/>
          <a:p>
            <a:endParaRPr lang="en-US"/>
          </a:p>
        </p:txBody>
      </p:sp>
      <p:sp>
        <p:nvSpPr>
          <p:cNvPr id="58" name="Text 56"/>
          <p:cNvSpPr/>
          <p:nvPr/>
        </p:nvSpPr>
        <p:spPr>
          <a:xfrm>
            <a:off x="11647172" y="8888970"/>
            <a:ext cx="5963846" cy="184404"/>
          </a:xfrm>
          <a:prstGeom prst="rect">
            <a:avLst/>
          </a:prstGeom>
          <a:noFill/>
          <a:ln/>
        </p:spPr>
        <p:txBody>
          <a:bodyPr wrap="square" lIns="25400" tIns="25400" rIns="25400" bIns="25400" rtlCol="0" anchor="t">
            <a:normAutofit fontScale="92500" lnSpcReduction="20000"/>
          </a:bodyPr>
          <a:lstStyle/>
          <a:p>
            <a:pPr marL="0" indent="0" algn="l">
              <a:buNone/>
            </a:pPr>
            <a:r>
              <a:rPr lang="en-US" sz="1050" dirty="0">
                <a:solidFill>
                  <a:schemeClr val="bg1">
                    <a:lumMod val="95000"/>
                  </a:schemeClr>
                </a:solidFill>
                <a:latin typeface="Arial" pitchFamily="34" charset="0"/>
                <a:ea typeface="Arial" pitchFamily="34" charset="-122"/>
                <a:cs typeface="Arial" pitchFamily="34" charset="-120"/>
              </a:rPr>
              <a:t>Validated monthly · Cost Explorer · CUR · FinOps tags</a:t>
            </a:r>
            <a:endParaRPr lang="en-US" sz="1050" dirty="0">
              <a:solidFill>
                <a:schemeClr val="bg1">
                  <a:lumMod val="95000"/>
                </a:schemeClr>
              </a:solidFill>
            </a:endParaRPr>
          </a:p>
        </p:txBody>
      </p:sp>
      <p:sp>
        <p:nvSpPr>
          <p:cNvPr id="59" name="Text 57"/>
          <p:cNvSpPr/>
          <p:nvPr/>
        </p:nvSpPr>
        <p:spPr>
          <a:xfrm>
            <a:off x="952405" y="9473186"/>
            <a:ext cx="18021355" cy="166116"/>
          </a:xfrm>
          <a:prstGeom prst="rect">
            <a:avLst/>
          </a:prstGeom>
          <a:noFill/>
          <a:ln/>
        </p:spPr>
        <p:txBody>
          <a:bodyPr wrap="square" lIns="25400" tIns="25400" rIns="25400" bIns="25400" rtlCol="0" anchor="t">
            <a:normAutofit fontScale="92500" lnSpcReduction="10000"/>
          </a:bodyPr>
          <a:lstStyle/>
          <a:p>
            <a:pPr marL="0" indent="0" algn="l">
              <a:buNone/>
            </a:pPr>
            <a:r>
              <a:rPr lang="en-US" sz="900" kern="0" spc="90" dirty="0">
                <a:solidFill>
                  <a:schemeClr val="bg1">
                    <a:lumMod val="95000"/>
                  </a:schemeClr>
                </a:solidFill>
                <a:latin typeface="Arial" pitchFamily="34" charset="0"/>
                <a:ea typeface="Arial" pitchFamily="34" charset="-122"/>
                <a:cs typeface="Arial" pitchFamily="34" charset="-120"/>
              </a:rPr>
              <a:t>MANGA DATAHUB · CLOUD ANALYTICS · IE UNIVERSITY</a:t>
            </a:r>
            <a:endParaRPr lang="en-US" sz="900" dirty="0">
              <a:solidFill>
                <a:schemeClr val="bg1">
                  <a:lumMod val="95000"/>
                </a:schemeClr>
              </a:solidFill>
            </a:endParaRPr>
          </a:p>
        </p:txBody>
      </p:sp>
    </p:spTree>
  </p:cSld>
  <p:clrMapOvr>
    <a:masterClrMapping/>
  </p:clrMapOvr>
  <p:transition spd="slow">
    <p:push dir="u"/>
  </p:transition>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90909"/>
        </a:solidFill>
        <a:effectLst/>
      </p:bgPr>
    </p:bg>
    <p:spTree>
      <p:nvGrpSpPr>
        <p:cNvPr id="1" name=""/>
        <p:cNvGrpSpPr/>
        <p:nvPr/>
      </p:nvGrpSpPr>
      <p:grpSpPr>
        <a:xfrm>
          <a:off x="0" y="0"/>
          <a:ext cx="0" cy="0"/>
          <a:chOff x="0" y="0"/>
          <a:chExt cx="0" cy="0"/>
        </a:xfrm>
      </p:grpSpPr>
      <p:sp>
        <p:nvSpPr>
          <p:cNvPr id="2" name="Shape 0"/>
          <p:cNvSpPr/>
          <p:nvPr/>
        </p:nvSpPr>
        <p:spPr>
          <a:xfrm>
            <a:off x="12096657" y="-2857358"/>
            <a:ext cx="7143608" cy="7143608"/>
          </a:xfrm>
          <a:prstGeom prst="rect">
            <a:avLst/>
          </a:prstGeom>
          <a:gradFill rotWithShape="1">
            <a:gsLst>
              <a:gs pos="0">
                <a:srgbClr val="D44DF0">
                  <a:alpha val="9000"/>
                </a:srgbClr>
              </a:gs>
              <a:gs pos="62000">
                <a:srgbClr val="D44DF0">
                  <a:alpha val="0"/>
                </a:srgbClr>
              </a:gs>
            </a:gsLst>
            <a:path path="circle">
              <a:fillToRect l="50000" t="50000" r="50000" b="50000"/>
            </a:path>
          </a:gradFill>
          <a:ln/>
        </p:spPr>
        <p:txBody>
          <a:bodyPr/>
          <a:lstStyle/>
          <a:p>
            <a:endParaRPr lang="en-US"/>
          </a:p>
        </p:txBody>
      </p:sp>
      <p:sp>
        <p:nvSpPr>
          <p:cNvPr id="3" name="Text 1"/>
          <p:cNvSpPr/>
          <p:nvPr/>
        </p:nvSpPr>
        <p:spPr>
          <a:xfrm>
            <a:off x="952405" y="685657"/>
            <a:ext cx="18021355" cy="220980"/>
          </a:xfrm>
          <a:prstGeom prst="rect">
            <a:avLst/>
          </a:prstGeom>
          <a:noFill/>
          <a:ln/>
        </p:spPr>
        <p:txBody>
          <a:bodyPr wrap="square" lIns="25400" tIns="25400" rIns="25400" bIns="25400" rtlCol="0" anchor="t">
            <a:normAutofit lnSpcReduction="10000"/>
          </a:bodyPr>
          <a:lstStyle/>
          <a:p>
            <a:pPr marL="0" indent="0" algn="l">
              <a:buNone/>
            </a:pPr>
            <a:r>
              <a:rPr lang="en-US" sz="1200" kern="0" spc="168" dirty="0">
                <a:solidFill>
                  <a:srgbClr val="888888"/>
                </a:solidFill>
                <a:latin typeface="Arial" pitchFamily="34" charset="0"/>
                <a:ea typeface="Arial" pitchFamily="34" charset="-122"/>
                <a:cs typeface="Arial" pitchFamily="34" charset="-120"/>
              </a:rPr>
              <a:t>MACHINE LEARNING USE CASES</a:t>
            </a:r>
            <a:endParaRPr lang="en-US" sz="1200" dirty="0"/>
          </a:p>
        </p:txBody>
      </p:sp>
      <p:sp>
        <p:nvSpPr>
          <p:cNvPr id="4" name="Text 2"/>
          <p:cNvSpPr/>
          <p:nvPr/>
        </p:nvSpPr>
        <p:spPr>
          <a:xfrm>
            <a:off x="952405" y="1001840"/>
            <a:ext cx="11637256" cy="635318"/>
          </a:xfrm>
          <a:prstGeom prst="rect">
            <a:avLst/>
          </a:prstGeom>
          <a:noFill/>
          <a:ln/>
        </p:spPr>
        <p:txBody>
          <a:bodyPr wrap="square" lIns="25400" tIns="25400" rIns="25400" bIns="25400" rtlCol="0" anchor="t">
            <a:normAutofit fontScale="92500" lnSpcReduction="20000"/>
          </a:bodyPr>
          <a:lstStyle/>
          <a:p>
            <a:pPr marL="0" indent="0" algn="l">
              <a:lnSpc>
                <a:spcPct val="95000"/>
              </a:lnSpc>
              <a:buNone/>
            </a:pPr>
            <a:r>
              <a:rPr lang="en-US" sz="4950" b="1" kern="0" spc="-240" dirty="0">
                <a:solidFill>
                  <a:srgbClr val="FFFFFF"/>
                </a:solidFill>
                <a:latin typeface="Arial" pitchFamily="34" charset="0"/>
                <a:ea typeface="Arial" pitchFamily="34" charset="-122"/>
                <a:cs typeface="Arial" pitchFamily="34" charset="-120"/>
              </a:rPr>
              <a:t>Capabilities that are impossible today</a:t>
            </a:r>
            <a:endParaRPr lang="en-US" sz="4950" dirty="0"/>
          </a:p>
        </p:txBody>
      </p:sp>
      <p:sp>
        <p:nvSpPr>
          <p:cNvPr id="5" name="Text 3"/>
          <p:cNvSpPr/>
          <p:nvPr/>
        </p:nvSpPr>
        <p:spPr>
          <a:xfrm>
            <a:off x="11988786" y="1017127"/>
            <a:ext cx="4512848" cy="563023"/>
          </a:xfrm>
          <a:prstGeom prst="rect">
            <a:avLst/>
          </a:prstGeom>
          <a:noFill/>
          <a:ln/>
        </p:spPr>
        <p:txBody>
          <a:bodyPr wrap="square" lIns="25400" tIns="25400" rIns="25400" bIns="25400" rtlCol="0" anchor="t">
            <a:normAutofit fontScale="92500" lnSpcReduction="10000"/>
          </a:bodyPr>
          <a:lstStyle/>
          <a:p>
            <a:pPr marL="0" indent="0" algn="l">
              <a:lnSpc>
                <a:spcPct val="145000"/>
              </a:lnSpc>
              <a:buNone/>
            </a:pPr>
            <a:r>
              <a:rPr lang="en-US" sz="1425" kern="0" spc="-15" dirty="0">
                <a:solidFill>
                  <a:srgbClr val="999999"/>
                </a:solidFill>
                <a:latin typeface="Arial" pitchFamily="34" charset="0"/>
                <a:ea typeface="Arial" pitchFamily="34" charset="-122"/>
                <a:cs typeface="Arial" pitchFamily="34" charset="-120"/>
              </a:rPr>
              <a:t>Trained on Manga's existing data — directly attacking the 1.2% online-growth problem.</a:t>
            </a:r>
            <a:endParaRPr lang="en-US" sz="1425" dirty="0"/>
          </a:p>
        </p:txBody>
      </p:sp>
      <p:sp>
        <p:nvSpPr>
          <p:cNvPr id="6" name="Shape 4"/>
          <p:cNvSpPr/>
          <p:nvPr/>
        </p:nvSpPr>
        <p:spPr>
          <a:xfrm>
            <a:off x="952405" y="1846660"/>
            <a:ext cx="16383050" cy="9525"/>
          </a:xfrm>
          <a:prstGeom prst="rect">
            <a:avLst/>
          </a:prstGeom>
          <a:solidFill>
            <a:srgbClr val="262626"/>
          </a:solidFill>
          <a:ln/>
        </p:spPr>
        <p:txBody>
          <a:bodyPr/>
          <a:lstStyle/>
          <a:p>
            <a:endParaRPr lang="en-US"/>
          </a:p>
        </p:txBody>
      </p:sp>
      <p:sp>
        <p:nvSpPr>
          <p:cNvPr id="7" name="Shape 5"/>
          <p:cNvSpPr/>
          <p:nvPr/>
        </p:nvSpPr>
        <p:spPr>
          <a:xfrm>
            <a:off x="952405" y="2103692"/>
            <a:ext cx="3154680" cy="7160039"/>
          </a:xfrm>
          <a:prstGeom prst="roundRect">
            <a:avLst>
              <a:gd name="adj" fmla="val 6643"/>
            </a:avLst>
          </a:prstGeom>
          <a:solidFill>
            <a:srgbClr val="141414"/>
          </a:solidFill>
          <a:ln/>
        </p:spPr>
        <p:txBody>
          <a:bodyPr/>
          <a:lstStyle/>
          <a:p>
            <a:endParaRPr lang="en-US"/>
          </a:p>
        </p:txBody>
      </p:sp>
      <p:sp>
        <p:nvSpPr>
          <p:cNvPr id="8" name="Text 6"/>
          <p:cNvSpPr/>
          <p:nvPr/>
        </p:nvSpPr>
        <p:spPr>
          <a:xfrm>
            <a:off x="1257157" y="4431840"/>
            <a:ext cx="2799693" cy="533448"/>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3900" b="1" kern="0" spc="-187" dirty="0">
                <a:solidFill>
                  <a:srgbClr val="FFFFFF"/>
                </a:solidFill>
                <a:latin typeface="Arial" pitchFamily="34" charset="0"/>
                <a:ea typeface="Arial" pitchFamily="34" charset="-122"/>
                <a:cs typeface="Arial" pitchFamily="34" charset="-120"/>
              </a:rPr>
              <a:t>−30%</a:t>
            </a:r>
            <a:endParaRPr lang="en-US" sz="3900" dirty="0"/>
          </a:p>
        </p:txBody>
      </p:sp>
      <p:sp>
        <p:nvSpPr>
          <p:cNvPr id="9" name="Text 7"/>
          <p:cNvSpPr/>
          <p:nvPr/>
        </p:nvSpPr>
        <p:spPr>
          <a:xfrm>
            <a:off x="1257157" y="4984195"/>
            <a:ext cx="2799693" cy="202692"/>
          </a:xfrm>
          <a:prstGeom prst="rect">
            <a:avLst/>
          </a:prstGeom>
          <a:noFill/>
          <a:ln/>
        </p:spPr>
        <p:txBody>
          <a:bodyPr wrap="square" lIns="25400" tIns="25400" rIns="25400" bIns="25400" rtlCol="0" anchor="t">
            <a:normAutofit fontScale="92500" lnSpcReduction="10000"/>
          </a:bodyPr>
          <a:lstStyle/>
          <a:p>
            <a:pPr marL="0" indent="0" algn="l">
              <a:buNone/>
            </a:pPr>
            <a:r>
              <a:rPr lang="en-US" sz="1125" dirty="0">
                <a:solidFill>
                  <a:srgbClr val="666666"/>
                </a:solidFill>
                <a:latin typeface="Arial" pitchFamily="34" charset="0"/>
                <a:ea typeface="Arial" pitchFamily="34" charset="-122"/>
                <a:cs typeface="Arial" pitchFamily="34" charset="-120"/>
              </a:rPr>
              <a:t>stockouts</a:t>
            </a:r>
            <a:endParaRPr lang="en-US" sz="1125" dirty="0"/>
          </a:p>
        </p:txBody>
      </p:sp>
      <p:sp>
        <p:nvSpPr>
          <p:cNvPr id="10" name="Shape 8"/>
          <p:cNvSpPr/>
          <p:nvPr/>
        </p:nvSpPr>
        <p:spPr>
          <a:xfrm>
            <a:off x="1257157" y="5358242"/>
            <a:ext cx="2545176" cy="9525"/>
          </a:xfrm>
          <a:prstGeom prst="rect">
            <a:avLst/>
          </a:prstGeom>
          <a:solidFill>
            <a:srgbClr val="262626"/>
          </a:solidFill>
          <a:ln/>
        </p:spPr>
        <p:txBody>
          <a:bodyPr/>
          <a:lstStyle/>
          <a:p>
            <a:endParaRPr lang="en-US"/>
          </a:p>
        </p:txBody>
      </p:sp>
      <p:sp>
        <p:nvSpPr>
          <p:cNvPr id="11" name="Text 9"/>
          <p:cNvSpPr/>
          <p:nvPr/>
        </p:nvSpPr>
        <p:spPr>
          <a:xfrm>
            <a:off x="1257157" y="5577126"/>
            <a:ext cx="2799693" cy="330708"/>
          </a:xfrm>
          <a:prstGeom prst="rect">
            <a:avLst/>
          </a:prstGeom>
          <a:noFill/>
          <a:ln/>
        </p:spPr>
        <p:txBody>
          <a:bodyPr wrap="square" lIns="25400" tIns="25400" rIns="25400" bIns="25400" rtlCol="0" anchor="t">
            <a:normAutofit/>
          </a:bodyPr>
          <a:lstStyle/>
          <a:p>
            <a:pPr marL="0" indent="0" algn="l">
              <a:buNone/>
            </a:pPr>
            <a:r>
              <a:rPr lang="en-US" sz="1650" b="1" kern="0" spc="-45" dirty="0">
                <a:solidFill>
                  <a:srgbClr val="FFFFFF"/>
                </a:solidFill>
                <a:latin typeface="Arial" pitchFamily="34" charset="0"/>
                <a:ea typeface="Arial" pitchFamily="34" charset="-122"/>
                <a:cs typeface="Arial" pitchFamily="34" charset="-120"/>
              </a:rPr>
              <a:t>Demand forecasting</a:t>
            </a:r>
            <a:endParaRPr lang="en-US" sz="1650" dirty="0"/>
          </a:p>
        </p:txBody>
      </p:sp>
      <p:sp>
        <p:nvSpPr>
          <p:cNvPr id="12" name="Text 10"/>
          <p:cNvSpPr/>
          <p:nvPr/>
        </p:nvSpPr>
        <p:spPr>
          <a:xfrm>
            <a:off x="1257157" y="6003037"/>
            <a:ext cx="2621531" cy="681038"/>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1125" dirty="0">
                <a:solidFill>
                  <a:srgbClr val="AAAAAA"/>
                </a:solidFill>
                <a:latin typeface="Arial" pitchFamily="34" charset="0"/>
                <a:ea typeface="Arial" pitchFamily="34" charset="-122"/>
                <a:cs typeface="Arial" pitchFamily="34" charset="-120"/>
              </a:rPr>
              <a:t>SageMaker DeepAR over sales, inventory and external factors — also cuts overstock ~20%.</a:t>
            </a:r>
            <a:endParaRPr lang="en-US" sz="1125" dirty="0"/>
          </a:p>
        </p:txBody>
      </p:sp>
      <p:sp>
        <p:nvSpPr>
          <p:cNvPr id="13" name="Text 11"/>
          <p:cNvSpPr/>
          <p:nvPr/>
        </p:nvSpPr>
        <p:spPr>
          <a:xfrm>
            <a:off x="1257157" y="6798279"/>
            <a:ext cx="2799693" cy="175260"/>
          </a:xfrm>
          <a:prstGeom prst="rect">
            <a:avLst/>
          </a:prstGeom>
          <a:noFill/>
          <a:ln/>
        </p:spPr>
        <p:txBody>
          <a:bodyPr wrap="square" lIns="25400" tIns="25400" rIns="25400" bIns="25400" rtlCol="0" anchor="t">
            <a:normAutofit fontScale="92500" lnSpcReduction="10000"/>
          </a:bodyPr>
          <a:lstStyle/>
          <a:p>
            <a:pPr marL="0" indent="0" algn="l">
              <a:buNone/>
            </a:pPr>
            <a:r>
              <a:rPr lang="en-US" sz="975" dirty="0">
                <a:solidFill>
                  <a:schemeClr val="bg1">
                    <a:lumMod val="95000"/>
                  </a:schemeClr>
                </a:solidFill>
                <a:latin typeface="Arial" pitchFamily="34" charset="0"/>
                <a:ea typeface="Arial" pitchFamily="34" charset="-122"/>
                <a:cs typeface="Arial" pitchFamily="34" charset="-120"/>
              </a:rPr>
              <a:t>SageMaker · MWAA · QuickSight</a:t>
            </a:r>
            <a:endParaRPr lang="en-US" sz="975" dirty="0">
              <a:solidFill>
                <a:schemeClr val="bg1">
                  <a:lumMod val="95000"/>
                </a:schemeClr>
              </a:solidFill>
            </a:endParaRPr>
          </a:p>
        </p:txBody>
      </p:sp>
      <p:sp>
        <p:nvSpPr>
          <p:cNvPr id="14" name="Shape 12"/>
          <p:cNvSpPr/>
          <p:nvPr/>
        </p:nvSpPr>
        <p:spPr>
          <a:xfrm>
            <a:off x="4259390" y="2103692"/>
            <a:ext cx="3154823" cy="7160039"/>
          </a:xfrm>
          <a:prstGeom prst="roundRect">
            <a:avLst>
              <a:gd name="adj" fmla="val 6642"/>
            </a:avLst>
          </a:prstGeom>
          <a:gradFill rotWithShape="1">
            <a:gsLst>
              <a:gs pos="0">
                <a:srgbClr val="6A4CF5">
                  <a:alpha val="100000"/>
                </a:srgbClr>
              </a:gs>
              <a:gs pos="80000">
                <a:srgbClr val="1C1C1C">
                  <a:alpha val="100000"/>
                </a:srgbClr>
              </a:gs>
            </a:gsLst>
            <a:lin ang="3900000" scaled="0"/>
          </a:gradFill>
          <a:ln/>
        </p:spPr>
        <p:txBody>
          <a:bodyPr/>
          <a:lstStyle/>
          <a:p>
            <a:endParaRPr lang="en-US"/>
          </a:p>
        </p:txBody>
      </p:sp>
      <p:sp>
        <p:nvSpPr>
          <p:cNvPr id="15" name="Text 13"/>
          <p:cNvSpPr/>
          <p:nvPr/>
        </p:nvSpPr>
        <p:spPr>
          <a:xfrm>
            <a:off x="4564143" y="4431840"/>
            <a:ext cx="2799850" cy="533448"/>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3900" b="1" kern="0" spc="-187" dirty="0">
                <a:solidFill>
                  <a:srgbClr val="FFFFFF"/>
                </a:solidFill>
                <a:latin typeface="Arial" pitchFamily="34" charset="0"/>
                <a:ea typeface="Arial" pitchFamily="34" charset="-122"/>
                <a:cs typeface="Arial" pitchFamily="34" charset="-120"/>
              </a:rPr>
              <a:t>+12–18%</a:t>
            </a:r>
            <a:endParaRPr lang="en-US" sz="3900" dirty="0"/>
          </a:p>
        </p:txBody>
      </p:sp>
      <p:sp>
        <p:nvSpPr>
          <p:cNvPr id="16" name="Text 14"/>
          <p:cNvSpPr/>
          <p:nvPr/>
        </p:nvSpPr>
        <p:spPr>
          <a:xfrm>
            <a:off x="4564143" y="4984195"/>
            <a:ext cx="2799850" cy="202692"/>
          </a:xfrm>
          <a:prstGeom prst="rect">
            <a:avLst/>
          </a:prstGeom>
          <a:noFill/>
          <a:ln/>
        </p:spPr>
        <p:txBody>
          <a:bodyPr wrap="square" lIns="25400" tIns="25400" rIns="25400" bIns="25400" rtlCol="0" anchor="t">
            <a:normAutofit fontScale="92500" lnSpcReduction="10000"/>
          </a:bodyPr>
          <a:lstStyle/>
          <a:p>
            <a:pPr marL="0" indent="0" algn="l">
              <a:buNone/>
            </a:pPr>
            <a:r>
              <a:rPr lang="en-US" sz="1125" dirty="0">
                <a:solidFill>
                  <a:srgbClr val="FFFFFF">
                    <a:alpha val="50000"/>
                  </a:srgbClr>
                </a:solidFill>
                <a:latin typeface="Arial" pitchFamily="34" charset="0"/>
                <a:ea typeface="Arial" pitchFamily="34" charset="-122"/>
                <a:cs typeface="Arial" pitchFamily="34" charset="-120"/>
              </a:rPr>
              <a:t>average order value</a:t>
            </a:r>
            <a:endParaRPr lang="en-US" sz="1125" dirty="0"/>
          </a:p>
        </p:txBody>
      </p:sp>
      <p:sp>
        <p:nvSpPr>
          <p:cNvPr id="17" name="Shape 15"/>
          <p:cNvSpPr/>
          <p:nvPr/>
        </p:nvSpPr>
        <p:spPr>
          <a:xfrm>
            <a:off x="4564143" y="5358242"/>
            <a:ext cx="2545318" cy="9525"/>
          </a:xfrm>
          <a:prstGeom prst="rect">
            <a:avLst/>
          </a:prstGeom>
          <a:solidFill>
            <a:srgbClr val="FFFFFF">
              <a:alpha val="12000"/>
            </a:srgbClr>
          </a:solidFill>
          <a:ln/>
        </p:spPr>
        <p:txBody>
          <a:bodyPr/>
          <a:lstStyle/>
          <a:p>
            <a:endParaRPr lang="en-US"/>
          </a:p>
        </p:txBody>
      </p:sp>
      <p:sp>
        <p:nvSpPr>
          <p:cNvPr id="18" name="Text 16"/>
          <p:cNvSpPr/>
          <p:nvPr/>
        </p:nvSpPr>
        <p:spPr>
          <a:xfrm>
            <a:off x="4564143" y="5577126"/>
            <a:ext cx="2799850" cy="330708"/>
          </a:xfrm>
          <a:prstGeom prst="rect">
            <a:avLst/>
          </a:prstGeom>
          <a:noFill/>
          <a:ln/>
        </p:spPr>
        <p:txBody>
          <a:bodyPr wrap="square" lIns="25400" tIns="25400" rIns="25400" bIns="25400" rtlCol="0" anchor="t">
            <a:normAutofit/>
          </a:bodyPr>
          <a:lstStyle/>
          <a:p>
            <a:pPr marL="0" indent="0" algn="l">
              <a:buNone/>
            </a:pPr>
            <a:r>
              <a:rPr lang="en-US" sz="1650" b="1" kern="0" spc="-45" dirty="0">
                <a:solidFill>
                  <a:srgbClr val="FFFFFF"/>
                </a:solidFill>
                <a:latin typeface="Arial" pitchFamily="34" charset="0"/>
                <a:ea typeface="Arial" pitchFamily="34" charset="-122"/>
                <a:cs typeface="Arial" pitchFamily="34" charset="-120"/>
              </a:rPr>
              <a:t>Recommendations</a:t>
            </a:r>
            <a:endParaRPr lang="en-US" sz="1650" dirty="0"/>
          </a:p>
        </p:txBody>
      </p:sp>
      <p:sp>
        <p:nvSpPr>
          <p:cNvPr id="19" name="Text 17"/>
          <p:cNvSpPr/>
          <p:nvPr/>
        </p:nvSpPr>
        <p:spPr>
          <a:xfrm>
            <a:off x="4564143" y="6003037"/>
            <a:ext cx="2621678" cy="681038"/>
          </a:xfrm>
          <a:prstGeom prst="rect">
            <a:avLst/>
          </a:prstGeom>
          <a:noFill/>
          <a:ln/>
        </p:spPr>
        <p:txBody>
          <a:bodyPr wrap="square" lIns="25400" tIns="25400" rIns="25400" bIns="25400" rtlCol="0" anchor="t">
            <a:normAutofit fontScale="92500"/>
          </a:bodyPr>
          <a:lstStyle/>
          <a:p>
            <a:pPr marL="0" indent="0" algn="l">
              <a:lnSpc>
                <a:spcPct val="150000"/>
              </a:lnSpc>
              <a:buNone/>
            </a:pPr>
            <a:r>
              <a:rPr lang="en-US" sz="1125" dirty="0">
                <a:solidFill>
                  <a:srgbClr val="FFFFFF">
                    <a:alpha val="72000"/>
                  </a:srgbClr>
                </a:solidFill>
                <a:latin typeface="Arial" pitchFamily="34" charset="0"/>
                <a:ea typeface="Arial" pitchFamily="34" charset="-122"/>
                <a:cs typeface="Arial" pitchFamily="34" charset="-120"/>
              </a:rPr>
              <a:t>Real-time product suggestions served from DynamoDB at &lt;10ms via API Gateway.</a:t>
            </a:r>
            <a:endParaRPr lang="en-US" sz="1125" dirty="0"/>
          </a:p>
        </p:txBody>
      </p:sp>
      <p:sp>
        <p:nvSpPr>
          <p:cNvPr id="20" name="Text 18"/>
          <p:cNvSpPr/>
          <p:nvPr/>
        </p:nvSpPr>
        <p:spPr>
          <a:xfrm>
            <a:off x="4564143" y="6798279"/>
            <a:ext cx="2799850" cy="175260"/>
          </a:xfrm>
          <a:prstGeom prst="rect">
            <a:avLst/>
          </a:prstGeom>
          <a:noFill/>
          <a:ln/>
        </p:spPr>
        <p:txBody>
          <a:bodyPr wrap="square" lIns="25400" tIns="25400" rIns="25400" bIns="25400" rtlCol="0" anchor="t">
            <a:normAutofit fontScale="92500" lnSpcReduction="10000"/>
          </a:bodyPr>
          <a:lstStyle/>
          <a:p>
            <a:pPr marL="0" indent="0" algn="l">
              <a:buNone/>
            </a:pPr>
            <a:r>
              <a:rPr lang="en-US" sz="975" dirty="0">
                <a:solidFill>
                  <a:schemeClr val="bg1">
                    <a:lumMod val="95000"/>
                  </a:schemeClr>
                </a:solidFill>
                <a:latin typeface="Arial" pitchFamily="34" charset="0"/>
                <a:ea typeface="Arial" pitchFamily="34" charset="-122"/>
                <a:cs typeface="Arial" pitchFamily="34" charset="-120"/>
              </a:rPr>
              <a:t>SageMaker · DynamoDB · API Gateway</a:t>
            </a:r>
            <a:endParaRPr lang="en-US" sz="975" dirty="0">
              <a:solidFill>
                <a:schemeClr val="bg1">
                  <a:lumMod val="95000"/>
                </a:schemeClr>
              </a:solidFill>
            </a:endParaRPr>
          </a:p>
        </p:txBody>
      </p:sp>
      <p:sp>
        <p:nvSpPr>
          <p:cNvPr id="21" name="Shape 19"/>
          <p:cNvSpPr/>
          <p:nvPr/>
        </p:nvSpPr>
        <p:spPr>
          <a:xfrm>
            <a:off x="7566518" y="2103692"/>
            <a:ext cx="3154680" cy="7160039"/>
          </a:xfrm>
          <a:prstGeom prst="roundRect">
            <a:avLst>
              <a:gd name="adj" fmla="val 6643"/>
            </a:avLst>
          </a:prstGeom>
          <a:solidFill>
            <a:srgbClr val="141414"/>
          </a:solidFill>
          <a:ln/>
        </p:spPr>
        <p:txBody>
          <a:bodyPr/>
          <a:lstStyle/>
          <a:p>
            <a:endParaRPr lang="en-US"/>
          </a:p>
        </p:txBody>
      </p:sp>
      <p:sp>
        <p:nvSpPr>
          <p:cNvPr id="22" name="Text 20"/>
          <p:cNvSpPr/>
          <p:nvPr/>
        </p:nvSpPr>
        <p:spPr>
          <a:xfrm>
            <a:off x="7871271" y="4538996"/>
            <a:ext cx="2799693" cy="533448"/>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3900" b="1" kern="0" spc="-187" dirty="0">
                <a:solidFill>
                  <a:srgbClr val="FFFFFF"/>
                </a:solidFill>
                <a:latin typeface="Arial" pitchFamily="34" charset="0"/>
                <a:ea typeface="Arial" pitchFamily="34" charset="-122"/>
                <a:cs typeface="Arial" pitchFamily="34" charset="-120"/>
              </a:rPr>
              <a:t>2–3 wks</a:t>
            </a:r>
            <a:endParaRPr lang="en-US" sz="3900" dirty="0"/>
          </a:p>
        </p:txBody>
      </p:sp>
      <p:sp>
        <p:nvSpPr>
          <p:cNvPr id="23" name="Text 21"/>
          <p:cNvSpPr/>
          <p:nvPr/>
        </p:nvSpPr>
        <p:spPr>
          <a:xfrm>
            <a:off x="7871271" y="5091351"/>
            <a:ext cx="2799693" cy="202692"/>
          </a:xfrm>
          <a:prstGeom prst="rect">
            <a:avLst/>
          </a:prstGeom>
          <a:noFill/>
          <a:ln/>
        </p:spPr>
        <p:txBody>
          <a:bodyPr wrap="square" lIns="25400" tIns="25400" rIns="25400" bIns="25400" rtlCol="0" anchor="t">
            <a:normAutofit fontScale="92500" lnSpcReduction="10000"/>
          </a:bodyPr>
          <a:lstStyle/>
          <a:p>
            <a:pPr marL="0" indent="0" algn="l">
              <a:buNone/>
            </a:pPr>
            <a:r>
              <a:rPr lang="en-US" sz="1125" dirty="0">
                <a:solidFill>
                  <a:srgbClr val="666666"/>
                </a:solidFill>
                <a:latin typeface="Arial" pitchFamily="34" charset="0"/>
                <a:ea typeface="Arial" pitchFamily="34" charset="-122"/>
                <a:cs typeface="Arial" pitchFamily="34" charset="-120"/>
              </a:rPr>
              <a:t>earlier decisions</a:t>
            </a:r>
            <a:endParaRPr lang="en-US" sz="1125" dirty="0"/>
          </a:p>
        </p:txBody>
      </p:sp>
      <p:sp>
        <p:nvSpPr>
          <p:cNvPr id="24" name="Shape 22"/>
          <p:cNvSpPr/>
          <p:nvPr/>
        </p:nvSpPr>
        <p:spPr>
          <a:xfrm>
            <a:off x="7871271" y="5465398"/>
            <a:ext cx="2545176" cy="9525"/>
          </a:xfrm>
          <a:prstGeom prst="rect">
            <a:avLst/>
          </a:prstGeom>
          <a:solidFill>
            <a:srgbClr val="262626"/>
          </a:solidFill>
          <a:ln/>
        </p:spPr>
        <p:txBody>
          <a:bodyPr/>
          <a:lstStyle/>
          <a:p>
            <a:endParaRPr lang="en-US"/>
          </a:p>
        </p:txBody>
      </p:sp>
      <p:sp>
        <p:nvSpPr>
          <p:cNvPr id="25" name="Text 23"/>
          <p:cNvSpPr/>
          <p:nvPr/>
        </p:nvSpPr>
        <p:spPr>
          <a:xfrm>
            <a:off x="7871271" y="5684283"/>
            <a:ext cx="2799693" cy="330708"/>
          </a:xfrm>
          <a:prstGeom prst="rect">
            <a:avLst/>
          </a:prstGeom>
          <a:noFill/>
          <a:ln/>
        </p:spPr>
        <p:txBody>
          <a:bodyPr wrap="square" lIns="25400" tIns="25400" rIns="25400" bIns="25400" rtlCol="0" anchor="t">
            <a:normAutofit/>
          </a:bodyPr>
          <a:lstStyle/>
          <a:p>
            <a:pPr marL="0" indent="0" algn="l">
              <a:buNone/>
            </a:pPr>
            <a:r>
              <a:rPr lang="en-US" sz="1650" b="1" kern="0" spc="-45" dirty="0">
                <a:solidFill>
                  <a:srgbClr val="FFFFFF"/>
                </a:solidFill>
                <a:latin typeface="Arial" pitchFamily="34" charset="0"/>
                <a:ea typeface="Arial" pitchFamily="34" charset="-122"/>
                <a:cs typeface="Arial" pitchFamily="34" charset="-120"/>
              </a:rPr>
              <a:t>Sentiment merchandising</a:t>
            </a:r>
            <a:endParaRPr lang="en-US" sz="1650" dirty="0"/>
          </a:p>
        </p:txBody>
      </p:sp>
      <p:sp>
        <p:nvSpPr>
          <p:cNvPr id="26" name="Text 24"/>
          <p:cNvSpPr/>
          <p:nvPr/>
        </p:nvSpPr>
        <p:spPr>
          <a:xfrm>
            <a:off x="7871271" y="6110193"/>
            <a:ext cx="2621531" cy="466725"/>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1125" dirty="0">
                <a:solidFill>
                  <a:srgbClr val="AAAAAA"/>
                </a:solidFill>
                <a:latin typeface="Arial" pitchFamily="34" charset="0"/>
                <a:ea typeface="Arial" pitchFamily="34" charset="-122"/>
                <a:cs typeface="Arial" pitchFamily="34" charset="-120"/>
              </a:rPr>
              <a:t>Comprehend reads review sentiment so product calls happen weeks sooner.</a:t>
            </a:r>
            <a:endParaRPr lang="en-US" sz="1125" dirty="0"/>
          </a:p>
        </p:txBody>
      </p:sp>
      <p:sp>
        <p:nvSpPr>
          <p:cNvPr id="27" name="Text 25"/>
          <p:cNvSpPr/>
          <p:nvPr/>
        </p:nvSpPr>
        <p:spPr>
          <a:xfrm>
            <a:off x="7871271" y="6691123"/>
            <a:ext cx="2799693" cy="175260"/>
          </a:xfrm>
          <a:prstGeom prst="rect">
            <a:avLst/>
          </a:prstGeom>
          <a:noFill/>
          <a:ln/>
        </p:spPr>
        <p:txBody>
          <a:bodyPr wrap="square" lIns="25400" tIns="25400" rIns="25400" bIns="25400" rtlCol="0" anchor="t">
            <a:normAutofit fontScale="92500" lnSpcReduction="10000"/>
          </a:bodyPr>
          <a:lstStyle/>
          <a:p>
            <a:pPr marL="0" indent="0" algn="l">
              <a:buNone/>
            </a:pPr>
            <a:r>
              <a:rPr lang="en-US" sz="975" dirty="0">
                <a:solidFill>
                  <a:schemeClr val="bg1">
                    <a:lumMod val="95000"/>
                  </a:schemeClr>
                </a:solidFill>
                <a:latin typeface="Arial" pitchFamily="34" charset="0"/>
                <a:ea typeface="Arial" pitchFamily="34" charset="-122"/>
                <a:cs typeface="Arial" pitchFamily="34" charset="-120"/>
              </a:rPr>
              <a:t>Comprehend · Glue · SNS</a:t>
            </a:r>
            <a:endParaRPr lang="en-US" sz="975" dirty="0">
              <a:solidFill>
                <a:schemeClr val="bg1">
                  <a:lumMod val="95000"/>
                </a:schemeClr>
              </a:solidFill>
            </a:endParaRPr>
          </a:p>
        </p:txBody>
      </p:sp>
      <p:sp>
        <p:nvSpPr>
          <p:cNvPr id="28" name="Shape 26"/>
          <p:cNvSpPr/>
          <p:nvPr/>
        </p:nvSpPr>
        <p:spPr>
          <a:xfrm>
            <a:off x="10873504" y="2103692"/>
            <a:ext cx="3154823" cy="7160039"/>
          </a:xfrm>
          <a:prstGeom prst="roundRect">
            <a:avLst>
              <a:gd name="adj" fmla="val 6642"/>
            </a:avLst>
          </a:prstGeom>
          <a:solidFill>
            <a:srgbClr val="141414"/>
          </a:solidFill>
          <a:ln/>
        </p:spPr>
        <p:txBody>
          <a:bodyPr/>
          <a:lstStyle/>
          <a:p>
            <a:endParaRPr lang="en-US"/>
          </a:p>
        </p:txBody>
      </p:sp>
      <p:sp>
        <p:nvSpPr>
          <p:cNvPr id="29" name="Text 27"/>
          <p:cNvSpPr/>
          <p:nvPr/>
        </p:nvSpPr>
        <p:spPr>
          <a:xfrm>
            <a:off x="11178256" y="4431840"/>
            <a:ext cx="2799850" cy="533448"/>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3900" b="1" kern="0" spc="-187" dirty="0">
                <a:solidFill>
                  <a:srgbClr val="FFFFFF"/>
                </a:solidFill>
                <a:latin typeface="Arial" pitchFamily="34" charset="0"/>
                <a:ea typeface="Arial" pitchFamily="34" charset="-122"/>
                <a:cs typeface="Arial" pitchFamily="34" charset="-120"/>
              </a:rPr>
              <a:t>+3–7%</a:t>
            </a:r>
            <a:endParaRPr lang="en-US" sz="3900" dirty="0"/>
          </a:p>
        </p:txBody>
      </p:sp>
      <p:sp>
        <p:nvSpPr>
          <p:cNvPr id="30" name="Text 28"/>
          <p:cNvSpPr/>
          <p:nvPr/>
        </p:nvSpPr>
        <p:spPr>
          <a:xfrm>
            <a:off x="11178256" y="4984195"/>
            <a:ext cx="2799850" cy="202692"/>
          </a:xfrm>
          <a:prstGeom prst="rect">
            <a:avLst/>
          </a:prstGeom>
          <a:noFill/>
          <a:ln/>
        </p:spPr>
        <p:txBody>
          <a:bodyPr wrap="square" lIns="25400" tIns="25400" rIns="25400" bIns="25400" rtlCol="0" anchor="t">
            <a:normAutofit fontScale="92500" lnSpcReduction="10000"/>
          </a:bodyPr>
          <a:lstStyle/>
          <a:p>
            <a:pPr marL="0" indent="0" algn="l">
              <a:buNone/>
            </a:pPr>
            <a:r>
              <a:rPr lang="en-US" sz="1125" dirty="0">
                <a:solidFill>
                  <a:srgbClr val="666666"/>
                </a:solidFill>
                <a:latin typeface="Arial" pitchFamily="34" charset="0"/>
                <a:ea typeface="Arial" pitchFamily="34" charset="-122"/>
                <a:cs typeface="Arial" pitchFamily="34" charset="-120"/>
              </a:rPr>
              <a:t>gross margin</a:t>
            </a:r>
            <a:endParaRPr lang="en-US" sz="1125" dirty="0"/>
          </a:p>
        </p:txBody>
      </p:sp>
      <p:sp>
        <p:nvSpPr>
          <p:cNvPr id="31" name="Shape 29"/>
          <p:cNvSpPr/>
          <p:nvPr/>
        </p:nvSpPr>
        <p:spPr>
          <a:xfrm>
            <a:off x="11178256" y="5358242"/>
            <a:ext cx="2545318" cy="9525"/>
          </a:xfrm>
          <a:prstGeom prst="rect">
            <a:avLst/>
          </a:prstGeom>
          <a:solidFill>
            <a:srgbClr val="262626"/>
          </a:solidFill>
          <a:ln/>
        </p:spPr>
        <p:txBody>
          <a:bodyPr/>
          <a:lstStyle/>
          <a:p>
            <a:endParaRPr lang="en-US"/>
          </a:p>
        </p:txBody>
      </p:sp>
      <p:sp>
        <p:nvSpPr>
          <p:cNvPr id="32" name="Text 30"/>
          <p:cNvSpPr/>
          <p:nvPr/>
        </p:nvSpPr>
        <p:spPr>
          <a:xfrm>
            <a:off x="11178256" y="5577126"/>
            <a:ext cx="2799850" cy="330708"/>
          </a:xfrm>
          <a:prstGeom prst="rect">
            <a:avLst/>
          </a:prstGeom>
          <a:noFill/>
          <a:ln/>
        </p:spPr>
        <p:txBody>
          <a:bodyPr wrap="square" lIns="25400" tIns="25400" rIns="25400" bIns="25400" rtlCol="0" anchor="t">
            <a:normAutofit/>
          </a:bodyPr>
          <a:lstStyle/>
          <a:p>
            <a:pPr marL="0" indent="0" algn="l">
              <a:buNone/>
            </a:pPr>
            <a:r>
              <a:rPr lang="en-US" sz="1650" b="1" kern="0" spc="-45" dirty="0">
                <a:solidFill>
                  <a:srgbClr val="FFFFFF"/>
                </a:solidFill>
                <a:latin typeface="Arial" pitchFamily="34" charset="0"/>
                <a:ea typeface="Arial" pitchFamily="34" charset="-122"/>
                <a:cs typeface="Arial" pitchFamily="34" charset="-120"/>
              </a:rPr>
              <a:t>Dynamic pricing engine</a:t>
            </a:r>
            <a:endParaRPr lang="en-US" sz="1650" dirty="0"/>
          </a:p>
        </p:txBody>
      </p:sp>
      <p:sp>
        <p:nvSpPr>
          <p:cNvPr id="33" name="Text 31"/>
          <p:cNvSpPr/>
          <p:nvPr/>
        </p:nvSpPr>
        <p:spPr>
          <a:xfrm>
            <a:off x="11178256" y="6003037"/>
            <a:ext cx="2621678" cy="681038"/>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1125" dirty="0">
                <a:solidFill>
                  <a:srgbClr val="AAAAAA"/>
                </a:solidFill>
                <a:latin typeface="Arial" pitchFamily="34" charset="0"/>
                <a:ea typeface="Arial" pitchFamily="34" charset="-122"/>
                <a:cs typeface="Arial" pitchFamily="34" charset="-120"/>
              </a:rPr>
              <a:t>Real-time price optimisation across SKUs, responding to demand, stock and competitor signals.</a:t>
            </a:r>
            <a:endParaRPr lang="en-US" sz="1125" dirty="0"/>
          </a:p>
        </p:txBody>
      </p:sp>
      <p:sp>
        <p:nvSpPr>
          <p:cNvPr id="34" name="Text 32"/>
          <p:cNvSpPr/>
          <p:nvPr/>
        </p:nvSpPr>
        <p:spPr>
          <a:xfrm>
            <a:off x="11178256" y="6798279"/>
            <a:ext cx="2799850" cy="175260"/>
          </a:xfrm>
          <a:prstGeom prst="rect">
            <a:avLst/>
          </a:prstGeom>
          <a:noFill/>
          <a:ln/>
        </p:spPr>
        <p:txBody>
          <a:bodyPr wrap="square" lIns="25400" tIns="25400" rIns="25400" bIns="25400" rtlCol="0" anchor="t">
            <a:normAutofit fontScale="92500" lnSpcReduction="10000"/>
          </a:bodyPr>
          <a:lstStyle/>
          <a:p>
            <a:pPr marL="0" indent="0" algn="l">
              <a:buNone/>
            </a:pPr>
            <a:r>
              <a:rPr lang="en-US" sz="975" dirty="0">
                <a:solidFill>
                  <a:schemeClr val="bg1">
                    <a:lumMod val="95000"/>
                  </a:schemeClr>
                </a:solidFill>
                <a:latin typeface="Arial" pitchFamily="34" charset="0"/>
                <a:ea typeface="Arial" pitchFamily="34" charset="-122"/>
                <a:cs typeface="Arial" pitchFamily="34" charset="-120"/>
              </a:rPr>
              <a:t>SageMaker · Lambda · DynamoDB</a:t>
            </a:r>
            <a:endParaRPr lang="en-US" sz="975" dirty="0">
              <a:solidFill>
                <a:schemeClr val="bg1">
                  <a:lumMod val="95000"/>
                </a:schemeClr>
              </a:solidFill>
            </a:endParaRPr>
          </a:p>
        </p:txBody>
      </p:sp>
      <p:sp>
        <p:nvSpPr>
          <p:cNvPr id="35" name="Shape 33"/>
          <p:cNvSpPr/>
          <p:nvPr/>
        </p:nvSpPr>
        <p:spPr>
          <a:xfrm>
            <a:off x="14180632" y="2103692"/>
            <a:ext cx="3154823" cy="7160039"/>
          </a:xfrm>
          <a:prstGeom prst="roundRect">
            <a:avLst>
              <a:gd name="adj" fmla="val 6642"/>
            </a:avLst>
          </a:prstGeom>
          <a:solidFill>
            <a:srgbClr val="141414"/>
          </a:solidFill>
          <a:ln/>
        </p:spPr>
        <p:txBody>
          <a:bodyPr/>
          <a:lstStyle/>
          <a:p>
            <a:endParaRPr lang="en-US"/>
          </a:p>
        </p:txBody>
      </p:sp>
      <p:sp>
        <p:nvSpPr>
          <p:cNvPr id="36" name="Text 34"/>
          <p:cNvSpPr/>
          <p:nvPr/>
        </p:nvSpPr>
        <p:spPr>
          <a:xfrm>
            <a:off x="14485384" y="4431840"/>
            <a:ext cx="2799850" cy="533448"/>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3900" b="1" kern="0" spc="-187" dirty="0">
                <a:solidFill>
                  <a:srgbClr val="FFFFFF"/>
                </a:solidFill>
                <a:latin typeface="Arial" pitchFamily="34" charset="0"/>
                <a:ea typeface="Arial" pitchFamily="34" charset="-122"/>
                <a:cs typeface="Arial" pitchFamily="34" charset="-120"/>
              </a:rPr>
              <a:t>−10–15%</a:t>
            </a:r>
            <a:endParaRPr lang="en-US" sz="3900" dirty="0"/>
          </a:p>
        </p:txBody>
      </p:sp>
      <p:sp>
        <p:nvSpPr>
          <p:cNvPr id="37" name="Text 35"/>
          <p:cNvSpPr/>
          <p:nvPr/>
        </p:nvSpPr>
        <p:spPr>
          <a:xfrm>
            <a:off x="14485384" y="4984195"/>
            <a:ext cx="2799850" cy="202692"/>
          </a:xfrm>
          <a:prstGeom prst="rect">
            <a:avLst/>
          </a:prstGeom>
          <a:noFill/>
          <a:ln/>
        </p:spPr>
        <p:txBody>
          <a:bodyPr wrap="square" lIns="25400" tIns="25400" rIns="25400" bIns="25400" rtlCol="0" anchor="t">
            <a:normAutofit fontScale="92500" lnSpcReduction="10000"/>
          </a:bodyPr>
          <a:lstStyle/>
          <a:p>
            <a:pPr marL="0" indent="0" algn="l">
              <a:buNone/>
            </a:pPr>
            <a:r>
              <a:rPr lang="en-US" sz="1125" dirty="0">
                <a:solidFill>
                  <a:srgbClr val="666666"/>
                </a:solidFill>
                <a:latin typeface="Arial" pitchFamily="34" charset="0"/>
                <a:ea typeface="Arial" pitchFamily="34" charset="-122"/>
                <a:cs typeface="Arial" pitchFamily="34" charset="-120"/>
              </a:rPr>
              <a:t>processing cost</a:t>
            </a:r>
            <a:endParaRPr lang="en-US" sz="1125" dirty="0"/>
          </a:p>
        </p:txBody>
      </p:sp>
      <p:sp>
        <p:nvSpPr>
          <p:cNvPr id="38" name="Shape 36"/>
          <p:cNvSpPr/>
          <p:nvPr/>
        </p:nvSpPr>
        <p:spPr>
          <a:xfrm>
            <a:off x="14485384" y="5358242"/>
            <a:ext cx="2545318" cy="9525"/>
          </a:xfrm>
          <a:prstGeom prst="rect">
            <a:avLst/>
          </a:prstGeom>
          <a:solidFill>
            <a:srgbClr val="262626"/>
          </a:solidFill>
          <a:ln/>
        </p:spPr>
        <p:txBody>
          <a:bodyPr/>
          <a:lstStyle/>
          <a:p>
            <a:endParaRPr lang="en-US"/>
          </a:p>
        </p:txBody>
      </p:sp>
      <p:sp>
        <p:nvSpPr>
          <p:cNvPr id="39" name="Text 37"/>
          <p:cNvSpPr/>
          <p:nvPr/>
        </p:nvSpPr>
        <p:spPr>
          <a:xfrm>
            <a:off x="14485384" y="5577126"/>
            <a:ext cx="2799850" cy="330708"/>
          </a:xfrm>
          <a:prstGeom prst="rect">
            <a:avLst/>
          </a:prstGeom>
          <a:noFill/>
          <a:ln/>
        </p:spPr>
        <p:txBody>
          <a:bodyPr wrap="square" lIns="25400" tIns="25400" rIns="25400" bIns="25400" rtlCol="0" anchor="t">
            <a:normAutofit/>
          </a:bodyPr>
          <a:lstStyle/>
          <a:p>
            <a:pPr marL="0" indent="0" algn="l">
              <a:buNone/>
            </a:pPr>
            <a:r>
              <a:rPr lang="en-US" sz="1650" b="1" kern="0" spc="-45" dirty="0">
                <a:solidFill>
                  <a:srgbClr val="FFFFFF"/>
                </a:solidFill>
                <a:latin typeface="Arial" pitchFamily="34" charset="0"/>
                <a:ea typeface="Arial" pitchFamily="34" charset="-122"/>
                <a:cs typeface="Arial" pitchFamily="34" charset="-120"/>
              </a:rPr>
              <a:t>Return-rate optimisation</a:t>
            </a:r>
            <a:endParaRPr lang="en-US" sz="1650" dirty="0"/>
          </a:p>
        </p:txBody>
      </p:sp>
      <p:sp>
        <p:nvSpPr>
          <p:cNvPr id="40" name="Text 38"/>
          <p:cNvSpPr/>
          <p:nvPr/>
        </p:nvSpPr>
        <p:spPr>
          <a:xfrm>
            <a:off x="14485384" y="6003037"/>
            <a:ext cx="2621678" cy="681038"/>
          </a:xfrm>
          <a:prstGeom prst="rect">
            <a:avLst/>
          </a:prstGeom>
          <a:noFill/>
          <a:ln/>
        </p:spPr>
        <p:txBody>
          <a:bodyPr wrap="square" lIns="25400" tIns="25400" rIns="25400" bIns="25400" rtlCol="0" anchor="t">
            <a:normAutofit fontScale="92500"/>
          </a:bodyPr>
          <a:lstStyle/>
          <a:p>
            <a:pPr marL="0" indent="0" algn="l">
              <a:lnSpc>
                <a:spcPct val="150000"/>
              </a:lnSpc>
              <a:buNone/>
            </a:pPr>
            <a:r>
              <a:rPr lang="en-US" sz="1125" dirty="0">
                <a:solidFill>
                  <a:srgbClr val="AAAAAA"/>
                </a:solidFill>
                <a:latin typeface="Arial" pitchFamily="34" charset="0"/>
                <a:ea typeface="Arial" pitchFamily="34" charset="-122"/>
                <a:cs typeface="Arial" pitchFamily="34" charset="-120"/>
              </a:rPr>
              <a:t>Predict and pre-empt likely returns before fulfilment, trimming reverse-logistics load.</a:t>
            </a:r>
            <a:endParaRPr lang="en-US" sz="1125" dirty="0"/>
          </a:p>
        </p:txBody>
      </p:sp>
      <p:sp>
        <p:nvSpPr>
          <p:cNvPr id="41" name="Text 39"/>
          <p:cNvSpPr/>
          <p:nvPr/>
        </p:nvSpPr>
        <p:spPr>
          <a:xfrm>
            <a:off x="14485384" y="6798279"/>
            <a:ext cx="2799850" cy="175260"/>
          </a:xfrm>
          <a:prstGeom prst="rect">
            <a:avLst/>
          </a:prstGeom>
          <a:noFill/>
          <a:ln/>
        </p:spPr>
        <p:txBody>
          <a:bodyPr wrap="square" lIns="25400" tIns="25400" rIns="25400" bIns="25400" rtlCol="0" anchor="t">
            <a:normAutofit fontScale="92500" lnSpcReduction="10000"/>
          </a:bodyPr>
          <a:lstStyle/>
          <a:p>
            <a:pPr marL="0" indent="0" algn="l">
              <a:buNone/>
            </a:pPr>
            <a:r>
              <a:rPr lang="en-US" sz="975" dirty="0">
                <a:solidFill>
                  <a:schemeClr val="bg1">
                    <a:lumMod val="95000"/>
                  </a:schemeClr>
                </a:solidFill>
                <a:latin typeface="Arial" pitchFamily="34" charset="0"/>
                <a:ea typeface="Arial" pitchFamily="34" charset="-122"/>
                <a:cs typeface="Arial" pitchFamily="34" charset="-120"/>
              </a:rPr>
              <a:t>SageMaker · Glue · QuickSight</a:t>
            </a:r>
            <a:endParaRPr lang="en-US" sz="975" dirty="0">
              <a:solidFill>
                <a:schemeClr val="bg1">
                  <a:lumMod val="95000"/>
                </a:schemeClr>
              </a:solidFill>
            </a:endParaRPr>
          </a:p>
        </p:txBody>
      </p:sp>
      <p:sp>
        <p:nvSpPr>
          <p:cNvPr id="42" name="Text 40"/>
          <p:cNvSpPr/>
          <p:nvPr/>
        </p:nvSpPr>
        <p:spPr>
          <a:xfrm>
            <a:off x="952405" y="9473186"/>
            <a:ext cx="18021355" cy="166116"/>
          </a:xfrm>
          <a:prstGeom prst="rect">
            <a:avLst/>
          </a:prstGeom>
          <a:noFill/>
          <a:ln/>
        </p:spPr>
        <p:txBody>
          <a:bodyPr wrap="square" lIns="25400" tIns="25400" rIns="25400" bIns="25400" rtlCol="0" anchor="t">
            <a:normAutofit fontScale="92500" lnSpcReduction="10000"/>
          </a:bodyPr>
          <a:lstStyle/>
          <a:p>
            <a:pPr marL="0" indent="0" algn="l">
              <a:buNone/>
            </a:pPr>
            <a:r>
              <a:rPr lang="en-US" sz="900" kern="0" spc="90" dirty="0">
                <a:solidFill>
                  <a:srgbClr val="2A2A2A"/>
                </a:solidFill>
                <a:latin typeface="Arial" pitchFamily="34" charset="0"/>
                <a:ea typeface="Arial" pitchFamily="34" charset="-122"/>
                <a:cs typeface="Arial" pitchFamily="34" charset="-120"/>
              </a:rPr>
              <a:t>MANGA DATAHUB · CLOUD ANALYTICS · IE UNIVERSITY</a:t>
            </a:r>
            <a:endParaRPr lang="en-US" sz="900" dirty="0"/>
          </a:p>
        </p:txBody>
      </p:sp>
    </p:spTree>
  </p:cSld>
  <p:clrMapOvr>
    <a:masterClrMapping/>
  </p:clrMapOvr>
  <p:transition spd="slow">
    <p:push dir="u"/>
  </p:transition>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90909"/>
        </a:solidFill>
        <a:effectLst/>
      </p:bgPr>
    </p:bg>
    <p:spTree>
      <p:nvGrpSpPr>
        <p:cNvPr id="1" name=""/>
        <p:cNvGrpSpPr/>
        <p:nvPr/>
      </p:nvGrpSpPr>
      <p:grpSpPr>
        <a:xfrm>
          <a:off x="0" y="0"/>
          <a:ext cx="0" cy="0"/>
          <a:chOff x="0" y="0"/>
          <a:chExt cx="0" cy="0"/>
        </a:xfrm>
      </p:grpSpPr>
      <p:sp>
        <p:nvSpPr>
          <p:cNvPr id="2" name="Text 0"/>
          <p:cNvSpPr/>
          <p:nvPr/>
        </p:nvSpPr>
        <p:spPr>
          <a:xfrm>
            <a:off x="952405" y="685657"/>
            <a:ext cx="18021355" cy="220980"/>
          </a:xfrm>
          <a:prstGeom prst="rect">
            <a:avLst/>
          </a:prstGeom>
          <a:noFill/>
          <a:ln/>
        </p:spPr>
        <p:txBody>
          <a:bodyPr wrap="square" lIns="25400" tIns="25400" rIns="25400" bIns="25400" rtlCol="0" anchor="t">
            <a:normAutofit lnSpcReduction="10000"/>
          </a:bodyPr>
          <a:lstStyle/>
          <a:p>
            <a:pPr marL="0" indent="0" algn="l">
              <a:buNone/>
            </a:pPr>
            <a:r>
              <a:rPr lang="en-US" sz="1200" kern="0" spc="168" dirty="0">
                <a:solidFill>
                  <a:srgbClr val="888888"/>
                </a:solidFill>
                <a:latin typeface="Arial" pitchFamily="34" charset="0"/>
                <a:ea typeface="Arial" pitchFamily="34" charset="-122"/>
                <a:cs typeface="Arial" pitchFamily="34" charset="-120"/>
              </a:rPr>
              <a:t>DELIVERY ROADMAP &amp; RISK</a:t>
            </a:r>
            <a:endParaRPr lang="en-US" sz="1200" dirty="0"/>
          </a:p>
        </p:txBody>
      </p:sp>
      <p:sp>
        <p:nvSpPr>
          <p:cNvPr id="3" name="Text 1"/>
          <p:cNvSpPr/>
          <p:nvPr/>
        </p:nvSpPr>
        <p:spPr>
          <a:xfrm>
            <a:off x="952405" y="1001840"/>
            <a:ext cx="18021355" cy="635318"/>
          </a:xfrm>
          <a:prstGeom prst="rect">
            <a:avLst/>
          </a:prstGeom>
          <a:noFill/>
          <a:ln/>
        </p:spPr>
        <p:txBody>
          <a:bodyPr wrap="square" lIns="25400" tIns="25400" rIns="25400" bIns="25400" rtlCol="0" anchor="t">
            <a:normAutofit fontScale="92500" lnSpcReduction="20000"/>
          </a:bodyPr>
          <a:lstStyle/>
          <a:p>
            <a:pPr marL="0" indent="0" algn="l">
              <a:lnSpc>
                <a:spcPct val="95000"/>
              </a:lnSpc>
              <a:buNone/>
            </a:pPr>
            <a:r>
              <a:rPr lang="en-US" sz="4950" b="1" kern="0" spc="-240" dirty="0">
                <a:solidFill>
                  <a:srgbClr val="FFFFFF"/>
                </a:solidFill>
                <a:latin typeface="Arial" pitchFamily="34" charset="0"/>
                <a:ea typeface="Arial" pitchFamily="34" charset="-122"/>
                <a:cs typeface="Arial" pitchFamily="34" charset="-120"/>
              </a:rPr>
              <a:t>Phased delivery, controlled risk</a:t>
            </a:r>
            <a:endParaRPr lang="en-US" sz="4950" dirty="0"/>
          </a:p>
        </p:txBody>
      </p:sp>
      <p:sp>
        <p:nvSpPr>
          <p:cNvPr id="4" name="Shape 2"/>
          <p:cNvSpPr/>
          <p:nvPr/>
        </p:nvSpPr>
        <p:spPr>
          <a:xfrm>
            <a:off x="952405" y="1865662"/>
            <a:ext cx="16383050" cy="9525"/>
          </a:xfrm>
          <a:prstGeom prst="rect">
            <a:avLst/>
          </a:prstGeom>
          <a:solidFill>
            <a:srgbClr val="262626"/>
          </a:solidFill>
          <a:ln/>
        </p:spPr>
        <p:txBody>
          <a:bodyPr/>
          <a:lstStyle/>
          <a:p>
            <a:endParaRPr lang="en-US"/>
          </a:p>
        </p:txBody>
      </p:sp>
      <p:sp>
        <p:nvSpPr>
          <p:cNvPr id="5" name="Shape 3"/>
          <p:cNvSpPr/>
          <p:nvPr/>
        </p:nvSpPr>
        <p:spPr>
          <a:xfrm>
            <a:off x="952405" y="2141697"/>
            <a:ext cx="3593736" cy="3726323"/>
          </a:xfrm>
          <a:prstGeom prst="roundRect">
            <a:avLst>
              <a:gd name="adj" fmla="val 4771"/>
            </a:avLst>
          </a:prstGeom>
          <a:solidFill>
            <a:srgbClr val="141414"/>
          </a:solidFill>
          <a:ln/>
        </p:spPr>
        <p:txBody>
          <a:bodyPr/>
          <a:lstStyle/>
          <a:p>
            <a:endParaRPr lang="en-US"/>
          </a:p>
        </p:txBody>
      </p:sp>
      <p:sp>
        <p:nvSpPr>
          <p:cNvPr id="6" name="Shape 4"/>
          <p:cNvSpPr/>
          <p:nvPr/>
        </p:nvSpPr>
        <p:spPr>
          <a:xfrm>
            <a:off x="4536996" y="2141697"/>
            <a:ext cx="9525" cy="3726323"/>
          </a:xfrm>
          <a:prstGeom prst="rect">
            <a:avLst/>
          </a:prstGeom>
          <a:solidFill>
            <a:srgbClr val="090909"/>
          </a:solidFill>
          <a:ln/>
        </p:spPr>
        <p:txBody>
          <a:bodyPr/>
          <a:lstStyle/>
          <a:p>
            <a:endParaRPr lang="en-US"/>
          </a:p>
        </p:txBody>
      </p:sp>
      <p:sp>
        <p:nvSpPr>
          <p:cNvPr id="7" name="Text 5"/>
          <p:cNvSpPr/>
          <p:nvPr/>
        </p:nvSpPr>
        <p:spPr>
          <a:xfrm>
            <a:off x="1238012" y="2465452"/>
            <a:ext cx="3314715" cy="742902"/>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5550" b="1" kern="0" spc="-225" dirty="0">
                <a:solidFill>
                  <a:schemeClr val="bg1">
                    <a:lumMod val="95000"/>
                  </a:schemeClr>
                </a:solidFill>
                <a:latin typeface="Arial" pitchFamily="34" charset="0"/>
                <a:ea typeface="Arial" pitchFamily="34" charset="-122"/>
                <a:cs typeface="Arial" pitchFamily="34" charset="-120"/>
              </a:rPr>
              <a:t>01</a:t>
            </a:r>
            <a:endParaRPr lang="en-US" sz="5550" dirty="0">
              <a:solidFill>
                <a:schemeClr val="bg1">
                  <a:lumMod val="95000"/>
                </a:schemeClr>
              </a:solidFill>
            </a:endParaRPr>
          </a:p>
        </p:txBody>
      </p:sp>
      <p:sp>
        <p:nvSpPr>
          <p:cNvPr id="8" name="Text 6"/>
          <p:cNvSpPr/>
          <p:nvPr/>
        </p:nvSpPr>
        <p:spPr>
          <a:xfrm>
            <a:off x="1238012" y="4110229"/>
            <a:ext cx="3314715" cy="184404"/>
          </a:xfrm>
          <a:prstGeom prst="rect">
            <a:avLst/>
          </a:prstGeom>
          <a:noFill/>
          <a:ln/>
        </p:spPr>
        <p:txBody>
          <a:bodyPr wrap="square" lIns="25400" tIns="25400" rIns="25400" bIns="25400" rtlCol="0" anchor="t">
            <a:normAutofit fontScale="92500" lnSpcReduction="20000"/>
          </a:bodyPr>
          <a:lstStyle/>
          <a:p>
            <a:pPr marL="0" indent="0" algn="l">
              <a:buNone/>
            </a:pPr>
            <a:r>
              <a:rPr lang="en-US" sz="1050" b="1" kern="0" spc="84" dirty="0">
                <a:solidFill>
                  <a:srgbClr val="8B6FFF"/>
                </a:solidFill>
                <a:latin typeface="Arial" pitchFamily="34" charset="0"/>
                <a:ea typeface="Arial" pitchFamily="34" charset="-122"/>
                <a:cs typeface="Arial" pitchFamily="34" charset="-120"/>
              </a:rPr>
              <a:t>MONTHS 1–2</a:t>
            </a:r>
            <a:endParaRPr lang="en-US" sz="1050" dirty="0"/>
          </a:p>
        </p:txBody>
      </p:sp>
      <p:sp>
        <p:nvSpPr>
          <p:cNvPr id="9" name="Text 7"/>
          <p:cNvSpPr/>
          <p:nvPr/>
        </p:nvSpPr>
        <p:spPr>
          <a:xfrm>
            <a:off x="1238012" y="4523138"/>
            <a:ext cx="3314715" cy="440436"/>
          </a:xfrm>
          <a:prstGeom prst="rect">
            <a:avLst/>
          </a:prstGeom>
          <a:noFill/>
          <a:ln/>
        </p:spPr>
        <p:txBody>
          <a:bodyPr wrap="square" lIns="25400" tIns="25400" rIns="25400" bIns="25400" rtlCol="0" anchor="t">
            <a:normAutofit/>
          </a:bodyPr>
          <a:lstStyle/>
          <a:p>
            <a:pPr marL="0" indent="0" algn="l">
              <a:buNone/>
            </a:pPr>
            <a:r>
              <a:rPr lang="en-US" sz="2250" b="1" kern="0" spc="-75" dirty="0">
                <a:solidFill>
                  <a:srgbClr val="FFFFFF"/>
                </a:solidFill>
                <a:latin typeface="Arial" pitchFamily="34" charset="0"/>
                <a:ea typeface="Arial" pitchFamily="34" charset="-122"/>
                <a:cs typeface="Arial" pitchFamily="34" charset="-120"/>
              </a:rPr>
              <a:t>Foundations</a:t>
            </a:r>
            <a:endParaRPr lang="en-US" sz="2250" dirty="0"/>
          </a:p>
        </p:txBody>
      </p:sp>
      <p:sp>
        <p:nvSpPr>
          <p:cNvPr id="10" name="Text 8"/>
          <p:cNvSpPr/>
          <p:nvPr/>
        </p:nvSpPr>
        <p:spPr>
          <a:xfrm>
            <a:off x="1238012" y="5058776"/>
            <a:ext cx="3103778" cy="523589"/>
          </a:xfrm>
          <a:prstGeom prst="rect">
            <a:avLst/>
          </a:prstGeom>
          <a:noFill/>
          <a:ln/>
        </p:spPr>
        <p:txBody>
          <a:bodyPr wrap="square" lIns="25400" tIns="25400" rIns="25400" bIns="25400" rtlCol="0" anchor="t">
            <a:normAutofit fontScale="92500" lnSpcReduction="20000"/>
          </a:bodyPr>
          <a:lstStyle/>
          <a:p>
            <a:pPr marL="0" indent="0" algn="l">
              <a:lnSpc>
                <a:spcPct val="150000"/>
              </a:lnSpc>
              <a:buNone/>
            </a:pPr>
            <a:r>
              <a:rPr lang="en-US" sz="1275" dirty="0">
                <a:solidFill>
                  <a:srgbClr val="999999"/>
                </a:solidFill>
                <a:latin typeface="Arial" pitchFamily="34" charset="0"/>
                <a:ea typeface="Arial" pitchFamily="34" charset="-122"/>
                <a:cs typeface="Arial" pitchFamily="34" charset="-120"/>
              </a:rPr>
              <a:t>Accounts, IaC, landing zone, security baseline.</a:t>
            </a:r>
            <a:endParaRPr lang="en-US" sz="1275" dirty="0"/>
          </a:p>
        </p:txBody>
      </p:sp>
      <p:sp>
        <p:nvSpPr>
          <p:cNvPr id="11" name="Shape 9"/>
          <p:cNvSpPr/>
          <p:nvPr/>
        </p:nvSpPr>
        <p:spPr>
          <a:xfrm>
            <a:off x="4546140" y="2141697"/>
            <a:ext cx="371046" cy="3726323"/>
          </a:xfrm>
          <a:prstGeom prst="rect">
            <a:avLst/>
          </a:prstGeom>
          <a:solidFill>
            <a:srgbClr val="141414"/>
          </a:solidFill>
          <a:ln/>
        </p:spPr>
        <p:txBody>
          <a:bodyPr/>
          <a:lstStyle/>
          <a:p>
            <a:endParaRPr lang="en-US"/>
          </a:p>
        </p:txBody>
      </p:sp>
      <p:sp>
        <p:nvSpPr>
          <p:cNvPr id="12" name="Shape 10"/>
          <p:cNvSpPr/>
          <p:nvPr/>
        </p:nvSpPr>
        <p:spPr>
          <a:xfrm>
            <a:off x="4908043" y="2141697"/>
            <a:ext cx="9525" cy="3726323"/>
          </a:xfrm>
          <a:prstGeom prst="rect">
            <a:avLst/>
          </a:prstGeom>
          <a:solidFill>
            <a:srgbClr val="090909"/>
          </a:solidFill>
          <a:ln/>
        </p:spPr>
        <p:txBody>
          <a:bodyPr/>
          <a:lstStyle/>
          <a:p>
            <a:endParaRPr lang="en-US"/>
          </a:p>
        </p:txBody>
      </p:sp>
      <p:sp>
        <p:nvSpPr>
          <p:cNvPr id="13" name="Text 11"/>
          <p:cNvSpPr/>
          <p:nvPr/>
        </p:nvSpPr>
        <p:spPr>
          <a:xfrm>
            <a:off x="4622293" y="3881343"/>
            <a:ext cx="285798" cy="284988"/>
          </a:xfrm>
          <a:prstGeom prst="rect">
            <a:avLst/>
          </a:prstGeom>
          <a:noFill/>
          <a:ln/>
        </p:spPr>
        <p:txBody>
          <a:bodyPr wrap="square" lIns="25400" tIns="25400" rIns="25400" bIns="25400" rtlCol="0" anchor="t">
            <a:normAutofit lnSpcReduction="10000"/>
          </a:bodyPr>
          <a:lstStyle/>
          <a:p>
            <a:pPr marL="0" indent="0" algn="l">
              <a:buNone/>
            </a:pPr>
            <a:r>
              <a:rPr lang="en-US" sz="1650" dirty="0">
                <a:solidFill>
                  <a:srgbClr val="3A3A3A"/>
                </a:solidFill>
                <a:latin typeface="Arial" pitchFamily="34" charset="0"/>
                <a:ea typeface="Arial" pitchFamily="34" charset="-122"/>
                <a:cs typeface="Arial" pitchFamily="34" charset="-120"/>
              </a:rPr>
              <a:t>→</a:t>
            </a:r>
            <a:endParaRPr lang="en-US" sz="1650" dirty="0"/>
          </a:p>
        </p:txBody>
      </p:sp>
      <p:sp>
        <p:nvSpPr>
          <p:cNvPr id="14" name="Shape 12"/>
          <p:cNvSpPr/>
          <p:nvPr/>
        </p:nvSpPr>
        <p:spPr>
          <a:xfrm>
            <a:off x="4917187" y="2141697"/>
            <a:ext cx="4497849" cy="3726323"/>
          </a:xfrm>
          <a:prstGeom prst="rect">
            <a:avLst/>
          </a:prstGeom>
          <a:solidFill>
            <a:srgbClr val="141414"/>
          </a:solidFill>
          <a:ln/>
        </p:spPr>
        <p:txBody>
          <a:bodyPr/>
          <a:lstStyle/>
          <a:p>
            <a:endParaRPr lang="en-US"/>
          </a:p>
        </p:txBody>
      </p:sp>
      <p:sp>
        <p:nvSpPr>
          <p:cNvPr id="15" name="Shape 13"/>
          <p:cNvSpPr/>
          <p:nvPr/>
        </p:nvSpPr>
        <p:spPr>
          <a:xfrm>
            <a:off x="9405892" y="2141697"/>
            <a:ext cx="9525" cy="3726323"/>
          </a:xfrm>
          <a:prstGeom prst="rect">
            <a:avLst/>
          </a:prstGeom>
          <a:solidFill>
            <a:srgbClr val="090909"/>
          </a:solidFill>
          <a:ln/>
        </p:spPr>
        <p:txBody>
          <a:bodyPr/>
          <a:lstStyle/>
          <a:p>
            <a:endParaRPr lang="en-US"/>
          </a:p>
        </p:txBody>
      </p:sp>
      <p:sp>
        <p:nvSpPr>
          <p:cNvPr id="16" name="Text 14"/>
          <p:cNvSpPr/>
          <p:nvPr/>
        </p:nvSpPr>
        <p:spPr>
          <a:xfrm>
            <a:off x="5202794" y="2465452"/>
            <a:ext cx="4309239" cy="742902"/>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5550" b="1" kern="0" spc="-225" dirty="0">
                <a:solidFill>
                  <a:schemeClr val="bg1">
                    <a:lumMod val="95000"/>
                  </a:schemeClr>
                </a:solidFill>
                <a:latin typeface="Arial" pitchFamily="34" charset="0"/>
                <a:ea typeface="Arial" pitchFamily="34" charset="-122"/>
                <a:cs typeface="Arial" pitchFamily="34" charset="-120"/>
              </a:rPr>
              <a:t>02</a:t>
            </a:r>
            <a:endParaRPr lang="en-US" sz="5550" dirty="0">
              <a:solidFill>
                <a:schemeClr val="bg1">
                  <a:lumMod val="95000"/>
                </a:schemeClr>
              </a:solidFill>
            </a:endParaRPr>
          </a:p>
        </p:txBody>
      </p:sp>
      <p:sp>
        <p:nvSpPr>
          <p:cNvPr id="17" name="Text 15"/>
          <p:cNvSpPr/>
          <p:nvPr/>
        </p:nvSpPr>
        <p:spPr>
          <a:xfrm>
            <a:off x="5202794" y="4352973"/>
            <a:ext cx="4309239" cy="184404"/>
          </a:xfrm>
          <a:prstGeom prst="rect">
            <a:avLst/>
          </a:prstGeom>
          <a:noFill/>
          <a:ln/>
        </p:spPr>
        <p:txBody>
          <a:bodyPr wrap="square" lIns="25400" tIns="25400" rIns="25400" bIns="25400" rtlCol="0" anchor="t">
            <a:normAutofit fontScale="92500" lnSpcReduction="20000"/>
          </a:bodyPr>
          <a:lstStyle/>
          <a:p>
            <a:pPr marL="0" indent="0" algn="l">
              <a:buNone/>
            </a:pPr>
            <a:r>
              <a:rPr lang="en-US" sz="1050" b="1" kern="0" spc="84" dirty="0">
                <a:solidFill>
                  <a:srgbClr val="8B6FFF"/>
                </a:solidFill>
                <a:latin typeface="Arial" pitchFamily="34" charset="0"/>
                <a:ea typeface="Arial" pitchFamily="34" charset="-122"/>
                <a:cs typeface="Arial" pitchFamily="34" charset="-120"/>
              </a:rPr>
              <a:t>MONTHS 3–5</a:t>
            </a:r>
            <a:endParaRPr lang="en-US" sz="1050" dirty="0"/>
          </a:p>
        </p:txBody>
      </p:sp>
      <p:sp>
        <p:nvSpPr>
          <p:cNvPr id="18" name="Text 16"/>
          <p:cNvSpPr/>
          <p:nvPr/>
        </p:nvSpPr>
        <p:spPr>
          <a:xfrm>
            <a:off x="5202794" y="4765882"/>
            <a:ext cx="4309239" cy="440436"/>
          </a:xfrm>
          <a:prstGeom prst="rect">
            <a:avLst/>
          </a:prstGeom>
          <a:noFill/>
          <a:ln/>
        </p:spPr>
        <p:txBody>
          <a:bodyPr wrap="square" lIns="25400" tIns="25400" rIns="25400" bIns="25400" rtlCol="0" anchor="t">
            <a:normAutofit/>
          </a:bodyPr>
          <a:lstStyle/>
          <a:p>
            <a:pPr marL="0" indent="0" algn="l">
              <a:buNone/>
            </a:pPr>
            <a:r>
              <a:rPr lang="en-US" sz="2250" b="1" kern="0" spc="-75" dirty="0">
                <a:solidFill>
                  <a:srgbClr val="FFFFFF"/>
                </a:solidFill>
                <a:latin typeface="Arial" pitchFamily="34" charset="0"/>
                <a:ea typeface="Arial" pitchFamily="34" charset="-122"/>
                <a:cs typeface="Arial" pitchFamily="34" charset="-120"/>
              </a:rPr>
              <a:t>Pipelines &amp; lakehouse</a:t>
            </a:r>
            <a:endParaRPr lang="en-US" sz="2250" dirty="0"/>
          </a:p>
        </p:txBody>
      </p:sp>
      <p:sp>
        <p:nvSpPr>
          <p:cNvPr id="19" name="Text 17"/>
          <p:cNvSpPr/>
          <p:nvPr/>
        </p:nvSpPr>
        <p:spPr>
          <a:xfrm>
            <a:off x="5202794" y="5301521"/>
            <a:ext cx="4309239" cy="280845"/>
          </a:xfrm>
          <a:prstGeom prst="rect">
            <a:avLst/>
          </a:prstGeom>
          <a:noFill/>
          <a:ln/>
        </p:spPr>
        <p:txBody>
          <a:bodyPr wrap="square" lIns="25400" tIns="25400" rIns="25400" bIns="25400" rtlCol="0" anchor="t">
            <a:normAutofit fontScale="92500" lnSpcReduction="20000"/>
          </a:bodyPr>
          <a:lstStyle/>
          <a:p>
            <a:pPr marL="0" indent="0" algn="l">
              <a:lnSpc>
                <a:spcPct val="150000"/>
              </a:lnSpc>
              <a:buNone/>
            </a:pPr>
            <a:r>
              <a:rPr lang="en-US" sz="1275" dirty="0">
                <a:solidFill>
                  <a:srgbClr val="999999"/>
                </a:solidFill>
                <a:latin typeface="Arial" pitchFamily="34" charset="0"/>
                <a:ea typeface="Arial" pitchFamily="34" charset="-122"/>
                <a:cs typeface="Arial" pitchFamily="34" charset="-120"/>
              </a:rPr>
              <a:t>Ingestion, three S3 zones, DQ, catalog.</a:t>
            </a:r>
            <a:endParaRPr lang="en-US" sz="1275" dirty="0"/>
          </a:p>
        </p:txBody>
      </p:sp>
      <p:sp>
        <p:nvSpPr>
          <p:cNvPr id="20" name="Shape 18"/>
          <p:cNvSpPr/>
          <p:nvPr/>
        </p:nvSpPr>
        <p:spPr>
          <a:xfrm>
            <a:off x="9415035" y="2141697"/>
            <a:ext cx="371046" cy="3726323"/>
          </a:xfrm>
          <a:prstGeom prst="rect">
            <a:avLst/>
          </a:prstGeom>
          <a:solidFill>
            <a:srgbClr val="141414"/>
          </a:solidFill>
          <a:ln/>
        </p:spPr>
        <p:txBody>
          <a:bodyPr/>
          <a:lstStyle/>
          <a:p>
            <a:endParaRPr lang="en-US"/>
          </a:p>
        </p:txBody>
      </p:sp>
      <p:sp>
        <p:nvSpPr>
          <p:cNvPr id="21" name="Shape 19"/>
          <p:cNvSpPr/>
          <p:nvPr/>
        </p:nvSpPr>
        <p:spPr>
          <a:xfrm>
            <a:off x="9776938" y="2141697"/>
            <a:ext cx="9525" cy="3726323"/>
          </a:xfrm>
          <a:prstGeom prst="rect">
            <a:avLst/>
          </a:prstGeom>
          <a:solidFill>
            <a:srgbClr val="090909"/>
          </a:solidFill>
          <a:ln/>
        </p:spPr>
        <p:txBody>
          <a:bodyPr/>
          <a:lstStyle/>
          <a:p>
            <a:endParaRPr lang="en-US"/>
          </a:p>
        </p:txBody>
      </p:sp>
      <p:sp>
        <p:nvSpPr>
          <p:cNvPr id="22" name="Text 20"/>
          <p:cNvSpPr/>
          <p:nvPr/>
        </p:nvSpPr>
        <p:spPr>
          <a:xfrm>
            <a:off x="9491188" y="3881343"/>
            <a:ext cx="285798" cy="284988"/>
          </a:xfrm>
          <a:prstGeom prst="rect">
            <a:avLst/>
          </a:prstGeom>
          <a:noFill/>
          <a:ln/>
        </p:spPr>
        <p:txBody>
          <a:bodyPr wrap="square" lIns="25400" tIns="25400" rIns="25400" bIns="25400" rtlCol="0" anchor="t">
            <a:normAutofit lnSpcReduction="10000"/>
          </a:bodyPr>
          <a:lstStyle/>
          <a:p>
            <a:pPr marL="0" indent="0" algn="l">
              <a:buNone/>
            </a:pPr>
            <a:r>
              <a:rPr lang="en-US" sz="1650" dirty="0">
                <a:solidFill>
                  <a:srgbClr val="3A3A3A"/>
                </a:solidFill>
                <a:latin typeface="Arial" pitchFamily="34" charset="0"/>
                <a:ea typeface="Arial" pitchFamily="34" charset="-122"/>
                <a:cs typeface="Arial" pitchFamily="34" charset="-120"/>
              </a:rPr>
              <a:t>→</a:t>
            </a:r>
            <a:endParaRPr lang="en-US" sz="1650" dirty="0"/>
          </a:p>
        </p:txBody>
      </p:sp>
      <p:sp>
        <p:nvSpPr>
          <p:cNvPr id="23" name="Shape 21"/>
          <p:cNvSpPr/>
          <p:nvPr/>
        </p:nvSpPr>
        <p:spPr>
          <a:xfrm>
            <a:off x="9786082" y="2141697"/>
            <a:ext cx="3593736" cy="3726323"/>
          </a:xfrm>
          <a:prstGeom prst="rect">
            <a:avLst/>
          </a:prstGeom>
          <a:solidFill>
            <a:srgbClr val="141414"/>
          </a:solidFill>
          <a:ln/>
        </p:spPr>
        <p:txBody>
          <a:bodyPr/>
          <a:lstStyle/>
          <a:p>
            <a:endParaRPr lang="en-US"/>
          </a:p>
        </p:txBody>
      </p:sp>
      <p:sp>
        <p:nvSpPr>
          <p:cNvPr id="24" name="Shape 22"/>
          <p:cNvSpPr/>
          <p:nvPr/>
        </p:nvSpPr>
        <p:spPr>
          <a:xfrm>
            <a:off x="13370673" y="2141697"/>
            <a:ext cx="9525" cy="3726323"/>
          </a:xfrm>
          <a:prstGeom prst="rect">
            <a:avLst/>
          </a:prstGeom>
          <a:solidFill>
            <a:srgbClr val="090909"/>
          </a:solidFill>
          <a:ln/>
        </p:spPr>
        <p:txBody>
          <a:bodyPr/>
          <a:lstStyle/>
          <a:p>
            <a:endParaRPr lang="en-US"/>
          </a:p>
        </p:txBody>
      </p:sp>
      <p:sp>
        <p:nvSpPr>
          <p:cNvPr id="25" name="Text 23"/>
          <p:cNvSpPr/>
          <p:nvPr/>
        </p:nvSpPr>
        <p:spPr>
          <a:xfrm>
            <a:off x="10071689" y="2465452"/>
            <a:ext cx="3314715" cy="742902"/>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5550" b="1" kern="0" spc="-225" dirty="0">
                <a:solidFill>
                  <a:schemeClr val="bg1">
                    <a:lumMod val="95000"/>
                  </a:schemeClr>
                </a:solidFill>
                <a:latin typeface="Arial" pitchFamily="34" charset="0"/>
                <a:ea typeface="Arial" pitchFamily="34" charset="-122"/>
                <a:cs typeface="Arial" pitchFamily="34" charset="-120"/>
              </a:rPr>
              <a:t>03</a:t>
            </a:r>
            <a:endParaRPr lang="en-US" sz="5550" dirty="0">
              <a:solidFill>
                <a:schemeClr val="bg1">
                  <a:lumMod val="95000"/>
                </a:schemeClr>
              </a:solidFill>
            </a:endParaRPr>
          </a:p>
        </p:txBody>
      </p:sp>
      <p:sp>
        <p:nvSpPr>
          <p:cNvPr id="26" name="Text 24"/>
          <p:cNvSpPr/>
          <p:nvPr/>
        </p:nvSpPr>
        <p:spPr>
          <a:xfrm>
            <a:off x="10071689" y="4110229"/>
            <a:ext cx="3314715" cy="184404"/>
          </a:xfrm>
          <a:prstGeom prst="rect">
            <a:avLst/>
          </a:prstGeom>
          <a:noFill/>
          <a:ln/>
        </p:spPr>
        <p:txBody>
          <a:bodyPr wrap="square" lIns="25400" tIns="25400" rIns="25400" bIns="25400" rtlCol="0" anchor="t">
            <a:normAutofit fontScale="92500" lnSpcReduction="20000"/>
          </a:bodyPr>
          <a:lstStyle/>
          <a:p>
            <a:pPr marL="0" indent="0" algn="l">
              <a:buNone/>
            </a:pPr>
            <a:r>
              <a:rPr lang="en-US" sz="1050" b="1" kern="0" spc="84" dirty="0">
                <a:solidFill>
                  <a:srgbClr val="8B6FFF"/>
                </a:solidFill>
                <a:latin typeface="Arial" pitchFamily="34" charset="0"/>
                <a:ea typeface="Arial" pitchFamily="34" charset="-122"/>
                <a:cs typeface="Arial" pitchFamily="34" charset="-120"/>
              </a:rPr>
              <a:t>MONTH 7</a:t>
            </a:r>
            <a:endParaRPr lang="en-US" sz="1050" dirty="0"/>
          </a:p>
        </p:txBody>
      </p:sp>
      <p:sp>
        <p:nvSpPr>
          <p:cNvPr id="27" name="Text 25"/>
          <p:cNvSpPr/>
          <p:nvPr/>
        </p:nvSpPr>
        <p:spPr>
          <a:xfrm>
            <a:off x="10071689" y="4523138"/>
            <a:ext cx="3314715" cy="440436"/>
          </a:xfrm>
          <a:prstGeom prst="rect">
            <a:avLst/>
          </a:prstGeom>
          <a:noFill/>
          <a:ln/>
        </p:spPr>
        <p:txBody>
          <a:bodyPr wrap="square" lIns="25400" tIns="25400" rIns="25400" bIns="25400" rtlCol="0" anchor="t">
            <a:normAutofit/>
          </a:bodyPr>
          <a:lstStyle/>
          <a:p>
            <a:pPr marL="0" indent="0" algn="l">
              <a:buNone/>
            </a:pPr>
            <a:r>
              <a:rPr lang="en-US" sz="2250" b="1" kern="0" spc="-75" dirty="0">
                <a:solidFill>
                  <a:srgbClr val="FFFFFF"/>
                </a:solidFill>
                <a:latin typeface="Arial" pitchFamily="34" charset="0"/>
                <a:ea typeface="Arial" pitchFamily="34" charset="-122"/>
                <a:cs typeface="Arial" pitchFamily="34" charset="-120"/>
              </a:rPr>
              <a:t>Production cutover</a:t>
            </a:r>
            <a:endParaRPr lang="en-US" sz="2250" dirty="0"/>
          </a:p>
        </p:txBody>
      </p:sp>
      <p:sp>
        <p:nvSpPr>
          <p:cNvPr id="28" name="Text 26"/>
          <p:cNvSpPr/>
          <p:nvPr/>
        </p:nvSpPr>
        <p:spPr>
          <a:xfrm>
            <a:off x="10071689" y="5058776"/>
            <a:ext cx="3103778" cy="523589"/>
          </a:xfrm>
          <a:prstGeom prst="rect">
            <a:avLst/>
          </a:prstGeom>
          <a:noFill/>
          <a:ln/>
        </p:spPr>
        <p:txBody>
          <a:bodyPr wrap="square" lIns="25400" tIns="25400" rIns="25400" bIns="25400" rtlCol="0" anchor="t">
            <a:normAutofit fontScale="92500"/>
          </a:bodyPr>
          <a:lstStyle/>
          <a:p>
            <a:pPr marL="0" indent="0" algn="l">
              <a:lnSpc>
                <a:spcPct val="150000"/>
              </a:lnSpc>
              <a:buNone/>
            </a:pPr>
            <a:r>
              <a:rPr lang="en-US" sz="1275" dirty="0">
                <a:solidFill>
                  <a:srgbClr val="999999"/>
                </a:solidFill>
                <a:latin typeface="Arial" pitchFamily="34" charset="0"/>
                <a:ea typeface="Arial" pitchFamily="34" charset="-122"/>
                <a:cs typeface="Arial" pitchFamily="34" charset="-120"/>
              </a:rPr>
              <a:t>BI live, DMS parallel run ends, Excel retired.</a:t>
            </a:r>
            <a:endParaRPr lang="en-US" sz="1275" dirty="0"/>
          </a:p>
        </p:txBody>
      </p:sp>
      <p:sp>
        <p:nvSpPr>
          <p:cNvPr id="29" name="Shape 27"/>
          <p:cNvSpPr/>
          <p:nvPr/>
        </p:nvSpPr>
        <p:spPr>
          <a:xfrm>
            <a:off x="13379817" y="2141697"/>
            <a:ext cx="371046" cy="3726323"/>
          </a:xfrm>
          <a:prstGeom prst="rect">
            <a:avLst/>
          </a:prstGeom>
          <a:solidFill>
            <a:srgbClr val="141414"/>
          </a:solidFill>
          <a:ln/>
        </p:spPr>
        <p:txBody>
          <a:bodyPr/>
          <a:lstStyle/>
          <a:p>
            <a:endParaRPr lang="en-US"/>
          </a:p>
        </p:txBody>
      </p:sp>
      <p:sp>
        <p:nvSpPr>
          <p:cNvPr id="30" name="Shape 28"/>
          <p:cNvSpPr/>
          <p:nvPr/>
        </p:nvSpPr>
        <p:spPr>
          <a:xfrm>
            <a:off x="13741719" y="2141697"/>
            <a:ext cx="9525" cy="3726323"/>
          </a:xfrm>
          <a:prstGeom prst="rect">
            <a:avLst/>
          </a:prstGeom>
          <a:solidFill>
            <a:srgbClr val="090909"/>
          </a:solidFill>
          <a:ln/>
        </p:spPr>
        <p:txBody>
          <a:bodyPr/>
          <a:lstStyle/>
          <a:p>
            <a:endParaRPr lang="en-US"/>
          </a:p>
        </p:txBody>
      </p:sp>
      <p:sp>
        <p:nvSpPr>
          <p:cNvPr id="31" name="Text 29"/>
          <p:cNvSpPr/>
          <p:nvPr/>
        </p:nvSpPr>
        <p:spPr>
          <a:xfrm>
            <a:off x="13455969" y="3881343"/>
            <a:ext cx="285798" cy="284988"/>
          </a:xfrm>
          <a:prstGeom prst="rect">
            <a:avLst/>
          </a:prstGeom>
          <a:noFill/>
          <a:ln/>
        </p:spPr>
        <p:txBody>
          <a:bodyPr wrap="square" lIns="25400" tIns="25400" rIns="25400" bIns="25400" rtlCol="0" anchor="t">
            <a:normAutofit lnSpcReduction="10000"/>
          </a:bodyPr>
          <a:lstStyle/>
          <a:p>
            <a:pPr marL="0" indent="0" algn="l">
              <a:buNone/>
            </a:pPr>
            <a:r>
              <a:rPr lang="en-US" sz="1650" dirty="0">
                <a:solidFill>
                  <a:srgbClr val="3A3A3A"/>
                </a:solidFill>
                <a:latin typeface="Arial" pitchFamily="34" charset="0"/>
                <a:ea typeface="Arial" pitchFamily="34" charset="-122"/>
                <a:cs typeface="Arial" pitchFamily="34" charset="-120"/>
              </a:rPr>
              <a:t>→</a:t>
            </a:r>
            <a:endParaRPr lang="en-US" sz="1650" dirty="0"/>
          </a:p>
        </p:txBody>
      </p:sp>
      <p:sp>
        <p:nvSpPr>
          <p:cNvPr id="32" name="Shape 30"/>
          <p:cNvSpPr/>
          <p:nvPr/>
        </p:nvSpPr>
        <p:spPr>
          <a:xfrm>
            <a:off x="13750864" y="2141697"/>
            <a:ext cx="3584591" cy="3726323"/>
          </a:xfrm>
          <a:prstGeom prst="rect">
            <a:avLst/>
          </a:prstGeom>
          <a:solidFill>
            <a:srgbClr val="141414"/>
          </a:solidFill>
          <a:ln/>
        </p:spPr>
        <p:txBody>
          <a:bodyPr/>
          <a:lstStyle/>
          <a:p>
            <a:endParaRPr lang="en-US"/>
          </a:p>
        </p:txBody>
      </p:sp>
      <p:sp>
        <p:nvSpPr>
          <p:cNvPr id="33" name="Text 31"/>
          <p:cNvSpPr/>
          <p:nvPr/>
        </p:nvSpPr>
        <p:spPr>
          <a:xfrm>
            <a:off x="14036471" y="2465452"/>
            <a:ext cx="3314715" cy="742902"/>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5550" b="1" kern="0" spc="-225" dirty="0">
                <a:solidFill>
                  <a:schemeClr val="bg1">
                    <a:lumMod val="95000"/>
                  </a:schemeClr>
                </a:solidFill>
                <a:latin typeface="Arial" pitchFamily="34" charset="0"/>
                <a:ea typeface="Arial" pitchFamily="34" charset="-122"/>
                <a:cs typeface="Arial" pitchFamily="34" charset="-120"/>
              </a:rPr>
              <a:t>04</a:t>
            </a:r>
            <a:endParaRPr lang="en-US" sz="5550" dirty="0">
              <a:solidFill>
                <a:schemeClr val="bg1">
                  <a:lumMod val="95000"/>
                </a:schemeClr>
              </a:solidFill>
            </a:endParaRPr>
          </a:p>
        </p:txBody>
      </p:sp>
      <p:sp>
        <p:nvSpPr>
          <p:cNvPr id="34" name="Text 32"/>
          <p:cNvSpPr/>
          <p:nvPr/>
        </p:nvSpPr>
        <p:spPr>
          <a:xfrm>
            <a:off x="14036471" y="4110229"/>
            <a:ext cx="3314715" cy="184404"/>
          </a:xfrm>
          <a:prstGeom prst="rect">
            <a:avLst/>
          </a:prstGeom>
          <a:noFill/>
          <a:ln/>
        </p:spPr>
        <p:txBody>
          <a:bodyPr wrap="square" lIns="25400" tIns="25400" rIns="25400" bIns="25400" rtlCol="0" anchor="t">
            <a:normAutofit fontScale="92500" lnSpcReduction="20000"/>
          </a:bodyPr>
          <a:lstStyle/>
          <a:p>
            <a:pPr marL="0" indent="0" algn="l">
              <a:buNone/>
            </a:pPr>
            <a:r>
              <a:rPr lang="en-US" sz="1050" b="1" kern="0" spc="84" dirty="0">
                <a:solidFill>
                  <a:srgbClr val="8B6FFF"/>
                </a:solidFill>
                <a:latin typeface="Arial" pitchFamily="34" charset="0"/>
                <a:ea typeface="Arial" pitchFamily="34" charset="-122"/>
                <a:cs typeface="Arial" pitchFamily="34" charset="-120"/>
              </a:rPr>
              <a:t>MONTH 9</a:t>
            </a:r>
            <a:endParaRPr lang="en-US" sz="1050" dirty="0"/>
          </a:p>
        </p:txBody>
      </p:sp>
      <p:sp>
        <p:nvSpPr>
          <p:cNvPr id="35" name="Text 33"/>
          <p:cNvSpPr/>
          <p:nvPr/>
        </p:nvSpPr>
        <p:spPr>
          <a:xfrm>
            <a:off x="14036471" y="4523138"/>
            <a:ext cx="3314715" cy="440436"/>
          </a:xfrm>
          <a:prstGeom prst="rect">
            <a:avLst/>
          </a:prstGeom>
          <a:noFill/>
          <a:ln/>
        </p:spPr>
        <p:txBody>
          <a:bodyPr wrap="square" lIns="25400" tIns="25400" rIns="25400" bIns="25400" rtlCol="0" anchor="t">
            <a:normAutofit/>
          </a:bodyPr>
          <a:lstStyle/>
          <a:p>
            <a:pPr marL="0" indent="0" algn="l">
              <a:buNone/>
            </a:pPr>
            <a:r>
              <a:rPr lang="en-US" sz="2250" b="1" kern="0" spc="-75" dirty="0">
                <a:solidFill>
                  <a:srgbClr val="FFFFFF"/>
                </a:solidFill>
                <a:latin typeface="Arial" pitchFamily="34" charset="0"/>
                <a:ea typeface="Arial" pitchFamily="34" charset="-122"/>
                <a:cs typeface="Arial" pitchFamily="34" charset="-120"/>
              </a:rPr>
              <a:t>Handover &amp; ML</a:t>
            </a:r>
            <a:endParaRPr lang="en-US" sz="2250" dirty="0"/>
          </a:p>
        </p:txBody>
      </p:sp>
      <p:sp>
        <p:nvSpPr>
          <p:cNvPr id="36" name="Text 34"/>
          <p:cNvSpPr/>
          <p:nvPr/>
        </p:nvSpPr>
        <p:spPr>
          <a:xfrm>
            <a:off x="14036471" y="5058776"/>
            <a:ext cx="3103778" cy="523589"/>
          </a:xfrm>
          <a:prstGeom prst="rect">
            <a:avLst/>
          </a:prstGeom>
          <a:noFill/>
          <a:ln/>
        </p:spPr>
        <p:txBody>
          <a:bodyPr wrap="square" lIns="25400" tIns="25400" rIns="25400" bIns="25400" rtlCol="0" anchor="t">
            <a:normAutofit fontScale="92500"/>
          </a:bodyPr>
          <a:lstStyle/>
          <a:p>
            <a:pPr marL="0" indent="0" algn="l">
              <a:lnSpc>
                <a:spcPct val="150000"/>
              </a:lnSpc>
              <a:buNone/>
            </a:pPr>
            <a:r>
              <a:rPr lang="en-US" sz="1275" dirty="0">
                <a:solidFill>
                  <a:srgbClr val="999999"/>
                </a:solidFill>
                <a:latin typeface="Arial" pitchFamily="34" charset="0"/>
                <a:ea typeface="Arial" pitchFamily="34" charset="-122"/>
                <a:cs typeface="Arial" pitchFamily="34" charset="-120"/>
              </a:rPr>
              <a:t>Knowledge transfer, first ML use cases live.</a:t>
            </a:r>
            <a:endParaRPr lang="en-US" sz="1275" dirty="0"/>
          </a:p>
        </p:txBody>
      </p:sp>
      <p:sp>
        <p:nvSpPr>
          <p:cNvPr id="37" name="Text 35"/>
          <p:cNvSpPr/>
          <p:nvPr/>
        </p:nvSpPr>
        <p:spPr>
          <a:xfrm>
            <a:off x="952405" y="6096477"/>
            <a:ext cx="18021355" cy="184404"/>
          </a:xfrm>
          <a:prstGeom prst="rect">
            <a:avLst/>
          </a:prstGeom>
          <a:noFill/>
          <a:ln/>
        </p:spPr>
        <p:txBody>
          <a:bodyPr wrap="square" lIns="25400" tIns="25400" rIns="25400" bIns="25400" rtlCol="0" anchor="t">
            <a:normAutofit fontScale="92500" lnSpcReduction="20000"/>
          </a:bodyPr>
          <a:lstStyle/>
          <a:p>
            <a:pPr marL="0" indent="0" algn="l">
              <a:buNone/>
            </a:pPr>
            <a:r>
              <a:rPr lang="en-US" sz="1050" b="1" kern="0" spc="105" dirty="0">
                <a:solidFill>
                  <a:srgbClr val="666666"/>
                </a:solidFill>
                <a:latin typeface="Arial" pitchFamily="34" charset="0"/>
                <a:ea typeface="Arial" pitchFamily="34" charset="-122"/>
                <a:cs typeface="Arial" pitchFamily="34" charset="-120"/>
              </a:rPr>
              <a:t>RISKS, EXPLICITLY MITIGATED</a:t>
            </a:r>
            <a:endParaRPr lang="en-US" sz="1050" dirty="0"/>
          </a:p>
        </p:txBody>
      </p:sp>
      <p:sp>
        <p:nvSpPr>
          <p:cNvPr id="38" name="Shape 36"/>
          <p:cNvSpPr/>
          <p:nvPr/>
        </p:nvSpPr>
        <p:spPr>
          <a:xfrm>
            <a:off x="952405" y="6395086"/>
            <a:ext cx="5359385" cy="2868645"/>
          </a:xfrm>
          <a:prstGeom prst="roundRect">
            <a:avLst>
              <a:gd name="adj" fmla="val 4649"/>
            </a:avLst>
          </a:prstGeom>
          <a:solidFill>
            <a:srgbClr val="141414"/>
          </a:solidFill>
          <a:ln/>
        </p:spPr>
        <p:txBody>
          <a:bodyPr/>
          <a:lstStyle/>
          <a:p>
            <a:endParaRPr lang="en-US"/>
          </a:p>
        </p:txBody>
      </p:sp>
      <p:sp>
        <p:nvSpPr>
          <p:cNvPr id="39" name="Shape 37"/>
          <p:cNvSpPr/>
          <p:nvPr/>
        </p:nvSpPr>
        <p:spPr>
          <a:xfrm>
            <a:off x="952405" y="6395086"/>
            <a:ext cx="36576" cy="2868645"/>
          </a:xfrm>
          <a:prstGeom prst="rect">
            <a:avLst/>
          </a:prstGeom>
          <a:solidFill>
            <a:srgbClr val="6A4CF5"/>
          </a:solidFill>
          <a:ln/>
        </p:spPr>
        <p:txBody>
          <a:bodyPr/>
          <a:lstStyle/>
          <a:p>
            <a:endParaRPr lang="en-US"/>
          </a:p>
        </p:txBody>
      </p:sp>
      <p:sp>
        <p:nvSpPr>
          <p:cNvPr id="40" name="Text 38"/>
          <p:cNvSpPr/>
          <p:nvPr/>
        </p:nvSpPr>
        <p:spPr>
          <a:xfrm>
            <a:off x="1255586" y="7397354"/>
            <a:ext cx="5268559" cy="330708"/>
          </a:xfrm>
          <a:prstGeom prst="rect">
            <a:avLst/>
          </a:prstGeom>
          <a:noFill/>
          <a:ln/>
        </p:spPr>
        <p:txBody>
          <a:bodyPr wrap="square" lIns="25400" tIns="25400" rIns="25400" bIns="25400" rtlCol="0" anchor="t">
            <a:normAutofit/>
          </a:bodyPr>
          <a:lstStyle/>
          <a:p>
            <a:pPr marL="0" indent="0" algn="l">
              <a:buNone/>
            </a:pPr>
            <a:r>
              <a:rPr lang="en-US" sz="1650" b="1" kern="0" spc="-37" dirty="0">
                <a:solidFill>
                  <a:srgbClr val="FFFFFF"/>
                </a:solidFill>
                <a:latin typeface="Arial" pitchFamily="34" charset="0"/>
                <a:ea typeface="Arial" pitchFamily="34" charset="-122"/>
                <a:cs typeface="Arial" pitchFamily="34" charset="-120"/>
              </a:rPr>
              <a:t>Migration risk</a:t>
            </a:r>
            <a:endParaRPr lang="en-US" sz="1650" dirty="0"/>
          </a:p>
        </p:txBody>
      </p:sp>
      <p:sp>
        <p:nvSpPr>
          <p:cNvPr id="41" name="Text 39"/>
          <p:cNvSpPr/>
          <p:nvPr/>
        </p:nvSpPr>
        <p:spPr>
          <a:xfrm>
            <a:off x="1255586" y="7804120"/>
            <a:ext cx="4933287" cy="495300"/>
          </a:xfrm>
          <a:prstGeom prst="rect">
            <a:avLst/>
          </a:prstGeom>
          <a:noFill/>
          <a:ln/>
        </p:spPr>
        <p:txBody>
          <a:bodyPr wrap="square" lIns="25400" tIns="25400" rIns="25400" bIns="25400" rtlCol="0" anchor="t">
            <a:normAutofit fontScale="92500" lnSpcReduction="20000"/>
          </a:bodyPr>
          <a:lstStyle/>
          <a:p>
            <a:pPr marL="0" indent="0" algn="l">
              <a:lnSpc>
                <a:spcPct val="150000"/>
              </a:lnSpc>
              <a:buNone/>
            </a:pPr>
            <a:r>
              <a:rPr lang="en-US" sz="1200" dirty="0">
                <a:solidFill>
                  <a:srgbClr val="999999"/>
                </a:solidFill>
                <a:latin typeface="Arial" pitchFamily="34" charset="0"/>
                <a:ea typeface="Arial" pitchFamily="34" charset="-122"/>
                <a:cs typeface="Arial" pitchFamily="34" charset="-120"/>
              </a:rPr>
              <a:t>DMS runs in parallel with the legacy stack before cutover — no big-bang switch.</a:t>
            </a:r>
            <a:endParaRPr lang="en-US" sz="1200" dirty="0"/>
          </a:p>
        </p:txBody>
      </p:sp>
      <p:sp>
        <p:nvSpPr>
          <p:cNvPr id="42" name="Shape 40"/>
          <p:cNvSpPr/>
          <p:nvPr/>
        </p:nvSpPr>
        <p:spPr>
          <a:xfrm>
            <a:off x="6464095" y="6395086"/>
            <a:ext cx="5359528" cy="2868645"/>
          </a:xfrm>
          <a:prstGeom prst="roundRect">
            <a:avLst>
              <a:gd name="adj" fmla="val 4649"/>
            </a:avLst>
          </a:prstGeom>
          <a:solidFill>
            <a:srgbClr val="141414"/>
          </a:solidFill>
          <a:ln/>
        </p:spPr>
        <p:txBody>
          <a:bodyPr/>
          <a:lstStyle/>
          <a:p>
            <a:endParaRPr lang="en-US"/>
          </a:p>
        </p:txBody>
      </p:sp>
      <p:sp>
        <p:nvSpPr>
          <p:cNvPr id="43" name="Shape 41"/>
          <p:cNvSpPr/>
          <p:nvPr/>
        </p:nvSpPr>
        <p:spPr>
          <a:xfrm>
            <a:off x="6464095" y="6395086"/>
            <a:ext cx="36576" cy="2868645"/>
          </a:xfrm>
          <a:prstGeom prst="rect">
            <a:avLst/>
          </a:prstGeom>
          <a:solidFill>
            <a:srgbClr val="6A4CF5"/>
          </a:solidFill>
          <a:ln/>
        </p:spPr>
        <p:txBody>
          <a:bodyPr/>
          <a:lstStyle/>
          <a:p>
            <a:endParaRPr lang="en-US"/>
          </a:p>
        </p:txBody>
      </p:sp>
      <p:sp>
        <p:nvSpPr>
          <p:cNvPr id="44" name="Text 42"/>
          <p:cNvSpPr/>
          <p:nvPr/>
        </p:nvSpPr>
        <p:spPr>
          <a:xfrm>
            <a:off x="6767275" y="7397354"/>
            <a:ext cx="5268716" cy="330708"/>
          </a:xfrm>
          <a:prstGeom prst="rect">
            <a:avLst/>
          </a:prstGeom>
          <a:noFill/>
          <a:ln/>
        </p:spPr>
        <p:txBody>
          <a:bodyPr wrap="square" lIns="25400" tIns="25400" rIns="25400" bIns="25400" rtlCol="0" anchor="t">
            <a:normAutofit/>
          </a:bodyPr>
          <a:lstStyle/>
          <a:p>
            <a:pPr marL="0" indent="0" algn="l">
              <a:buNone/>
            </a:pPr>
            <a:r>
              <a:rPr lang="en-US" sz="1650" b="1" kern="0" spc="-37" dirty="0">
                <a:solidFill>
                  <a:srgbClr val="FFFFFF"/>
                </a:solidFill>
                <a:latin typeface="Arial" pitchFamily="34" charset="0"/>
                <a:ea typeface="Arial" pitchFamily="34" charset="-122"/>
                <a:cs typeface="Arial" pitchFamily="34" charset="-120"/>
              </a:rPr>
              <a:t>Vendor lock-in</a:t>
            </a:r>
            <a:endParaRPr lang="en-US" sz="1650" dirty="0"/>
          </a:p>
        </p:txBody>
      </p:sp>
      <p:sp>
        <p:nvSpPr>
          <p:cNvPr id="45" name="Text 43"/>
          <p:cNvSpPr/>
          <p:nvPr/>
        </p:nvSpPr>
        <p:spPr>
          <a:xfrm>
            <a:off x="6767275" y="7804120"/>
            <a:ext cx="4933434" cy="495300"/>
          </a:xfrm>
          <a:prstGeom prst="rect">
            <a:avLst/>
          </a:prstGeom>
          <a:noFill/>
          <a:ln/>
        </p:spPr>
        <p:txBody>
          <a:bodyPr wrap="square" lIns="25400" tIns="25400" rIns="25400" bIns="25400" rtlCol="0" anchor="t">
            <a:normAutofit fontScale="92500"/>
          </a:bodyPr>
          <a:lstStyle/>
          <a:p>
            <a:pPr marL="0" indent="0" algn="l">
              <a:lnSpc>
                <a:spcPct val="150000"/>
              </a:lnSpc>
              <a:buNone/>
            </a:pPr>
            <a:r>
              <a:rPr lang="en-US" sz="1200" dirty="0">
                <a:solidFill>
                  <a:srgbClr val="999999"/>
                </a:solidFill>
                <a:latin typeface="Arial" pitchFamily="34" charset="0"/>
                <a:ea typeface="Arial" pitchFamily="34" charset="-122"/>
                <a:cs typeface="Arial" pitchFamily="34" charset="-120"/>
              </a:rPr>
              <a:t>Open-source core — Airflow, Spark, Parquet — keeps the platform portable.</a:t>
            </a:r>
            <a:endParaRPr lang="en-US" sz="1200" dirty="0"/>
          </a:p>
        </p:txBody>
      </p:sp>
      <p:sp>
        <p:nvSpPr>
          <p:cNvPr id="46" name="Shape 44"/>
          <p:cNvSpPr/>
          <p:nvPr/>
        </p:nvSpPr>
        <p:spPr>
          <a:xfrm>
            <a:off x="11975927" y="6395086"/>
            <a:ext cx="5359528" cy="2868645"/>
          </a:xfrm>
          <a:prstGeom prst="roundRect">
            <a:avLst>
              <a:gd name="adj" fmla="val 4649"/>
            </a:avLst>
          </a:prstGeom>
          <a:solidFill>
            <a:srgbClr val="141414"/>
          </a:solidFill>
          <a:ln/>
        </p:spPr>
        <p:txBody>
          <a:bodyPr/>
          <a:lstStyle/>
          <a:p>
            <a:endParaRPr lang="en-US"/>
          </a:p>
        </p:txBody>
      </p:sp>
      <p:sp>
        <p:nvSpPr>
          <p:cNvPr id="47" name="Shape 45"/>
          <p:cNvSpPr/>
          <p:nvPr/>
        </p:nvSpPr>
        <p:spPr>
          <a:xfrm>
            <a:off x="11975927" y="6395086"/>
            <a:ext cx="36576" cy="2868645"/>
          </a:xfrm>
          <a:prstGeom prst="rect">
            <a:avLst/>
          </a:prstGeom>
          <a:solidFill>
            <a:srgbClr val="6A4CF5"/>
          </a:solidFill>
          <a:ln/>
        </p:spPr>
        <p:txBody>
          <a:bodyPr/>
          <a:lstStyle/>
          <a:p>
            <a:endParaRPr lang="en-US"/>
          </a:p>
        </p:txBody>
      </p:sp>
      <p:sp>
        <p:nvSpPr>
          <p:cNvPr id="48" name="Text 46"/>
          <p:cNvSpPr/>
          <p:nvPr/>
        </p:nvSpPr>
        <p:spPr>
          <a:xfrm>
            <a:off x="12279109" y="7397354"/>
            <a:ext cx="5268716" cy="330708"/>
          </a:xfrm>
          <a:prstGeom prst="rect">
            <a:avLst/>
          </a:prstGeom>
          <a:noFill/>
          <a:ln/>
        </p:spPr>
        <p:txBody>
          <a:bodyPr wrap="square" lIns="25400" tIns="25400" rIns="25400" bIns="25400" rtlCol="0" anchor="t">
            <a:normAutofit/>
          </a:bodyPr>
          <a:lstStyle/>
          <a:p>
            <a:pPr marL="0" indent="0" algn="l">
              <a:buNone/>
            </a:pPr>
            <a:r>
              <a:rPr lang="en-US" sz="1650" b="1" kern="0" spc="-37" dirty="0">
                <a:solidFill>
                  <a:srgbClr val="FFFFFF"/>
                </a:solidFill>
                <a:latin typeface="Arial" pitchFamily="34" charset="0"/>
                <a:ea typeface="Arial" pitchFamily="34" charset="-122"/>
                <a:cs typeface="Arial" pitchFamily="34" charset="-120"/>
              </a:rPr>
              <a:t>Data privacy</a:t>
            </a:r>
            <a:endParaRPr lang="en-US" sz="1650" dirty="0"/>
          </a:p>
        </p:txBody>
      </p:sp>
      <p:sp>
        <p:nvSpPr>
          <p:cNvPr id="49" name="Text 47"/>
          <p:cNvSpPr/>
          <p:nvPr/>
        </p:nvSpPr>
        <p:spPr>
          <a:xfrm>
            <a:off x="12279109" y="7804120"/>
            <a:ext cx="4933434" cy="495300"/>
          </a:xfrm>
          <a:prstGeom prst="rect">
            <a:avLst/>
          </a:prstGeom>
          <a:noFill/>
          <a:ln/>
        </p:spPr>
        <p:txBody>
          <a:bodyPr wrap="square" lIns="25400" tIns="25400" rIns="25400" bIns="25400" rtlCol="0" anchor="t">
            <a:normAutofit fontScale="92500" lnSpcReduction="20000"/>
          </a:bodyPr>
          <a:lstStyle/>
          <a:p>
            <a:pPr marL="0" indent="0" algn="l">
              <a:lnSpc>
                <a:spcPct val="150000"/>
              </a:lnSpc>
              <a:buNone/>
            </a:pPr>
            <a:r>
              <a:rPr lang="en-US" sz="1200" dirty="0">
                <a:solidFill>
                  <a:srgbClr val="999999"/>
                </a:solidFill>
                <a:latin typeface="Arial" pitchFamily="34" charset="0"/>
                <a:ea typeface="Arial" pitchFamily="34" charset="-122"/>
                <a:cs typeface="Arial" pitchFamily="34" charset="-120"/>
              </a:rPr>
              <a:t>A DPIA precedes any personal data; non-prod receives anonymised samples only.</a:t>
            </a:r>
            <a:endParaRPr lang="en-US" sz="1200" dirty="0"/>
          </a:p>
        </p:txBody>
      </p:sp>
      <p:sp>
        <p:nvSpPr>
          <p:cNvPr id="50" name="Text 48"/>
          <p:cNvSpPr/>
          <p:nvPr/>
        </p:nvSpPr>
        <p:spPr>
          <a:xfrm>
            <a:off x="952405" y="9473186"/>
            <a:ext cx="18021355" cy="166116"/>
          </a:xfrm>
          <a:prstGeom prst="rect">
            <a:avLst/>
          </a:prstGeom>
          <a:noFill/>
          <a:ln/>
        </p:spPr>
        <p:txBody>
          <a:bodyPr wrap="square" lIns="25400" tIns="25400" rIns="25400" bIns="25400" rtlCol="0" anchor="t">
            <a:normAutofit fontScale="92500" lnSpcReduction="10000"/>
          </a:bodyPr>
          <a:lstStyle/>
          <a:p>
            <a:pPr marL="0" indent="0" algn="l">
              <a:buNone/>
            </a:pPr>
            <a:r>
              <a:rPr lang="en-US" sz="900" kern="0" spc="90" dirty="0">
                <a:solidFill>
                  <a:srgbClr val="2A2A2A"/>
                </a:solidFill>
                <a:latin typeface="Arial" pitchFamily="34" charset="0"/>
                <a:ea typeface="Arial" pitchFamily="34" charset="-122"/>
                <a:cs typeface="Arial" pitchFamily="34" charset="-120"/>
              </a:rPr>
              <a:t>MANGA DATAHUB · CLOUD ANALYTICS · IE UNIVERSITY</a:t>
            </a:r>
            <a:endParaRPr lang="en-US" sz="900" dirty="0"/>
          </a:p>
        </p:txBody>
      </p:sp>
    </p:spTree>
  </p:cSld>
  <p:clrMapOvr>
    <a:masterClrMapping/>
  </p:clrMapOvr>
  <p:transition spd="slow">
    <p:push dir="u"/>
  </p:transition>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90909"/>
        </a:solidFill>
        <a:effectLst/>
      </p:bgPr>
    </p:bg>
    <p:spTree>
      <p:nvGrpSpPr>
        <p:cNvPr id="1" name=""/>
        <p:cNvGrpSpPr/>
        <p:nvPr/>
      </p:nvGrpSpPr>
      <p:grpSpPr>
        <a:xfrm>
          <a:off x="0" y="0"/>
          <a:ext cx="0" cy="0"/>
          <a:chOff x="0" y="0"/>
          <a:chExt cx="0" cy="0"/>
        </a:xfrm>
      </p:grpSpPr>
      <p:sp>
        <p:nvSpPr>
          <p:cNvPr id="2" name="Shape 0"/>
          <p:cNvSpPr/>
          <p:nvPr/>
        </p:nvSpPr>
        <p:spPr>
          <a:xfrm>
            <a:off x="8762954" y="-3047953"/>
            <a:ext cx="11429859" cy="11429859"/>
          </a:xfrm>
          <a:prstGeom prst="rect">
            <a:avLst/>
          </a:prstGeom>
          <a:gradFill rotWithShape="1">
            <a:gsLst>
              <a:gs pos="0">
                <a:srgbClr val="6A4CF5">
                  <a:alpha val="42000"/>
                </a:srgbClr>
              </a:gs>
              <a:gs pos="42000">
                <a:srgbClr val="D44DF0">
                  <a:alpha val="16000"/>
                </a:srgbClr>
              </a:gs>
              <a:gs pos="66000">
                <a:srgbClr val="D44DF0">
                  <a:alpha val="0"/>
                </a:srgbClr>
              </a:gs>
            </a:gsLst>
            <a:path path="circle">
              <a:fillToRect l="50000" t="50000" r="50000" b="50000"/>
            </a:path>
          </a:gradFill>
          <a:ln/>
        </p:spPr>
        <p:txBody>
          <a:bodyPr/>
          <a:lstStyle/>
          <a:p>
            <a:endParaRPr lang="en-US"/>
          </a:p>
        </p:txBody>
      </p:sp>
      <p:sp>
        <p:nvSpPr>
          <p:cNvPr id="3" name="Shape 1"/>
          <p:cNvSpPr/>
          <p:nvPr/>
        </p:nvSpPr>
        <p:spPr>
          <a:xfrm>
            <a:off x="-952405" y="6476810"/>
            <a:ext cx="6667406" cy="6667406"/>
          </a:xfrm>
          <a:prstGeom prst="rect">
            <a:avLst/>
          </a:prstGeom>
          <a:gradFill rotWithShape="1">
            <a:gsLst>
              <a:gs pos="0">
                <a:srgbClr val="0099FF">
                  <a:alpha val="10000"/>
                </a:srgbClr>
              </a:gs>
              <a:gs pos="60000">
                <a:srgbClr val="0099FF">
                  <a:alpha val="0"/>
                </a:srgbClr>
              </a:gs>
            </a:gsLst>
            <a:path path="circle">
              <a:fillToRect l="50000" t="50000" r="50000" b="50000"/>
            </a:path>
          </a:gradFill>
          <a:ln/>
        </p:spPr>
        <p:txBody>
          <a:bodyPr/>
          <a:lstStyle/>
          <a:p>
            <a:endParaRPr lang="en-US"/>
          </a:p>
        </p:txBody>
      </p:sp>
      <p:sp>
        <p:nvSpPr>
          <p:cNvPr id="4" name="Text 2"/>
          <p:cNvSpPr/>
          <p:nvPr/>
        </p:nvSpPr>
        <p:spPr>
          <a:xfrm>
            <a:off x="952405" y="761952"/>
            <a:ext cx="2210019" cy="330708"/>
          </a:xfrm>
          <a:prstGeom prst="rect">
            <a:avLst/>
          </a:prstGeom>
          <a:noFill/>
          <a:ln/>
        </p:spPr>
        <p:txBody>
          <a:bodyPr wrap="square" lIns="25400" tIns="25400" rIns="25400" bIns="25400" rtlCol="0" anchor="t">
            <a:normAutofit/>
          </a:bodyPr>
          <a:lstStyle/>
          <a:p>
            <a:pPr marL="0" indent="0" algn="l">
              <a:buNone/>
            </a:pPr>
            <a:r>
              <a:rPr lang="en-US" sz="1650" b="1" kern="0" spc="-45" dirty="0">
                <a:solidFill>
                  <a:srgbClr val="FFFFFF"/>
                </a:solidFill>
                <a:latin typeface="Arial" pitchFamily="34" charset="0"/>
                <a:ea typeface="Arial" pitchFamily="34" charset="-122"/>
                <a:cs typeface="Arial" pitchFamily="34" charset="-120"/>
              </a:rPr>
              <a:t>CloudCore Solutions</a:t>
            </a:r>
            <a:endParaRPr lang="en-US" sz="1650" dirty="0"/>
          </a:p>
        </p:txBody>
      </p:sp>
      <p:sp>
        <p:nvSpPr>
          <p:cNvPr id="5" name="Text 3"/>
          <p:cNvSpPr/>
          <p:nvPr/>
        </p:nvSpPr>
        <p:spPr>
          <a:xfrm>
            <a:off x="15069029" y="761952"/>
            <a:ext cx="2493069" cy="202692"/>
          </a:xfrm>
          <a:prstGeom prst="rect">
            <a:avLst/>
          </a:prstGeom>
          <a:noFill/>
          <a:ln/>
        </p:spPr>
        <p:txBody>
          <a:bodyPr wrap="square" lIns="25400" tIns="25400" rIns="25400" bIns="25400" rtlCol="0" anchor="t">
            <a:normAutofit fontScale="92500" lnSpcReduction="10000"/>
          </a:bodyPr>
          <a:lstStyle/>
          <a:p>
            <a:pPr marL="0" indent="0" algn="l">
              <a:buNone/>
            </a:pPr>
            <a:r>
              <a:rPr lang="en-US" sz="1125" kern="0" spc="203" dirty="0">
                <a:solidFill>
                  <a:srgbClr val="666666"/>
                </a:solidFill>
                <a:latin typeface="Arial" pitchFamily="34" charset="0"/>
                <a:ea typeface="Arial" pitchFamily="34" charset="-122"/>
                <a:cs typeface="Arial" pitchFamily="34" charset="-120"/>
              </a:rPr>
              <a:t>CLOUDCORE SOLUTIONS</a:t>
            </a:r>
            <a:endParaRPr lang="en-US" sz="1125" dirty="0"/>
          </a:p>
        </p:txBody>
      </p:sp>
      <p:sp>
        <p:nvSpPr>
          <p:cNvPr id="6" name="Text 4"/>
          <p:cNvSpPr/>
          <p:nvPr/>
        </p:nvSpPr>
        <p:spPr>
          <a:xfrm>
            <a:off x="952405" y="3047810"/>
            <a:ext cx="18021355" cy="230124"/>
          </a:xfrm>
          <a:prstGeom prst="rect">
            <a:avLst/>
          </a:prstGeom>
          <a:noFill/>
          <a:ln/>
        </p:spPr>
        <p:txBody>
          <a:bodyPr wrap="square" lIns="25400" tIns="25400" rIns="25400" bIns="25400" rtlCol="0" anchor="t">
            <a:normAutofit lnSpcReduction="10000"/>
          </a:bodyPr>
          <a:lstStyle/>
          <a:p>
            <a:pPr marL="0" indent="0" algn="l">
              <a:buNone/>
            </a:pPr>
            <a:r>
              <a:rPr lang="en-US" sz="1275" b="1" kern="0" spc="255" dirty="0">
                <a:solidFill>
                  <a:srgbClr val="84CC16"/>
                </a:solidFill>
                <a:latin typeface="Arial" pitchFamily="34" charset="0"/>
                <a:ea typeface="Arial" pitchFamily="34" charset="-122"/>
                <a:cs typeface="Arial" pitchFamily="34" charset="-120"/>
              </a:rPr>
              <a:t>LIVE &amp; INTERACTIVE</a:t>
            </a:r>
            <a:endParaRPr lang="en-US" sz="1275" dirty="0"/>
          </a:p>
        </p:txBody>
      </p:sp>
      <p:sp>
        <p:nvSpPr>
          <p:cNvPr id="7" name="Text 5"/>
          <p:cNvSpPr/>
          <p:nvPr/>
        </p:nvSpPr>
        <p:spPr>
          <a:xfrm>
            <a:off x="952405" y="3506439"/>
            <a:ext cx="18021355" cy="1102948"/>
          </a:xfrm>
          <a:prstGeom prst="rect">
            <a:avLst/>
          </a:prstGeom>
          <a:noFill/>
          <a:ln/>
        </p:spPr>
        <p:txBody>
          <a:bodyPr wrap="square" lIns="25400" tIns="25400" rIns="25400" bIns="25400" rtlCol="0" anchor="t">
            <a:normAutofit fontScale="92500" lnSpcReduction="20000"/>
          </a:bodyPr>
          <a:lstStyle/>
          <a:p>
            <a:pPr marL="0" indent="0" algn="l">
              <a:lnSpc>
                <a:spcPct val="86000"/>
              </a:lnSpc>
              <a:buNone/>
            </a:pPr>
            <a:r>
              <a:rPr lang="en-US" sz="9750" b="1" kern="0" spc="-487" dirty="0">
                <a:solidFill>
                  <a:srgbClr val="FFFFFF"/>
                </a:solidFill>
                <a:latin typeface="Arial" pitchFamily="34" charset="0"/>
                <a:ea typeface="Arial" pitchFamily="34" charset="-122"/>
                <a:cs typeface="Arial" pitchFamily="34" charset="-120"/>
              </a:rPr>
              <a:t>See it running</a:t>
            </a:r>
            <a:endParaRPr lang="en-US" sz="9750" dirty="0"/>
          </a:p>
        </p:txBody>
      </p:sp>
      <p:sp>
        <p:nvSpPr>
          <p:cNvPr id="8" name="Text 6">
            <a:hlinkClick r:id="rId3"/>
          </p:cNvPr>
          <p:cNvSpPr/>
          <p:nvPr/>
        </p:nvSpPr>
        <p:spPr>
          <a:xfrm>
            <a:off x="952405" y="4914044"/>
            <a:ext cx="5730460" cy="568452"/>
          </a:xfrm>
          <a:prstGeom prst="rect">
            <a:avLst/>
          </a:prstGeom>
          <a:noFill/>
          <a:ln/>
        </p:spPr>
        <p:txBody>
          <a:bodyPr wrap="square" lIns="25400" tIns="25400" rIns="25400" bIns="25400" rtlCol="0" anchor="t">
            <a:normAutofit/>
          </a:bodyPr>
          <a:lstStyle/>
          <a:p>
            <a:pPr marL="0" indent="0" algn="l">
              <a:buNone/>
            </a:pPr>
            <a:r>
              <a:rPr lang="en-US" sz="3000" b="1" u="sng" kern="0" spc="-75" dirty="0">
                <a:solidFill>
                  <a:srgbClr val="0099FF"/>
                </a:solidFill>
                <a:latin typeface="Arial" pitchFamily="34" charset="0"/>
                <a:ea typeface="Arial" pitchFamily="34" charset="-122"/>
                <a:cs typeface="Arial" pitchFamily="34" charset="-120"/>
                <a:hlinkClick r:id="rId3">
                  <a:extLst>
                    <a:ext uri="{A12FA001-AC4F-418D-AE19-62706E023703}">
                      <ahyp:hlinkClr xmlns:ahyp="http://schemas.microsoft.com/office/drawing/2018/hyperlinkcolor" val="tx"/>
                    </a:ext>
                  </a:extLst>
                </a:hlinkClick>
              </a:rPr>
              <a:t>mangacloud-khaki.vercel.app</a:t>
            </a:r>
            <a:endParaRPr lang="en-US" sz="3000" dirty="0"/>
          </a:p>
        </p:txBody>
      </p:sp>
      <p:sp>
        <p:nvSpPr>
          <p:cNvPr id="9" name="Text 7"/>
          <p:cNvSpPr/>
          <p:nvPr/>
        </p:nvSpPr>
        <p:spPr>
          <a:xfrm>
            <a:off x="952405" y="5749148"/>
            <a:ext cx="8633364" cy="666750"/>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1650" kern="0" spc="-16" dirty="0">
                <a:solidFill>
                  <a:srgbClr val="999999"/>
                </a:solidFill>
                <a:latin typeface="Arial" pitchFamily="34" charset="0"/>
                <a:ea typeface="Arial" pitchFamily="34" charset="-122"/>
                <a:cs typeface="Arial" pitchFamily="34" charset="-120"/>
              </a:rPr>
              <a:t>Open it on your device — clickable architecture, dataset previews and requirement coverage — while we take your questions.</a:t>
            </a:r>
            <a:endParaRPr lang="en-US" sz="1650" dirty="0"/>
          </a:p>
        </p:txBody>
      </p:sp>
      <p:sp>
        <p:nvSpPr>
          <p:cNvPr id="10" name="Shape 8"/>
          <p:cNvSpPr/>
          <p:nvPr/>
        </p:nvSpPr>
        <p:spPr>
          <a:xfrm>
            <a:off x="952405" y="8371048"/>
            <a:ext cx="16383050" cy="9525"/>
          </a:xfrm>
          <a:prstGeom prst="rect">
            <a:avLst/>
          </a:prstGeom>
          <a:solidFill>
            <a:srgbClr val="262626"/>
          </a:solidFill>
          <a:ln/>
        </p:spPr>
        <p:txBody>
          <a:bodyPr/>
          <a:lstStyle/>
          <a:p>
            <a:endParaRPr lang="en-US"/>
          </a:p>
        </p:txBody>
      </p:sp>
      <p:sp>
        <p:nvSpPr>
          <p:cNvPr id="11" name="Text 9"/>
          <p:cNvSpPr/>
          <p:nvPr/>
        </p:nvSpPr>
        <p:spPr>
          <a:xfrm>
            <a:off x="952405" y="8685230"/>
            <a:ext cx="1686354" cy="6096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4500" b="1" kern="0" spc="-225" dirty="0">
                <a:solidFill>
                  <a:srgbClr val="84CC16"/>
                </a:solidFill>
                <a:latin typeface="Arial" pitchFamily="34" charset="0"/>
                <a:ea typeface="Arial" pitchFamily="34" charset="-122"/>
                <a:cs typeface="Arial" pitchFamily="34" charset="-120"/>
              </a:rPr>
              <a:t>8/8</a:t>
            </a:r>
            <a:endParaRPr lang="en-US" sz="4500" dirty="0"/>
          </a:p>
        </p:txBody>
      </p:sp>
      <p:sp>
        <p:nvSpPr>
          <p:cNvPr id="12" name="Text 10"/>
          <p:cNvSpPr/>
          <p:nvPr/>
        </p:nvSpPr>
        <p:spPr>
          <a:xfrm>
            <a:off x="952405" y="9332882"/>
            <a:ext cx="1686354" cy="230124"/>
          </a:xfrm>
          <a:prstGeom prst="rect">
            <a:avLst/>
          </a:prstGeom>
          <a:noFill/>
          <a:ln/>
        </p:spPr>
        <p:txBody>
          <a:bodyPr wrap="square" lIns="25400" tIns="25400" rIns="25400" bIns="25400" rtlCol="0" anchor="t">
            <a:normAutofit lnSpcReduction="10000"/>
          </a:bodyPr>
          <a:lstStyle/>
          <a:p>
            <a:pPr marL="0" indent="0" algn="l">
              <a:buNone/>
            </a:pPr>
            <a:r>
              <a:rPr lang="en-US" sz="1275" kern="0" spc="-13" dirty="0">
                <a:solidFill>
                  <a:srgbClr val="999999"/>
                </a:solidFill>
                <a:latin typeface="Arial" pitchFamily="34" charset="0"/>
                <a:ea typeface="Arial" pitchFamily="34" charset="-122"/>
                <a:cs typeface="Arial" pitchFamily="34" charset="-120"/>
              </a:rPr>
              <a:t>requirements covered</a:t>
            </a:r>
            <a:endParaRPr lang="en-US" sz="1275" dirty="0"/>
          </a:p>
        </p:txBody>
      </p:sp>
      <p:sp>
        <p:nvSpPr>
          <p:cNvPr id="13" name="Text 11"/>
          <p:cNvSpPr/>
          <p:nvPr/>
        </p:nvSpPr>
        <p:spPr>
          <a:xfrm>
            <a:off x="3247406" y="8685230"/>
            <a:ext cx="1555280" cy="6096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4500" b="1" kern="0" spc="-225" dirty="0">
                <a:solidFill>
                  <a:srgbClr val="0099FF"/>
                </a:solidFill>
                <a:latin typeface="Arial" pitchFamily="34" charset="0"/>
                <a:ea typeface="Arial" pitchFamily="34" charset="-122"/>
                <a:cs typeface="Arial" pitchFamily="34" charset="-120"/>
              </a:rPr>
              <a:t>−57%</a:t>
            </a:r>
            <a:endParaRPr lang="en-US" sz="4500" dirty="0"/>
          </a:p>
        </p:txBody>
      </p:sp>
      <p:sp>
        <p:nvSpPr>
          <p:cNvPr id="14" name="Text 12"/>
          <p:cNvSpPr/>
          <p:nvPr/>
        </p:nvSpPr>
        <p:spPr>
          <a:xfrm>
            <a:off x="3247406" y="9332882"/>
            <a:ext cx="1555280" cy="230124"/>
          </a:xfrm>
          <a:prstGeom prst="rect">
            <a:avLst/>
          </a:prstGeom>
          <a:noFill/>
          <a:ln/>
        </p:spPr>
        <p:txBody>
          <a:bodyPr wrap="square" lIns="25400" tIns="25400" rIns="25400" bIns="25400" rtlCol="0" anchor="t">
            <a:normAutofit lnSpcReduction="10000"/>
          </a:bodyPr>
          <a:lstStyle/>
          <a:p>
            <a:pPr marL="0" indent="0" algn="l">
              <a:buNone/>
            </a:pPr>
            <a:r>
              <a:rPr lang="en-US" sz="1275" kern="0" spc="-13" dirty="0">
                <a:solidFill>
                  <a:srgbClr val="999999"/>
                </a:solidFill>
                <a:latin typeface="Arial" pitchFamily="34" charset="0"/>
                <a:ea typeface="Arial" pitchFamily="34" charset="-122"/>
                <a:cs typeface="Arial" pitchFamily="34" charset="-120"/>
              </a:rPr>
              <a:t>infrastructure cost</a:t>
            </a:r>
            <a:endParaRPr lang="en-US" sz="1275" dirty="0"/>
          </a:p>
        </p:txBody>
      </p:sp>
      <p:sp>
        <p:nvSpPr>
          <p:cNvPr id="15" name="Text 13"/>
          <p:cNvSpPr/>
          <p:nvPr/>
        </p:nvSpPr>
        <p:spPr>
          <a:xfrm>
            <a:off x="5423250" y="8685230"/>
            <a:ext cx="5264787" cy="6096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4500" b="1" kern="0" spc="-225" dirty="0">
                <a:solidFill>
                  <a:srgbClr val="FFFFFF"/>
                </a:solidFill>
                <a:latin typeface="Arial" pitchFamily="34" charset="0"/>
                <a:ea typeface="Arial" pitchFamily="34" charset="-122"/>
                <a:cs typeface="Arial" pitchFamily="34" charset="-120"/>
              </a:rPr>
              <a:t>24h → sub-second</a:t>
            </a:r>
            <a:endParaRPr lang="en-US" sz="4500" dirty="0"/>
          </a:p>
        </p:txBody>
      </p:sp>
      <p:sp>
        <p:nvSpPr>
          <p:cNvPr id="16" name="Text 14"/>
          <p:cNvSpPr/>
          <p:nvPr/>
        </p:nvSpPr>
        <p:spPr>
          <a:xfrm>
            <a:off x="5423250" y="9332882"/>
            <a:ext cx="5264787" cy="230124"/>
          </a:xfrm>
          <a:prstGeom prst="rect">
            <a:avLst/>
          </a:prstGeom>
          <a:noFill/>
          <a:ln/>
        </p:spPr>
        <p:txBody>
          <a:bodyPr wrap="square" lIns="25400" tIns="25400" rIns="25400" bIns="25400" rtlCol="0" anchor="t">
            <a:normAutofit lnSpcReduction="10000"/>
          </a:bodyPr>
          <a:lstStyle/>
          <a:p>
            <a:pPr marL="0" indent="0" algn="l">
              <a:buNone/>
            </a:pPr>
            <a:r>
              <a:rPr lang="en-US" sz="1275" kern="0" spc="-13" dirty="0">
                <a:solidFill>
                  <a:srgbClr val="999999"/>
                </a:solidFill>
                <a:latin typeface="Arial" pitchFamily="34" charset="0"/>
                <a:ea typeface="Arial" pitchFamily="34" charset="-122"/>
                <a:cs typeface="Arial" pitchFamily="34" charset="-120"/>
              </a:rPr>
              <a:t>time to insight</a:t>
            </a:r>
            <a:endParaRPr lang="en-US" sz="1275" dirty="0"/>
          </a:p>
        </p:txBody>
      </p:sp>
      <p:sp>
        <p:nvSpPr>
          <p:cNvPr id="17" name="Text 15"/>
          <p:cNvSpPr/>
          <p:nvPr/>
        </p:nvSpPr>
        <p:spPr>
          <a:xfrm>
            <a:off x="952405" y="9739790"/>
            <a:ext cx="3948708" cy="166116"/>
          </a:xfrm>
          <a:prstGeom prst="rect">
            <a:avLst/>
          </a:prstGeom>
          <a:noFill/>
          <a:ln/>
        </p:spPr>
        <p:txBody>
          <a:bodyPr wrap="square" lIns="25400" tIns="25400" rIns="25400" bIns="25400" rtlCol="0" anchor="t">
            <a:normAutofit fontScale="92500" lnSpcReduction="10000"/>
          </a:bodyPr>
          <a:lstStyle/>
          <a:p>
            <a:pPr marL="0" indent="0" algn="l">
              <a:buNone/>
            </a:pPr>
            <a:r>
              <a:rPr lang="en-US" sz="900" kern="0" spc="90" dirty="0">
                <a:solidFill>
                  <a:srgbClr val="2A2A2A"/>
                </a:solidFill>
                <a:latin typeface="Arial" pitchFamily="34" charset="0"/>
                <a:ea typeface="Arial" pitchFamily="34" charset="-122"/>
                <a:cs typeface="Arial" pitchFamily="34" charset="-120"/>
              </a:rPr>
              <a:t>MANGA DATAHUB · CLOUD ANALYTICS · IE UNIVERSITY</a:t>
            </a:r>
            <a:endParaRPr lang="en-US" sz="900" dirty="0"/>
          </a:p>
        </p:txBody>
      </p:sp>
    </p:spTree>
  </p:cSld>
  <p:clrMapOvr>
    <a:masterClrMapping/>
  </p:clrMapOvr>
  <p:transition spd="slow">
    <p:push dir="u"/>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TotalTime>
  <Words>1961</Words>
  <Application>Microsoft Office PowerPoint</Application>
  <PresentationFormat>Custom</PresentationFormat>
  <Paragraphs>358</Paragraphs>
  <Slides>11</Slides>
  <Notes>11</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11</vt:i4>
      </vt:variant>
    </vt:vector>
  </HeadingPairs>
  <TitlesOfParts>
    <vt:vector size="13" baseType="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Luka</cp:lastModifiedBy>
  <cp:revision>10</cp:revision>
  <dcterms:created xsi:type="dcterms:W3CDTF">2026-06-19T11:43:45Z</dcterms:created>
  <dcterms:modified xsi:type="dcterms:W3CDTF">2026-06-19T11:51:59Z</dcterms:modified>
</cp:coreProperties>
</file>