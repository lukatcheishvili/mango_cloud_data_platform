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6229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CloudCore Solutions, responding to Manga's RFP. Over the next ~13 minutes the six of us walk you through the Manga DataHub: why Manga needs it, the architecture, what it costs, and what it unlocks.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pain in numbers: €280M revenue but only 3.5% growth and 1.2% online, while spending about 2x competitors for half the output. The root cause is architectural: daily cron-job ETL, siloed pipelines, Excel as the BI layer, and an unclear GDPR posture. This is exactly what the Manga DataHub fixes.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Unify (one governed platform), Accelerate (24h to sub-second), Enable (ML that is impossible today). Stress the open-source core: Airflow, Spark, Parquet. This directly answers CTO Javier's lock-in fear.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mapped the proposal to the five named decision-makers. Don't read all five. Highlight two: CFO Manuel gets 40-60% lower cost and clear ROI; CTO Javier gets no lock-in. InfoSec, COO and Head of Data each have their concern addressed.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design, no vendor names yet: five layers — Sources to Ingestion to Processing to a three-zone Lakehouse to Consumption — with Security &amp; Governance spanning everything and a clean split between streaming and batch. Four principles: separation of concerns, modularity, elasticity, open standards.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architecture, now end-to-end on AWS. Six sources land through the right ingestion path for their stream type — scheduled pull, CDC, subscription, streaming, batch, file transfer. Everything lands raw in S3, is validated and cleaned into the Curated zone, then served to BI, ML, NLP and partner APIs. Processing &amp; Governance and Security span every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just claim coverage: the written proposal has a full traceability table plus an Operating Evidence Appendix. Highlights: R3 automation (MWAA replaces cron), R4 security and recovery targets, R5 concrete Glue Data Quality rules, R6 cost assumptions, R8 carbon metrics. All eight covered.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Replacing fixed colocation with AWS pay-per-use cuts annual infrastructure cost about 57%: EUR 1.30M to EUR 0.56M, about EUR 0.74M saved per year. Not just a chart — the proposal separates metered AWS services from fully-loaded TCO and validates it monthly with Cost Explorer, CUR and FinOps tags. Pause on the 57%.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end-to-end use cases on Manga's actual data: demand forecasting (-30% stockouts), recommendations (+12-18% AOV), sentiment merchandising (2-3 weeks earlier). Two more extend the same platform. These directly attack the 1.2% online-growth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Phased, controlled-risk delivery — Marta's priority. Production cutover in month 7, handover by month 9. Risks explicitly mitigated: DMS runs in parallel before cutover, open-source addresses lock-in, and a DPIA precedes any personal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you've seen is live and interactive at mangacloud-khaki.vercel.app — open it on your device while we take questions. Thank the panel. Anticipated Q&amp;A: cost → Tina; security/GDPR → Ricardo/Mateus; RTO/RPO → Ricardo; sustainability → Nicklas; lock-in → Mateus; timeline → Ricardo.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svg"/><Relationship Id="rId18" Type="http://schemas.openxmlformats.org/officeDocument/2006/relationships/image" Target="../media/image18.svg"/><Relationship Id="rId3" Type="http://schemas.openxmlformats.org/officeDocument/2006/relationships/image" Target="../media/image3.sv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svg"/><Relationship Id="rId17" Type="http://schemas.openxmlformats.org/officeDocument/2006/relationships/image" Target="../media/image17.svg"/><Relationship Id="rId2" Type="http://schemas.openxmlformats.org/officeDocument/2006/relationships/notesSlide" Target="../notesSlides/notesSlide6.xml"/><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svg"/><Relationship Id="rId24" Type="http://schemas.openxmlformats.org/officeDocument/2006/relationships/image" Target="../media/image1.pn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svg"/><Relationship Id="rId10" Type="http://schemas.openxmlformats.org/officeDocument/2006/relationships/image" Target="../media/image10.svg"/><Relationship Id="rId19" Type="http://schemas.openxmlformats.org/officeDocument/2006/relationships/image" Target="../media/image19.svg"/><Relationship Id="rId4" Type="http://schemas.openxmlformats.org/officeDocument/2006/relationships/image" Target="../media/image4.svg"/><Relationship Id="rId9" Type="http://schemas.openxmlformats.org/officeDocument/2006/relationships/image" Target="../media/image9.svg"/><Relationship Id="rId14" Type="http://schemas.openxmlformats.org/officeDocument/2006/relationships/image" Target="../media/image14.svg"/><Relationship Id="rId22"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mangacloud-khaki.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3C"/>
        </a:solidFill>
        <a:effectLst/>
      </p:bgPr>
    </p:bg>
    <p:spTree>
      <p:nvGrpSpPr>
        <p:cNvPr id="1" name=""/>
        <p:cNvGrpSpPr/>
        <p:nvPr/>
      </p:nvGrpSpPr>
      <p:grpSpPr>
        <a:xfrm>
          <a:off x="0" y="0"/>
          <a:ext cx="0" cy="0"/>
          <a:chOff x="0" y="0"/>
          <a:chExt cx="0" cy="0"/>
        </a:xfrm>
      </p:grpSpPr>
      <p:sp>
        <p:nvSpPr>
          <p:cNvPr id="2" name="Shape 0"/>
          <p:cNvSpPr/>
          <p:nvPr/>
        </p:nvSpPr>
        <p:spPr>
          <a:xfrm>
            <a:off x="13906500" y="-1714500"/>
            <a:ext cx="5905500" cy="5905500"/>
          </a:xfrm>
          <a:prstGeom prst="ellipse">
            <a:avLst/>
          </a:prstGeom>
          <a:gradFill rotWithShape="1">
            <a:gsLst>
              <a:gs pos="0">
                <a:srgbClr val="4BBEFF">
                  <a:alpha val="16000"/>
                </a:srgbClr>
              </a:gs>
              <a:gs pos="70000">
                <a:srgbClr val="4BBEFF">
                  <a:alpha val="0"/>
                </a:srgbClr>
              </a:gs>
            </a:gsLst>
            <a:path path="circle">
              <a:fillToRect l="50000" t="50000" r="50000" b="50000"/>
            </a:path>
          </a:gradFill>
          <a:ln/>
        </p:spPr>
        <p:txBody>
          <a:bodyPr/>
          <a:lstStyle/>
          <a:p>
            <a:endParaRPr lang="en-US"/>
          </a:p>
        </p:txBody>
      </p:sp>
      <p:sp>
        <p:nvSpPr>
          <p:cNvPr id="3" name="Shape 1"/>
          <p:cNvSpPr/>
          <p:nvPr/>
        </p:nvSpPr>
        <p:spPr>
          <a:xfrm>
            <a:off x="-762000" y="7429500"/>
            <a:ext cx="4000500" cy="4000500"/>
          </a:xfrm>
          <a:prstGeom prst="ellipse">
            <a:avLst/>
          </a:prstGeom>
          <a:gradFill rotWithShape="1">
            <a:gsLst>
              <a:gs pos="0">
                <a:srgbClr val="6BC600">
                  <a:alpha val="12000"/>
                </a:srgbClr>
              </a:gs>
              <a:gs pos="70000">
                <a:srgbClr val="6BC600">
                  <a:alpha val="0"/>
                </a:srgbClr>
              </a:gs>
            </a:gsLst>
            <a:path path="circle">
              <a:fillToRect l="50000" t="50000" r="50000" b="50000"/>
            </a:path>
          </a:gra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47750" y="914363"/>
            <a:ext cx="1101607" cy="1123931"/>
          </a:xfrm>
          <a:prstGeom prst="rect">
            <a:avLst/>
          </a:prstGeom>
        </p:spPr>
      </p:pic>
      <p:sp>
        <p:nvSpPr>
          <p:cNvPr id="5" name="Text 2"/>
          <p:cNvSpPr/>
          <p:nvPr/>
        </p:nvSpPr>
        <p:spPr>
          <a:xfrm>
            <a:off x="12624435" y="1279829"/>
            <a:ext cx="4615816" cy="431006"/>
          </a:xfrm>
          <a:prstGeom prst="rect">
            <a:avLst/>
          </a:prstGeom>
          <a:noFill/>
          <a:ln/>
        </p:spPr>
        <p:txBody>
          <a:bodyPr wrap="square" lIns="25400" tIns="25400" rIns="25400" bIns="25400" rtlCol="0" anchor="t">
            <a:normAutofit/>
          </a:bodyPr>
          <a:lstStyle/>
          <a:p>
            <a:pPr marL="0" indent="0" algn="r">
              <a:buNone/>
            </a:pPr>
            <a:r>
              <a:rPr lang="en-US" sz="1350" b="1" kern="0" spc="351" dirty="0">
                <a:solidFill>
                  <a:srgbClr val="8A8AB8"/>
                </a:solidFill>
                <a:latin typeface="Arial" pitchFamily="34" charset="0"/>
                <a:ea typeface="Arial" pitchFamily="34" charset="-122"/>
                <a:cs typeface="Arial" pitchFamily="34" charset="-120"/>
              </a:rPr>
              <a:t>CLOUD ANALYTICS MBD-EN2025</a:t>
            </a:r>
            <a:endParaRPr lang="en-US" sz="1350" dirty="0"/>
          </a:p>
        </p:txBody>
      </p:sp>
      <p:sp>
        <p:nvSpPr>
          <p:cNvPr id="6" name="Text 3"/>
          <p:cNvSpPr/>
          <p:nvPr/>
        </p:nvSpPr>
        <p:spPr>
          <a:xfrm>
            <a:off x="1047750" y="3679496"/>
            <a:ext cx="17811750" cy="276225"/>
          </a:xfrm>
          <a:prstGeom prst="rect">
            <a:avLst/>
          </a:prstGeom>
          <a:noFill/>
          <a:ln/>
        </p:spPr>
        <p:txBody>
          <a:bodyPr wrap="square" lIns="25400" tIns="25400" rIns="25400" bIns="25400" rtlCol="0" anchor="t">
            <a:normAutofit/>
          </a:bodyPr>
          <a:lstStyle/>
          <a:p>
            <a:pPr marL="0" indent="0" algn="l">
              <a:buNone/>
            </a:pPr>
            <a:r>
              <a:rPr lang="en-US" sz="1650" b="1" kern="0" spc="528" dirty="0">
                <a:solidFill>
                  <a:srgbClr val="6BC600"/>
                </a:solidFill>
                <a:latin typeface="Arial" pitchFamily="34" charset="0"/>
                <a:ea typeface="Arial" pitchFamily="34" charset="-122"/>
                <a:cs typeface="Arial" pitchFamily="34" charset="-120"/>
              </a:rPr>
              <a:t>RFP RESPONSE</a:t>
            </a:r>
            <a:endParaRPr lang="en-US" sz="1650" dirty="0"/>
          </a:p>
        </p:txBody>
      </p:sp>
      <p:sp>
        <p:nvSpPr>
          <p:cNvPr id="7" name="Text 4"/>
          <p:cNvSpPr/>
          <p:nvPr/>
        </p:nvSpPr>
        <p:spPr>
          <a:xfrm>
            <a:off x="1047750" y="4241416"/>
            <a:ext cx="17811750" cy="1299883"/>
          </a:xfrm>
          <a:prstGeom prst="rect">
            <a:avLst/>
          </a:prstGeom>
          <a:noFill/>
          <a:ln/>
        </p:spPr>
        <p:txBody>
          <a:bodyPr wrap="square" lIns="25400" tIns="25400" rIns="25400" bIns="25400" rtlCol="0" anchor="t">
            <a:normAutofit/>
          </a:bodyPr>
          <a:lstStyle/>
          <a:p>
            <a:pPr marL="0" indent="0" algn="l">
              <a:lnSpc>
                <a:spcPct val="96000"/>
              </a:lnSpc>
              <a:buNone/>
            </a:pPr>
            <a:r>
              <a:rPr lang="en-US" sz="10350" b="1" kern="0" spc="-259" dirty="0">
                <a:solidFill>
                  <a:srgbClr val="FFFFFF"/>
                </a:solidFill>
                <a:latin typeface="Arial" pitchFamily="34" charset="0"/>
                <a:ea typeface="Arial" pitchFamily="34" charset="-122"/>
                <a:cs typeface="Arial" pitchFamily="34" charset="-120"/>
              </a:rPr>
              <a:t>Manga DataHub</a:t>
            </a:r>
            <a:endParaRPr lang="en-US" sz="10350" dirty="0"/>
          </a:p>
        </p:txBody>
      </p:sp>
      <p:sp>
        <p:nvSpPr>
          <p:cNvPr id="8" name="Shape 5"/>
          <p:cNvSpPr/>
          <p:nvPr/>
        </p:nvSpPr>
        <p:spPr>
          <a:xfrm>
            <a:off x="1047750" y="5865130"/>
            <a:ext cx="1257226" cy="85669"/>
          </a:xfrm>
          <a:prstGeom prst="roundRect">
            <a:avLst>
              <a:gd name="adj" fmla="val 22237"/>
            </a:avLst>
          </a:prstGeom>
          <a:solidFill>
            <a:srgbClr val="6BC600"/>
          </a:solidFill>
          <a:ln/>
        </p:spPr>
        <p:txBody>
          <a:bodyPr/>
          <a:lstStyle/>
          <a:p>
            <a:endParaRPr lang="en-US"/>
          </a:p>
        </p:txBody>
      </p:sp>
      <p:sp>
        <p:nvSpPr>
          <p:cNvPr id="9" name="Text 6"/>
          <p:cNvSpPr/>
          <p:nvPr/>
        </p:nvSpPr>
        <p:spPr>
          <a:xfrm>
            <a:off x="1047750" y="6293662"/>
            <a:ext cx="11576685" cy="956928"/>
          </a:xfrm>
          <a:prstGeom prst="rect">
            <a:avLst/>
          </a:prstGeom>
          <a:noFill/>
          <a:ln/>
        </p:spPr>
        <p:txBody>
          <a:bodyPr wrap="square" lIns="25400" tIns="25400" rIns="25400" bIns="25400" rtlCol="0" anchor="t">
            <a:normAutofit/>
          </a:bodyPr>
          <a:lstStyle/>
          <a:p>
            <a:pPr marL="0" indent="0" algn="l">
              <a:lnSpc>
                <a:spcPct val="134000"/>
              </a:lnSpc>
              <a:buNone/>
            </a:pPr>
            <a:r>
              <a:rPr lang="en-US" sz="2700" dirty="0">
                <a:solidFill>
                  <a:srgbClr val="C4C4E0"/>
                </a:solidFill>
                <a:latin typeface="Arial" pitchFamily="34" charset="0"/>
                <a:ea typeface="Arial" pitchFamily="34" charset="-122"/>
                <a:cs typeface="Arial" pitchFamily="34" charset="-120"/>
              </a:rPr>
              <a:t>A cloud-native AWS data lakehouse that replaces Manga's legacy stack — moving from 24-hour data lag to sub-second insight.</a:t>
            </a:r>
            <a:endParaRPr lang="en-US" sz="2700" dirty="0"/>
          </a:p>
        </p:txBody>
      </p:sp>
      <p:sp>
        <p:nvSpPr>
          <p:cNvPr id="10" name="Text 7"/>
          <p:cNvSpPr/>
          <p:nvPr/>
        </p:nvSpPr>
        <p:spPr>
          <a:xfrm>
            <a:off x="1047750" y="8853599"/>
            <a:ext cx="2498638" cy="204787"/>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6A6A98"/>
                </a:solidFill>
                <a:latin typeface="Arial" pitchFamily="34" charset="0"/>
                <a:ea typeface="Arial" pitchFamily="34" charset="-122"/>
                <a:cs typeface="Arial" pitchFamily="34" charset="-120"/>
              </a:rPr>
              <a:t>PREPARED BY</a:t>
            </a:r>
            <a:endParaRPr lang="en-US" sz="1125" dirty="0"/>
          </a:p>
        </p:txBody>
      </p:sp>
      <p:sp>
        <p:nvSpPr>
          <p:cNvPr id="11" name="Text 8"/>
          <p:cNvSpPr/>
          <p:nvPr/>
        </p:nvSpPr>
        <p:spPr>
          <a:xfrm>
            <a:off x="1047750" y="9086887"/>
            <a:ext cx="2498638"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CloudCore Solutions</a:t>
            </a:r>
            <a:endParaRPr lang="en-US" sz="1950" dirty="0"/>
          </a:p>
        </p:txBody>
      </p:sp>
      <p:sp>
        <p:nvSpPr>
          <p:cNvPr id="12" name="Shape 9"/>
          <p:cNvSpPr/>
          <p:nvPr/>
        </p:nvSpPr>
        <p:spPr>
          <a:xfrm>
            <a:off x="3795489" y="8853599"/>
            <a:ext cx="9525" cy="519038"/>
          </a:xfrm>
          <a:prstGeom prst="rect">
            <a:avLst/>
          </a:prstGeom>
          <a:solidFill>
            <a:srgbClr val="2B2B66"/>
          </a:solidFill>
          <a:ln/>
        </p:spPr>
        <p:txBody>
          <a:bodyPr/>
          <a:lstStyle/>
          <a:p>
            <a:endParaRPr lang="en-US"/>
          </a:p>
        </p:txBody>
      </p:sp>
      <p:sp>
        <p:nvSpPr>
          <p:cNvPr id="13" name="Text 10"/>
          <p:cNvSpPr/>
          <p:nvPr/>
        </p:nvSpPr>
        <p:spPr>
          <a:xfrm>
            <a:off x="4281227" y="8853599"/>
            <a:ext cx="3512623" cy="204787"/>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6A6A98"/>
                </a:solidFill>
                <a:latin typeface="Arial" pitchFamily="34" charset="0"/>
                <a:ea typeface="Arial" pitchFamily="34" charset="-122"/>
                <a:cs typeface="Arial" pitchFamily="34" charset="-120"/>
              </a:rPr>
              <a:t>FOR</a:t>
            </a:r>
            <a:endParaRPr lang="en-US" sz="1125" dirty="0"/>
          </a:p>
        </p:txBody>
      </p:sp>
      <p:sp>
        <p:nvSpPr>
          <p:cNvPr id="14" name="Text 11"/>
          <p:cNvSpPr/>
          <p:nvPr/>
        </p:nvSpPr>
        <p:spPr>
          <a:xfrm>
            <a:off x="4281227" y="9086887"/>
            <a:ext cx="3512623"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Manga · Retail Data Platform</a:t>
            </a:r>
            <a:endParaRPr lang="en-US" sz="1950" dirty="0"/>
          </a:p>
        </p:txBody>
      </p:sp>
      <p:sp>
        <p:nvSpPr>
          <p:cNvPr id="15" name="Text 12"/>
          <p:cNvSpPr/>
          <p:nvPr/>
        </p:nvSpPr>
        <p:spPr>
          <a:xfrm>
            <a:off x="14872860" y="9176184"/>
            <a:ext cx="466874" cy="234553"/>
          </a:xfrm>
          <a:prstGeom prst="rect">
            <a:avLst/>
          </a:prstGeom>
          <a:noFill/>
          <a:ln/>
        </p:spPr>
        <p:txBody>
          <a:bodyPr wrap="square" lIns="25400" tIns="25400" rIns="25400" bIns="25400" rtlCol="0" anchor="t">
            <a:normAutofit/>
          </a:bodyPr>
          <a:lstStyle/>
          <a:p>
            <a:pPr marL="0" indent="0" algn="l">
              <a:buNone/>
            </a:pPr>
            <a:r>
              <a:rPr lang="en-US" sz="1350" b="1" dirty="0">
                <a:solidFill>
                  <a:srgbClr val="6BC600"/>
                </a:solidFill>
                <a:latin typeface="Arial" pitchFamily="34" charset="0"/>
                <a:ea typeface="Arial" pitchFamily="34" charset="-122"/>
                <a:cs typeface="Arial" pitchFamily="34" charset="-120"/>
              </a:rPr>
              <a:t>Unify</a:t>
            </a:r>
            <a:endParaRPr lang="en-US" sz="1350" dirty="0"/>
          </a:p>
        </p:txBody>
      </p:sp>
      <p:sp>
        <p:nvSpPr>
          <p:cNvPr id="16" name="Text 13"/>
          <p:cNvSpPr/>
          <p:nvPr/>
        </p:nvSpPr>
        <p:spPr>
          <a:xfrm>
            <a:off x="15396828" y="9176184"/>
            <a:ext cx="12596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3B3B72"/>
                </a:solidFill>
                <a:latin typeface="Arial" pitchFamily="34" charset="0"/>
                <a:ea typeface="Arial" pitchFamily="34" charset="-122"/>
                <a:cs typeface="Arial" pitchFamily="34" charset="-120"/>
              </a:rPr>
              <a:t>·</a:t>
            </a:r>
            <a:endParaRPr lang="en-US" sz="1200" dirty="0"/>
          </a:p>
        </p:txBody>
      </p:sp>
      <p:sp>
        <p:nvSpPr>
          <p:cNvPr id="17" name="Text 14"/>
          <p:cNvSpPr/>
          <p:nvPr/>
        </p:nvSpPr>
        <p:spPr>
          <a:xfrm>
            <a:off x="15579886" y="9176184"/>
            <a:ext cx="886290" cy="234553"/>
          </a:xfrm>
          <a:prstGeom prst="rect">
            <a:avLst/>
          </a:prstGeom>
          <a:noFill/>
          <a:ln/>
        </p:spPr>
        <p:txBody>
          <a:bodyPr wrap="square" lIns="25400" tIns="25400" rIns="25400" bIns="25400" rtlCol="0" anchor="t">
            <a:normAutofit/>
          </a:bodyPr>
          <a:lstStyle/>
          <a:p>
            <a:pPr marL="0" indent="0" algn="l">
              <a:buNone/>
            </a:pPr>
            <a:r>
              <a:rPr lang="en-US" sz="1350" b="1" dirty="0">
                <a:solidFill>
                  <a:srgbClr val="4BBEFF"/>
                </a:solidFill>
                <a:latin typeface="Arial" pitchFamily="34" charset="0"/>
                <a:ea typeface="Arial" pitchFamily="34" charset="-122"/>
                <a:cs typeface="Arial" pitchFamily="34" charset="-120"/>
              </a:rPr>
              <a:t>Accelerate</a:t>
            </a:r>
            <a:endParaRPr lang="en-US" sz="1350" dirty="0"/>
          </a:p>
        </p:txBody>
      </p:sp>
      <p:sp>
        <p:nvSpPr>
          <p:cNvPr id="18" name="Text 15"/>
          <p:cNvSpPr/>
          <p:nvPr/>
        </p:nvSpPr>
        <p:spPr>
          <a:xfrm>
            <a:off x="16523271" y="9176184"/>
            <a:ext cx="12596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3B3B72"/>
                </a:solidFill>
                <a:latin typeface="Arial" pitchFamily="34" charset="0"/>
                <a:ea typeface="Arial" pitchFamily="34" charset="-122"/>
                <a:cs typeface="Arial" pitchFamily="34" charset="-120"/>
              </a:rPr>
              <a:t>·</a:t>
            </a:r>
            <a:endParaRPr lang="en-US" sz="1200" dirty="0"/>
          </a:p>
        </p:txBody>
      </p:sp>
      <p:sp>
        <p:nvSpPr>
          <p:cNvPr id="19" name="Text 16"/>
          <p:cNvSpPr/>
          <p:nvPr/>
        </p:nvSpPr>
        <p:spPr>
          <a:xfrm>
            <a:off x="16706329" y="9176184"/>
            <a:ext cx="610121" cy="234553"/>
          </a:xfrm>
          <a:prstGeom prst="rect">
            <a:avLst/>
          </a:prstGeom>
          <a:noFill/>
          <a:ln/>
        </p:spPr>
        <p:txBody>
          <a:bodyPr wrap="square" lIns="25400" tIns="25400" rIns="25400" bIns="25400" rtlCol="0" anchor="t">
            <a:normAutofit/>
          </a:bodyPr>
          <a:lstStyle/>
          <a:p>
            <a:pPr marL="0" indent="0" algn="l">
              <a:buNone/>
            </a:pPr>
            <a:r>
              <a:rPr lang="en-US" sz="1350" b="1" dirty="0">
                <a:solidFill>
                  <a:srgbClr val="FFFFFF"/>
                </a:solidFill>
                <a:latin typeface="Arial" pitchFamily="34" charset="0"/>
                <a:ea typeface="Arial" pitchFamily="34" charset="-122"/>
                <a:cs typeface="Arial" pitchFamily="34" charset="-120"/>
              </a:rPr>
              <a:t>Enable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THE PROBLEM</a:t>
            </a:r>
            <a:endParaRPr lang="en-US" sz="1500" dirty="0"/>
          </a:p>
        </p:txBody>
      </p:sp>
      <p:sp>
        <p:nvSpPr>
          <p:cNvPr id="3" name="Text 1"/>
          <p:cNvSpPr/>
          <p:nvPr/>
        </p:nvSpPr>
        <p:spPr>
          <a:xfrm>
            <a:off x="914363" y="1191741"/>
            <a:ext cx="14716125" cy="1266304"/>
          </a:xfrm>
          <a:prstGeom prst="rect">
            <a:avLst/>
          </a:prstGeom>
          <a:noFill/>
          <a:ln/>
        </p:spPr>
        <p:txBody>
          <a:bodyPr wrap="square" lIns="25400" tIns="25400" rIns="25400" bIns="25400" rtlCol="0" anchor="t">
            <a:normAutofit/>
          </a:bodyPr>
          <a:lstStyle/>
          <a:p>
            <a:pPr marL="0" indent="0" algn="l">
              <a:lnSpc>
                <a:spcPct val="104000"/>
              </a:lnSpc>
              <a:buNone/>
            </a:pPr>
            <a:r>
              <a:rPr lang="en-US" sz="4650" b="1" kern="0" spc="-93" dirty="0">
                <a:solidFill>
                  <a:srgbClr val="100B72"/>
                </a:solidFill>
                <a:latin typeface="Arial" pitchFamily="34" charset="0"/>
                <a:ea typeface="Arial" pitchFamily="34" charset="-122"/>
                <a:cs typeface="Arial" pitchFamily="34" charset="-120"/>
              </a:rPr>
              <a:t>Steady revenue, but a data architecture that can't keep up</a:t>
            </a:r>
            <a:endParaRPr lang="en-US" sz="4650" dirty="0"/>
          </a:p>
        </p:txBody>
      </p:sp>
      <p:sp>
        <p:nvSpPr>
          <p:cNvPr id="4" name="Shape 2"/>
          <p:cNvSpPr/>
          <p:nvPr/>
        </p:nvSpPr>
        <p:spPr>
          <a:xfrm>
            <a:off x="914363" y="2858058"/>
            <a:ext cx="3943387" cy="1739057"/>
          </a:xfrm>
          <a:prstGeom prst="roundRect">
            <a:avLst>
              <a:gd name="adj" fmla="val 8763"/>
            </a:avLst>
          </a:prstGeom>
          <a:solidFill>
            <a:srgbClr val="F5F6F2"/>
          </a:solidFill>
          <a:ln/>
        </p:spPr>
        <p:txBody>
          <a:bodyPr/>
          <a:lstStyle/>
          <a:p>
            <a:endParaRPr lang="en-US"/>
          </a:p>
        </p:txBody>
      </p:sp>
      <p:sp>
        <p:nvSpPr>
          <p:cNvPr id="5" name="Text 3"/>
          <p:cNvSpPr/>
          <p:nvPr/>
        </p:nvSpPr>
        <p:spPr>
          <a:xfrm>
            <a:off x="1219088" y="3143808"/>
            <a:ext cx="3667330" cy="571463"/>
          </a:xfrm>
          <a:prstGeom prst="rect">
            <a:avLst/>
          </a:prstGeom>
          <a:noFill/>
          <a:ln/>
        </p:spPr>
        <p:txBody>
          <a:bodyPr wrap="square" lIns="25400" tIns="25400" rIns="25400" bIns="25400" rtlCol="0" anchor="t">
            <a:normAutofit/>
          </a:bodyPr>
          <a:lstStyle/>
          <a:p>
            <a:pPr marL="0" indent="0" algn="l">
              <a:lnSpc>
                <a:spcPct val="100000"/>
              </a:lnSpc>
              <a:buNone/>
            </a:pPr>
            <a:r>
              <a:rPr lang="en-US" sz="4200" b="1" dirty="0">
                <a:solidFill>
                  <a:srgbClr val="100B72"/>
                </a:solidFill>
                <a:latin typeface="Arial" pitchFamily="34" charset="0"/>
                <a:ea typeface="Arial" pitchFamily="34" charset="-122"/>
                <a:cs typeface="Arial" pitchFamily="34" charset="-120"/>
              </a:rPr>
              <a:t>€280M</a:t>
            </a:r>
            <a:endParaRPr lang="en-US" sz="4200" dirty="0"/>
          </a:p>
        </p:txBody>
      </p:sp>
      <p:sp>
        <p:nvSpPr>
          <p:cNvPr id="6" name="Text 4"/>
          <p:cNvSpPr/>
          <p:nvPr/>
        </p:nvSpPr>
        <p:spPr>
          <a:xfrm>
            <a:off x="1219088" y="3791396"/>
            <a:ext cx="3433954" cy="558068"/>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5C5C82"/>
                </a:solidFill>
                <a:latin typeface="Arial" pitchFamily="34" charset="0"/>
                <a:ea typeface="Arial" pitchFamily="34" charset="-122"/>
                <a:cs typeface="Arial" pitchFamily="34" charset="-120"/>
              </a:rPr>
              <a:t>annual revenue across 100+ physical stores</a:t>
            </a:r>
            <a:endParaRPr lang="en-US" sz="1575" dirty="0"/>
          </a:p>
        </p:txBody>
      </p:sp>
      <p:sp>
        <p:nvSpPr>
          <p:cNvPr id="7" name="Shape 5"/>
          <p:cNvSpPr/>
          <p:nvPr/>
        </p:nvSpPr>
        <p:spPr>
          <a:xfrm>
            <a:off x="5086294" y="2858058"/>
            <a:ext cx="3943480" cy="1739057"/>
          </a:xfrm>
          <a:prstGeom prst="roundRect">
            <a:avLst>
              <a:gd name="adj" fmla="val 8763"/>
            </a:avLst>
          </a:prstGeom>
          <a:solidFill>
            <a:srgbClr val="F5F6F2"/>
          </a:solidFill>
          <a:ln/>
        </p:spPr>
        <p:txBody>
          <a:bodyPr/>
          <a:lstStyle/>
          <a:p>
            <a:endParaRPr lang="en-US"/>
          </a:p>
        </p:txBody>
      </p:sp>
      <p:sp>
        <p:nvSpPr>
          <p:cNvPr id="8" name="Text 6"/>
          <p:cNvSpPr/>
          <p:nvPr/>
        </p:nvSpPr>
        <p:spPr>
          <a:xfrm>
            <a:off x="5391020" y="3143808"/>
            <a:ext cx="3667432" cy="571463"/>
          </a:xfrm>
          <a:prstGeom prst="rect">
            <a:avLst/>
          </a:prstGeom>
          <a:noFill/>
          <a:ln/>
        </p:spPr>
        <p:txBody>
          <a:bodyPr wrap="square" lIns="25400" tIns="25400" rIns="25400" bIns="25400" rtlCol="0" anchor="t">
            <a:normAutofit/>
          </a:bodyPr>
          <a:lstStyle/>
          <a:p>
            <a:pPr marL="0" indent="0" algn="l">
              <a:lnSpc>
                <a:spcPct val="100000"/>
              </a:lnSpc>
              <a:buNone/>
            </a:pPr>
            <a:r>
              <a:rPr lang="en-US" sz="4200" b="1" dirty="0">
                <a:solidFill>
                  <a:srgbClr val="100B72"/>
                </a:solidFill>
                <a:latin typeface="Arial" pitchFamily="34" charset="0"/>
                <a:ea typeface="Arial" pitchFamily="34" charset="-122"/>
                <a:cs typeface="Arial" pitchFamily="34" charset="-120"/>
              </a:rPr>
              <a:t>+3.5%</a:t>
            </a:r>
            <a:endParaRPr lang="en-US" sz="4200" dirty="0"/>
          </a:p>
        </p:txBody>
      </p:sp>
      <p:sp>
        <p:nvSpPr>
          <p:cNvPr id="9" name="Text 7"/>
          <p:cNvSpPr/>
          <p:nvPr/>
        </p:nvSpPr>
        <p:spPr>
          <a:xfrm>
            <a:off x="5391020" y="3791396"/>
            <a:ext cx="3434050" cy="558068"/>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5C5C82"/>
                </a:solidFill>
                <a:latin typeface="Arial" pitchFamily="34" charset="0"/>
                <a:ea typeface="Arial" pitchFamily="34" charset="-122"/>
                <a:cs typeface="Arial" pitchFamily="34" charset="-120"/>
              </a:rPr>
              <a:t>growth — trailing the wider market, 1.2% online</a:t>
            </a:r>
            <a:endParaRPr lang="en-US" sz="1575" dirty="0"/>
          </a:p>
        </p:txBody>
      </p:sp>
      <p:sp>
        <p:nvSpPr>
          <p:cNvPr id="10" name="Shape 8"/>
          <p:cNvSpPr/>
          <p:nvPr/>
        </p:nvSpPr>
        <p:spPr>
          <a:xfrm>
            <a:off x="9258319" y="2858058"/>
            <a:ext cx="3943387" cy="1739057"/>
          </a:xfrm>
          <a:prstGeom prst="roundRect">
            <a:avLst>
              <a:gd name="adj" fmla="val 8763"/>
            </a:avLst>
          </a:prstGeom>
          <a:solidFill>
            <a:srgbClr val="100B72"/>
          </a:solidFill>
          <a:ln/>
        </p:spPr>
        <p:txBody>
          <a:bodyPr/>
          <a:lstStyle/>
          <a:p>
            <a:endParaRPr lang="en-US"/>
          </a:p>
        </p:txBody>
      </p:sp>
      <p:sp>
        <p:nvSpPr>
          <p:cNvPr id="11" name="Text 9"/>
          <p:cNvSpPr/>
          <p:nvPr/>
        </p:nvSpPr>
        <p:spPr>
          <a:xfrm>
            <a:off x="9563044" y="3143808"/>
            <a:ext cx="3667330" cy="571463"/>
          </a:xfrm>
          <a:prstGeom prst="rect">
            <a:avLst/>
          </a:prstGeom>
          <a:noFill/>
          <a:ln/>
        </p:spPr>
        <p:txBody>
          <a:bodyPr wrap="square" lIns="25400" tIns="25400" rIns="25400" bIns="25400" rtlCol="0" anchor="t">
            <a:normAutofit/>
          </a:bodyPr>
          <a:lstStyle/>
          <a:p>
            <a:pPr marL="0" indent="0" algn="l">
              <a:lnSpc>
                <a:spcPct val="100000"/>
              </a:lnSpc>
              <a:buNone/>
            </a:pPr>
            <a:r>
              <a:rPr lang="en-US" sz="4200" b="1" dirty="0">
                <a:solidFill>
                  <a:srgbClr val="4BBEFF"/>
                </a:solidFill>
                <a:latin typeface="Arial" pitchFamily="34" charset="0"/>
                <a:ea typeface="Arial" pitchFamily="34" charset="-122"/>
                <a:cs typeface="Arial" pitchFamily="34" charset="-120"/>
              </a:rPr>
              <a:t>2×</a:t>
            </a:r>
            <a:endParaRPr lang="en-US" sz="4200" dirty="0"/>
          </a:p>
        </p:txBody>
      </p:sp>
      <p:sp>
        <p:nvSpPr>
          <p:cNvPr id="12" name="Text 10"/>
          <p:cNvSpPr/>
          <p:nvPr/>
        </p:nvSpPr>
        <p:spPr>
          <a:xfrm>
            <a:off x="9563044" y="3791396"/>
            <a:ext cx="3433954" cy="558068"/>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C4C4E0"/>
                </a:solidFill>
                <a:latin typeface="Arial" pitchFamily="34" charset="0"/>
                <a:ea typeface="Arial" pitchFamily="34" charset="-122"/>
                <a:cs typeface="Arial" pitchFamily="34" charset="-120"/>
              </a:rPr>
              <a:t>infrastructure spend vs competitors — half the output</a:t>
            </a:r>
            <a:endParaRPr lang="en-US" sz="1575" dirty="0"/>
          </a:p>
        </p:txBody>
      </p:sp>
      <p:sp>
        <p:nvSpPr>
          <p:cNvPr id="13" name="Shape 11"/>
          <p:cNvSpPr/>
          <p:nvPr/>
        </p:nvSpPr>
        <p:spPr>
          <a:xfrm>
            <a:off x="13430250" y="2858058"/>
            <a:ext cx="3943387" cy="1739057"/>
          </a:xfrm>
          <a:prstGeom prst="roundRect">
            <a:avLst>
              <a:gd name="adj" fmla="val 8763"/>
            </a:avLst>
          </a:prstGeom>
          <a:solidFill>
            <a:srgbClr val="100B72"/>
          </a:solidFill>
          <a:ln/>
        </p:spPr>
        <p:txBody>
          <a:bodyPr/>
          <a:lstStyle/>
          <a:p>
            <a:endParaRPr lang="en-US"/>
          </a:p>
        </p:txBody>
      </p:sp>
      <p:sp>
        <p:nvSpPr>
          <p:cNvPr id="14" name="Text 12"/>
          <p:cNvSpPr/>
          <p:nvPr/>
        </p:nvSpPr>
        <p:spPr>
          <a:xfrm>
            <a:off x="13734976" y="3143808"/>
            <a:ext cx="3667330" cy="571463"/>
          </a:xfrm>
          <a:prstGeom prst="rect">
            <a:avLst/>
          </a:prstGeom>
          <a:noFill/>
          <a:ln/>
        </p:spPr>
        <p:txBody>
          <a:bodyPr wrap="square" lIns="25400" tIns="25400" rIns="25400" bIns="25400" rtlCol="0" anchor="t">
            <a:normAutofit/>
          </a:bodyPr>
          <a:lstStyle/>
          <a:p>
            <a:pPr marL="0" indent="0" algn="l">
              <a:lnSpc>
                <a:spcPct val="100000"/>
              </a:lnSpc>
              <a:buNone/>
            </a:pPr>
            <a:r>
              <a:rPr lang="en-US" sz="4200" b="1" dirty="0">
                <a:solidFill>
                  <a:srgbClr val="4BBEFF"/>
                </a:solidFill>
                <a:latin typeface="Arial" pitchFamily="34" charset="0"/>
                <a:ea typeface="Arial" pitchFamily="34" charset="-122"/>
                <a:cs typeface="Arial" pitchFamily="34" charset="-120"/>
              </a:rPr>
              <a:t>24h</a:t>
            </a:r>
            <a:endParaRPr lang="en-US" sz="4200" dirty="0"/>
          </a:p>
        </p:txBody>
      </p:sp>
      <p:sp>
        <p:nvSpPr>
          <p:cNvPr id="15" name="Text 13"/>
          <p:cNvSpPr/>
          <p:nvPr/>
        </p:nvSpPr>
        <p:spPr>
          <a:xfrm>
            <a:off x="13734976" y="3791396"/>
            <a:ext cx="3433954" cy="558068"/>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C4C4E0"/>
                </a:solidFill>
                <a:latin typeface="Arial" pitchFamily="34" charset="0"/>
                <a:ea typeface="Arial" pitchFamily="34" charset="-122"/>
                <a:cs typeface="Arial" pitchFamily="34" charset="-120"/>
              </a:rPr>
              <a:t>data lag — managers decide on yesterday's numbers</a:t>
            </a:r>
            <a:endParaRPr lang="en-US" sz="1575" dirty="0"/>
          </a:p>
        </p:txBody>
      </p:sp>
      <p:sp>
        <p:nvSpPr>
          <p:cNvPr id="16" name="Text 14"/>
          <p:cNvSpPr/>
          <p:nvPr/>
        </p:nvSpPr>
        <p:spPr>
          <a:xfrm>
            <a:off x="914363" y="5035228"/>
            <a:ext cx="18105202" cy="228600"/>
          </a:xfrm>
          <a:prstGeom prst="rect">
            <a:avLst/>
          </a:prstGeom>
          <a:noFill/>
          <a:ln/>
        </p:spPr>
        <p:txBody>
          <a:bodyPr wrap="square" lIns="25400" tIns="25400" rIns="25400" bIns="25400" rtlCol="0" anchor="t">
            <a:normAutofit/>
          </a:bodyPr>
          <a:lstStyle/>
          <a:p>
            <a:pPr marL="0" indent="0" algn="l">
              <a:buNone/>
            </a:pPr>
            <a:r>
              <a:rPr lang="en-US" sz="1275" b="1" kern="0" spc="230" dirty="0">
                <a:solidFill>
                  <a:srgbClr val="9A9AB2"/>
                </a:solidFill>
                <a:latin typeface="Arial" pitchFamily="34" charset="0"/>
                <a:ea typeface="Arial" pitchFamily="34" charset="-122"/>
                <a:cs typeface="Arial" pitchFamily="34" charset="-120"/>
              </a:rPr>
              <a:t>THE ROOT CAUSE IS ARCHITECTURAL</a:t>
            </a:r>
            <a:endParaRPr lang="en-US" sz="1275" dirty="0"/>
          </a:p>
        </p:txBody>
      </p:sp>
      <p:sp>
        <p:nvSpPr>
          <p:cNvPr id="17" name="Shape 15"/>
          <p:cNvSpPr/>
          <p:nvPr/>
        </p:nvSpPr>
        <p:spPr>
          <a:xfrm>
            <a:off x="914363" y="5416228"/>
            <a:ext cx="3986175" cy="1248947"/>
          </a:xfrm>
          <a:prstGeom prst="roundRect">
            <a:avLst>
              <a:gd name="adj" fmla="val 10677"/>
            </a:avLst>
          </a:prstGeom>
          <a:ln w="11906">
            <a:solidFill>
              <a:srgbClr val="E6E6EF"/>
            </a:solidFill>
            <a:prstDash val="solid"/>
          </a:ln>
        </p:spPr>
        <p:txBody>
          <a:bodyPr/>
          <a:lstStyle/>
          <a:p>
            <a:endParaRPr lang="en-US"/>
          </a:p>
        </p:txBody>
      </p:sp>
      <p:sp>
        <p:nvSpPr>
          <p:cNvPr id="18" name="Text 16"/>
          <p:cNvSpPr/>
          <p:nvPr/>
        </p:nvSpPr>
        <p:spPr>
          <a:xfrm>
            <a:off x="1154813" y="5637609"/>
            <a:ext cx="3855802"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Cron-job ETL</a:t>
            </a:r>
            <a:endParaRPr lang="en-US" sz="1725" dirty="0"/>
          </a:p>
        </p:txBody>
      </p:sp>
      <p:sp>
        <p:nvSpPr>
          <p:cNvPr id="19" name="Text 17"/>
          <p:cNvSpPr/>
          <p:nvPr/>
        </p:nvSpPr>
        <p:spPr>
          <a:xfrm>
            <a:off x="1154813" y="5963822"/>
            <a:ext cx="3610433"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Siloed daily scripts, each a different stack, no shared standards.</a:t>
            </a:r>
            <a:endParaRPr lang="en-US" sz="1350" dirty="0"/>
          </a:p>
        </p:txBody>
      </p:sp>
      <p:sp>
        <p:nvSpPr>
          <p:cNvPr id="20" name="Shape 18"/>
          <p:cNvSpPr/>
          <p:nvPr/>
        </p:nvSpPr>
        <p:spPr>
          <a:xfrm>
            <a:off x="5071969" y="5416228"/>
            <a:ext cx="3986268" cy="1248947"/>
          </a:xfrm>
          <a:prstGeom prst="roundRect">
            <a:avLst>
              <a:gd name="adj" fmla="val 10677"/>
            </a:avLst>
          </a:prstGeom>
          <a:ln w="11906">
            <a:solidFill>
              <a:srgbClr val="E6E6EF"/>
            </a:solidFill>
            <a:prstDash val="solid"/>
          </a:ln>
        </p:spPr>
        <p:txBody>
          <a:bodyPr/>
          <a:lstStyle/>
          <a:p>
            <a:endParaRPr lang="en-US"/>
          </a:p>
        </p:txBody>
      </p:sp>
      <p:sp>
        <p:nvSpPr>
          <p:cNvPr id="21" name="Text 19"/>
          <p:cNvSpPr/>
          <p:nvPr/>
        </p:nvSpPr>
        <p:spPr>
          <a:xfrm>
            <a:off x="5312420" y="5637609"/>
            <a:ext cx="3855904"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Excel as BI</a:t>
            </a:r>
            <a:endParaRPr lang="en-US" sz="1725" dirty="0"/>
          </a:p>
        </p:txBody>
      </p:sp>
      <p:sp>
        <p:nvSpPr>
          <p:cNvPr id="22" name="Text 20"/>
          <p:cNvSpPr/>
          <p:nvPr/>
        </p:nvSpPr>
        <p:spPr>
          <a:xfrm>
            <a:off x="5312420" y="5963822"/>
            <a:ext cx="3610528"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Every report is an Engineering ticket; no self-service.</a:t>
            </a:r>
            <a:endParaRPr lang="en-US" sz="1350" dirty="0"/>
          </a:p>
        </p:txBody>
      </p:sp>
      <p:sp>
        <p:nvSpPr>
          <p:cNvPr id="23" name="Shape 21"/>
          <p:cNvSpPr/>
          <p:nvPr/>
        </p:nvSpPr>
        <p:spPr>
          <a:xfrm>
            <a:off x="9229669" y="5416228"/>
            <a:ext cx="3986268" cy="1248947"/>
          </a:xfrm>
          <a:prstGeom prst="roundRect">
            <a:avLst>
              <a:gd name="adj" fmla="val 10677"/>
            </a:avLst>
          </a:prstGeom>
          <a:ln w="11906">
            <a:solidFill>
              <a:srgbClr val="E6E6EF"/>
            </a:solidFill>
            <a:prstDash val="solid"/>
          </a:ln>
        </p:spPr>
        <p:txBody>
          <a:bodyPr/>
          <a:lstStyle/>
          <a:p>
            <a:endParaRPr lang="en-US"/>
          </a:p>
        </p:txBody>
      </p:sp>
      <p:sp>
        <p:nvSpPr>
          <p:cNvPr id="24" name="Text 22"/>
          <p:cNvSpPr/>
          <p:nvPr/>
        </p:nvSpPr>
        <p:spPr>
          <a:xfrm>
            <a:off x="9470120" y="5637609"/>
            <a:ext cx="3855904"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Unclear GDPR</a:t>
            </a:r>
            <a:endParaRPr lang="en-US" sz="1725" dirty="0"/>
          </a:p>
        </p:txBody>
      </p:sp>
      <p:sp>
        <p:nvSpPr>
          <p:cNvPr id="25" name="Text 23"/>
          <p:cNvSpPr/>
          <p:nvPr/>
        </p:nvSpPr>
        <p:spPr>
          <a:xfrm>
            <a:off x="9470120" y="5963822"/>
            <a:ext cx="3610528"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Posture uncertain after a prior security incident.</a:t>
            </a:r>
            <a:endParaRPr lang="en-US" sz="1350" dirty="0"/>
          </a:p>
        </p:txBody>
      </p:sp>
      <p:sp>
        <p:nvSpPr>
          <p:cNvPr id="26" name="Shape 24"/>
          <p:cNvSpPr/>
          <p:nvPr/>
        </p:nvSpPr>
        <p:spPr>
          <a:xfrm>
            <a:off x="13387369" y="5416228"/>
            <a:ext cx="3986268" cy="1248947"/>
          </a:xfrm>
          <a:prstGeom prst="roundRect">
            <a:avLst>
              <a:gd name="adj" fmla="val 10677"/>
            </a:avLst>
          </a:prstGeom>
          <a:ln w="11906">
            <a:solidFill>
              <a:srgbClr val="E6E6EF"/>
            </a:solidFill>
            <a:prstDash val="solid"/>
          </a:ln>
        </p:spPr>
        <p:txBody>
          <a:bodyPr/>
          <a:lstStyle/>
          <a:p>
            <a:endParaRPr lang="en-US"/>
          </a:p>
        </p:txBody>
      </p:sp>
      <p:sp>
        <p:nvSpPr>
          <p:cNvPr id="27" name="Text 25"/>
          <p:cNvSpPr/>
          <p:nvPr/>
        </p:nvSpPr>
        <p:spPr>
          <a:xfrm>
            <a:off x="13627819" y="5637609"/>
            <a:ext cx="3855904"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Zero ML</a:t>
            </a:r>
            <a:endParaRPr lang="en-US" sz="1725" dirty="0"/>
          </a:p>
        </p:txBody>
      </p:sp>
      <p:sp>
        <p:nvSpPr>
          <p:cNvPr id="28" name="Text 26"/>
          <p:cNvSpPr/>
          <p:nvPr/>
        </p:nvSpPr>
        <p:spPr>
          <a:xfrm>
            <a:off x="13627819" y="5963822"/>
            <a:ext cx="3610528"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Personalisation, forecasting and pricing are impossible today.</a:t>
            </a:r>
            <a:endParaRPr lang="en-US" sz="1350" dirty="0"/>
          </a:p>
        </p:txBody>
      </p:sp>
      <p:sp>
        <p:nvSpPr>
          <p:cNvPr id="29" name="Shape 27"/>
          <p:cNvSpPr/>
          <p:nvPr/>
        </p:nvSpPr>
        <p:spPr>
          <a:xfrm>
            <a:off x="914363" y="9176277"/>
            <a:ext cx="16459274" cy="9525"/>
          </a:xfrm>
          <a:prstGeom prst="rect">
            <a:avLst/>
          </a:prstGeom>
          <a:solidFill>
            <a:srgbClr val="ECECF2"/>
          </a:solidFill>
          <a:ln/>
        </p:spPr>
        <p:txBody>
          <a:bodyPr/>
          <a:lstStyle/>
          <a:p>
            <a:endParaRPr lang="en-US"/>
          </a:p>
        </p:txBody>
      </p:sp>
      <p:sp>
        <p:nvSpPr>
          <p:cNvPr id="30" name="Text 28"/>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31"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THE SOLUTION</a:t>
            </a:r>
            <a:endParaRPr lang="en-US" sz="1500" dirty="0"/>
          </a:p>
        </p:txBody>
      </p:sp>
      <p:sp>
        <p:nvSpPr>
          <p:cNvPr id="3" name="Text 1"/>
          <p:cNvSpPr/>
          <p:nvPr/>
        </p:nvSpPr>
        <p:spPr>
          <a:xfrm>
            <a:off x="914363" y="1191741"/>
            <a:ext cx="18105202" cy="652202"/>
          </a:xfrm>
          <a:prstGeom prst="rect">
            <a:avLst/>
          </a:prstGeom>
          <a:noFill/>
          <a:ln/>
        </p:spPr>
        <p:txBody>
          <a:bodyPr wrap="square" lIns="25400" tIns="25400" rIns="25400" bIns="25400" rtlCol="0" anchor="t">
            <a:normAutofit/>
          </a:bodyPr>
          <a:lstStyle/>
          <a:p>
            <a:pPr marL="0" indent="0" algn="l">
              <a:lnSpc>
                <a:spcPct val="104000"/>
              </a:lnSpc>
              <a:buNone/>
            </a:pPr>
            <a:r>
              <a:rPr lang="en-US" sz="4650" b="1" kern="0" spc="-93" dirty="0">
                <a:solidFill>
                  <a:srgbClr val="100B72"/>
                </a:solidFill>
                <a:latin typeface="Arial" pitchFamily="34" charset="0"/>
                <a:ea typeface="Arial" pitchFamily="34" charset="-122"/>
                <a:cs typeface="Arial" pitchFamily="34" charset="-120"/>
              </a:rPr>
              <a:t>One platform, built on three pillars</a:t>
            </a:r>
            <a:endParaRPr lang="en-US" sz="4650" dirty="0"/>
          </a:p>
        </p:txBody>
      </p:sp>
      <p:sp>
        <p:nvSpPr>
          <p:cNvPr id="4" name="Shape 2"/>
          <p:cNvSpPr/>
          <p:nvPr/>
        </p:nvSpPr>
        <p:spPr>
          <a:xfrm>
            <a:off x="914363" y="2224887"/>
            <a:ext cx="5321350" cy="5776392"/>
          </a:xfrm>
          <a:prstGeom prst="roundRect">
            <a:avLst>
              <a:gd name="adj" fmla="val 3222"/>
            </a:avLst>
          </a:prstGeom>
          <a:solidFill>
            <a:srgbClr val="F5F6F2"/>
          </a:solidFill>
          <a:ln/>
        </p:spPr>
        <p:txBody>
          <a:bodyPr/>
          <a:lstStyle/>
          <a:p>
            <a:endParaRPr lang="en-US"/>
          </a:p>
        </p:txBody>
      </p:sp>
      <p:sp>
        <p:nvSpPr>
          <p:cNvPr id="5" name="Text 3"/>
          <p:cNvSpPr/>
          <p:nvPr/>
        </p:nvSpPr>
        <p:spPr>
          <a:xfrm>
            <a:off x="1276294" y="2605887"/>
            <a:ext cx="5057235" cy="647737"/>
          </a:xfrm>
          <a:prstGeom prst="rect">
            <a:avLst/>
          </a:prstGeom>
          <a:noFill/>
          <a:ln/>
        </p:spPr>
        <p:txBody>
          <a:bodyPr wrap="square" lIns="25400" tIns="25400" rIns="25400" bIns="25400" rtlCol="0" anchor="t">
            <a:normAutofit/>
          </a:bodyPr>
          <a:lstStyle/>
          <a:p>
            <a:pPr marL="0" indent="0" algn="l">
              <a:lnSpc>
                <a:spcPct val="100000"/>
              </a:lnSpc>
              <a:buNone/>
            </a:pPr>
            <a:r>
              <a:rPr lang="en-US" sz="4800" b="1" dirty="0">
                <a:solidFill>
                  <a:srgbClr val="6BC600"/>
                </a:solidFill>
                <a:latin typeface="Arial" pitchFamily="34" charset="0"/>
                <a:ea typeface="Arial" pitchFamily="34" charset="-122"/>
                <a:cs typeface="Arial" pitchFamily="34" charset="-120"/>
              </a:rPr>
              <a:t>01</a:t>
            </a:r>
            <a:endParaRPr lang="en-US" sz="4800" dirty="0"/>
          </a:p>
        </p:txBody>
      </p:sp>
      <p:sp>
        <p:nvSpPr>
          <p:cNvPr id="6" name="Text 4"/>
          <p:cNvSpPr/>
          <p:nvPr/>
        </p:nvSpPr>
        <p:spPr>
          <a:xfrm>
            <a:off x="1276294" y="3406025"/>
            <a:ext cx="5057235" cy="478631"/>
          </a:xfrm>
          <a:prstGeom prst="rect">
            <a:avLst/>
          </a:prstGeom>
          <a:noFill/>
          <a:ln/>
        </p:spPr>
        <p:txBody>
          <a:bodyPr wrap="square" lIns="25400" tIns="25400" rIns="25400" bIns="25400" rtlCol="0" anchor="t">
            <a:normAutofit/>
          </a:bodyPr>
          <a:lstStyle/>
          <a:p>
            <a:pPr marL="0" indent="0" algn="l">
              <a:buNone/>
            </a:pPr>
            <a:r>
              <a:rPr lang="en-US" sz="3000" b="1" dirty="0">
                <a:solidFill>
                  <a:srgbClr val="100B72"/>
                </a:solidFill>
                <a:latin typeface="Arial" pitchFamily="34" charset="0"/>
                <a:ea typeface="Arial" pitchFamily="34" charset="-122"/>
                <a:cs typeface="Arial" pitchFamily="34" charset="-120"/>
              </a:rPr>
              <a:t>Unify</a:t>
            </a:r>
            <a:endParaRPr lang="en-US" sz="3000" dirty="0"/>
          </a:p>
        </p:txBody>
      </p:sp>
      <p:sp>
        <p:nvSpPr>
          <p:cNvPr id="7" name="Text 5"/>
          <p:cNvSpPr/>
          <p:nvPr/>
        </p:nvSpPr>
        <p:spPr>
          <a:xfrm>
            <a:off x="1276294" y="3979850"/>
            <a:ext cx="4735411" cy="130834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5C5C82"/>
                </a:solidFill>
                <a:latin typeface="Arial" pitchFamily="34" charset="0"/>
                <a:ea typeface="Arial" pitchFamily="34" charset="-122"/>
                <a:cs typeface="Arial" pitchFamily="34" charset="-120"/>
              </a:rPr>
              <a:t>A single, governed platform ingesting every source — structured, semi-structured and unstructured — through both real-time streaming and managed batch.</a:t>
            </a:r>
            <a:endParaRPr lang="en-US" sz="1725" dirty="0"/>
          </a:p>
        </p:txBody>
      </p:sp>
      <p:sp>
        <p:nvSpPr>
          <p:cNvPr id="8" name="Shape 6"/>
          <p:cNvSpPr/>
          <p:nvPr/>
        </p:nvSpPr>
        <p:spPr>
          <a:xfrm>
            <a:off x="6483325" y="2224887"/>
            <a:ext cx="5321350" cy="5776392"/>
          </a:xfrm>
          <a:prstGeom prst="roundRect">
            <a:avLst>
              <a:gd name="adj" fmla="val 3222"/>
            </a:avLst>
          </a:prstGeom>
          <a:solidFill>
            <a:srgbClr val="F5F6F2"/>
          </a:solidFill>
          <a:ln/>
        </p:spPr>
        <p:txBody>
          <a:bodyPr/>
          <a:lstStyle/>
          <a:p>
            <a:endParaRPr lang="en-US"/>
          </a:p>
        </p:txBody>
      </p:sp>
      <p:sp>
        <p:nvSpPr>
          <p:cNvPr id="9" name="Text 7"/>
          <p:cNvSpPr/>
          <p:nvPr/>
        </p:nvSpPr>
        <p:spPr>
          <a:xfrm>
            <a:off x="6845257" y="2605887"/>
            <a:ext cx="5057235" cy="647737"/>
          </a:xfrm>
          <a:prstGeom prst="rect">
            <a:avLst/>
          </a:prstGeom>
          <a:noFill/>
          <a:ln/>
        </p:spPr>
        <p:txBody>
          <a:bodyPr wrap="square" lIns="25400" tIns="25400" rIns="25400" bIns="25400" rtlCol="0" anchor="t">
            <a:normAutofit/>
          </a:bodyPr>
          <a:lstStyle/>
          <a:p>
            <a:pPr marL="0" indent="0" algn="l">
              <a:lnSpc>
                <a:spcPct val="100000"/>
              </a:lnSpc>
              <a:buNone/>
            </a:pPr>
            <a:r>
              <a:rPr lang="en-US" sz="4800" b="1" dirty="0">
                <a:solidFill>
                  <a:srgbClr val="4BBEFF"/>
                </a:solidFill>
                <a:latin typeface="Arial" pitchFamily="34" charset="0"/>
                <a:ea typeface="Arial" pitchFamily="34" charset="-122"/>
                <a:cs typeface="Arial" pitchFamily="34" charset="-120"/>
              </a:rPr>
              <a:t>02</a:t>
            </a:r>
            <a:endParaRPr lang="en-US" sz="4800" dirty="0"/>
          </a:p>
        </p:txBody>
      </p:sp>
      <p:sp>
        <p:nvSpPr>
          <p:cNvPr id="10" name="Text 8"/>
          <p:cNvSpPr/>
          <p:nvPr/>
        </p:nvSpPr>
        <p:spPr>
          <a:xfrm>
            <a:off x="6845257" y="3406025"/>
            <a:ext cx="5057235" cy="478631"/>
          </a:xfrm>
          <a:prstGeom prst="rect">
            <a:avLst/>
          </a:prstGeom>
          <a:noFill/>
          <a:ln/>
        </p:spPr>
        <p:txBody>
          <a:bodyPr wrap="square" lIns="25400" tIns="25400" rIns="25400" bIns="25400" rtlCol="0" anchor="t">
            <a:normAutofit/>
          </a:bodyPr>
          <a:lstStyle/>
          <a:p>
            <a:pPr marL="0" indent="0" algn="l">
              <a:buNone/>
            </a:pPr>
            <a:r>
              <a:rPr lang="en-US" sz="3000" b="1" dirty="0">
                <a:solidFill>
                  <a:srgbClr val="100B72"/>
                </a:solidFill>
                <a:latin typeface="Arial" pitchFamily="34" charset="0"/>
                <a:ea typeface="Arial" pitchFamily="34" charset="-122"/>
                <a:cs typeface="Arial" pitchFamily="34" charset="-120"/>
              </a:rPr>
              <a:t>Accelerate</a:t>
            </a:r>
            <a:endParaRPr lang="en-US" sz="3000" dirty="0"/>
          </a:p>
        </p:txBody>
      </p:sp>
      <p:sp>
        <p:nvSpPr>
          <p:cNvPr id="11" name="Text 9"/>
          <p:cNvSpPr/>
          <p:nvPr/>
        </p:nvSpPr>
        <p:spPr>
          <a:xfrm>
            <a:off x="6845257" y="3979850"/>
            <a:ext cx="4735411" cy="130834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5C5C82"/>
                </a:solidFill>
                <a:latin typeface="Arial" pitchFamily="34" charset="0"/>
                <a:ea typeface="Arial" pitchFamily="34" charset="-122"/>
                <a:cs typeface="Arial" pitchFamily="34" charset="-120"/>
              </a:rPr>
              <a:t>Time-to-insight from 24 hours to sub-second. Live, self-service dashboards replace manually compiled Excel reports for every business user.</a:t>
            </a:r>
            <a:endParaRPr lang="en-US" sz="1725" dirty="0"/>
          </a:p>
        </p:txBody>
      </p:sp>
      <p:sp>
        <p:nvSpPr>
          <p:cNvPr id="12" name="Shape 10"/>
          <p:cNvSpPr/>
          <p:nvPr/>
        </p:nvSpPr>
        <p:spPr>
          <a:xfrm>
            <a:off x="12052288" y="2224887"/>
            <a:ext cx="5321350" cy="5776392"/>
          </a:xfrm>
          <a:prstGeom prst="roundRect">
            <a:avLst>
              <a:gd name="adj" fmla="val 3222"/>
            </a:avLst>
          </a:prstGeom>
          <a:solidFill>
            <a:srgbClr val="100B72"/>
          </a:solidFill>
          <a:ln/>
        </p:spPr>
        <p:txBody>
          <a:bodyPr/>
          <a:lstStyle/>
          <a:p>
            <a:endParaRPr lang="en-US"/>
          </a:p>
        </p:txBody>
      </p:sp>
      <p:sp>
        <p:nvSpPr>
          <p:cNvPr id="13" name="Text 11"/>
          <p:cNvSpPr/>
          <p:nvPr/>
        </p:nvSpPr>
        <p:spPr>
          <a:xfrm>
            <a:off x="12414219" y="2605887"/>
            <a:ext cx="5057235" cy="647737"/>
          </a:xfrm>
          <a:prstGeom prst="rect">
            <a:avLst/>
          </a:prstGeom>
          <a:noFill/>
          <a:ln/>
        </p:spPr>
        <p:txBody>
          <a:bodyPr wrap="square" lIns="25400" tIns="25400" rIns="25400" bIns="25400" rtlCol="0" anchor="t">
            <a:normAutofit/>
          </a:bodyPr>
          <a:lstStyle/>
          <a:p>
            <a:pPr marL="0" indent="0" algn="l">
              <a:lnSpc>
                <a:spcPct val="100000"/>
              </a:lnSpc>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14" name="Text 12"/>
          <p:cNvSpPr/>
          <p:nvPr/>
        </p:nvSpPr>
        <p:spPr>
          <a:xfrm>
            <a:off x="12414219" y="3406025"/>
            <a:ext cx="5057235" cy="478631"/>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Arial" pitchFamily="34" charset="0"/>
                <a:ea typeface="Arial" pitchFamily="34" charset="-122"/>
                <a:cs typeface="Arial" pitchFamily="34" charset="-120"/>
              </a:rPr>
              <a:t>Enable</a:t>
            </a:r>
            <a:endParaRPr lang="en-US" sz="3000" dirty="0"/>
          </a:p>
        </p:txBody>
      </p:sp>
      <p:sp>
        <p:nvSpPr>
          <p:cNvPr id="15" name="Text 13"/>
          <p:cNvSpPr/>
          <p:nvPr/>
        </p:nvSpPr>
        <p:spPr>
          <a:xfrm>
            <a:off x="12414219" y="3979850"/>
            <a:ext cx="4735411" cy="130834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C4C4E0"/>
                </a:solidFill>
                <a:latin typeface="Arial" pitchFamily="34" charset="0"/>
                <a:ea typeface="Arial" pitchFamily="34" charset="-122"/>
                <a:cs typeface="Arial" pitchFamily="34" charset="-120"/>
              </a:rPr>
              <a:t>ML-powered features — recommendations, demand forecasting, dynamic pricing, sentiment analysis — that are architecturally impossible on the stack today.</a:t>
            </a:r>
            <a:endParaRPr lang="en-US" sz="1725" dirty="0"/>
          </a:p>
        </p:txBody>
      </p:sp>
      <p:sp>
        <p:nvSpPr>
          <p:cNvPr id="16" name="Shape 14"/>
          <p:cNvSpPr/>
          <p:nvPr/>
        </p:nvSpPr>
        <p:spPr>
          <a:xfrm>
            <a:off x="914363" y="8287029"/>
            <a:ext cx="16459274" cy="742745"/>
          </a:xfrm>
          <a:prstGeom prst="roundRect">
            <a:avLst>
              <a:gd name="adj" fmla="val 17954"/>
            </a:avLst>
          </a:prstGeom>
          <a:solidFill>
            <a:srgbClr val="EAF7D8"/>
          </a:solidFill>
          <a:ln/>
        </p:spPr>
        <p:txBody>
          <a:bodyPr/>
          <a:lstStyle/>
          <a:p>
            <a:endParaRPr lang="en-US"/>
          </a:p>
        </p:txBody>
      </p:sp>
      <p:sp>
        <p:nvSpPr>
          <p:cNvPr id="17" name="Text 15"/>
          <p:cNvSpPr/>
          <p:nvPr/>
        </p:nvSpPr>
        <p:spPr>
          <a:xfrm>
            <a:off x="1200113" y="8563105"/>
            <a:ext cx="2289293" cy="228600"/>
          </a:xfrm>
          <a:prstGeom prst="rect">
            <a:avLst/>
          </a:prstGeom>
          <a:noFill/>
          <a:ln/>
        </p:spPr>
        <p:txBody>
          <a:bodyPr wrap="none" lIns="25400" tIns="25400" rIns="25400" bIns="25400" rtlCol="0" anchor="t">
            <a:normAutofit/>
          </a:bodyPr>
          <a:lstStyle/>
          <a:p>
            <a:pPr marL="0" indent="0" algn="l">
              <a:buNone/>
            </a:pPr>
            <a:r>
              <a:rPr lang="en-US" sz="1275" b="1" kern="0" spc="179" dirty="0">
                <a:solidFill>
                  <a:srgbClr val="4E8F00"/>
                </a:solidFill>
                <a:latin typeface="Arial" pitchFamily="34" charset="0"/>
                <a:ea typeface="Arial" pitchFamily="34" charset="-122"/>
                <a:cs typeface="Arial" pitchFamily="34" charset="-120"/>
              </a:rPr>
              <a:t>OPEN-SOURCE CORE</a:t>
            </a:r>
            <a:endParaRPr lang="en-US" sz="1275" dirty="0"/>
          </a:p>
        </p:txBody>
      </p:sp>
      <p:sp>
        <p:nvSpPr>
          <p:cNvPr id="18" name="Shape 16"/>
          <p:cNvSpPr/>
          <p:nvPr/>
        </p:nvSpPr>
        <p:spPr>
          <a:xfrm>
            <a:off x="3471788" y="8496505"/>
            <a:ext cx="9525" cy="323794"/>
          </a:xfrm>
          <a:prstGeom prst="rect">
            <a:avLst/>
          </a:prstGeom>
          <a:solidFill>
            <a:srgbClr val="BFE08C"/>
          </a:solidFill>
          <a:ln/>
        </p:spPr>
        <p:txBody>
          <a:bodyPr/>
          <a:lstStyle/>
          <a:p>
            <a:endParaRPr lang="en-US"/>
          </a:p>
        </p:txBody>
      </p:sp>
      <p:sp>
        <p:nvSpPr>
          <p:cNvPr id="19" name="Text 17"/>
          <p:cNvSpPr/>
          <p:nvPr/>
        </p:nvSpPr>
        <p:spPr>
          <a:xfrm>
            <a:off x="3671776" y="8511667"/>
            <a:ext cx="9786742" cy="331477"/>
          </a:xfrm>
          <a:prstGeom prst="rect">
            <a:avLst/>
          </a:prstGeom>
          <a:noFill/>
          <a:ln/>
        </p:spPr>
        <p:txBody>
          <a:bodyPr wrap="square" lIns="25400" tIns="25400" rIns="25400" bIns="25400" rtlCol="0" anchor="t">
            <a:normAutofit/>
          </a:bodyPr>
          <a:lstStyle/>
          <a:p>
            <a:pPr marL="0" indent="0" algn="l">
              <a:lnSpc>
                <a:spcPct val="140000"/>
              </a:lnSpc>
              <a:buNone/>
            </a:pPr>
            <a:r>
              <a:rPr lang="en-US" sz="1650" b="1" dirty="0">
                <a:solidFill>
                  <a:srgbClr val="2E4A0A"/>
                </a:solidFill>
                <a:latin typeface="Arial" pitchFamily="34" charset="0"/>
                <a:ea typeface="Arial" pitchFamily="34" charset="-122"/>
                <a:cs typeface="Arial" pitchFamily="34" charset="-120"/>
              </a:rPr>
              <a:t>Airflow · Spark · Parquet </a:t>
            </a:r>
            <a:r>
              <a:rPr lang="en-US" sz="1650" dirty="0">
                <a:solidFill>
                  <a:srgbClr val="3D5A14"/>
                </a:solidFill>
                <a:latin typeface="Arial" pitchFamily="34" charset="0"/>
                <a:ea typeface="Arial" pitchFamily="34" charset="-122"/>
                <a:cs typeface="Arial" pitchFamily="34" charset="-120"/>
              </a:rPr>
              <a:t>— open standards at the heart of the platform mean no vendor lock-in.</a:t>
            </a:r>
            <a:endParaRPr lang="en-US" sz="1650" dirty="0"/>
          </a:p>
        </p:txBody>
      </p:sp>
      <p:sp>
        <p:nvSpPr>
          <p:cNvPr id="20" name="Shape 18"/>
          <p:cNvSpPr/>
          <p:nvPr/>
        </p:nvSpPr>
        <p:spPr>
          <a:xfrm>
            <a:off x="914363" y="9176277"/>
            <a:ext cx="16459274" cy="9525"/>
          </a:xfrm>
          <a:prstGeom prst="rect">
            <a:avLst/>
          </a:prstGeom>
          <a:solidFill>
            <a:srgbClr val="ECECF2"/>
          </a:solidFill>
          <a:ln/>
        </p:spPr>
        <p:txBody>
          <a:bodyPr/>
          <a:lstStyle/>
          <a:p>
            <a:endParaRPr lang="en-US"/>
          </a:p>
        </p:txBody>
      </p:sp>
      <p:sp>
        <p:nvSpPr>
          <p:cNvPr id="21" name="Text 19"/>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22"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STAKEHOLDERS</a:t>
            </a:r>
            <a:endParaRPr lang="en-US" sz="1500" dirty="0"/>
          </a:p>
        </p:txBody>
      </p:sp>
      <p:sp>
        <p:nvSpPr>
          <p:cNvPr id="3" name="Text 1"/>
          <p:cNvSpPr/>
          <p:nvPr/>
        </p:nvSpPr>
        <p:spPr>
          <a:xfrm>
            <a:off x="914363" y="1191741"/>
            <a:ext cx="18105202" cy="652202"/>
          </a:xfrm>
          <a:prstGeom prst="rect">
            <a:avLst/>
          </a:prstGeom>
          <a:noFill/>
          <a:ln/>
        </p:spPr>
        <p:txBody>
          <a:bodyPr wrap="square" lIns="25400" tIns="25400" rIns="25400" bIns="25400" rtlCol="0" anchor="t">
            <a:normAutofit/>
          </a:bodyPr>
          <a:lstStyle/>
          <a:p>
            <a:pPr marL="0" indent="0" algn="l">
              <a:lnSpc>
                <a:spcPct val="104000"/>
              </a:lnSpc>
              <a:buNone/>
            </a:pPr>
            <a:r>
              <a:rPr lang="en-US" sz="4650" b="1" kern="0" spc="-93" dirty="0">
                <a:solidFill>
                  <a:srgbClr val="100B72"/>
                </a:solidFill>
                <a:latin typeface="Arial" pitchFamily="34" charset="0"/>
                <a:ea typeface="Arial" pitchFamily="34" charset="-122"/>
                <a:cs typeface="Arial" pitchFamily="34" charset="-120"/>
              </a:rPr>
              <a:t>Mapped to every decision-maker's concern</a:t>
            </a:r>
            <a:endParaRPr lang="en-US" sz="4650" dirty="0"/>
          </a:p>
        </p:txBody>
      </p:sp>
      <p:sp>
        <p:nvSpPr>
          <p:cNvPr id="4" name="Text 2"/>
          <p:cNvSpPr/>
          <p:nvPr/>
        </p:nvSpPr>
        <p:spPr>
          <a:xfrm>
            <a:off x="914363" y="1958206"/>
            <a:ext cx="18105202" cy="323850"/>
          </a:xfrm>
          <a:prstGeom prst="rect">
            <a:avLst/>
          </a:prstGeom>
          <a:noFill/>
          <a:ln/>
        </p:spPr>
        <p:txBody>
          <a:bodyPr wrap="square" lIns="25400" tIns="25400" rIns="25400" bIns="25400" rtlCol="0" anchor="t">
            <a:normAutofit/>
          </a:bodyPr>
          <a:lstStyle/>
          <a:p>
            <a:pPr marL="0" indent="0" algn="l">
              <a:buNone/>
            </a:pPr>
            <a:r>
              <a:rPr lang="en-US" sz="1725" dirty="0">
                <a:solidFill>
                  <a:srgbClr val="6C6C8C"/>
                </a:solidFill>
                <a:latin typeface="Arial" pitchFamily="34" charset="0"/>
                <a:ea typeface="Arial" pitchFamily="34" charset="-122"/>
                <a:cs typeface="Arial" pitchFamily="34" charset="-120"/>
              </a:rPr>
              <a:t>Five named stakeholders on the Manga side — each with a concern the architecture answers directly.</a:t>
            </a:r>
            <a:endParaRPr lang="en-US" sz="1725" dirty="0"/>
          </a:p>
        </p:txBody>
      </p:sp>
      <p:sp>
        <p:nvSpPr>
          <p:cNvPr id="5" name="Shape 3"/>
          <p:cNvSpPr/>
          <p:nvPr/>
        </p:nvSpPr>
        <p:spPr>
          <a:xfrm>
            <a:off x="914363" y="2624956"/>
            <a:ext cx="3154691" cy="6404818"/>
          </a:xfrm>
          <a:prstGeom prst="roundRect">
            <a:avLst>
              <a:gd name="adj" fmla="val 4831"/>
            </a:avLst>
          </a:prstGeom>
          <a:ln w="11906">
            <a:solidFill>
              <a:srgbClr val="E6E6EF"/>
            </a:solidFill>
            <a:prstDash val="solid"/>
          </a:ln>
        </p:spPr>
        <p:txBody>
          <a:bodyPr/>
          <a:lstStyle/>
          <a:p>
            <a:endParaRPr lang="en-US"/>
          </a:p>
        </p:txBody>
      </p:sp>
      <p:sp>
        <p:nvSpPr>
          <p:cNvPr id="6" name="Shape 4"/>
          <p:cNvSpPr/>
          <p:nvPr/>
        </p:nvSpPr>
        <p:spPr>
          <a:xfrm>
            <a:off x="1135745" y="2909497"/>
            <a:ext cx="104738" cy="104738"/>
          </a:xfrm>
          <a:prstGeom prst="ellipse">
            <a:avLst/>
          </a:prstGeom>
          <a:solidFill>
            <a:srgbClr val="6BC600"/>
          </a:solidFill>
          <a:ln/>
        </p:spPr>
        <p:txBody>
          <a:bodyPr/>
          <a:lstStyle/>
          <a:p>
            <a:endParaRPr lang="en-US"/>
          </a:p>
        </p:txBody>
      </p:sp>
      <p:sp>
        <p:nvSpPr>
          <p:cNvPr id="7" name="Text 5"/>
          <p:cNvSpPr/>
          <p:nvPr/>
        </p:nvSpPr>
        <p:spPr>
          <a:xfrm>
            <a:off x="1326152" y="2884475"/>
            <a:ext cx="922939" cy="192881"/>
          </a:xfrm>
          <a:prstGeom prst="rect">
            <a:avLst/>
          </a:prstGeom>
          <a:noFill/>
          <a:ln/>
        </p:spPr>
        <p:txBody>
          <a:bodyPr wrap="square" lIns="25400" tIns="25400" rIns="25400" bIns="25400" rtlCol="0" anchor="t">
            <a:normAutofit/>
          </a:bodyPr>
          <a:lstStyle/>
          <a:p>
            <a:pPr marL="0" indent="0" algn="l">
              <a:buNone/>
            </a:pPr>
            <a:r>
              <a:rPr lang="en-US" sz="1050" b="1" kern="0" spc="126" dirty="0">
                <a:solidFill>
                  <a:srgbClr val="4E8F00"/>
                </a:solidFill>
                <a:latin typeface="Arial" pitchFamily="34" charset="0"/>
                <a:ea typeface="Arial" pitchFamily="34" charset="-122"/>
                <a:cs typeface="Arial" pitchFamily="34" charset="-120"/>
              </a:rPr>
              <a:t>CHAMPION</a:t>
            </a:r>
            <a:endParaRPr lang="en-US" sz="1050" dirty="0"/>
          </a:p>
        </p:txBody>
      </p:sp>
      <p:sp>
        <p:nvSpPr>
          <p:cNvPr id="8" name="Text 6"/>
          <p:cNvSpPr/>
          <p:nvPr/>
        </p:nvSpPr>
        <p:spPr>
          <a:xfrm>
            <a:off x="1135745" y="3096369"/>
            <a:ext cx="2983120" cy="310455"/>
          </a:xfrm>
          <a:prstGeom prst="rect">
            <a:avLst/>
          </a:prstGeom>
          <a:noFill/>
          <a:ln/>
        </p:spPr>
        <p:txBody>
          <a:bodyPr wrap="square" lIns="25400" tIns="25400" rIns="25400" bIns="25400" rtlCol="0" anchor="t">
            <a:normAutofit/>
          </a:bodyPr>
          <a:lstStyle/>
          <a:p>
            <a:pPr marL="0" indent="0" algn="l">
              <a:lnSpc>
                <a:spcPct val="110000"/>
              </a:lnSpc>
              <a:buNone/>
            </a:pPr>
            <a:r>
              <a:rPr lang="en-US" sz="1950" b="1" dirty="0">
                <a:solidFill>
                  <a:srgbClr val="100B72"/>
                </a:solidFill>
                <a:latin typeface="Arial" pitchFamily="34" charset="0"/>
                <a:ea typeface="Arial" pitchFamily="34" charset="-122"/>
                <a:cs typeface="Arial" pitchFamily="34" charset="-120"/>
              </a:rPr>
              <a:t>Marta Ríos</a:t>
            </a:r>
            <a:endParaRPr lang="en-US" sz="1950" dirty="0"/>
          </a:p>
        </p:txBody>
      </p:sp>
      <p:sp>
        <p:nvSpPr>
          <p:cNvPr id="9" name="Text 7"/>
          <p:cNvSpPr/>
          <p:nvPr/>
        </p:nvSpPr>
        <p:spPr>
          <a:xfrm>
            <a:off x="1135745" y="3368725"/>
            <a:ext cx="298312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B2"/>
                </a:solidFill>
                <a:latin typeface="Arial" pitchFamily="34" charset="0"/>
                <a:ea typeface="Arial" pitchFamily="34" charset="-122"/>
                <a:cs typeface="Arial" pitchFamily="34" charset="-120"/>
              </a:rPr>
              <a:t>COO</a:t>
            </a:r>
            <a:endParaRPr lang="en-US" sz="1350" dirty="0"/>
          </a:p>
        </p:txBody>
      </p:sp>
      <p:sp>
        <p:nvSpPr>
          <p:cNvPr id="10" name="Text 8"/>
          <p:cNvSpPr/>
          <p:nvPr/>
        </p:nvSpPr>
        <p:spPr>
          <a:xfrm>
            <a:off x="1135745" y="8010116"/>
            <a:ext cx="2793285" cy="798240"/>
          </a:xfrm>
          <a:prstGeom prst="rect">
            <a:avLst/>
          </a:prstGeom>
          <a:noFill/>
          <a:ln/>
        </p:spPr>
        <p:txBody>
          <a:bodyPr wrap="square" lIns="25400" tIns="25400" rIns="25400" bIns="25400" rtlCol="0" anchor="t">
            <a:normAutofit/>
          </a:bodyPr>
          <a:lstStyle/>
          <a:p>
            <a:pPr marL="0" indent="0" algn="l">
              <a:lnSpc>
                <a:spcPct val="140000"/>
              </a:lnSpc>
              <a:buNone/>
            </a:pPr>
            <a:r>
              <a:rPr lang="en-US" sz="1425" dirty="0">
                <a:solidFill>
                  <a:srgbClr val="5C5C82"/>
                </a:solidFill>
                <a:latin typeface="Arial" pitchFamily="34" charset="0"/>
                <a:ea typeface="Arial" pitchFamily="34" charset="-122"/>
                <a:cs typeface="Arial" pitchFamily="34" charset="-120"/>
              </a:rPr>
              <a:t>End-to-end solution with a clear business case and phased delivery.</a:t>
            </a:r>
            <a:endParaRPr lang="en-US" sz="1425" dirty="0"/>
          </a:p>
        </p:txBody>
      </p:sp>
      <p:sp>
        <p:nvSpPr>
          <p:cNvPr id="11" name="Shape 9"/>
          <p:cNvSpPr/>
          <p:nvPr/>
        </p:nvSpPr>
        <p:spPr>
          <a:xfrm>
            <a:off x="4240485" y="2624956"/>
            <a:ext cx="3154691" cy="6404818"/>
          </a:xfrm>
          <a:prstGeom prst="roundRect">
            <a:avLst>
              <a:gd name="adj" fmla="val 4831"/>
            </a:avLst>
          </a:prstGeom>
          <a:ln w="11906">
            <a:solidFill>
              <a:srgbClr val="E6E6EF"/>
            </a:solidFill>
            <a:prstDash val="solid"/>
          </a:ln>
        </p:spPr>
        <p:txBody>
          <a:bodyPr/>
          <a:lstStyle/>
          <a:p>
            <a:endParaRPr lang="en-US"/>
          </a:p>
        </p:txBody>
      </p:sp>
      <p:sp>
        <p:nvSpPr>
          <p:cNvPr id="12" name="Shape 10"/>
          <p:cNvSpPr/>
          <p:nvPr/>
        </p:nvSpPr>
        <p:spPr>
          <a:xfrm>
            <a:off x="4461867" y="2909497"/>
            <a:ext cx="104738" cy="104738"/>
          </a:xfrm>
          <a:prstGeom prst="ellipse">
            <a:avLst/>
          </a:prstGeom>
          <a:solidFill>
            <a:srgbClr val="F0A040"/>
          </a:solidFill>
          <a:ln/>
        </p:spPr>
        <p:txBody>
          <a:bodyPr/>
          <a:lstStyle/>
          <a:p>
            <a:endParaRPr lang="en-US"/>
          </a:p>
        </p:txBody>
      </p:sp>
      <p:sp>
        <p:nvSpPr>
          <p:cNvPr id="13" name="Text 11"/>
          <p:cNvSpPr/>
          <p:nvPr/>
        </p:nvSpPr>
        <p:spPr>
          <a:xfrm>
            <a:off x="4652274" y="2884475"/>
            <a:ext cx="758856" cy="192881"/>
          </a:xfrm>
          <a:prstGeom prst="rect">
            <a:avLst/>
          </a:prstGeom>
          <a:noFill/>
          <a:ln/>
        </p:spPr>
        <p:txBody>
          <a:bodyPr wrap="square" lIns="25400" tIns="25400" rIns="25400" bIns="25400" rtlCol="0" anchor="t">
            <a:normAutofit/>
          </a:bodyPr>
          <a:lstStyle/>
          <a:p>
            <a:pPr marL="0" indent="0" algn="l">
              <a:buNone/>
            </a:pPr>
            <a:r>
              <a:rPr lang="en-US" sz="1050" b="1" kern="0" spc="126" dirty="0">
                <a:solidFill>
                  <a:srgbClr val="C47A12"/>
                </a:solidFill>
                <a:latin typeface="Arial" pitchFamily="34" charset="0"/>
                <a:ea typeface="Arial" pitchFamily="34" charset="-122"/>
                <a:cs typeface="Arial" pitchFamily="34" charset="-120"/>
              </a:rPr>
              <a:t>SKEPTIC</a:t>
            </a:r>
            <a:endParaRPr lang="en-US" sz="1050" dirty="0"/>
          </a:p>
        </p:txBody>
      </p:sp>
      <p:sp>
        <p:nvSpPr>
          <p:cNvPr id="14" name="Text 12"/>
          <p:cNvSpPr/>
          <p:nvPr/>
        </p:nvSpPr>
        <p:spPr>
          <a:xfrm>
            <a:off x="4461867" y="3096369"/>
            <a:ext cx="2983120" cy="310455"/>
          </a:xfrm>
          <a:prstGeom prst="rect">
            <a:avLst/>
          </a:prstGeom>
          <a:noFill/>
          <a:ln/>
        </p:spPr>
        <p:txBody>
          <a:bodyPr wrap="square" lIns="25400" tIns="25400" rIns="25400" bIns="25400" rtlCol="0" anchor="t">
            <a:normAutofit/>
          </a:bodyPr>
          <a:lstStyle/>
          <a:p>
            <a:pPr marL="0" indent="0" algn="l">
              <a:lnSpc>
                <a:spcPct val="110000"/>
              </a:lnSpc>
              <a:buNone/>
            </a:pPr>
            <a:r>
              <a:rPr lang="en-US" sz="1950" b="1" dirty="0">
                <a:solidFill>
                  <a:srgbClr val="100B72"/>
                </a:solidFill>
                <a:latin typeface="Arial" pitchFamily="34" charset="0"/>
                <a:ea typeface="Arial" pitchFamily="34" charset="-122"/>
                <a:cs typeface="Arial" pitchFamily="34" charset="-120"/>
              </a:rPr>
              <a:t>Javier Medina</a:t>
            </a:r>
            <a:endParaRPr lang="en-US" sz="1950" dirty="0"/>
          </a:p>
        </p:txBody>
      </p:sp>
      <p:sp>
        <p:nvSpPr>
          <p:cNvPr id="15" name="Text 13"/>
          <p:cNvSpPr/>
          <p:nvPr/>
        </p:nvSpPr>
        <p:spPr>
          <a:xfrm>
            <a:off x="4461867" y="3368725"/>
            <a:ext cx="298312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B2"/>
                </a:solidFill>
                <a:latin typeface="Arial" pitchFamily="34" charset="0"/>
                <a:ea typeface="Arial" pitchFamily="34" charset="-122"/>
                <a:cs typeface="Arial" pitchFamily="34" charset="-120"/>
              </a:rPr>
              <a:t>CTO</a:t>
            </a:r>
            <a:endParaRPr lang="en-US" sz="1350" dirty="0"/>
          </a:p>
        </p:txBody>
      </p:sp>
      <p:sp>
        <p:nvSpPr>
          <p:cNvPr id="16" name="Text 14"/>
          <p:cNvSpPr/>
          <p:nvPr/>
        </p:nvSpPr>
        <p:spPr>
          <a:xfrm>
            <a:off x="4461867" y="8263496"/>
            <a:ext cx="2793285" cy="544860"/>
          </a:xfrm>
          <a:prstGeom prst="rect">
            <a:avLst/>
          </a:prstGeom>
          <a:noFill/>
          <a:ln/>
        </p:spPr>
        <p:txBody>
          <a:bodyPr wrap="square" lIns="25400" tIns="25400" rIns="25400" bIns="25400" rtlCol="0" anchor="t">
            <a:normAutofit/>
          </a:bodyPr>
          <a:lstStyle/>
          <a:p>
            <a:pPr marL="0" indent="0" algn="l">
              <a:lnSpc>
                <a:spcPct val="140000"/>
              </a:lnSpc>
              <a:buNone/>
            </a:pPr>
            <a:r>
              <a:rPr lang="en-US" sz="1425" dirty="0">
                <a:solidFill>
                  <a:srgbClr val="5C5C82"/>
                </a:solidFill>
                <a:latin typeface="Arial" pitchFamily="34" charset="0"/>
                <a:ea typeface="Arial" pitchFamily="34" charset="-122"/>
                <a:cs typeface="Arial" pitchFamily="34" charset="-120"/>
              </a:rPr>
              <a:t>Lock-in fear → open-source core: Airflow, Spark, open Parquet.</a:t>
            </a:r>
            <a:endParaRPr lang="en-US" sz="1425" dirty="0"/>
          </a:p>
        </p:txBody>
      </p:sp>
      <p:sp>
        <p:nvSpPr>
          <p:cNvPr id="17" name="Shape 15"/>
          <p:cNvSpPr/>
          <p:nvPr/>
        </p:nvSpPr>
        <p:spPr>
          <a:xfrm>
            <a:off x="7566608" y="2624956"/>
            <a:ext cx="3154691" cy="6404818"/>
          </a:xfrm>
          <a:prstGeom prst="roundRect">
            <a:avLst>
              <a:gd name="adj" fmla="val 4831"/>
            </a:avLst>
          </a:prstGeom>
          <a:solidFill>
            <a:srgbClr val="100B72"/>
          </a:solidFill>
          <a:ln w="11906">
            <a:solidFill>
              <a:srgbClr val="100B72"/>
            </a:solidFill>
            <a:prstDash val="solid"/>
          </a:ln>
        </p:spPr>
        <p:txBody>
          <a:bodyPr/>
          <a:lstStyle/>
          <a:p>
            <a:endParaRPr lang="en-US"/>
          </a:p>
        </p:txBody>
      </p:sp>
      <p:sp>
        <p:nvSpPr>
          <p:cNvPr id="18" name="Shape 16"/>
          <p:cNvSpPr/>
          <p:nvPr/>
        </p:nvSpPr>
        <p:spPr>
          <a:xfrm>
            <a:off x="7787990" y="2909497"/>
            <a:ext cx="104738" cy="104738"/>
          </a:xfrm>
          <a:prstGeom prst="ellipse">
            <a:avLst/>
          </a:prstGeom>
          <a:solidFill>
            <a:srgbClr val="4BBEFF"/>
          </a:solidFill>
          <a:ln/>
        </p:spPr>
        <p:txBody>
          <a:bodyPr/>
          <a:lstStyle/>
          <a:p>
            <a:endParaRPr lang="en-US"/>
          </a:p>
        </p:txBody>
      </p:sp>
      <p:sp>
        <p:nvSpPr>
          <p:cNvPr id="19" name="Text 17"/>
          <p:cNvSpPr/>
          <p:nvPr/>
        </p:nvSpPr>
        <p:spPr>
          <a:xfrm>
            <a:off x="7978397" y="2884475"/>
            <a:ext cx="1376707" cy="192881"/>
          </a:xfrm>
          <a:prstGeom prst="rect">
            <a:avLst/>
          </a:prstGeom>
          <a:noFill/>
          <a:ln/>
        </p:spPr>
        <p:txBody>
          <a:bodyPr wrap="square" lIns="25400" tIns="25400" rIns="25400" bIns="25400" rtlCol="0" anchor="t">
            <a:normAutofit/>
          </a:bodyPr>
          <a:lstStyle/>
          <a:p>
            <a:pPr marL="0" indent="0" algn="l">
              <a:buNone/>
            </a:pPr>
            <a:r>
              <a:rPr lang="en-US" sz="1050" b="1" kern="0" spc="126" dirty="0">
                <a:solidFill>
                  <a:srgbClr val="4BBEFF"/>
                </a:solidFill>
                <a:latin typeface="Arial" pitchFamily="34" charset="0"/>
                <a:ea typeface="Arial" pitchFamily="34" charset="-122"/>
                <a:cs typeface="Arial" pitchFamily="34" charset="-120"/>
              </a:rPr>
              <a:t>COST-FOCUSED</a:t>
            </a:r>
            <a:endParaRPr lang="en-US" sz="1050" dirty="0"/>
          </a:p>
        </p:txBody>
      </p:sp>
      <p:sp>
        <p:nvSpPr>
          <p:cNvPr id="20" name="Text 18"/>
          <p:cNvSpPr/>
          <p:nvPr/>
        </p:nvSpPr>
        <p:spPr>
          <a:xfrm>
            <a:off x="7787990" y="3096369"/>
            <a:ext cx="2983120" cy="310455"/>
          </a:xfrm>
          <a:prstGeom prst="rect">
            <a:avLst/>
          </a:prstGeom>
          <a:noFill/>
          <a:ln/>
        </p:spPr>
        <p:txBody>
          <a:bodyPr wrap="square" lIns="25400" tIns="25400" rIns="25400" bIns="25400" rtlCol="0" anchor="t">
            <a:normAutofit/>
          </a:bodyPr>
          <a:lstStyle/>
          <a:p>
            <a:pPr marL="0" indent="0" algn="l">
              <a:lnSpc>
                <a:spcPct val="110000"/>
              </a:lnSpc>
              <a:buNone/>
            </a:pPr>
            <a:r>
              <a:rPr lang="en-US" sz="1950" b="1" dirty="0">
                <a:solidFill>
                  <a:srgbClr val="FFFFFF"/>
                </a:solidFill>
                <a:latin typeface="Arial" pitchFamily="34" charset="0"/>
                <a:ea typeface="Arial" pitchFamily="34" charset="-122"/>
                <a:cs typeface="Arial" pitchFamily="34" charset="-120"/>
              </a:rPr>
              <a:t>Manuel Ortega</a:t>
            </a:r>
            <a:endParaRPr lang="en-US" sz="1950" dirty="0"/>
          </a:p>
        </p:txBody>
      </p:sp>
      <p:sp>
        <p:nvSpPr>
          <p:cNvPr id="21" name="Text 19"/>
          <p:cNvSpPr/>
          <p:nvPr/>
        </p:nvSpPr>
        <p:spPr>
          <a:xfrm>
            <a:off x="7787990" y="3368725"/>
            <a:ext cx="298312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8A8AB8"/>
                </a:solidFill>
                <a:latin typeface="Arial" pitchFamily="34" charset="0"/>
                <a:ea typeface="Arial" pitchFamily="34" charset="-122"/>
                <a:cs typeface="Arial" pitchFamily="34" charset="-120"/>
              </a:rPr>
              <a:t>CFO</a:t>
            </a:r>
            <a:endParaRPr lang="en-US" sz="1350" dirty="0"/>
          </a:p>
        </p:txBody>
      </p:sp>
      <p:sp>
        <p:nvSpPr>
          <p:cNvPr id="22" name="Text 20"/>
          <p:cNvSpPr/>
          <p:nvPr/>
        </p:nvSpPr>
        <p:spPr>
          <a:xfrm>
            <a:off x="7787990" y="8263496"/>
            <a:ext cx="2793285" cy="544860"/>
          </a:xfrm>
          <a:prstGeom prst="rect">
            <a:avLst/>
          </a:prstGeom>
          <a:noFill/>
          <a:ln/>
        </p:spPr>
        <p:txBody>
          <a:bodyPr wrap="square" lIns="25400" tIns="25400" rIns="25400" bIns="25400" rtlCol="0" anchor="t">
            <a:normAutofit/>
          </a:bodyPr>
          <a:lstStyle/>
          <a:p>
            <a:pPr marL="0" indent="0" algn="l">
              <a:lnSpc>
                <a:spcPct val="140000"/>
              </a:lnSpc>
              <a:buNone/>
            </a:pPr>
            <a:r>
              <a:rPr lang="en-US" sz="1425" dirty="0">
                <a:solidFill>
                  <a:srgbClr val="C4C4E0"/>
                </a:solidFill>
                <a:latin typeface="Arial" pitchFamily="34" charset="0"/>
                <a:ea typeface="Arial" pitchFamily="34" charset="-122"/>
                <a:cs typeface="Arial" pitchFamily="34" charset="-120"/>
              </a:rPr>
              <a:t>~57% lower infra cost and clear, monthly-validated ROI.</a:t>
            </a:r>
            <a:endParaRPr lang="en-US" sz="1425" dirty="0"/>
          </a:p>
        </p:txBody>
      </p:sp>
      <p:sp>
        <p:nvSpPr>
          <p:cNvPr id="23" name="Shape 21"/>
          <p:cNvSpPr/>
          <p:nvPr/>
        </p:nvSpPr>
        <p:spPr>
          <a:xfrm>
            <a:off x="10892730" y="2624956"/>
            <a:ext cx="3154691" cy="6404818"/>
          </a:xfrm>
          <a:prstGeom prst="roundRect">
            <a:avLst>
              <a:gd name="adj" fmla="val 4831"/>
            </a:avLst>
          </a:prstGeom>
          <a:ln w="11906">
            <a:solidFill>
              <a:srgbClr val="E6E6EF"/>
            </a:solidFill>
            <a:prstDash val="solid"/>
          </a:ln>
        </p:spPr>
        <p:txBody>
          <a:bodyPr/>
          <a:lstStyle/>
          <a:p>
            <a:endParaRPr lang="en-US"/>
          </a:p>
        </p:txBody>
      </p:sp>
      <p:sp>
        <p:nvSpPr>
          <p:cNvPr id="24" name="Shape 22"/>
          <p:cNvSpPr/>
          <p:nvPr/>
        </p:nvSpPr>
        <p:spPr>
          <a:xfrm>
            <a:off x="11114112" y="2909497"/>
            <a:ext cx="104738" cy="104738"/>
          </a:xfrm>
          <a:prstGeom prst="ellipse">
            <a:avLst/>
          </a:prstGeom>
          <a:solidFill>
            <a:srgbClr val="F0A040"/>
          </a:solidFill>
          <a:ln/>
        </p:spPr>
        <p:txBody>
          <a:bodyPr/>
          <a:lstStyle/>
          <a:p>
            <a:endParaRPr lang="en-US"/>
          </a:p>
        </p:txBody>
      </p:sp>
      <p:sp>
        <p:nvSpPr>
          <p:cNvPr id="25" name="Text 23"/>
          <p:cNvSpPr/>
          <p:nvPr/>
        </p:nvSpPr>
        <p:spPr>
          <a:xfrm>
            <a:off x="11304519" y="2884475"/>
            <a:ext cx="1447205" cy="192881"/>
          </a:xfrm>
          <a:prstGeom prst="rect">
            <a:avLst/>
          </a:prstGeom>
          <a:noFill/>
          <a:ln/>
        </p:spPr>
        <p:txBody>
          <a:bodyPr wrap="square" lIns="25400" tIns="25400" rIns="25400" bIns="25400" rtlCol="0" anchor="t">
            <a:normAutofit/>
          </a:bodyPr>
          <a:lstStyle/>
          <a:p>
            <a:pPr marL="0" indent="0" algn="l">
              <a:buNone/>
            </a:pPr>
            <a:r>
              <a:rPr lang="en-US" sz="1050" b="1" kern="0" spc="126" dirty="0">
                <a:solidFill>
                  <a:srgbClr val="C47A12"/>
                </a:solidFill>
                <a:latin typeface="Arial" pitchFamily="34" charset="0"/>
                <a:ea typeface="Arial" pitchFamily="34" charset="-122"/>
                <a:cs typeface="Arial" pitchFamily="34" charset="-120"/>
              </a:rPr>
              <a:t>SECURITY-FIRST</a:t>
            </a:r>
            <a:endParaRPr lang="en-US" sz="1050" dirty="0"/>
          </a:p>
        </p:txBody>
      </p:sp>
      <p:sp>
        <p:nvSpPr>
          <p:cNvPr id="26" name="Text 24"/>
          <p:cNvSpPr/>
          <p:nvPr/>
        </p:nvSpPr>
        <p:spPr>
          <a:xfrm>
            <a:off x="11114112" y="3096369"/>
            <a:ext cx="2983120" cy="310455"/>
          </a:xfrm>
          <a:prstGeom prst="rect">
            <a:avLst/>
          </a:prstGeom>
          <a:noFill/>
          <a:ln/>
        </p:spPr>
        <p:txBody>
          <a:bodyPr wrap="square" lIns="25400" tIns="25400" rIns="25400" bIns="25400" rtlCol="0" anchor="t">
            <a:normAutofit/>
          </a:bodyPr>
          <a:lstStyle/>
          <a:p>
            <a:pPr marL="0" indent="0" algn="l">
              <a:lnSpc>
                <a:spcPct val="110000"/>
              </a:lnSpc>
              <a:buNone/>
            </a:pPr>
            <a:r>
              <a:rPr lang="en-US" sz="1950" b="1" dirty="0">
                <a:solidFill>
                  <a:srgbClr val="100B72"/>
                </a:solidFill>
                <a:latin typeface="Arial" pitchFamily="34" charset="0"/>
                <a:ea typeface="Arial" pitchFamily="34" charset="-122"/>
                <a:cs typeface="Arial" pitchFamily="34" charset="-120"/>
              </a:rPr>
              <a:t>Laura Smith</a:t>
            </a:r>
            <a:endParaRPr lang="en-US" sz="1950" dirty="0"/>
          </a:p>
        </p:txBody>
      </p:sp>
      <p:sp>
        <p:nvSpPr>
          <p:cNvPr id="27" name="Text 25"/>
          <p:cNvSpPr/>
          <p:nvPr/>
        </p:nvSpPr>
        <p:spPr>
          <a:xfrm>
            <a:off x="11114112" y="3368725"/>
            <a:ext cx="298312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B2"/>
                </a:solidFill>
                <a:latin typeface="Arial" pitchFamily="34" charset="0"/>
                <a:ea typeface="Arial" pitchFamily="34" charset="-122"/>
                <a:cs typeface="Arial" pitchFamily="34" charset="-120"/>
              </a:rPr>
              <a:t>InfoSec Manager</a:t>
            </a:r>
            <a:endParaRPr lang="en-US" sz="1350" dirty="0"/>
          </a:p>
        </p:txBody>
      </p:sp>
      <p:sp>
        <p:nvSpPr>
          <p:cNvPr id="28" name="Text 26"/>
          <p:cNvSpPr/>
          <p:nvPr/>
        </p:nvSpPr>
        <p:spPr>
          <a:xfrm>
            <a:off x="11114112" y="8263496"/>
            <a:ext cx="2793285" cy="544860"/>
          </a:xfrm>
          <a:prstGeom prst="rect">
            <a:avLst/>
          </a:prstGeom>
          <a:noFill/>
          <a:ln/>
        </p:spPr>
        <p:txBody>
          <a:bodyPr wrap="square" lIns="25400" tIns="25400" rIns="25400" bIns="25400" rtlCol="0" anchor="t">
            <a:normAutofit/>
          </a:bodyPr>
          <a:lstStyle/>
          <a:p>
            <a:pPr marL="0" indent="0" algn="l">
              <a:lnSpc>
                <a:spcPct val="140000"/>
              </a:lnSpc>
              <a:buNone/>
            </a:pPr>
            <a:r>
              <a:rPr lang="en-US" sz="1425" dirty="0">
                <a:solidFill>
                  <a:srgbClr val="5C5C82"/>
                </a:solidFill>
                <a:latin typeface="Arial" pitchFamily="34" charset="0"/>
                <a:ea typeface="Arial" pitchFamily="34" charset="-122"/>
                <a:cs typeface="Arial" pitchFamily="34" charset="-120"/>
              </a:rPr>
              <a:t>GDPR by design: Lake Formation, Macie, KMS, audit logging.</a:t>
            </a:r>
            <a:endParaRPr lang="en-US" sz="1425" dirty="0"/>
          </a:p>
        </p:txBody>
      </p:sp>
      <p:sp>
        <p:nvSpPr>
          <p:cNvPr id="29" name="Shape 27"/>
          <p:cNvSpPr/>
          <p:nvPr/>
        </p:nvSpPr>
        <p:spPr>
          <a:xfrm>
            <a:off x="14218853" y="2624956"/>
            <a:ext cx="3154691" cy="6404818"/>
          </a:xfrm>
          <a:prstGeom prst="roundRect">
            <a:avLst>
              <a:gd name="adj" fmla="val 4831"/>
            </a:avLst>
          </a:prstGeom>
          <a:ln w="11906">
            <a:solidFill>
              <a:srgbClr val="E6E6EF"/>
            </a:solidFill>
            <a:prstDash val="solid"/>
          </a:ln>
        </p:spPr>
        <p:txBody>
          <a:bodyPr/>
          <a:lstStyle/>
          <a:p>
            <a:endParaRPr lang="en-US"/>
          </a:p>
        </p:txBody>
      </p:sp>
      <p:sp>
        <p:nvSpPr>
          <p:cNvPr id="30" name="Shape 28"/>
          <p:cNvSpPr/>
          <p:nvPr/>
        </p:nvSpPr>
        <p:spPr>
          <a:xfrm>
            <a:off x="14440235" y="2909497"/>
            <a:ext cx="104738" cy="104738"/>
          </a:xfrm>
          <a:prstGeom prst="ellipse">
            <a:avLst/>
          </a:prstGeom>
          <a:solidFill>
            <a:srgbClr val="6BC600"/>
          </a:solidFill>
          <a:ln/>
        </p:spPr>
        <p:txBody>
          <a:bodyPr/>
          <a:lstStyle/>
          <a:p>
            <a:endParaRPr lang="en-US"/>
          </a:p>
        </p:txBody>
      </p:sp>
      <p:sp>
        <p:nvSpPr>
          <p:cNvPr id="31" name="Text 29"/>
          <p:cNvSpPr/>
          <p:nvPr/>
        </p:nvSpPr>
        <p:spPr>
          <a:xfrm>
            <a:off x="14630642" y="2884475"/>
            <a:ext cx="922939" cy="192881"/>
          </a:xfrm>
          <a:prstGeom prst="rect">
            <a:avLst/>
          </a:prstGeom>
          <a:noFill/>
          <a:ln/>
        </p:spPr>
        <p:txBody>
          <a:bodyPr wrap="square" lIns="25400" tIns="25400" rIns="25400" bIns="25400" rtlCol="0" anchor="t">
            <a:normAutofit/>
          </a:bodyPr>
          <a:lstStyle/>
          <a:p>
            <a:pPr marL="0" indent="0" algn="l">
              <a:buNone/>
            </a:pPr>
            <a:r>
              <a:rPr lang="en-US" sz="1050" b="1" kern="0" spc="126" dirty="0">
                <a:solidFill>
                  <a:srgbClr val="4E8F00"/>
                </a:solidFill>
                <a:latin typeface="Arial" pitchFamily="34" charset="0"/>
                <a:ea typeface="Arial" pitchFamily="34" charset="-122"/>
                <a:cs typeface="Arial" pitchFamily="34" charset="-120"/>
              </a:rPr>
              <a:t>CHAMPION</a:t>
            </a:r>
            <a:endParaRPr lang="en-US" sz="1050" dirty="0"/>
          </a:p>
        </p:txBody>
      </p:sp>
      <p:sp>
        <p:nvSpPr>
          <p:cNvPr id="32" name="Text 30"/>
          <p:cNvSpPr/>
          <p:nvPr/>
        </p:nvSpPr>
        <p:spPr>
          <a:xfrm>
            <a:off x="14440235" y="3096369"/>
            <a:ext cx="2983120" cy="310455"/>
          </a:xfrm>
          <a:prstGeom prst="rect">
            <a:avLst/>
          </a:prstGeom>
          <a:noFill/>
          <a:ln/>
        </p:spPr>
        <p:txBody>
          <a:bodyPr wrap="square" lIns="25400" tIns="25400" rIns="25400" bIns="25400" rtlCol="0" anchor="t">
            <a:normAutofit/>
          </a:bodyPr>
          <a:lstStyle/>
          <a:p>
            <a:pPr marL="0" indent="0" algn="l">
              <a:lnSpc>
                <a:spcPct val="110000"/>
              </a:lnSpc>
              <a:buNone/>
            </a:pPr>
            <a:r>
              <a:rPr lang="en-US" sz="1950" b="1" dirty="0">
                <a:solidFill>
                  <a:srgbClr val="100B72"/>
                </a:solidFill>
                <a:latin typeface="Arial" pitchFamily="34" charset="0"/>
                <a:ea typeface="Arial" pitchFamily="34" charset="-122"/>
                <a:cs typeface="Arial" pitchFamily="34" charset="-120"/>
              </a:rPr>
              <a:t>Alex Lee</a:t>
            </a:r>
            <a:endParaRPr lang="en-US" sz="1950" dirty="0"/>
          </a:p>
        </p:txBody>
      </p:sp>
      <p:sp>
        <p:nvSpPr>
          <p:cNvPr id="33" name="Text 31"/>
          <p:cNvSpPr/>
          <p:nvPr/>
        </p:nvSpPr>
        <p:spPr>
          <a:xfrm>
            <a:off x="14440235" y="3368725"/>
            <a:ext cx="298312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B2"/>
                </a:solidFill>
                <a:latin typeface="Arial" pitchFamily="34" charset="0"/>
                <a:ea typeface="Arial" pitchFamily="34" charset="-122"/>
                <a:cs typeface="Arial" pitchFamily="34" charset="-120"/>
              </a:rPr>
              <a:t>Head of Data &amp; AI</a:t>
            </a:r>
            <a:endParaRPr lang="en-US" sz="1350" dirty="0"/>
          </a:p>
        </p:txBody>
      </p:sp>
      <p:sp>
        <p:nvSpPr>
          <p:cNvPr id="34" name="Text 32"/>
          <p:cNvSpPr/>
          <p:nvPr/>
        </p:nvSpPr>
        <p:spPr>
          <a:xfrm>
            <a:off x="14440235" y="8263496"/>
            <a:ext cx="2793285" cy="544860"/>
          </a:xfrm>
          <a:prstGeom prst="rect">
            <a:avLst/>
          </a:prstGeom>
          <a:noFill/>
          <a:ln/>
        </p:spPr>
        <p:txBody>
          <a:bodyPr wrap="square" lIns="25400" tIns="25400" rIns="25400" bIns="25400" rtlCol="0" anchor="t">
            <a:normAutofit/>
          </a:bodyPr>
          <a:lstStyle/>
          <a:p>
            <a:pPr marL="0" indent="0" algn="l">
              <a:lnSpc>
                <a:spcPct val="140000"/>
              </a:lnSpc>
              <a:buNone/>
            </a:pPr>
            <a:r>
              <a:rPr lang="en-US" sz="1425" dirty="0">
                <a:solidFill>
                  <a:srgbClr val="5C5C82"/>
                </a:solidFill>
                <a:latin typeface="Arial" pitchFamily="34" charset="0"/>
                <a:ea typeface="Arial" pitchFamily="34" charset="-122"/>
                <a:cs typeface="Arial" pitchFamily="34" charset="-120"/>
              </a:rPr>
              <a:t>Modern DataOps and an ML platform that finally exists.</a:t>
            </a:r>
            <a:endParaRPr lang="en-US" sz="1425" dirty="0"/>
          </a:p>
        </p:txBody>
      </p:sp>
      <p:sp>
        <p:nvSpPr>
          <p:cNvPr id="35" name="Shape 33"/>
          <p:cNvSpPr/>
          <p:nvPr/>
        </p:nvSpPr>
        <p:spPr>
          <a:xfrm>
            <a:off x="914363" y="9176277"/>
            <a:ext cx="16459274" cy="9525"/>
          </a:xfrm>
          <a:prstGeom prst="rect">
            <a:avLst/>
          </a:prstGeom>
          <a:solidFill>
            <a:srgbClr val="ECECF2"/>
          </a:solidFill>
          <a:ln/>
        </p:spPr>
        <p:txBody>
          <a:bodyPr/>
          <a:lstStyle/>
          <a:p>
            <a:endParaRPr lang="en-US"/>
          </a:p>
        </p:txBody>
      </p:sp>
      <p:sp>
        <p:nvSpPr>
          <p:cNvPr id="36" name="Text 34"/>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37"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762000"/>
            <a:ext cx="7434114"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HIGH-LEVEL ARCHITECTURE</a:t>
            </a:r>
            <a:endParaRPr lang="en-US" sz="1500" dirty="0"/>
          </a:p>
        </p:txBody>
      </p:sp>
      <p:sp>
        <p:nvSpPr>
          <p:cNvPr id="3" name="Text 1"/>
          <p:cNvSpPr/>
          <p:nvPr/>
        </p:nvSpPr>
        <p:spPr>
          <a:xfrm>
            <a:off x="914363" y="1115560"/>
            <a:ext cx="7434114" cy="543278"/>
          </a:xfrm>
          <a:prstGeom prst="rect">
            <a:avLst/>
          </a:prstGeom>
          <a:noFill/>
          <a:ln/>
        </p:spPr>
        <p:txBody>
          <a:bodyPr wrap="square" lIns="25400" tIns="25400" rIns="25400" bIns="25400" rtlCol="0" anchor="t">
            <a:normAutofit/>
          </a:bodyPr>
          <a:lstStyle/>
          <a:p>
            <a:pPr marL="0" indent="0" algn="l">
              <a:lnSpc>
                <a:spcPct val="102000"/>
              </a:lnSpc>
              <a:buNone/>
            </a:pPr>
            <a:r>
              <a:rPr lang="en-US" sz="3900" b="1" kern="0" spc="-78" dirty="0">
                <a:solidFill>
                  <a:srgbClr val="100B72"/>
                </a:solidFill>
                <a:latin typeface="Arial" pitchFamily="34" charset="0"/>
                <a:ea typeface="Arial" pitchFamily="34" charset="-122"/>
                <a:cs typeface="Arial" pitchFamily="34" charset="-120"/>
              </a:rPr>
              <a:t>Five layers, technology-agnostic</a:t>
            </a:r>
            <a:endParaRPr lang="en-US" sz="3900" dirty="0"/>
          </a:p>
        </p:txBody>
      </p:sp>
      <p:sp>
        <p:nvSpPr>
          <p:cNvPr id="4" name="Shape 2"/>
          <p:cNvSpPr/>
          <p:nvPr/>
        </p:nvSpPr>
        <p:spPr>
          <a:xfrm>
            <a:off x="14380611" y="1483816"/>
            <a:ext cx="247613" cy="47625"/>
          </a:xfrm>
          <a:prstGeom prst="roundRect">
            <a:avLst>
              <a:gd name="adj" fmla="val 50000"/>
            </a:avLst>
          </a:prstGeom>
          <a:solidFill>
            <a:srgbClr val="4BBEFF"/>
          </a:solidFill>
          <a:ln/>
        </p:spPr>
        <p:txBody>
          <a:bodyPr/>
          <a:lstStyle/>
          <a:p>
            <a:endParaRPr lang="en-US"/>
          </a:p>
        </p:txBody>
      </p:sp>
      <p:sp>
        <p:nvSpPr>
          <p:cNvPr id="5" name="Text 3"/>
          <p:cNvSpPr/>
          <p:nvPr/>
        </p:nvSpPr>
        <p:spPr>
          <a:xfrm>
            <a:off x="14713893" y="1394520"/>
            <a:ext cx="1837348" cy="264319"/>
          </a:xfrm>
          <a:prstGeom prst="rect">
            <a:avLst/>
          </a:prstGeom>
          <a:noFill/>
          <a:ln/>
        </p:spPr>
        <p:txBody>
          <a:bodyPr wrap="square" lIns="25400" tIns="25400" rIns="25400" bIns="25400" rtlCol="0" anchor="t">
            <a:normAutofit/>
          </a:bodyPr>
          <a:lstStyle/>
          <a:p>
            <a:pPr marL="0" indent="0" algn="l">
              <a:buNone/>
            </a:pPr>
            <a:r>
              <a:rPr lang="en-US" sz="1350" dirty="0">
                <a:solidFill>
                  <a:srgbClr val="6C6C8C"/>
                </a:solidFill>
                <a:latin typeface="Arial" pitchFamily="34" charset="0"/>
                <a:ea typeface="Arial" pitchFamily="34" charset="-122"/>
                <a:cs typeface="Arial" pitchFamily="34" charset="-120"/>
              </a:rPr>
              <a:t>Real-time / streaming</a:t>
            </a:r>
            <a:endParaRPr lang="en-US" sz="1350" dirty="0"/>
          </a:p>
        </p:txBody>
      </p:sp>
      <p:sp>
        <p:nvSpPr>
          <p:cNvPr id="6" name="Shape 4"/>
          <p:cNvSpPr/>
          <p:nvPr/>
        </p:nvSpPr>
        <p:spPr>
          <a:xfrm>
            <a:off x="16593685" y="1483816"/>
            <a:ext cx="247613" cy="47625"/>
          </a:xfrm>
          <a:prstGeom prst="roundRect">
            <a:avLst>
              <a:gd name="adj" fmla="val 50000"/>
            </a:avLst>
          </a:prstGeom>
          <a:solidFill>
            <a:srgbClr val="100B72"/>
          </a:solidFill>
          <a:ln/>
        </p:spPr>
        <p:txBody>
          <a:bodyPr/>
          <a:lstStyle/>
          <a:p>
            <a:endParaRPr lang="en-US"/>
          </a:p>
        </p:txBody>
      </p:sp>
      <p:sp>
        <p:nvSpPr>
          <p:cNvPr id="7" name="Text 5"/>
          <p:cNvSpPr/>
          <p:nvPr/>
        </p:nvSpPr>
        <p:spPr>
          <a:xfrm>
            <a:off x="16926967" y="1394520"/>
            <a:ext cx="52287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6C6C8C"/>
                </a:solidFill>
                <a:latin typeface="Arial" pitchFamily="34" charset="0"/>
                <a:ea typeface="Arial" pitchFamily="34" charset="-122"/>
                <a:cs typeface="Arial" pitchFamily="34" charset="-120"/>
              </a:rPr>
              <a:t>Batch</a:t>
            </a:r>
            <a:endParaRPr lang="en-US" sz="1350" dirty="0"/>
          </a:p>
        </p:txBody>
      </p:sp>
      <p:sp>
        <p:nvSpPr>
          <p:cNvPr id="8" name="Shape 6"/>
          <p:cNvSpPr/>
          <p:nvPr/>
        </p:nvSpPr>
        <p:spPr>
          <a:xfrm>
            <a:off x="914363" y="1906488"/>
            <a:ext cx="16459274" cy="534479"/>
          </a:xfrm>
          <a:prstGeom prst="roundRect">
            <a:avLst>
              <a:gd name="adj" fmla="val 21385"/>
            </a:avLst>
          </a:prstGeom>
          <a:solidFill>
            <a:srgbClr val="FBF4FC"/>
          </a:solidFill>
          <a:ln w="17859">
            <a:solidFill>
              <a:srgbClr val="C9B0CE"/>
            </a:solidFill>
            <a:prstDash val="dash"/>
          </a:ln>
        </p:spPr>
        <p:txBody>
          <a:bodyPr/>
          <a:lstStyle/>
          <a:p>
            <a:endParaRPr lang="en-US"/>
          </a:p>
        </p:txBody>
      </p:sp>
      <p:sp>
        <p:nvSpPr>
          <p:cNvPr id="9" name="Text 7"/>
          <p:cNvSpPr/>
          <p:nvPr/>
        </p:nvSpPr>
        <p:spPr>
          <a:xfrm>
            <a:off x="1179835" y="2078478"/>
            <a:ext cx="2756074" cy="228600"/>
          </a:xfrm>
          <a:prstGeom prst="rect">
            <a:avLst/>
          </a:prstGeom>
          <a:noFill/>
          <a:ln/>
        </p:spPr>
        <p:txBody>
          <a:bodyPr wrap="square" lIns="25400" tIns="25400" rIns="25400" bIns="25400" rtlCol="0" anchor="t">
            <a:normAutofit/>
          </a:bodyPr>
          <a:lstStyle/>
          <a:p>
            <a:pPr marL="0" indent="0" algn="l">
              <a:buNone/>
            </a:pPr>
            <a:r>
              <a:rPr lang="en-US" sz="1275" b="1" kern="0" spc="127" dirty="0">
                <a:solidFill>
                  <a:srgbClr val="7A2E8A"/>
                </a:solidFill>
                <a:latin typeface="Arial" pitchFamily="34" charset="0"/>
                <a:ea typeface="Arial" pitchFamily="34" charset="-122"/>
                <a:cs typeface="Arial" pitchFamily="34" charset="-120"/>
              </a:rPr>
              <a:t>SECURITY &amp; GOVERNANCE</a:t>
            </a:r>
            <a:endParaRPr lang="en-US" sz="1275" dirty="0"/>
          </a:p>
        </p:txBody>
      </p:sp>
      <p:sp>
        <p:nvSpPr>
          <p:cNvPr id="10" name="Text 8"/>
          <p:cNvSpPr/>
          <p:nvPr/>
        </p:nvSpPr>
        <p:spPr>
          <a:xfrm>
            <a:off x="3856788" y="2057642"/>
            <a:ext cx="7997996" cy="270272"/>
          </a:xfrm>
          <a:prstGeom prst="rect">
            <a:avLst/>
          </a:prstGeom>
          <a:noFill/>
          <a:ln/>
        </p:spPr>
        <p:txBody>
          <a:bodyPr wrap="square" lIns="25400" tIns="25400" rIns="25400" bIns="25400" rtlCol="0" anchor="t">
            <a:normAutofit/>
          </a:bodyPr>
          <a:lstStyle/>
          <a:p>
            <a:pPr marL="0" indent="0" algn="l">
              <a:buNone/>
            </a:pPr>
            <a:r>
              <a:rPr lang="en-US" sz="1425" dirty="0">
                <a:solidFill>
                  <a:srgbClr val="6C5070"/>
                </a:solidFill>
                <a:latin typeface="Arial" pitchFamily="34" charset="0"/>
                <a:ea typeface="Arial" pitchFamily="34" charset="-122"/>
                <a:cs typeface="Arial" pitchFamily="34" charset="-120"/>
              </a:rPr>
              <a:t>spans every layer · RBAC · KMS at rest · TLS 1.3 in transit · GDPR · audit logs · PII masking</a:t>
            </a:r>
            <a:endParaRPr lang="en-US" sz="1425" dirty="0"/>
          </a:p>
        </p:txBody>
      </p:sp>
      <p:sp>
        <p:nvSpPr>
          <p:cNvPr id="11" name="Text 9"/>
          <p:cNvSpPr/>
          <p:nvPr/>
        </p:nvSpPr>
        <p:spPr>
          <a:xfrm>
            <a:off x="914363" y="2631467"/>
            <a:ext cx="3192568"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DATA SOURCES</a:t>
            </a:r>
            <a:endParaRPr lang="en-US" sz="1125" dirty="0"/>
          </a:p>
        </p:txBody>
      </p:sp>
      <p:sp>
        <p:nvSpPr>
          <p:cNvPr id="12" name="Shape 10"/>
          <p:cNvSpPr/>
          <p:nvPr/>
        </p:nvSpPr>
        <p:spPr>
          <a:xfrm>
            <a:off x="914363" y="2912380"/>
            <a:ext cx="2902334" cy="1296572"/>
          </a:xfrm>
          <a:prstGeom prst="roundRect">
            <a:avLst>
              <a:gd name="adj" fmla="val 7346"/>
            </a:avLst>
          </a:prstGeom>
          <a:solidFill>
            <a:srgbClr val="1E3A5F"/>
          </a:solidFill>
          <a:ln/>
        </p:spPr>
        <p:txBody>
          <a:bodyPr/>
          <a:lstStyle/>
          <a:p>
            <a:endParaRPr lang="en-US"/>
          </a:p>
        </p:txBody>
      </p:sp>
      <p:sp>
        <p:nvSpPr>
          <p:cNvPr id="13" name="Text 11"/>
          <p:cNvSpPr/>
          <p:nvPr/>
        </p:nvSpPr>
        <p:spPr>
          <a:xfrm>
            <a:off x="870828" y="2912380"/>
            <a:ext cx="2989405" cy="1334672"/>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Structured</a:t>
            </a:r>
            <a:endParaRPr lang="en-US" sz="1500" dirty="0"/>
          </a:p>
        </p:txBody>
      </p:sp>
      <p:sp>
        <p:nvSpPr>
          <p:cNvPr id="14" name="Shape 12"/>
          <p:cNvSpPr/>
          <p:nvPr/>
        </p:nvSpPr>
        <p:spPr>
          <a:xfrm>
            <a:off x="914363" y="4304202"/>
            <a:ext cx="2902334" cy="1296665"/>
          </a:xfrm>
          <a:prstGeom prst="roundRect">
            <a:avLst>
              <a:gd name="adj" fmla="val 7346"/>
            </a:avLst>
          </a:prstGeom>
          <a:solidFill>
            <a:srgbClr val="1E3A5F"/>
          </a:solidFill>
          <a:ln/>
        </p:spPr>
        <p:txBody>
          <a:bodyPr/>
          <a:lstStyle/>
          <a:p>
            <a:endParaRPr lang="en-US"/>
          </a:p>
        </p:txBody>
      </p:sp>
      <p:sp>
        <p:nvSpPr>
          <p:cNvPr id="15" name="Text 13"/>
          <p:cNvSpPr/>
          <p:nvPr/>
        </p:nvSpPr>
        <p:spPr>
          <a:xfrm>
            <a:off x="870828" y="4304202"/>
            <a:ext cx="2989405" cy="1334765"/>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Streaming</a:t>
            </a:r>
            <a:endParaRPr lang="en-US" sz="1500" dirty="0"/>
          </a:p>
        </p:txBody>
      </p:sp>
      <p:sp>
        <p:nvSpPr>
          <p:cNvPr id="16" name="Shape 14"/>
          <p:cNvSpPr/>
          <p:nvPr/>
        </p:nvSpPr>
        <p:spPr>
          <a:xfrm>
            <a:off x="914363" y="5696117"/>
            <a:ext cx="2902334" cy="1296572"/>
          </a:xfrm>
          <a:prstGeom prst="roundRect">
            <a:avLst>
              <a:gd name="adj" fmla="val 7346"/>
            </a:avLst>
          </a:prstGeom>
          <a:solidFill>
            <a:srgbClr val="1E3A5F"/>
          </a:solidFill>
          <a:ln/>
        </p:spPr>
        <p:txBody>
          <a:bodyPr/>
          <a:lstStyle/>
          <a:p>
            <a:endParaRPr lang="en-US"/>
          </a:p>
        </p:txBody>
      </p:sp>
      <p:sp>
        <p:nvSpPr>
          <p:cNvPr id="17" name="Text 15"/>
          <p:cNvSpPr/>
          <p:nvPr/>
        </p:nvSpPr>
        <p:spPr>
          <a:xfrm>
            <a:off x="870828" y="5696117"/>
            <a:ext cx="2989405" cy="1334672"/>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Batch</a:t>
            </a:r>
            <a:endParaRPr lang="en-US" sz="1500" dirty="0"/>
          </a:p>
        </p:txBody>
      </p:sp>
      <p:sp>
        <p:nvSpPr>
          <p:cNvPr id="18" name="Shape 16"/>
          <p:cNvSpPr/>
          <p:nvPr/>
        </p:nvSpPr>
        <p:spPr>
          <a:xfrm>
            <a:off x="914363" y="7087939"/>
            <a:ext cx="2902334" cy="1296572"/>
          </a:xfrm>
          <a:prstGeom prst="roundRect">
            <a:avLst>
              <a:gd name="adj" fmla="val 7346"/>
            </a:avLst>
          </a:prstGeom>
          <a:solidFill>
            <a:srgbClr val="1E3A5F"/>
          </a:solidFill>
          <a:ln/>
        </p:spPr>
        <p:txBody>
          <a:bodyPr/>
          <a:lstStyle/>
          <a:p>
            <a:endParaRPr lang="en-US"/>
          </a:p>
        </p:txBody>
      </p:sp>
      <p:sp>
        <p:nvSpPr>
          <p:cNvPr id="19" name="Text 17"/>
          <p:cNvSpPr/>
          <p:nvPr/>
        </p:nvSpPr>
        <p:spPr>
          <a:xfrm>
            <a:off x="870828" y="7087939"/>
            <a:ext cx="2989405" cy="1334672"/>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Unstructured</a:t>
            </a:r>
            <a:endParaRPr lang="en-US" sz="1500" dirty="0"/>
          </a:p>
        </p:txBody>
      </p:sp>
      <p:sp>
        <p:nvSpPr>
          <p:cNvPr id="20" name="Text 18"/>
          <p:cNvSpPr/>
          <p:nvPr/>
        </p:nvSpPr>
        <p:spPr>
          <a:xfrm>
            <a:off x="3950047" y="5296607"/>
            <a:ext cx="382823" cy="460772"/>
          </a:xfrm>
          <a:prstGeom prst="rect">
            <a:avLst/>
          </a:prstGeom>
          <a:noFill/>
          <a:ln/>
        </p:spPr>
        <p:txBody>
          <a:bodyPr wrap="square" lIns="25400" tIns="25400" rIns="25400" bIns="25400" rtlCol="0" anchor="ctr">
            <a:normAutofit/>
          </a:bodyPr>
          <a:lstStyle/>
          <a:p>
            <a:pPr marL="0" indent="0" algn="l">
              <a:buNone/>
            </a:pPr>
            <a:r>
              <a:rPr lang="en-US" sz="2550" dirty="0">
                <a:solidFill>
                  <a:srgbClr val="C2C2D4"/>
                </a:solidFill>
                <a:latin typeface="Arial" pitchFamily="34" charset="0"/>
                <a:ea typeface="Arial" pitchFamily="34" charset="-122"/>
                <a:cs typeface="Arial" pitchFamily="34" charset="-120"/>
              </a:rPr>
              <a:t>→</a:t>
            </a:r>
            <a:endParaRPr lang="en-US" sz="2550" dirty="0"/>
          </a:p>
        </p:txBody>
      </p:sp>
      <p:sp>
        <p:nvSpPr>
          <p:cNvPr id="21" name="Text 19"/>
          <p:cNvSpPr/>
          <p:nvPr/>
        </p:nvSpPr>
        <p:spPr>
          <a:xfrm>
            <a:off x="4407173" y="2631467"/>
            <a:ext cx="3040624"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INGESTION</a:t>
            </a:r>
            <a:endParaRPr lang="en-US" sz="1125" dirty="0"/>
          </a:p>
        </p:txBody>
      </p:sp>
      <p:sp>
        <p:nvSpPr>
          <p:cNvPr id="22" name="Shape 20"/>
          <p:cNvSpPr/>
          <p:nvPr/>
        </p:nvSpPr>
        <p:spPr>
          <a:xfrm>
            <a:off x="4407173" y="2912380"/>
            <a:ext cx="2764203" cy="5472131"/>
          </a:xfrm>
          <a:prstGeom prst="roundRect">
            <a:avLst>
              <a:gd name="adj" fmla="val 4135"/>
            </a:avLst>
          </a:prstGeom>
          <a:solidFill>
            <a:srgbClr val="142A52"/>
          </a:solidFill>
          <a:ln/>
        </p:spPr>
        <p:txBody>
          <a:bodyPr/>
          <a:lstStyle/>
          <a:p>
            <a:endParaRPr lang="en-US"/>
          </a:p>
        </p:txBody>
      </p:sp>
      <p:sp>
        <p:nvSpPr>
          <p:cNvPr id="23" name="Text 21"/>
          <p:cNvSpPr/>
          <p:nvPr/>
        </p:nvSpPr>
        <p:spPr>
          <a:xfrm>
            <a:off x="4616648" y="5035228"/>
            <a:ext cx="2579777"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Unified entry point</a:t>
            </a:r>
            <a:endParaRPr lang="en-US" sz="1725" dirty="0"/>
          </a:p>
        </p:txBody>
      </p:sp>
      <p:sp>
        <p:nvSpPr>
          <p:cNvPr id="24" name="Text 22"/>
          <p:cNvSpPr/>
          <p:nvPr/>
        </p:nvSpPr>
        <p:spPr>
          <a:xfrm>
            <a:off x="4616648" y="5418553"/>
            <a:ext cx="2421452"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B9C7E2"/>
                </a:solidFill>
                <a:latin typeface="Arial" pitchFamily="34" charset="0"/>
                <a:ea typeface="Arial" pitchFamily="34" charset="-122"/>
                <a:cs typeface="Arial" pitchFamily="34" charset="-120"/>
              </a:rPr>
              <a:t>Streaming and batch into one front door.</a:t>
            </a:r>
            <a:endParaRPr lang="en-US" sz="1350" dirty="0"/>
          </a:p>
        </p:txBody>
      </p:sp>
      <p:sp>
        <p:nvSpPr>
          <p:cNvPr id="25" name="Text 23"/>
          <p:cNvSpPr/>
          <p:nvPr/>
        </p:nvSpPr>
        <p:spPr>
          <a:xfrm>
            <a:off x="4616648" y="6088931"/>
            <a:ext cx="2579777" cy="210741"/>
          </a:xfrm>
          <a:prstGeom prst="rect">
            <a:avLst/>
          </a:prstGeom>
          <a:noFill/>
          <a:ln/>
        </p:spPr>
        <p:txBody>
          <a:bodyPr wrap="square" lIns="25400" tIns="25400" rIns="25400" bIns="25400" rtlCol="0" anchor="t">
            <a:normAutofit/>
          </a:bodyPr>
          <a:lstStyle/>
          <a:p>
            <a:pPr marL="0" indent="0" algn="l">
              <a:buNone/>
            </a:pPr>
            <a:r>
              <a:rPr lang="en-US" sz="1200" b="1" dirty="0">
                <a:solidFill>
                  <a:srgbClr val="4BBEFF"/>
                </a:solidFill>
                <a:latin typeface="Arial" pitchFamily="34" charset="0"/>
                <a:ea typeface="Arial" pitchFamily="34" charset="-122"/>
                <a:cs typeface="Arial" pitchFamily="34" charset="-120"/>
              </a:rPr>
              <a:t>Replaces all cron-job ETL</a:t>
            </a:r>
            <a:endParaRPr lang="en-US" sz="1200" dirty="0"/>
          </a:p>
        </p:txBody>
      </p:sp>
      <p:sp>
        <p:nvSpPr>
          <p:cNvPr id="26" name="Text 24"/>
          <p:cNvSpPr/>
          <p:nvPr/>
        </p:nvSpPr>
        <p:spPr>
          <a:xfrm>
            <a:off x="7304726" y="5296607"/>
            <a:ext cx="382823" cy="460772"/>
          </a:xfrm>
          <a:prstGeom prst="rect">
            <a:avLst/>
          </a:prstGeom>
          <a:noFill/>
          <a:ln/>
        </p:spPr>
        <p:txBody>
          <a:bodyPr wrap="square" lIns="25400" tIns="25400" rIns="25400" bIns="25400" rtlCol="0" anchor="ctr">
            <a:normAutofit/>
          </a:bodyPr>
          <a:lstStyle/>
          <a:p>
            <a:pPr marL="0" indent="0" algn="l">
              <a:buNone/>
            </a:pPr>
            <a:r>
              <a:rPr lang="en-US" sz="2550" dirty="0">
                <a:solidFill>
                  <a:srgbClr val="C2C2D4"/>
                </a:solidFill>
                <a:latin typeface="Arial" pitchFamily="34" charset="0"/>
                <a:ea typeface="Arial" pitchFamily="34" charset="-122"/>
                <a:cs typeface="Arial" pitchFamily="34" charset="-120"/>
              </a:rPr>
              <a:t>→</a:t>
            </a:r>
            <a:endParaRPr lang="en-US" sz="2550" dirty="0"/>
          </a:p>
        </p:txBody>
      </p:sp>
      <p:sp>
        <p:nvSpPr>
          <p:cNvPr id="27" name="Text 25"/>
          <p:cNvSpPr/>
          <p:nvPr/>
        </p:nvSpPr>
        <p:spPr>
          <a:xfrm>
            <a:off x="7761852" y="2631467"/>
            <a:ext cx="3040624"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PROCESSING</a:t>
            </a:r>
            <a:endParaRPr lang="en-US" sz="1125" dirty="0"/>
          </a:p>
        </p:txBody>
      </p:sp>
      <p:sp>
        <p:nvSpPr>
          <p:cNvPr id="28" name="Shape 26"/>
          <p:cNvSpPr/>
          <p:nvPr/>
        </p:nvSpPr>
        <p:spPr>
          <a:xfrm>
            <a:off x="7761852" y="2912380"/>
            <a:ext cx="2764203" cy="2503847"/>
          </a:xfrm>
          <a:prstGeom prst="roundRect">
            <a:avLst>
              <a:gd name="adj" fmla="val 3804"/>
            </a:avLst>
          </a:prstGeom>
          <a:solidFill>
            <a:srgbClr val="103028"/>
          </a:solidFill>
          <a:ln/>
        </p:spPr>
        <p:txBody>
          <a:bodyPr/>
          <a:lstStyle/>
          <a:p>
            <a:endParaRPr lang="en-US"/>
          </a:p>
        </p:txBody>
      </p:sp>
      <p:sp>
        <p:nvSpPr>
          <p:cNvPr id="29" name="Text 27"/>
          <p:cNvSpPr/>
          <p:nvPr/>
        </p:nvSpPr>
        <p:spPr>
          <a:xfrm>
            <a:off x="7933283" y="3927388"/>
            <a:ext cx="2663475"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Validate · Clean</a:t>
            </a:r>
            <a:endParaRPr lang="en-US" sz="1500" dirty="0"/>
          </a:p>
        </p:txBody>
      </p:sp>
      <p:sp>
        <p:nvSpPr>
          <p:cNvPr id="30" name="Text 28"/>
          <p:cNvSpPr/>
          <p:nvPr/>
        </p:nvSpPr>
        <p:spPr>
          <a:xfrm>
            <a:off x="7933283" y="4204767"/>
            <a:ext cx="2663475" cy="234553"/>
          </a:xfrm>
          <a:prstGeom prst="rect">
            <a:avLst/>
          </a:prstGeom>
          <a:noFill/>
          <a:ln/>
        </p:spPr>
        <p:txBody>
          <a:bodyPr wrap="square" lIns="25400" tIns="25400" rIns="25400" bIns="25400" rtlCol="0" anchor="t">
            <a:normAutofit/>
          </a:bodyPr>
          <a:lstStyle/>
          <a:p>
            <a:pPr marL="0" indent="0" algn="l">
              <a:buNone/>
            </a:pPr>
            <a:r>
              <a:rPr lang="en-US" sz="1200" dirty="0">
                <a:solidFill>
                  <a:srgbClr val="9FCBBE"/>
                </a:solidFill>
                <a:latin typeface="Arial" pitchFamily="34" charset="0"/>
                <a:ea typeface="Arial" pitchFamily="34" charset="-122"/>
                <a:cs typeface="Arial" pitchFamily="34" charset="-120"/>
              </a:rPr>
              <a:t>Quality gate before storage</a:t>
            </a:r>
            <a:endParaRPr lang="en-US" sz="1200" dirty="0"/>
          </a:p>
        </p:txBody>
      </p:sp>
      <p:sp>
        <p:nvSpPr>
          <p:cNvPr id="31" name="Text 29"/>
          <p:cNvSpPr/>
          <p:nvPr/>
        </p:nvSpPr>
        <p:spPr>
          <a:xfrm>
            <a:off x="7623642" y="5511478"/>
            <a:ext cx="3040624" cy="311944"/>
          </a:xfrm>
          <a:prstGeom prst="rect">
            <a:avLst/>
          </a:prstGeom>
          <a:noFill/>
          <a:ln/>
        </p:spPr>
        <p:txBody>
          <a:bodyPr wrap="square" lIns="25400" tIns="25400" rIns="25400" bIns="25400" rtlCol="0" anchor="t">
            <a:normAutofit/>
          </a:bodyPr>
          <a:lstStyle/>
          <a:p>
            <a:pPr marL="0" indent="0" algn="ctr">
              <a:buNone/>
            </a:pPr>
            <a:r>
              <a:rPr lang="en-US" sz="1650" dirty="0">
                <a:solidFill>
                  <a:srgbClr val="8FB8AC"/>
                </a:solidFill>
                <a:latin typeface="Arial" pitchFamily="34" charset="0"/>
                <a:ea typeface="Arial" pitchFamily="34" charset="-122"/>
                <a:cs typeface="Arial" pitchFamily="34" charset="-120"/>
              </a:rPr>
              <a:t>↓</a:t>
            </a:r>
            <a:endParaRPr lang="en-US" sz="1650" dirty="0"/>
          </a:p>
        </p:txBody>
      </p:sp>
      <p:sp>
        <p:nvSpPr>
          <p:cNvPr id="32" name="Shape 30"/>
          <p:cNvSpPr/>
          <p:nvPr/>
        </p:nvSpPr>
        <p:spPr>
          <a:xfrm>
            <a:off x="7761852" y="5880571"/>
            <a:ext cx="2764203" cy="2503940"/>
          </a:xfrm>
          <a:prstGeom prst="roundRect">
            <a:avLst>
              <a:gd name="adj" fmla="val 3804"/>
            </a:avLst>
          </a:prstGeom>
          <a:solidFill>
            <a:srgbClr val="103028"/>
          </a:solidFill>
          <a:ln/>
        </p:spPr>
        <p:txBody>
          <a:bodyPr/>
          <a:lstStyle/>
          <a:p>
            <a:endParaRPr lang="en-US"/>
          </a:p>
        </p:txBody>
      </p:sp>
      <p:sp>
        <p:nvSpPr>
          <p:cNvPr id="33" name="Text 31"/>
          <p:cNvSpPr/>
          <p:nvPr/>
        </p:nvSpPr>
        <p:spPr>
          <a:xfrm>
            <a:off x="7933283" y="6895579"/>
            <a:ext cx="2663475"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Transform · Enrich</a:t>
            </a:r>
            <a:endParaRPr lang="en-US" sz="1500" dirty="0"/>
          </a:p>
        </p:txBody>
      </p:sp>
      <p:sp>
        <p:nvSpPr>
          <p:cNvPr id="34" name="Text 32"/>
          <p:cNvSpPr/>
          <p:nvPr/>
        </p:nvSpPr>
        <p:spPr>
          <a:xfrm>
            <a:off x="7933283" y="7172958"/>
            <a:ext cx="2663475" cy="234553"/>
          </a:xfrm>
          <a:prstGeom prst="rect">
            <a:avLst/>
          </a:prstGeom>
          <a:noFill/>
          <a:ln/>
        </p:spPr>
        <p:txBody>
          <a:bodyPr wrap="square" lIns="25400" tIns="25400" rIns="25400" bIns="25400" rtlCol="0" anchor="t">
            <a:normAutofit/>
          </a:bodyPr>
          <a:lstStyle/>
          <a:p>
            <a:pPr marL="0" indent="0" algn="l">
              <a:buNone/>
            </a:pPr>
            <a:r>
              <a:rPr lang="en-US" sz="1200" dirty="0">
                <a:solidFill>
                  <a:srgbClr val="9FCBBE"/>
                </a:solidFill>
                <a:latin typeface="Arial" pitchFamily="34" charset="0"/>
                <a:ea typeface="Arial" pitchFamily="34" charset="-122"/>
                <a:cs typeface="Arial" pitchFamily="34" charset="-120"/>
              </a:rPr>
              <a:t>Joins · KPIs · context</a:t>
            </a:r>
            <a:endParaRPr lang="en-US" sz="1200" dirty="0"/>
          </a:p>
        </p:txBody>
      </p:sp>
      <p:sp>
        <p:nvSpPr>
          <p:cNvPr id="35" name="Text 33"/>
          <p:cNvSpPr/>
          <p:nvPr/>
        </p:nvSpPr>
        <p:spPr>
          <a:xfrm>
            <a:off x="10659405" y="5296607"/>
            <a:ext cx="382823" cy="460772"/>
          </a:xfrm>
          <a:prstGeom prst="rect">
            <a:avLst/>
          </a:prstGeom>
          <a:noFill/>
          <a:ln/>
        </p:spPr>
        <p:txBody>
          <a:bodyPr wrap="square" lIns="25400" tIns="25400" rIns="25400" bIns="25400" rtlCol="0" anchor="ctr">
            <a:normAutofit/>
          </a:bodyPr>
          <a:lstStyle/>
          <a:p>
            <a:pPr marL="0" indent="0" algn="l">
              <a:buNone/>
            </a:pPr>
            <a:r>
              <a:rPr lang="en-US" sz="2550" dirty="0">
                <a:solidFill>
                  <a:srgbClr val="C2C2D4"/>
                </a:solidFill>
                <a:latin typeface="Arial" pitchFamily="34" charset="0"/>
                <a:ea typeface="Arial" pitchFamily="34" charset="-122"/>
                <a:cs typeface="Arial" pitchFamily="34" charset="-120"/>
              </a:rPr>
              <a:t>→</a:t>
            </a:r>
            <a:endParaRPr lang="en-US" sz="2550" dirty="0"/>
          </a:p>
        </p:txBody>
      </p:sp>
      <p:sp>
        <p:nvSpPr>
          <p:cNvPr id="36" name="Text 34"/>
          <p:cNvSpPr/>
          <p:nvPr/>
        </p:nvSpPr>
        <p:spPr>
          <a:xfrm>
            <a:off x="11116531" y="2631467"/>
            <a:ext cx="3192670"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STORAGE — LAKEHOUSE</a:t>
            </a:r>
            <a:endParaRPr lang="en-US" sz="1125" dirty="0"/>
          </a:p>
        </p:txBody>
      </p:sp>
      <p:sp>
        <p:nvSpPr>
          <p:cNvPr id="37" name="Shape 35"/>
          <p:cNvSpPr/>
          <p:nvPr/>
        </p:nvSpPr>
        <p:spPr>
          <a:xfrm>
            <a:off x="11116531" y="2912380"/>
            <a:ext cx="2902427" cy="1760544"/>
          </a:xfrm>
          <a:prstGeom prst="roundRect">
            <a:avLst>
              <a:gd name="adj" fmla="val 5410"/>
            </a:avLst>
          </a:prstGeom>
          <a:solidFill>
            <a:srgbClr val="2A0E33"/>
          </a:solidFill>
          <a:ln/>
        </p:spPr>
        <p:txBody>
          <a:bodyPr/>
          <a:lstStyle/>
          <a:p>
            <a:endParaRPr lang="en-US"/>
          </a:p>
        </p:txBody>
      </p:sp>
      <p:sp>
        <p:nvSpPr>
          <p:cNvPr id="38" name="Text 36"/>
          <p:cNvSpPr/>
          <p:nvPr/>
        </p:nvSpPr>
        <p:spPr>
          <a:xfrm>
            <a:off x="11287962" y="3568247"/>
            <a:ext cx="2815521"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Raw</a:t>
            </a:r>
            <a:endParaRPr lang="en-US" sz="1500" dirty="0"/>
          </a:p>
        </p:txBody>
      </p:sp>
      <p:sp>
        <p:nvSpPr>
          <p:cNvPr id="39" name="Text 37"/>
          <p:cNvSpPr/>
          <p:nvPr/>
        </p:nvSpPr>
        <p:spPr>
          <a:xfrm>
            <a:off x="11287962" y="3826557"/>
            <a:ext cx="2815521" cy="228600"/>
          </a:xfrm>
          <a:prstGeom prst="rect">
            <a:avLst/>
          </a:prstGeom>
          <a:noFill/>
          <a:ln/>
        </p:spPr>
        <p:txBody>
          <a:bodyPr wrap="square" lIns="25400" tIns="25400" rIns="25400" bIns="25400" rtlCol="0" anchor="t">
            <a:normAutofit/>
          </a:bodyPr>
          <a:lstStyle/>
          <a:p>
            <a:pPr marL="0" indent="0" algn="l">
              <a:buNone/>
            </a:pPr>
            <a:r>
              <a:rPr lang="en-US" sz="1125" dirty="0">
                <a:solidFill>
                  <a:srgbClr val="C9A8D2"/>
                </a:solidFill>
                <a:latin typeface="Arial" pitchFamily="34" charset="0"/>
                <a:ea typeface="Arial" pitchFamily="34" charset="-122"/>
                <a:cs typeface="Arial" pitchFamily="34" charset="-120"/>
              </a:rPr>
              <a:t>Immutable landing</a:t>
            </a:r>
            <a:endParaRPr lang="en-US" sz="1125" dirty="0"/>
          </a:p>
        </p:txBody>
      </p:sp>
      <p:sp>
        <p:nvSpPr>
          <p:cNvPr id="40" name="Shape 38"/>
          <p:cNvSpPr/>
          <p:nvPr/>
        </p:nvSpPr>
        <p:spPr>
          <a:xfrm>
            <a:off x="11116531" y="4768174"/>
            <a:ext cx="2902427" cy="1760544"/>
          </a:xfrm>
          <a:prstGeom prst="roundRect">
            <a:avLst>
              <a:gd name="adj" fmla="val 5410"/>
            </a:avLst>
          </a:prstGeom>
          <a:solidFill>
            <a:srgbClr val="2E1424"/>
          </a:solidFill>
          <a:ln/>
        </p:spPr>
        <p:txBody>
          <a:bodyPr/>
          <a:lstStyle/>
          <a:p>
            <a:endParaRPr lang="en-US"/>
          </a:p>
        </p:txBody>
      </p:sp>
      <p:sp>
        <p:nvSpPr>
          <p:cNvPr id="41" name="Text 39"/>
          <p:cNvSpPr/>
          <p:nvPr/>
        </p:nvSpPr>
        <p:spPr>
          <a:xfrm>
            <a:off x="11287962" y="5424041"/>
            <a:ext cx="2815521"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Cleaned</a:t>
            </a:r>
            <a:endParaRPr lang="en-US" sz="1500" dirty="0"/>
          </a:p>
        </p:txBody>
      </p:sp>
      <p:sp>
        <p:nvSpPr>
          <p:cNvPr id="42" name="Text 40"/>
          <p:cNvSpPr/>
          <p:nvPr/>
        </p:nvSpPr>
        <p:spPr>
          <a:xfrm>
            <a:off x="11287962" y="5682351"/>
            <a:ext cx="2815521" cy="228600"/>
          </a:xfrm>
          <a:prstGeom prst="rect">
            <a:avLst/>
          </a:prstGeom>
          <a:noFill/>
          <a:ln/>
        </p:spPr>
        <p:txBody>
          <a:bodyPr wrap="square" lIns="25400" tIns="25400" rIns="25400" bIns="25400" rtlCol="0" anchor="t">
            <a:normAutofit/>
          </a:bodyPr>
          <a:lstStyle/>
          <a:p>
            <a:pPr marL="0" indent="0" algn="l">
              <a:buNone/>
            </a:pPr>
            <a:r>
              <a:rPr lang="en-US" sz="1125" dirty="0">
                <a:solidFill>
                  <a:srgbClr val="D2A8BE"/>
                </a:solidFill>
                <a:latin typeface="Arial" pitchFamily="34" charset="0"/>
                <a:ea typeface="Arial" pitchFamily="34" charset="-122"/>
                <a:cs typeface="Arial" pitchFamily="34" charset="-120"/>
              </a:rPr>
              <a:t>Validated · PII-masked</a:t>
            </a:r>
            <a:endParaRPr lang="en-US" sz="1125" dirty="0"/>
          </a:p>
        </p:txBody>
      </p:sp>
      <p:sp>
        <p:nvSpPr>
          <p:cNvPr id="43" name="Shape 41"/>
          <p:cNvSpPr/>
          <p:nvPr/>
        </p:nvSpPr>
        <p:spPr>
          <a:xfrm>
            <a:off x="11116531" y="6623968"/>
            <a:ext cx="2902427" cy="1760544"/>
          </a:xfrm>
          <a:prstGeom prst="roundRect">
            <a:avLst>
              <a:gd name="adj" fmla="val 5410"/>
            </a:avLst>
          </a:prstGeom>
          <a:solidFill>
            <a:srgbClr val="0E2A14"/>
          </a:solidFill>
          <a:ln/>
        </p:spPr>
        <p:txBody>
          <a:bodyPr/>
          <a:lstStyle/>
          <a:p>
            <a:endParaRPr lang="en-US"/>
          </a:p>
        </p:txBody>
      </p:sp>
      <p:sp>
        <p:nvSpPr>
          <p:cNvPr id="44" name="Text 42"/>
          <p:cNvSpPr/>
          <p:nvPr/>
        </p:nvSpPr>
        <p:spPr>
          <a:xfrm>
            <a:off x="11287962" y="7279835"/>
            <a:ext cx="2815521"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Curated</a:t>
            </a:r>
            <a:endParaRPr lang="en-US" sz="1500" dirty="0"/>
          </a:p>
        </p:txBody>
      </p:sp>
      <p:sp>
        <p:nvSpPr>
          <p:cNvPr id="45" name="Text 43"/>
          <p:cNvSpPr/>
          <p:nvPr/>
        </p:nvSpPr>
        <p:spPr>
          <a:xfrm>
            <a:off x="11287962" y="7538145"/>
            <a:ext cx="2815521" cy="228600"/>
          </a:xfrm>
          <a:prstGeom prst="rect">
            <a:avLst/>
          </a:prstGeom>
          <a:noFill/>
          <a:ln/>
        </p:spPr>
        <p:txBody>
          <a:bodyPr wrap="square" lIns="25400" tIns="25400" rIns="25400" bIns="25400" rtlCol="0" anchor="t">
            <a:normAutofit/>
          </a:bodyPr>
          <a:lstStyle/>
          <a:p>
            <a:pPr marL="0" indent="0" algn="l">
              <a:buNone/>
            </a:pPr>
            <a:r>
              <a:rPr lang="en-US" sz="1125" dirty="0">
                <a:solidFill>
                  <a:srgbClr val="A8D2B4"/>
                </a:solidFill>
                <a:latin typeface="Arial" pitchFamily="34" charset="0"/>
                <a:ea typeface="Arial" pitchFamily="34" charset="-122"/>
                <a:cs typeface="Arial" pitchFamily="34" charset="-120"/>
              </a:rPr>
              <a:t>BI &amp; ML ready · replaces Excel</a:t>
            </a:r>
            <a:endParaRPr lang="en-US" sz="1125" dirty="0"/>
          </a:p>
        </p:txBody>
      </p:sp>
      <p:sp>
        <p:nvSpPr>
          <p:cNvPr id="46" name="Text 44"/>
          <p:cNvSpPr/>
          <p:nvPr/>
        </p:nvSpPr>
        <p:spPr>
          <a:xfrm>
            <a:off x="14152308" y="5296607"/>
            <a:ext cx="382823" cy="460772"/>
          </a:xfrm>
          <a:prstGeom prst="rect">
            <a:avLst/>
          </a:prstGeom>
          <a:noFill/>
          <a:ln/>
        </p:spPr>
        <p:txBody>
          <a:bodyPr wrap="square" lIns="25400" tIns="25400" rIns="25400" bIns="25400" rtlCol="0" anchor="ctr">
            <a:normAutofit/>
          </a:bodyPr>
          <a:lstStyle/>
          <a:p>
            <a:pPr marL="0" indent="0" algn="l">
              <a:buNone/>
            </a:pPr>
            <a:r>
              <a:rPr lang="en-US" sz="2550" dirty="0">
                <a:solidFill>
                  <a:srgbClr val="C2C2D4"/>
                </a:solidFill>
                <a:latin typeface="Arial" pitchFamily="34" charset="0"/>
                <a:ea typeface="Arial" pitchFamily="34" charset="-122"/>
                <a:cs typeface="Arial" pitchFamily="34" charset="-120"/>
              </a:rPr>
              <a:t>→</a:t>
            </a:r>
            <a:endParaRPr lang="en-US" sz="2550" dirty="0"/>
          </a:p>
        </p:txBody>
      </p:sp>
      <p:sp>
        <p:nvSpPr>
          <p:cNvPr id="47" name="Text 45"/>
          <p:cNvSpPr/>
          <p:nvPr/>
        </p:nvSpPr>
        <p:spPr>
          <a:xfrm>
            <a:off x="14609434" y="2631467"/>
            <a:ext cx="3040624"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CONSUMPTION</a:t>
            </a:r>
            <a:endParaRPr lang="en-US" sz="1125" dirty="0"/>
          </a:p>
        </p:txBody>
      </p:sp>
      <p:sp>
        <p:nvSpPr>
          <p:cNvPr id="48" name="Shape 46"/>
          <p:cNvSpPr/>
          <p:nvPr/>
        </p:nvSpPr>
        <p:spPr>
          <a:xfrm>
            <a:off x="14609434" y="2912380"/>
            <a:ext cx="2764203" cy="5472131"/>
          </a:xfrm>
          <a:prstGeom prst="roundRect">
            <a:avLst>
              <a:gd name="adj" fmla="val 4135"/>
            </a:avLst>
          </a:prstGeom>
          <a:solidFill>
            <a:srgbClr val="0E2238"/>
          </a:solidFill>
          <a:ln/>
        </p:spPr>
        <p:txBody>
          <a:bodyPr/>
          <a:lstStyle/>
          <a:p>
            <a:endParaRPr lang="en-US"/>
          </a:p>
        </p:txBody>
      </p:sp>
      <p:sp>
        <p:nvSpPr>
          <p:cNvPr id="49" name="Text 47"/>
          <p:cNvSpPr/>
          <p:nvPr/>
        </p:nvSpPr>
        <p:spPr>
          <a:xfrm>
            <a:off x="14818909" y="5060342"/>
            <a:ext cx="2579777" cy="246459"/>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BI dashboards</a:t>
            </a:r>
            <a:endParaRPr lang="en-US" sz="1425" dirty="0"/>
          </a:p>
        </p:txBody>
      </p:sp>
      <p:sp>
        <p:nvSpPr>
          <p:cNvPr id="50" name="Text 48"/>
          <p:cNvSpPr/>
          <p:nvPr/>
        </p:nvSpPr>
        <p:spPr>
          <a:xfrm>
            <a:off x="14818909" y="5382927"/>
            <a:ext cx="2579777" cy="246459"/>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ML platform</a:t>
            </a:r>
            <a:endParaRPr lang="en-US" sz="1425" dirty="0"/>
          </a:p>
        </p:txBody>
      </p:sp>
      <p:sp>
        <p:nvSpPr>
          <p:cNvPr id="51" name="Text 49"/>
          <p:cNvSpPr/>
          <p:nvPr/>
        </p:nvSpPr>
        <p:spPr>
          <a:xfrm>
            <a:off x="14818909" y="5705512"/>
            <a:ext cx="2579777" cy="246459"/>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Partner APIs</a:t>
            </a:r>
            <a:endParaRPr lang="en-US" sz="1425" dirty="0"/>
          </a:p>
        </p:txBody>
      </p:sp>
      <p:sp>
        <p:nvSpPr>
          <p:cNvPr id="52" name="Text 50"/>
          <p:cNvSpPr/>
          <p:nvPr/>
        </p:nvSpPr>
        <p:spPr>
          <a:xfrm>
            <a:off x="14818909" y="6028097"/>
            <a:ext cx="2579777" cy="246459"/>
          </a:xfrm>
          <a:prstGeom prst="rect">
            <a:avLst/>
          </a:prstGeom>
          <a:noFill/>
          <a:ln/>
        </p:spPr>
        <p:txBody>
          <a:bodyPr wrap="square" lIns="25400" tIns="25400" rIns="25400" bIns="25400" rtlCol="0" anchor="t">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AI agents</a:t>
            </a:r>
            <a:endParaRPr lang="en-US" sz="1425" dirty="0"/>
          </a:p>
        </p:txBody>
      </p:sp>
      <p:sp>
        <p:nvSpPr>
          <p:cNvPr id="53" name="Shape 51"/>
          <p:cNvSpPr/>
          <p:nvPr/>
        </p:nvSpPr>
        <p:spPr>
          <a:xfrm>
            <a:off x="914363" y="8593987"/>
            <a:ext cx="4014825" cy="473832"/>
          </a:xfrm>
          <a:prstGeom prst="roundRect">
            <a:avLst>
              <a:gd name="adj" fmla="val 20102"/>
            </a:avLst>
          </a:prstGeom>
          <a:solidFill>
            <a:srgbClr val="F5F6F2"/>
          </a:solidFill>
          <a:ln/>
        </p:spPr>
        <p:txBody>
          <a:bodyPr/>
          <a:lstStyle/>
          <a:p>
            <a:endParaRPr lang="en-US"/>
          </a:p>
        </p:txBody>
      </p:sp>
      <p:sp>
        <p:nvSpPr>
          <p:cNvPr id="54" name="Text 52"/>
          <p:cNvSpPr/>
          <p:nvPr/>
        </p:nvSpPr>
        <p:spPr>
          <a:xfrm>
            <a:off x="1085813" y="8717812"/>
            <a:ext cx="3792369" cy="264282"/>
          </a:xfrm>
          <a:prstGeom prst="rect">
            <a:avLst/>
          </a:prstGeom>
          <a:noFill/>
          <a:ln/>
        </p:spPr>
        <p:txBody>
          <a:bodyPr wrap="square" lIns="25400" tIns="25400" rIns="25400" bIns="25400" rtlCol="0" anchor="t">
            <a:normAutofit/>
          </a:bodyPr>
          <a:lstStyle/>
          <a:p>
            <a:pPr marL="0" indent="0" algn="l">
              <a:buNone/>
            </a:pPr>
            <a:r>
              <a:rPr lang="en-US" sz="1350" b="1" dirty="0">
                <a:solidFill>
                  <a:srgbClr val="100B72"/>
                </a:solidFill>
                <a:latin typeface="Arial" pitchFamily="34" charset="0"/>
                <a:ea typeface="Arial" pitchFamily="34" charset="-122"/>
                <a:cs typeface="Arial" pitchFamily="34" charset="-120"/>
              </a:rPr>
              <a:t>Separation of concerns</a:t>
            </a:r>
            <a:endParaRPr lang="en-US" sz="1350" dirty="0"/>
          </a:p>
        </p:txBody>
      </p:sp>
      <p:sp>
        <p:nvSpPr>
          <p:cNvPr id="55" name="Shape 53"/>
          <p:cNvSpPr/>
          <p:nvPr/>
        </p:nvSpPr>
        <p:spPr>
          <a:xfrm>
            <a:off x="5062482" y="8593987"/>
            <a:ext cx="4014918" cy="473832"/>
          </a:xfrm>
          <a:prstGeom prst="roundRect">
            <a:avLst>
              <a:gd name="adj" fmla="val 20102"/>
            </a:avLst>
          </a:prstGeom>
          <a:solidFill>
            <a:srgbClr val="F5F6F2"/>
          </a:solidFill>
          <a:ln/>
        </p:spPr>
        <p:txBody>
          <a:bodyPr/>
          <a:lstStyle/>
          <a:p>
            <a:endParaRPr lang="en-US"/>
          </a:p>
        </p:txBody>
      </p:sp>
      <p:sp>
        <p:nvSpPr>
          <p:cNvPr id="56" name="Text 54"/>
          <p:cNvSpPr/>
          <p:nvPr/>
        </p:nvSpPr>
        <p:spPr>
          <a:xfrm>
            <a:off x="5233932" y="8717812"/>
            <a:ext cx="3792465" cy="264282"/>
          </a:xfrm>
          <a:prstGeom prst="rect">
            <a:avLst/>
          </a:prstGeom>
          <a:noFill/>
          <a:ln/>
        </p:spPr>
        <p:txBody>
          <a:bodyPr wrap="square" lIns="25400" tIns="25400" rIns="25400" bIns="25400" rtlCol="0" anchor="t">
            <a:normAutofit/>
          </a:bodyPr>
          <a:lstStyle/>
          <a:p>
            <a:pPr marL="0" indent="0" algn="l">
              <a:buNone/>
            </a:pPr>
            <a:r>
              <a:rPr lang="en-US" sz="1350" b="1" dirty="0">
                <a:solidFill>
                  <a:srgbClr val="100B72"/>
                </a:solidFill>
                <a:latin typeface="Arial" pitchFamily="34" charset="0"/>
                <a:ea typeface="Arial" pitchFamily="34" charset="-122"/>
                <a:cs typeface="Arial" pitchFamily="34" charset="-120"/>
              </a:rPr>
              <a:t>Modularity</a:t>
            </a:r>
            <a:endParaRPr lang="en-US" sz="1350" dirty="0"/>
          </a:p>
        </p:txBody>
      </p:sp>
      <p:sp>
        <p:nvSpPr>
          <p:cNvPr id="57" name="Shape 55"/>
          <p:cNvSpPr/>
          <p:nvPr/>
        </p:nvSpPr>
        <p:spPr>
          <a:xfrm>
            <a:off x="9210694" y="8593987"/>
            <a:ext cx="4014825" cy="473832"/>
          </a:xfrm>
          <a:prstGeom prst="roundRect">
            <a:avLst>
              <a:gd name="adj" fmla="val 20102"/>
            </a:avLst>
          </a:prstGeom>
          <a:solidFill>
            <a:srgbClr val="F5F6F2"/>
          </a:solidFill>
          <a:ln/>
        </p:spPr>
        <p:txBody>
          <a:bodyPr/>
          <a:lstStyle/>
          <a:p>
            <a:endParaRPr lang="en-US"/>
          </a:p>
        </p:txBody>
      </p:sp>
      <p:sp>
        <p:nvSpPr>
          <p:cNvPr id="58" name="Text 56"/>
          <p:cNvSpPr/>
          <p:nvPr/>
        </p:nvSpPr>
        <p:spPr>
          <a:xfrm>
            <a:off x="9382144" y="8717812"/>
            <a:ext cx="3792369" cy="264282"/>
          </a:xfrm>
          <a:prstGeom prst="rect">
            <a:avLst/>
          </a:prstGeom>
          <a:noFill/>
          <a:ln/>
        </p:spPr>
        <p:txBody>
          <a:bodyPr wrap="square" lIns="25400" tIns="25400" rIns="25400" bIns="25400" rtlCol="0" anchor="t">
            <a:normAutofit/>
          </a:bodyPr>
          <a:lstStyle/>
          <a:p>
            <a:pPr marL="0" indent="0" algn="l">
              <a:buNone/>
            </a:pPr>
            <a:r>
              <a:rPr lang="en-US" sz="1350" b="1" dirty="0">
                <a:solidFill>
                  <a:srgbClr val="100B72"/>
                </a:solidFill>
                <a:latin typeface="Arial" pitchFamily="34" charset="0"/>
                <a:ea typeface="Arial" pitchFamily="34" charset="-122"/>
                <a:cs typeface="Arial" pitchFamily="34" charset="-120"/>
              </a:rPr>
              <a:t>Elasticity</a:t>
            </a:r>
            <a:endParaRPr lang="en-US" sz="1350" dirty="0"/>
          </a:p>
        </p:txBody>
      </p:sp>
      <p:sp>
        <p:nvSpPr>
          <p:cNvPr id="59" name="Shape 57"/>
          <p:cNvSpPr/>
          <p:nvPr/>
        </p:nvSpPr>
        <p:spPr>
          <a:xfrm>
            <a:off x="13358813" y="8593987"/>
            <a:ext cx="4014825" cy="473832"/>
          </a:xfrm>
          <a:prstGeom prst="roundRect">
            <a:avLst>
              <a:gd name="adj" fmla="val 20102"/>
            </a:avLst>
          </a:prstGeom>
          <a:solidFill>
            <a:srgbClr val="F5F6F2"/>
          </a:solidFill>
          <a:ln/>
        </p:spPr>
        <p:txBody>
          <a:bodyPr/>
          <a:lstStyle/>
          <a:p>
            <a:endParaRPr lang="en-US"/>
          </a:p>
        </p:txBody>
      </p:sp>
      <p:sp>
        <p:nvSpPr>
          <p:cNvPr id="60" name="Text 58"/>
          <p:cNvSpPr/>
          <p:nvPr/>
        </p:nvSpPr>
        <p:spPr>
          <a:xfrm>
            <a:off x="13530263" y="8717812"/>
            <a:ext cx="3792369" cy="264282"/>
          </a:xfrm>
          <a:prstGeom prst="rect">
            <a:avLst/>
          </a:prstGeom>
          <a:noFill/>
          <a:ln/>
        </p:spPr>
        <p:txBody>
          <a:bodyPr wrap="square" lIns="25400" tIns="25400" rIns="25400" bIns="25400" rtlCol="0" anchor="t">
            <a:normAutofit/>
          </a:bodyPr>
          <a:lstStyle/>
          <a:p>
            <a:pPr marL="0" indent="0" algn="l">
              <a:buNone/>
            </a:pPr>
            <a:r>
              <a:rPr lang="en-US" sz="1350" b="1" dirty="0">
                <a:solidFill>
                  <a:srgbClr val="100B72"/>
                </a:solidFill>
                <a:latin typeface="Arial" pitchFamily="34" charset="0"/>
                <a:ea typeface="Arial" pitchFamily="34" charset="-122"/>
                <a:cs typeface="Arial" pitchFamily="34" charset="-120"/>
              </a:rPr>
              <a:t>Open standards</a:t>
            </a:r>
            <a:endParaRPr lang="en-US" sz="1350" dirty="0"/>
          </a:p>
        </p:txBody>
      </p:sp>
      <p:sp>
        <p:nvSpPr>
          <p:cNvPr id="61" name="Shape 59"/>
          <p:cNvSpPr/>
          <p:nvPr/>
        </p:nvSpPr>
        <p:spPr>
          <a:xfrm>
            <a:off x="914363" y="9271434"/>
            <a:ext cx="16459274" cy="9525"/>
          </a:xfrm>
          <a:prstGeom prst="rect">
            <a:avLst/>
          </a:prstGeom>
          <a:solidFill>
            <a:srgbClr val="ECECF2"/>
          </a:solidFill>
          <a:ln/>
        </p:spPr>
        <p:txBody>
          <a:bodyPr/>
          <a:lstStyle/>
          <a:p>
            <a:endParaRPr lang="en-US"/>
          </a:p>
        </p:txBody>
      </p:sp>
      <p:sp>
        <p:nvSpPr>
          <p:cNvPr id="62" name="Text 60"/>
          <p:cNvSpPr/>
          <p:nvPr/>
        </p:nvSpPr>
        <p:spPr>
          <a:xfrm>
            <a:off x="914363" y="9575602"/>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63" name="Image 0" descr="preencoded.png"/>
          <p:cNvPicPr>
            <a:picLocks noChangeAspect="1"/>
          </p:cNvPicPr>
          <p:nvPr/>
        </p:nvPicPr>
        <p:blipFill>
          <a:blip r:embed="rId3"/>
          <a:stretch>
            <a:fillRect/>
          </a:stretch>
        </p:blipFill>
        <p:spPr>
          <a:xfrm>
            <a:off x="16906875" y="9429750"/>
            <a:ext cx="466762" cy="476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3C"/>
        </a:solidFill>
        <a:effectLst/>
      </p:bgPr>
    </p:bg>
    <p:spTree>
      <p:nvGrpSpPr>
        <p:cNvPr id="1" name=""/>
        <p:cNvGrpSpPr/>
        <p:nvPr/>
      </p:nvGrpSpPr>
      <p:grpSpPr>
        <a:xfrm>
          <a:off x="0" y="0"/>
          <a:ext cx="0" cy="0"/>
          <a:chOff x="0" y="0"/>
          <a:chExt cx="0" cy="0"/>
        </a:xfrm>
      </p:grpSpPr>
      <p:sp>
        <p:nvSpPr>
          <p:cNvPr id="2" name="Text 0"/>
          <p:cNvSpPr/>
          <p:nvPr/>
        </p:nvSpPr>
        <p:spPr>
          <a:xfrm>
            <a:off x="685726" y="476250"/>
            <a:ext cx="4993388" cy="234553"/>
          </a:xfrm>
          <a:prstGeom prst="rect">
            <a:avLst/>
          </a:prstGeom>
          <a:noFill/>
          <a:ln/>
        </p:spPr>
        <p:txBody>
          <a:bodyPr wrap="square" lIns="25400" tIns="25400" rIns="25400" bIns="25400" rtlCol="0" anchor="t">
            <a:normAutofit/>
          </a:bodyPr>
          <a:lstStyle/>
          <a:p>
            <a:pPr marL="0" indent="0" algn="l">
              <a:buNone/>
            </a:pPr>
            <a:r>
              <a:rPr lang="en-US" sz="1350" b="1" kern="0" spc="324" dirty="0">
                <a:solidFill>
                  <a:srgbClr val="6BC600"/>
                </a:solidFill>
                <a:latin typeface="Arial" pitchFamily="34" charset="0"/>
                <a:ea typeface="Arial" pitchFamily="34" charset="-122"/>
                <a:cs typeface="Arial" pitchFamily="34" charset="-120"/>
              </a:rPr>
              <a:t>LOW-LEVEL ARCHITECTURE · AWS</a:t>
            </a:r>
            <a:endParaRPr lang="en-US" sz="1350" dirty="0"/>
          </a:p>
        </p:txBody>
      </p:sp>
      <p:sp>
        <p:nvSpPr>
          <p:cNvPr id="3" name="Text 1"/>
          <p:cNvSpPr/>
          <p:nvPr/>
        </p:nvSpPr>
        <p:spPr>
          <a:xfrm>
            <a:off x="685726" y="748885"/>
            <a:ext cx="4993388" cy="400031"/>
          </a:xfrm>
          <a:prstGeom prst="rect">
            <a:avLst/>
          </a:prstGeom>
          <a:noFill/>
          <a:ln/>
        </p:spPr>
        <p:txBody>
          <a:bodyPr wrap="square" lIns="25400" tIns="25400" rIns="25400" bIns="25400" rtlCol="0" anchor="t">
            <a:normAutofit/>
          </a:bodyPr>
          <a:lstStyle/>
          <a:p>
            <a:pPr marL="0" indent="0" algn="l">
              <a:lnSpc>
                <a:spcPct val="100000"/>
              </a:lnSpc>
              <a:buNone/>
            </a:pPr>
            <a:r>
              <a:rPr lang="en-US" sz="2850" b="1" kern="0" spc="-57" dirty="0">
                <a:solidFill>
                  <a:srgbClr val="FFFFFF"/>
                </a:solidFill>
                <a:latin typeface="Arial" pitchFamily="34" charset="0"/>
                <a:ea typeface="Arial" pitchFamily="34" charset="-122"/>
                <a:cs typeface="Arial" pitchFamily="34" charset="-120"/>
              </a:rPr>
              <a:t>End-to-end data flow on AWS</a:t>
            </a:r>
            <a:endParaRPr lang="en-US" sz="2850" dirty="0"/>
          </a:p>
        </p:txBody>
      </p:sp>
      <p:sp>
        <p:nvSpPr>
          <p:cNvPr id="4" name="Shape 2"/>
          <p:cNvSpPr/>
          <p:nvPr/>
        </p:nvSpPr>
        <p:spPr>
          <a:xfrm>
            <a:off x="11837045" y="953616"/>
            <a:ext cx="123806" cy="123806"/>
          </a:xfrm>
          <a:prstGeom prst="roundRect">
            <a:avLst>
              <a:gd name="adj" fmla="val 23080"/>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sp>
        <p:nvSpPr>
          <p:cNvPr id="5" name="Text 3"/>
          <p:cNvSpPr/>
          <p:nvPr/>
        </p:nvSpPr>
        <p:spPr>
          <a:xfrm>
            <a:off x="12017964" y="920316"/>
            <a:ext cx="661281"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Analytics</a:t>
            </a:r>
            <a:endParaRPr lang="en-US" sz="1125" dirty="0"/>
          </a:p>
        </p:txBody>
      </p:sp>
      <p:sp>
        <p:nvSpPr>
          <p:cNvPr id="6" name="Shape 4"/>
          <p:cNvSpPr/>
          <p:nvPr/>
        </p:nvSpPr>
        <p:spPr>
          <a:xfrm>
            <a:off x="12736339" y="953616"/>
            <a:ext cx="123806" cy="123806"/>
          </a:xfrm>
          <a:prstGeom prst="roundRect">
            <a:avLst>
              <a:gd name="adj" fmla="val 23080"/>
            </a:avLst>
          </a:prstGeom>
          <a:gradFill rotWithShape="1">
            <a:gsLst>
              <a:gs pos="0">
                <a:srgbClr val="F89A4B">
                  <a:alpha val="100000"/>
                </a:srgbClr>
              </a:gs>
              <a:gs pos="100000">
                <a:srgbClr val="D45B00">
                  <a:alpha val="100000"/>
                </a:srgbClr>
              </a:gs>
            </a:gsLst>
            <a:lin ang="2700000" scaled="0"/>
          </a:gradFill>
          <a:ln/>
        </p:spPr>
        <p:txBody>
          <a:bodyPr/>
          <a:lstStyle/>
          <a:p>
            <a:endParaRPr lang="en-US"/>
          </a:p>
        </p:txBody>
      </p:sp>
      <p:sp>
        <p:nvSpPr>
          <p:cNvPr id="7" name="Text 5"/>
          <p:cNvSpPr/>
          <p:nvPr/>
        </p:nvSpPr>
        <p:spPr>
          <a:xfrm>
            <a:off x="12917258" y="920316"/>
            <a:ext cx="661746"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Compute</a:t>
            </a:r>
            <a:endParaRPr lang="en-US" sz="1125" dirty="0"/>
          </a:p>
        </p:txBody>
      </p:sp>
      <p:sp>
        <p:nvSpPr>
          <p:cNvPr id="8" name="Shape 6"/>
          <p:cNvSpPr/>
          <p:nvPr/>
        </p:nvSpPr>
        <p:spPr>
          <a:xfrm>
            <a:off x="13636098" y="953616"/>
            <a:ext cx="123806" cy="123806"/>
          </a:xfrm>
          <a:prstGeom prst="roundRect">
            <a:avLst>
              <a:gd name="adj" fmla="val 23080"/>
            </a:avLst>
          </a:prstGeom>
          <a:gradFill rotWithShape="1">
            <a:gsLst>
              <a:gs pos="0">
                <a:srgbClr val="9FCB3F">
                  <a:alpha val="100000"/>
                </a:srgbClr>
              </a:gs>
              <a:gs pos="100000">
                <a:srgbClr val="5E8200">
                  <a:alpha val="100000"/>
                </a:srgbClr>
              </a:gs>
            </a:gsLst>
            <a:lin ang="2700000" scaled="0"/>
          </a:gradFill>
          <a:ln/>
        </p:spPr>
        <p:txBody>
          <a:bodyPr/>
          <a:lstStyle/>
          <a:p>
            <a:endParaRPr lang="en-US"/>
          </a:p>
        </p:txBody>
      </p:sp>
      <p:sp>
        <p:nvSpPr>
          <p:cNvPr id="9" name="Text 7"/>
          <p:cNvSpPr/>
          <p:nvPr/>
        </p:nvSpPr>
        <p:spPr>
          <a:xfrm>
            <a:off x="13817017" y="920316"/>
            <a:ext cx="57003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Storage</a:t>
            </a:r>
            <a:endParaRPr lang="en-US" sz="1125" dirty="0"/>
          </a:p>
        </p:txBody>
      </p:sp>
      <p:sp>
        <p:nvSpPr>
          <p:cNvPr id="10" name="Shape 8"/>
          <p:cNvSpPr/>
          <p:nvPr/>
        </p:nvSpPr>
        <p:spPr>
          <a:xfrm>
            <a:off x="14444142" y="953616"/>
            <a:ext cx="123806" cy="123806"/>
          </a:xfrm>
          <a:prstGeom prst="roundRect">
            <a:avLst>
              <a:gd name="adj" fmla="val 23080"/>
            </a:avLst>
          </a:prstGeom>
          <a:gradFill rotWithShape="1">
            <a:gsLst>
              <a:gs pos="0">
                <a:srgbClr val="5B8DEF">
                  <a:alpha val="100000"/>
                </a:srgbClr>
              </a:gs>
              <a:gs pos="100000">
                <a:srgbClr val="2B3FC4">
                  <a:alpha val="100000"/>
                </a:srgbClr>
              </a:gs>
            </a:gsLst>
            <a:lin ang="2700000" scaled="0"/>
          </a:gradFill>
          <a:ln/>
        </p:spPr>
        <p:txBody>
          <a:bodyPr/>
          <a:lstStyle/>
          <a:p>
            <a:endParaRPr lang="en-US"/>
          </a:p>
        </p:txBody>
      </p:sp>
      <p:sp>
        <p:nvSpPr>
          <p:cNvPr id="11" name="Text 9"/>
          <p:cNvSpPr/>
          <p:nvPr/>
        </p:nvSpPr>
        <p:spPr>
          <a:xfrm>
            <a:off x="14625061" y="920316"/>
            <a:ext cx="682023"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Database</a:t>
            </a:r>
            <a:endParaRPr lang="en-US" sz="1125" dirty="0"/>
          </a:p>
        </p:txBody>
      </p:sp>
      <p:sp>
        <p:nvSpPr>
          <p:cNvPr id="12" name="Shape 10"/>
          <p:cNvSpPr/>
          <p:nvPr/>
        </p:nvSpPr>
        <p:spPr>
          <a:xfrm>
            <a:off x="15364178" y="953616"/>
            <a:ext cx="123806" cy="123806"/>
          </a:xfrm>
          <a:prstGeom prst="roundRect">
            <a:avLst>
              <a:gd name="adj" fmla="val 23080"/>
            </a:avLst>
          </a:prstGeom>
          <a:gradFill rotWithShape="1">
            <a:gsLst>
              <a:gs pos="0">
                <a:srgbClr val="2FD6B8">
                  <a:alpha val="100000"/>
                </a:srgbClr>
              </a:gs>
              <a:gs pos="100000">
                <a:srgbClr val="018E78">
                  <a:alpha val="100000"/>
                </a:srgbClr>
              </a:gs>
            </a:gsLst>
            <a:lin ang="2700000" scaled="0"/>
          </a:gradFill>
          <a:ln/>
        </p:spPr>
        <p:txBody>
          <a:bodyPr/>
          <a:lstStyle/>
          <a:p>
            <a:endParaRPr lang="en-US"/>
          </a:p>
        </p:txBody>
      </p:sp>
      <p:sp>
        <p:nvSpPr>
          <p:cNvPr id="13" name="Text 11"/>
          <p:cNvSpPr/>
          <p:nvPr/>
        </p:nvSpPr>
        <p:spPr>
          <a:xfrm>
            <a:off x="15545098" y="920316"/>
            <a:ext cx="263816"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ML</a:t>
            </a:r>
            <a:endParaRPr lang="en-US" sz="1125" dirty="0"/>
          </a:p>
        </p:txBody>
      </p:sp>
      <p:sp>
        <p:nvSpPr>
          <p:cNvPr id="14" name="Shape 12"/>
          <p:cNvSpPr/>
          <p:nvPr/>
        </p:nvSpPr>
        <p:spPr>
          <a:xfrm>
            <a:off x="15866008" y="953616"/>
            <a:ext cx="123806" cy="123806"/>
          </a:xfrm>
          <a:prstGeom prst="roundRect">
            <a:avLst>
              <a:gd name="adj" fmla="val 23080"/>
            </a:avLst>
          </a:prstGeom>
          <a:gradFill rotWithShape="1">
            <a:gsLst>
              <a:gs pos="0">
                <a:srgbClr val="F65BA6">
                  <a:alpha val="100000"/>
                </a:srgbClr>
              </a:gs>
              <a:gs pos="100000">
                <a:srgbClr val="D10E6E">
                  <a:alpha val="100000"/>
                </a:srgbClr>
              </a:gs>
            </a:gsLst>
            <a:lin ang="2700000" scaled="0"/>
          </a:gradFill>
          <a:ln/>
        </p:spPr>
        <p:txBody>
          <a:bodyPr/>
          <a:lstStyle/>
          <a:p>
            <a:endParaRPr lang="en-US"/>
          </a:p>
        </p:txBody>
      </p:sp>
      <p:sp>
        <p:nvSpPr>
          <p:cNvPr id="15" name="Text 13"/>
          <p:cNvSpPr/>
          <p:nvPr/>
        </p:nvSpPr>
        <p:spPr>
          <a:xfrm>
            <a:off x="16046927" y="920316"/>
            <a:ext cx="793179"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Integration</a:t>
            </a:r>
            <a:endParaRPr lang="en-US" sz="1125" dirty="0"/>
          </a:p>
        </p:txBody>
      </p:sp>
      <p:sp>
        <p:nvSpPr>
          <p:cNvPr id="16" name="Shape 14"/>
          <p:cNvSpPr/>
          <p:nvPr/>
        </p:nvSpPr>
        <p:spPr>
          <a:xfrm>
            <a:off x="16897201" y="953616"/>
            <a:ext cx="123806" cy="123806"/>
          </a:xfrm>
          <a:prstGeom prst="roundRect">
            <a:avLst>
              <a:gd name="adj" fmla="val 23080"/>
            </a:avLst>
          </a:prstGeom>
          <a:gradFill rotWithShape="1">
            <a:gsLst>
              <a:gs pos="0">
                <a:srgbClr val="F0586E">
                  <a:alpha val="100000"/>
                </a:srgbClr>
              </a:gs>
              <a:gs pos="100000">
                <a:srgbClr val="C42138">
                  <a:alpha val="100000"/>
                </a:srgbClr>
              </a:gs>
            </a:gsLst>
            <a:lin ang="2700000" scaled="0"/>
          </a:gradFill>
          <a:ln/>
        </p:spPr>
        <p:txBody>
          <a:bodyPr/>
          <a:lstStyle/>
          <a:p>
            <a:endParaRPr lang="en-US"/>
          </a:p>
        </p:txBody>
      </p:sp>
      <p:sp>
        <p:nvSpPr>
          <p:cNvPr id="17" name="Text 15"/>
          <p:cNvSpPr/>
          <p:nvPr/>
        </p:nvSpPr>
        <p:spPr>
          <a:xfrm>
            <a:off x="17078120" y="920316"/>
            <a:ext cx="600354"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C8"/>
                </a:solidFill>
                <a:latin typeface="Arial" pitchFamily="34" charset="0"/>
                <a:ea typeface="Arial" pitchFamily="34" charset="-122"/>
                <a:cs typeface="Arial" pitchFamily="34" charset="-120"/>
              </a:rPr>
              <a:t>Security</a:t>
            </a:r>
            <a:endParaRPr lang="en-US" sz="1125" dirty="0"/>
          </a:p>
        </p:txBody>
      </p:sp>
      <p:sp>
        <p:nvSpPr>
          <p:cNvPr id="18" name="Shape 16"/>
          <p:cNvSpPr/>
          <p:nvPr/>
        </p:nvSpPr>
        <p:spPr>
          <a:xfrm>
            <a:off x="685726" y="1244110"/>
            <a:ext cx="16916549" cy="594103"/>
          </a:xfrm>
          <a:prstGeom prst="roundRect">
            <a:avLst>
              <a:gd name="adj" fmla="val 17636"/>
            </a:avLst>
          </a:prstGeom>
          <a:solidFill>
            <a:srgbClr val="781E28">
              <a:alpha val="16000"/>
            </a:srgbClr>
          </a:solidFill>
          <a:ln w="5953">
            <a:solidFill>
              <a:srgbClr val="5A2030"/>
            </a:solidFill>
            <a:prstDash val="solid"/>
          </a:ln>
        </p:spPr>
        <p:txBody>
          <a:bodyPr/>
          <a:lstStyle/>
          <a:p>
            <a:endParaRPr lang="en-US"/>
          </a:p>
        </p:txBody>
      </p:sp>
      <p:sp>
        <p:nvSpPr>
          <p:cNvPr id="19" name="Text 17"/>
          <p:cNvSpPr/>
          <p:nvPr/>
        </p:nvSpPr>
        <p:spPr>
          <a:xfrm>
            <a:off x="844042" y="1398240"/>
            <a:ext cx="1992083" cy="323850"/>
          </a:xfrm>
          <a:prstGeom prst="rect">
            <a:avLst/>
          </a:prstGeom>
          <a:noFill/>
          <a:ln/>
        </p:spPr>
        <p:txBody>
          <a:bodyPr wrap="none" lIns="25400" tIns="25400" rIns="25400" bIns="25400" rtlCol="0" anchor="t">
            <a:normAutofit/>
          </a:bodyPr>
          <a:lstStyle/>
          <a:p>
            <a:pPr marL="0" indent="0" algn="l">
              <a:buNone/>
            </a:pPr>
            <a:r>
              <a:rPr lang="en-US" sz="975" b="1" kern="0" spc="127" dirty="0">
                <a:solidFill>
                  <a:srgbClr val="F08A8A"/>
                </a:solidFill>
                <a:latin typeface="Arial" pitchFamily="34" charset="0"/>
                <a:ea typeface="Arial" pitchFamily="34" charset="-122"/>
                <a:cs typeface="Arial" pitchFamily="34" charset="-120"/>
              </a:rPr>
              <a:t>SECURITY &amp; MONITORING </a:t>
            </a:r>
            <a:r>
              <a:rPr lang="en-US" sz="825" b="1" kern="0" spc="127" dirty="0">
                <a:solidFill>
                  <a:srgbClr val="B07078"/>
                </a:solidFill>
                <a:latin typeface="Arial" pitchFamily="34" charset="0"/>
                <a:ea typeface="Arial" pitchFamily="34" charset="-122"/>
                <a:cs typeface="Arial" pitchFamily="34" charset="-120"/>
              </a:rPr>
              <a:t>SPANS ALL LAYERS</a:t>
            </a:r>
            <a:endParaRPr lang="en-US" sz="975" dirty="0"/>
          </a:p>
        </p:txBody>
      </p:sp>
      <p:sp>
        <p:nvSpPr>
          <p:cNvPr id="20" name="Shape 18"/>
          <p:cNvSpPr/>
          <p:nvPr/>
        </p:nvSpPr>
        <p:spPr>
          <a:xfrm>
            <a:off x="2893219" y="1335732"/>
            <a:ext cx="2353717"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21" name="Text 19"/>
          <p:cNvSpPr/>
          <p:nvPr/>
        </p:nvSpPr>
        <p:spPr>
          <a:xfrm>
            <a:off x="2994422" y="1398798"/>
            <a:ext cx="2366442"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CloudTrail</a:t>
            </a:r>
            <a:endParaRPr lang="en-US" sz="1013" dirty="0"/>
          </a:p>
        </p:txBody>
      </p:sp>
      <p:sp>
        <p:nvSpPr>
          <p:cNvPr id="22" name="Text 20"/>
          <p:cNvSpPr/>
          <p:nvPr/>
        </p:nvSpPr>
        <p:spPr>
          <a:xfrm>
            <a:off x="2994422" y="1546603"/>
            <a:ext cx="2366442"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GDPR audit logs</a:t>
            </a:r>
            <a:endParaRPr lang="en-US" sz="825" dirty="0"/>
          </a:p>
        </p:txBody>
      </p:sp>
      <p:sp>
        <p:nvSpPr>
          <p:cNvPr id="23" name="Shape 21"/>
          <p:cNvSpPr/>
          <p:nvPr/>
        </p:nvSpPr>
        <p:spPr>
          <a:xfrm>
            <a:off x="5332605" y="1335732"/>
            <a:ext cx="2353810"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24" name="Text 22"/>
          <p:cNvSpPr/>
          <p:nvPr/>
        </p:nvSpPr>
        <p:spPr>
          <a:xfrm>
            <a:off x="5433808" y="1398798"/>
            <a:ext cx="2366544"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Amazon VPC</a:t>
            </a:r>
            <a:endParaRPr lang="en-US" sz="1013" dirty="0"/>
          </a:p>
        </p:txBody>
      </p:sp>
      <p:sp>
        <p:nvSpPr>
          <p:cNvPr id="25" name="Text 23"/>
          <p:cNvSpPr/>
          <p:nvPr/>
        </p:nvSpPr>
        <p:spPr>
          <a:xfrm>
            <a:off x="5433808" y="1546603"/>
            <a:ext cx="2366544"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network isolation</a:t>
            </a:r>
            <a:endParaRPr lang="en-US" sz="825" dirty="0"/>
          </a:p>
        </p:txBody>
      </p:sp>
      <p:sp>
        <p:nvSpPr>
          <p:cNvPr id="26" name="Shape 24"/>
          <p:cNvSpPr/>
          <p:nvPr/>
        </p:nvSpPr>
        <p:spPr>
          <a:xfrm>
            <a:off x="7772084" y="1335732"/>
            <a:ext cx="2353717"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27" name="Text 25"/>
          <p:cNvSpPr/>
          <p:nvPr/>
        </p:nvSpPr>
        <p:spPr>
          <a:xfrm>
            <a:off x="7873287" y="1398798"/>
            <a:ext cx="2366442"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Terraform · CDK</a:t>
            </a:r>
            <a:endParaRPr lang="en-US" sz="1013" dirty="0"/>
          </a:p>
        </p:txBody>
      </p:sp>
      <p:sp>
        <p:nvSpPr>
          <p:cNvPr id="28" name="Text 26"/>
          <p:cNvSpPr/>
          <p:nvPr/>
        </p:nvSpPr>
        <p:spPr>
          <a:xfrm>
            <a:off x="7873287" y="1546603"/>
            <a:ext cx="2366442"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IaC · 3 envs</a:t>
            </a:r>
            <a:endParaRPr lang="en-US" sz="825" dirty="0"/>
          </a:p>
        </p:txBody>
      </p:sp>
      <p:sp>
        <p:nvSpPr>
          <p:cNvPr id="29" name="Shape 27"/>
          <p:cNvSpPr/>
          <p:nvPr/>
        </p:nvSpPr>
        <p:spPr>
          <a:xfrm>
            <a:off x="10211470" y="1335732"/>
            <a:ext cx="2353717"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30" name="Text 28"/>
          <p:cNvSpPr/>
          <p:nvPr/>
        </p:nvSpPr>
        <p:spPr>
          <a:xfrm>
            <a:off x="10312673" y="1398798"/>
            <a:ext cx="2366442"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IAM · KMS</a:t>
            </a:r>
            <a:endParaRPr lang="en-US" sz="1013" dirty="0"/>
          </a:p>
        </p:txBody>
      </p:sp>
      <p:sp>
        <p:nvSpPr>
          <p:cNvPr id="31" name="Text 29"/>
          <p:cNvSpPr/>
          <p:nvPr/>
        </p:nvSpPr>
        <p:spPr>
          <a:xfrm>
            <a:off x="10312673" y="1546603"/>
            <a:ext cx="2366442"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auth · encryption</a:t>
            </a:r>
            <a:endParaRPr lang="en-US" sz="825" dirty="0"/>
          </a:p>
        </p:txBody>
      </p:sp>
      <p:sp>
        <p:nvSpPr>
          <p:cNvPr id="32" name="Shape 30"/>
          <p:cNvSpPr/>
          <p:nvPr/>
        </p:nvSpPr>
        <p:spPr>
          <a:xfrm>
            <a:off x="12650856" y="1335732"/>
            <a:ext cx="2353717"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33" name="Text 31"/>
          <p:cNvSpPr/>
          <p:nvPr/>
        </p:nvSpPr>
        <p:spPr>
          <a:xfrm>
            <a:off x="12752059" y="1398798"/>
            <a:ext cx="2366442"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CloudWatch</a:t>
            </a:r>
            <a:endParaRPr lang="en-US" sz="1013" dirty="0"/>
          </a:p>
        </p:txBody>
      </p:sp>
      <p:sp>
        <p:nvSpPr>
          <p:cNvPr id="34" name="Text 32"/>
          <p:cNvSpPr/>
          <p:nvPr/>
        </p:nvSpPr>
        <p:spPr>
          <a:xfrm>
            <a:off x="12752059" y="1546603"/>
            <a:ext cx="2366442"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monitoring · alerts</a:t>
            </a:r>
            <a:endParaRPr lang="en-US" sz="825" dirty="0"/>
          </a:p>
        </p:txBody>
      </p:sp>
      <p:sp>
        <p:nvSpPr>
          <p:cNvPr id="35" name="Shape 33"/>
          <p:cNvSpPr/>
          <p:nvPr/>
        </p:nvSpPr>
        <p:spPr>
          <a:xfrm>
            <a:off x="15090242" y="1335732"/>
            <a:ext cx="2353717" cy="410859"/>
          </a:xfrm>
          <a:prstGeom prst="roundRect">
            <a:avLst>
              <a:gd name="adj" fmla="val 16228"/>
            </a:avLst>
          </a:prstGeom>
          <a:solidFill>
            <a:srgbClr val="781E28">
              <a:alpha val="28000"/>
            </a:srgbClr>
          </a:solidFill>
          <a:ln w="5953">
            <a:solidFill>
              <a:srgbClr val="5A2030"/>
            </a:solidFill>
            <a:prstDash val="solid"/>
          </a:ln>
        </p:spPr>
        <p:txBody>
          <a:bodyPr/>
          <a:lstStyle/>
          <a:p>
            <a:endParaRPr lang="en-US"/>
          </a:p>
        </p:txBody>
      </p:sp>
      <p:sp>
        <p:nvSpPr>
          <p:cNvPr id="36" name="Text 34"/>
          <p:cNvSpPr/>
          <p:nvPr/>
        </p:nvSpPr>
        <p:spPr>
          <a:xfrm>
            <a:off x="15191445" y="1398798"/>
            <a:ext cx="2366442" cy="185905"/>
          </a:xfrm>
          <a:prstGeom prst="rect">
            <a:avLst/>
          </a:prstGeom>
          <a:noFill/>
          <a:ln/>
        </p:spPr>
        <p:txBody>
          <a:bodyPr wrap="square" lIns="25400" tIns="25400" rIns="25400" bIns="25400" rtlCol="0" anchor="t">
            <a:normAutofit/>
          </a:bodyPr>
          <a:lstStyle/>
          <a:p>
            <a:pPr marL="0" indent="0" algn="l">
              <a:lnSpc>
                <a:spcPct val="115000"/>
              </a:lnSpc>
              <a:buNone/>
            </a:pPr>
            <a:r>
              <a:rPr lang="en-US" sz="1013" b="1" dirty="0">
                <a:solidFill>
                  <a:srgbClr val="F2B6B6"/>
                </a:solidFill>
                <a:latin typeface="Arial" pitchFamily="34" charset="0"/>
                <a:ea typeface="Arial" pitchFamily="34" charset="-122"/>
                <a:cs typeface="Arial" pitchFamily="34" charset="-120"/>
              </a:rPr>
              <a:t>AWS Organizations</a:t>
            </a:r>
            <a:endParaRPr lang="en-US" sz="1013" dirty="0"/>
          </a:p>
        </p:txBody>
      </p:sp>
      <p:sp>
        <p:nvSpPr>
          <p:cNvPr id="37" name="Text 35"/>
          <p:cNvSpPr/>
          <p:nvPr/>
        </p:nvSpPr>
        <p:spPr>
          <a:xfrm>
            <a:off x="15191445" y="1546603"/>
            <a:ext cx="2366442" cy="175022"/>
          </a:xfrm>
          <a:prstGeom prst="rect">
            <a:avLst/>
          </a:prstGeom>
          <a:noFill/>
          <a:ln/>
        </p:spPr>
        <p:txBody>
          <a:bodyPr wrap="square" lIns="25400" tIns="25400" rIns="25400" bIns="25400" rtlCol="0" anchor="t">
            <a:normAutofit/>
          </a:bodyPr>
          <a:lstStyle/>
          <a:p>
            <a:pPr marL="0" indent="0" algn="l">
              <a:buNone/>
            </a:pPr>
            <a:r>
              <a:rPr lang="en-US" sz="825" dirty="0">
                <a:solidFill>
                  <a:srgbClr val="C98A90"/>
                </a:solidFill>
                <a:latin typeface="Arial" pitchFamily="34" charset="0"/>
                <a:ea typeface="Arial" pitchFamily="34" charset="-122"/>
                <a:cs typeface="Arial" pitchFamily="34" charset="-120"/>
              </a:rPr>
              <a:t>Dev · Pre-Prod · Prod</a:t>
            </a:r>
            <a:endParaRPr lang="en-US" sz="825" dirty="0"/>
          </a:p>
        </p:txBody>
      </p:sp>
      <p:sp>
        <p:nvSpPr>
          <p:cNvPr id="38" name="Text 36"/>
          <p:cNvSpPr/>
          <p:nvPr/>
        </p:nvSpPr>
        <p:spPr>
          <a:xfrm>
            <a:off x="685726" y="2296139"/>
            <a:ext cx="18608204" cy="180975"/>
          </a:xfrm>
          <a:prstGeom prst="rect">
            <a:avLst/>
          </a:prstGeom>
          <a:noFill/>
          <a:ln/>
        </p:spPr>
        <p:txBody>
          <a:bodyPr wrap="square" lIns="25400" tIns="25400" rIns="25400" bIns="25400" rtlCol="0" anchor="t">
            <a:normAutofit/>
          </a:bodyPr>
          <a:lstStyle/>
          <a:p>
            <a:pPr marL="0" indent="0" algn="l">
              <a:buNone/>
            </a:pPr>
            <a:r>
              <a:rPr lang="en-US" sz="975" b="1" kern="0" spc="146" dirty="0">
                <a:solidFill>
                  <a:srgbClr val="7FA8E8"/>
                </a:solidFill>
                <a:latin typeface="Arial" pitchFamily="34" charset="0"/>
                <a:ea typeface="Arial" pitchFamily="34" charset="-122"/>
                <a:cs typeface="Arial" pitchFamily="34" charset="-120"/>
              </a:rPr>
              <a:t>DATA SOURCES</a:t>
            </a:r>
            <a:endParaRPr lang="en-US" sz="975" dirty="0"/>
          </a:p>
        </p:txBody>
      </p:sp>
      <p:sp>
        <p:nvSpPr>
          <p:cNvPr id="39" name="Shape 37"/>
          <p:cNvSpPr/>
          <p:nvPr/>
        </p:nvSpPr>
        <p:spPr>
          <a:xfrm>
            <a:off x="685726" y="2496127"/>
            <a:ext cx="2740019"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40" name="Text 38"/>
          <p:cNvSpPr/>
          <p:nvPr/>
        </p:nvSpPr>
        <p:spPr>
          <a:xfrm>
            <a:off x="805904" y="2578261"/>
            <a:ext cx="2749628"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External APIs</a:t>
            </a:r>
            <a:endParaRPr lang="en-US" sz="1125" dirty="0"/>
          </a:p>
        </p:txBody>
      </p:sp>
      <p:sp>
        <p:nvSpPr>
          <p:cNvPr id="41" name="Text 39"/>
          <p:cNvSpPr/>
          <p:nvPr/>
        </p:nvSpPr>
        <p:spPr>
          <a:xfrm>
            <a:off x="805904" y="2735368"/>
            <a:ext cx="2749628"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Weather · Logistics</a:t>
            </a:r>
            <a:endParaRPr lang="en-US" sz="900" dirty="0"/>
          </a:p>
        </p:txBody>
      </p:sp>
      <p:sp>
        <p:nvSpPr>
          <p:cNvPr id="42" name="Shape 40"/>
          <p:cNvSpPr/>
          <p:nvPr/>
        </p:nvSpPr>
        <p:spPr>
          <a:xfrm>
            <a:off x="3520994" y="2496127"/>
            <a:ext cx="2740112"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43" name="Text 41"/>
          <p:cNvSpPr/>
          <p:nvPr/>
        </p:nvSpPr>
        <p:spPr>
          <a:xfrm>
            <a:off x="3641173" y="2578261"/>
            <a:ext cx="2749730"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CRM System</a:t>
            </a:r>
            <a:endParaRPr lang="en-US" sz="1125" dirty="0"/>
          </a:p>
        </p:txBody>
      </p:sp>
      <p:sp>
        <p:nvSpPr>
          <p:cNvPr id="44" name="Text 42"/>
          <p:cNvSpPr/>
          <p:nvPr/>
        </p:nvSpPr>
        <p:spPr>
          <a:xfrm>
            <a:off x="3641173" y="2735368"/>
            <a:ext cx="2749730"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Customers · PII</a:t>
            </a:r>
            <a:endParaRPr lang="en-US" sz="900" dirty="0"/>
          </a:p>
        </p:txBody>
      </p:sp>
      <p:sp>
        <p:nvSpPr>
          <p:cNvPr id="45" name="Shape 43"/>
          <p:cNvSpPr/>
          <p:nvPr/>
        </p:nvSpPr>
        <p:spPr>
          <a:xfrm>
            <a:off x="6356356" y="2496127"/>
            <a:ext cx="2740019"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46" name="Text 44"/>
          <p:cNvSpPr/>
          <p:nvPr/>
        </p:nvSpPr>
        <p:spPr>
          <a:xfrm>
            <a:off x="6476535" y="2578261"/>
            <a:ext cx="2749628"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3rd-Party Data</a:t>
            </a:r>
            <a:endParaRPr lang="en-US" sz="1125" dirty="0"/>
          </a:p>
        </p:txBody>
      </p:sp>
      <p:sp>
        <p:nvSpPr>
          <p:cNvPr id="47" name="Text 45"/>
          <p:cNvSpPr/>
          <p:nvPr/>
        </p:nvSpPr>
        <p:spPr>
          <a:xfrm>
            <a:off x="6476535" y="2735368"/>
            <a:ext cx="2749628"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Market signals</a:t>
            </a:r>
            <a:endParaRPr lang="en-US" sz="900" dirty="0"/>
          </a:p>
        </p:txBody>
      </p:sp>
      <p:sp>
        <p:nvSpPr>
          <p:cNvPr id="48" name="Shape 46"/>
          <p:cNvSpPr/>
          <p:nvPr/>
        </p:nvSpPr>
        <p:spPr>
          <a:xfrm>
            <a:off x="9191625" y="2496127"/>
            <a:ext cx="2740112"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49" name="Text 47"/>
          <p:cNvSpPr/>
          <p:nvPr/>
        </p:nvSpPr>
        <p:spPr>
          <a:xfrm>
            <a:off x="9311804" y="2578261"/>
            <a:ext cx="2749730"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Web &amp; App</a:t>
            </a:r>
            <a:endParaRPr lang="en-US" sz="1125" dirty="0"/>
          </a:p>
        </p:txBody>
      </p:sp>
      <p:sp>
        <p:nvSpPr>
          <p:cNvPr id="50" name="Text 48"/>
          <p:cNvSpPr/>
          <p:nvPr/>
        </p:nvSpPr>
        <p:spPr>
          <a:xfrm>
            <a:off x="9311804" y="2735368"/>
            <a:ext cx="2749730"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Events · Reviews</a:t>
            </a:r>
            <a:endParaRPr lang="en-US" sz="900" dirty="0"/>
          </a:p>
        </p:txBody>
      </p:sp>
      <p:sp>
        <p:nvSpPr>
          <p:cNvPr id="51" name="Shape 49"/>
          <p:cNvSpPr/>
          <p:nvPr/>
        </p:nvSpPr>
        <p:spPr>
          <a:xfrm>
            <a:off x="12026987" y="2496127"/>
            <a:ext cx="2740019"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52" name="Text 50"/>
          <p:cNvSpPr/>
          <p:nvPr/>
        </p:nvSpPr>
        <p:spPr>
          <a:xfrm>
            <a:off x="12147166" y="2578261"/>
            <a:ext cx="2749628"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POS &amp; ERP</a:t>
            </a:r>
            <a:endParaRPr lang="en-US" sz="1125" dirty="0"/>
          </a:p>
        </p:txBody>
      </p:sp>
      <p:sp>
        <p:nvSpPr>
          <p:cNvPr id="53" name="Text 51"/>
          <p:cNvSpPr/>
          <p:nvPr/>
        </p:nvSpPr>
        <p:spPr>
          <a:xfrm>
            <a:off x="12147166" y="2735368"/>
            <a:ext cx="2749628"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Sales · Inventory</a:t>
            </a:r>
            <a:endParaRPr lang="en-US" sz="900" dirty="0"/>
          </a:p>
        </p:txBody>
      </p:sp>
      <p:sp>
        <p:nvSpPr>
          <p:cNvPr id="54" name="Shape 52"/>
          <p:cNvSpPr/>
          <p:nvPr/>
        </p:nvSpPr>
        <p:spPr>
          <a:xfrm>
            <a:off x="14862256" y="2496127"/>
            <a:ext cx="2740019" cy="470204"/>
          </a:xfrm>
          <a:prstGeom prst="roundRect">
            <a:avLst>
              <a:gd name="adj" fmla="val 18231"/>
            </a:avLst>
          </a:prstGeom>
          <a:solidFill>
            <a:srgbClr val="13134F"/>
          </a:solidFill>
          <a:ln w="5953">
            <a:solidFill>
              <a:srgbClr val="2A2A6E"/>
            </a:solidFill>
            <a:prstDash val="solid"/>
          </a:ln>
        </p:spPr>
        <p:txBody>
          <a:bodyPr/>
          <a:lstStyle/>
          <a:p>
            <a:endParaRPr lang="en-US"/>
          </a:p>
        </p:txBody>
      </p:sp>
      <p:sp>
        <p:nvSpPr>
          <p:cNvPr id="55" name="Text 53"/>
          <p:cNvSpPr/>
          <p:nvPr/>
        </p:nvSpPr>
        <p:spPr>
          <a:xfrm>
            <a:off x="14982434" y="2578261"/>
            <a:ext cx="2749628" cy="195207"/>
          </a:xfrm>
          <a:prstGeom prst="rect">
            <a:avLst/>
          </a:prstGeom>
          <a:noFill/>
          <a:ln/>
        </p:spPr>
        <p:txBody>
          <a:bodyPr wrap="square" lIns="25400" tIns="25400" rIns="25400" bIns="25400" rtlCol="0" anchor="t">
            <a:normAutofit/>
          </a:bodyPr>
          <a:lstStyle/>
          <a:p>
            <a:pPr marL="0" indent="0" algn="l">
              <a:lnSpc>
                <a:spcPct val="110000"/>
              </a:lnSpc>
              <a:buNone/>
            </a:pPr>
            <a:r>
              <a:rPr lang="en-US" sz="1125" b="1" dirty="0">
                <a:solidFill>
                  <a:srgbClr val="FFFFFF"/>
                </a:solidFill>
                <a:latin typeface="Arial" pitchFamily="34" charset="0"/>
                <a:ea typeface="Arial" pitchFamily="34" charset="-122"/>
                <a:cs typeface="Arial" pitchFamily="34" charset="-120"/>
              </a:rPr>
              <a:t>SaaS &amp; Files</a:t>
            </a:r>
            <a:endParaRPr lang="en-US" sz="1125" dirty="0"/>
          </a:p>
        </p:txBody>
      </p:sp>
      <p:sp>
        <p:nvSpPr>
          <p:cNvPr id="56" name="Text 54"/>
          <p:cNvSpPr/>
          <p:nvPr/>
        </p:nvSpPr>
        <p:spPr>
          <a:xfrm>
            <a:off x="14982434" y="2735368"/>
            <a:ext cx="2749628" cy="186928"/>
          </a:xfrm>
          <a:prstGeom prst="rect">
            <a:avLst/>
          </a:prstGeom>
          <a:noFill/>
          <a:ln/>
        </p:spPr>
        <p:txBody>
          <a:bodyPr wrap="square" lIns="25400" tIns="25400" rIns="25400" bIns="25400" rtlCol="0" anchor="t">
            <a:normAutofit/>
          </a:bodyPr>
          <a:lstStyle/>
          <a:p>
            <a:pPr marL="0" indent="0" algn="l">
              <a:buNone/>
            </a:pPr>
            <a:r>
              <a:rPr lang="en-US" sz="900" dirty="0">
                <a:solidFill>
                  <a:srgbClr val="8A8AC0"/>
                </a:solidFill>
                <a:latin typeface="Arial" pitchFamily="34" charset="0"/>
                <a:ea typeface="Arial" pitchFamily="34" charset="-122"/>
                <a:cs typeface="Arial" pitchFamily="34" charset="-120"/>
              </a:rPr>
              <a:t>SFTP partners</a:t>
            </a:r>
            <a:endParaRPr lang="en-US" sz="900" dirty="0"/>
          </a:p>
        </p:txBody>
      </p:sp>
      <p:sp>
        <p:nvSpPr>
          <p:cNvPr id="57" name="Text 55"/>
          <p:cNvSpPr/>
          <p:nvPr/>
        </p:nvSpPr>
        <p:spPr>
          <a:xfrm>
            <a:off x="548725" y="3424256"/>
            <a:ext cx="3014021"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4BBEFF"/>
                </a:solidFill>
                <a:latin typeface="Courier New" pitchFamily="34" charset="0"/>
                <a:ea typeface="Courier New" pitchFamily="34" charset="-122"/>
                <a:cs typeface="Courier New" pitchFamily="34" charset="-120"/>
              </a:rPr>
              <a:t>↓ scheduled pull</a:t>
            </a:r>
            <a:endParaRPr lang="en-US" sz="938" dirty="0"/>
          </a:p>
        </p:txBody>
      </p:sp>
      <p:sp>
        <p:nvSpPr>
          <p:cNvPr id="58" name="Text 56"/>
          <p:cNvSpPr/>
          <p:nvPr/>
        </p:nvSpPr>
        <p:spPr>
          <a:xfrm>
            <a:off x="3383989" y="3424256"/>
            <a:ext cx="3014123"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4BBEFF"/>
                </a:solidFill>
                <a:latin typeface="Courier New" pitchFamily="34" charset="0"/>
                <a:ea typeface="Courier New" pitchFamily="34" charset="-122"/>
                <a:cs typeface="Courier New" pitchFamily="34" charset="-120"/>
              </a:rPr>
              <a:t>↓ CDC replication</a:t>
            </a:r>
            <a:endParaRPr lang="en-US" sz="938" dirty="0"/>
          </a:p>
        </p:txBody>
      </p:sp>
      <p:sp>
        <p:nvSpPr>
          <p:cNvPr id="59" name="Text 57"/>
          <p:cNvSpPr/>
          <p:nvPr/>
        </p:nvSpPr>
        <p:spPr>
          <a:xfrm>
            <a:off x="6219355" y="3424256"/>
            <a:ext cx="3014021"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4BBEFF"/>
                </a:solidFill>
                <a:latin typeface="Courier New" pitchFamily="34" charset="0"/>
                <a:ea typeface="Courier New" pitchFamily="34" charset="-122"/>
                <a:cs typeface="Courier New" pitchFamily="34" charset="-120"/>
              </a:rPr>
              <a:t>↓ subscription</a:t>
            </a:r>
            <a:endParaRPr lang="en-US" sz="938" dirty="0"/>
          </a:p>
        </p:txBody>
      </p:sp>
      <p:sp>
        <p:nvSpPr>
          <p:cNvPr id="60" name="Text 58"/>
          <p:cNvSpPr/>
          <p:nvPr/>
        </p:nvSpPr>
        <p:spPr>
          <a:xfrm>
            <a:off x="9054619" y="3424256"/>
            <a:ext cx="3014123"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6BC600"/>
                </a:solidFill>
                <a:latin typeface="Courier New" pitchFamily="34" charset="0"/>
                <a:ea typeface="Courier New" pitchFamily="34" charset="-122"/>
                <a:cs typeface="Courier New" pitchFamily="34" charset="-120"/>
              </a:rPr>
              <a:t>↓ streaming</a:t>
            </a:r>
            <a:endParaRPr lang="en-US" sz="938" dirty="0"/>
          </a:p>
        </p:txBody>
      </p:sp>
      <p:sp>
        <p:nvSpPr>
          <p:cNvPr id="61" name="Text 59"/>
          <p:cNvSpPr/>
          <p:nvPr/>
        </p:nvSpPr>
        <p:spPr>
          <a:xfrm>
            <a:off x="11889986" y="3424256"/>
            <a:ext cx="3014021"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F0A040"/>
                </a:solidFill>
                <a:latin typeface="Courier New" pitchFamily="34" charset="0"/>
                <a:ea typeface="Courier New" pitchFamily="34" charset="-122"/>
                <a:cs typeface="Courier New" pitchFamily="34" charset="-120"/>
              </a:rPr>
              <a:t>↓ batch</a:t>
            </a:r>
            <a:endParaRPr lang="en-US" sz="938" dirty="0"/>
          </a:p>
        </p:txBody>
      </p:sp>
      <p:sp>
        <p:nvSpPr>
          <p:cNvPr id="62" name="Text 60"/>
          <p:cNvSpPr/>
          <p:nvPr/>
        </p:nvSpPr>
        <p:spPr>
          <a:xfrm>
            <a:off x="14725255" y="3424256"/>
            <a:ext cx="3014021"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4BBEFF"/>
                </a:solidFill>
                <a:latin typeface="Courier New" pitchFamily="34" charset="0"/>
                <a:ea typeface="Courier New" pitchFamily="34" charset="-122"/>
                <a:cs typeface="Courier New" pitchFamily="34" charset="-120"/>
              </a:rPr>
              <a:t>↓ file transfer</a:t>
            </a:r>
            <a:endParaRPr lang="en-US" sz="938" dirty="0"/>
          </a:p>
        </p:txBody>
      </p:sp>
      <p:sp>
        <p:nvSpPr>
          <p:cNvPr id="63" name="Text 61"/>
          <p:cNvSpPr/>
          <p:nvPr/>
        </p:nvSpPr>
        <p:spPr>
          <a:xfrm>
            <a:off x="685726" y="4019104"/>
            <a:ext cx="18608204" cy="180975"/>
          </a:xfrm>
          <a:prstGeom prst="rect">
            <a:avLst/>
          </a:prstGeom>
          <a:noFill/>
          <a:ln/>
        </p:spPr>
        <p:txBody>
          <a:bodyPr wrap="square" lIns="25400" tIns="25400" rIns="25400" bIns="25400" rtlCol="0" anchor="t">
            <a:normAutofit/>
          </a:bodyPr>
          <a:lstStyle/>
          <a:p>
            <a:pPr marL="0" indent="0" algn="l">
              <a:buNone/>
            </a:pPr>
            <a:r>
              <a:rPr lang="en-US" sz="975" b="1" kern="0" spc="146" dirty="0">
                <a:solidFill>
                  <a:srgbClr val="7FA8E8"/>
                </a:solidFill>
                <a:latin typeface="Arial" pitchFamily="34" charset="0"/>
                <a:ea typeface="Arial" pitchFamily="34" charset="-122"/>
                <a:cs typeface="Arial" pitchFamily="34" charset="-120"/>
              </a:rPr>
              <a:t>INGESTION LAYER</a:t>
            </a:r>
            <a:endParaRPr lang="en-US" sz="975" dirty="0"/>
          </a:p>
        </p:txBody>
      </p:sp>
      <p:sp>
        <p:nvSpPr>
          <p:cNvPr id="64" name="Shape 62"/>
          <p:cNvSpPr/>
          <p:nvPr/>
        </p:nvSpPr>
        <p:spPr>
          <a:xfrm>
            <a:off x="685726" y="4219091"/>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65" name="Shape 63"/>
          <p:cNvSpPr/>
          <p:nvPr/>
        </p:nvSpPr>
        <p:spPr>
          <a:xfrm>
            <a:off x="796417" y="4310714"/>
            <a:ext cx="342863" cy="342863"/>
          </a:xfrm>
          <a:prstGeom prst="roundRect">
            <a:avLst>
              <a:gd name="adj" fmla="val 19447"/>
            </a:avLst>
          </a:prstGeom>
          <a:gradFill rotWithShape="1">
            <a:gsLst>
              <a:gs pos="0">
                <a:srgbClr val="F89A4B">
                  <a:alpha val="100000"/>
                </a:srgbClr>
              </a:gs>
              <a:gs pos="100000">
                <a:srgbClr val="D45B00">
                  <a:alpha val="100000"/>
                </a:srgbClr>
              </a:gs>
            </a:gsLst>
            <a:lin ang="2700000" scaled="0"/>
          </a:gradFill>
          <a:ln/>
        </p:spPr>
        <p:txBody>
          <a:bodyPr/>
          <a:lstStyle/>
          <a:p>
            <a:endParaRPr lang="en-US"/>
          </a:p>
        </p:txBody>
      </p:sp>
      <p:pic>
        <p:nvPicPr>
          <p:cNvPr id="6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2086" y="4396383"/>
            <a:ext cx="171431" cy="171431"/>
          </a:xfrm>
          <a:prstGeom prst="rect">
            <a:avLst/>
          </a:prstGeom>
        </p:spPr>
      </p:pic>
      <p:sp>
        <p:nvSpPr>
          <p:cNvPr id="67" name="Text 64"/>
          <p:cNvSpPr/>
          <p:nvPr/>
        </p:nvSpPr>
        <p:spPr>
          <a:xfrm>
            <a:off x="1224948" y="4337317"/>
            <a:ext cx="894011"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AWS Lambda</a:t>
            </a:r>
            <a:endParaRPr lang="en-US" sz="1050" dirty="0"/>
          </a:p>
        </p:txBody>
      </p:sp>
      <p:sp>
        <p:nvSpPr>
          <p:cNvPr id="68" name="Text 65"/>
          <p:cNvSpPr/>
          <p:nvPr/>
        </p:nvSpPr>
        <p:spPr>
          <a:xfrm>
            <a:off x="1224948" y="4484005"/>
            <a:ext cx="894011"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API connectors</a:t>
            </a:r>
            <a:endParaRPr lang="en-US" sz="863" dirty="0"/>
          </a:p>
        </p:txBody>
      </p:sp>
      <p:sp>
        <p:nvSpPr>
          <p:cNvPr id="69" name="Shape 66"/>
          <p:cNvSpPr/>
          <p:nvPr/>
        </p:nvSpPr>
        <p:spPr>
          <a:xfrm>
            <a:off x="3520994" y="4219091"/>
            <a:ext cx="2740112"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70" name="Shape 67"/>
          <p:cNvSpPr/>
          <p:nvPr/>
        </p:nvSpPr>
        <p:spPr>
          <a:xfrm>
            <a:off x="3631685" y="4310714"/>
            <a:ext cx="342863" cy="342863"/>
          </a:xfrm>
          <a:prstGeom prst="roundRect">
            <a:avLst>
              <a:gd name="adj" fmla="val 19447"/>
            </a:avLst>
          </a:prstGeom>
          <a:gradFill rotWithShape="1">
            <a:gsLst>
              <a:gs pos="0">
                <a:srgbClr val="5B8DEF">
                  <a:alpha val="100000"/>
                </a:srgbClr>
              </a:gs>
              <a:gs pos="100000">
                <a:srgbClr val="2B3FC4">
                  <a:alpha val="100000"/>
                </a:srgbClr>
              </a:gs>
            </a:gsLst>
            <a:lin ang="2700000" scaled="0"/>
          </a:gradFill>
          <a:ln/>
        </p:spPr>
        <p:txBody>
          <a:bodyPr/>
          <a:lstStyle/>
          <a:p>
            <a:endParaRPr lang="en-US"/>
          </a:p>
        </p:txBody>
      </p:sp>
      <p:pic>
        <p:nvPicPr>
          <p:cNvPr id="7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7354" y="4396383"/>
            <a:ext cx="171431" cy="171431"/>
          </a:xfrm>
          <a:prstGeom prst="rect">
            <a:avLst/>
          </a:prstGeom>
        </p:spPr>
      </p:pic>
      <p:sp>
        <p:nvSpPr>
          <p:cNvPr id="72" name="Text 68"/>
          <p:cNvSpPr/>
          <p:nvPr/>
        </p:nvSpPr>
        <p:spPr>
          <a:xfrm>
            <a:off x="4060217" y="4337317"/>
            <a:ext cx="1012608"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AWS DMS</a:t>
            </a:r>
            <a:endParaRPr lang="en-US" sz="1050" dirty="0"/>
          </a:p>
        </p:txBody>
      </p:sp>
      <p:sp>
        <p:nvSpPr>
          <p:cNvPr id="73" name="Text 69"/>
          <p:cNvSpPr/>
          <p:nvPr/>
        </p:nvSpPr>
        <p:spPr>
          <a:xfrm>
            <a:off x="4060217" y="4484005"/>
            <a:ext cx="1012608"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DB migration · CDC</a:t>
            </a:r>
            <a:endParaRPr lang="en-US" sz="863" dirty="0"/>
          </a:p>
        </p:txBody>
      </p:sp>
      <p:sp>
        <p:nvSpPr>
          <p:cNvPr id="74" name="Shape 70"/>
          <p:cNvSpPr/>
          <p:nvPr/>
        </p:nvSpPr>
        <p:spPr>
          <a:xfrm>
            <a:off x="6356356" y="4219091"/>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75" name="Shape 71"/>
          <p:cNvSpPr/>
          <p:nvPr/>
        </p:nvSpPr>
        <p:spPr>
          <a:xfrm>
            <a:off x="6467047" y="4310714"/>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7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2716" y="4396383"/>
            <a:ext cx="171431" cy="171431"/>
          </a:xfrm>
          <a:prstGeom prst="rect">
            <a:avLst/>
          </a:prstGeom>
        </p:spPr>
      </p:pic>
      <p:sp>
        <p:nvSpPr>
          <p:cNvPr id="77" name="Text 72"/>
          <p:cNvSpPr/>
          <p:nvPr/>
        </p:nvSpPr>
        <p:spPr>
          <a:xfrm>
            <a:off x="6895579" y="4337317"/>
            <a:ext cx="988051"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Data Exchange</a:t>
            </a:r>
            <a:endParaRPr lang="en-US" sz="1050" dirty="0"/>
          </a:p>
        </p:txBody>
      </p:sp>
      <p:sp>
        <p:nvSpPr>
          <p:cNvPr id="78" name="Text 73"/>
          <p:cNvSpPr/>
          <p:nvPr/>
        </p:nvSpPr>
        <p:spPr>
          <a:xfrm>
            <a:off x="6895579" y="4484005"/>
            <a:ext cx="988051"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licensed 3rd-party</a:t>
            </a:r>
            <a:endParaRPr lang="en-US" sz="863" dirty="0"/>
          </a:p>
        </p:txBody>
      </p:sp>
      <p:sp>
        <p:nvSpPr>
          <p:cNvPr id="79" name="Shape 74"/>
          <p:cNvSpPr/>
          <p:nvPr/>
        </p:nvSpPr>
        <p:spPr>
          <a:xfrm>
            <a:off x="9191625" y="4219091"/>
            <a:ext cx="2740112"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80" name="Shape 75"/>
          <p:cNvSpPr/>
          <p:nvPr/>
        </p:nvSpPr>
        <p:spPr>
          <a:xfrm>
            <a:off x="9302316" y="4310714"/>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8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87985" y="4396383"/>
            <a:ext cx="171431" cy="171431"/>
          </a:xfrm>
          <a:prstGeom prst="rect">
            <a:avLst/>
          </a:prstGeom>
        </p:spPr>
      </p:pic>
      <p:sp>
        <p:nvSpPr>
          <p:cNvPr id="82" name="Text 76"/>
          <p:cNvSpPr/>
          <p:nvPr/>
        </p:nvSpPr>
        <p:spPr>
          <a:xfrm>
            <a:off x="9730848" y="4337317"/>
            <a:ext cx="1039676"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Kinesis Streams</a:t>
            </a:r>
            <a:endParaRPr lang="en-US" sz="1050" dirty="0"/>
          </a:p>
        </p:txBody>
      </p:sp>
      <p:sp>
        <p:nvSpPr>
          <p:cNvPr id="83" name="Text 77"/>
          <p:cNvSpPr/>
          <p:nvPr/>
        </p:nvSpPr>
        <p:spPr>
          <a:xfrm>
            <a:off x="9730848" y="4484005"/>
            <a:ext cx="1039676"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 Firehose → S3</a:t>
            </a:r>
            <a:endParaRPr lang="en-US" sz="863" dirty="0"/>
          </a:p>
        </p:txBody>
      </p:sp>
      <p:sp>
        <p:nvSpPr>
          <p:cNvPr id="84" name="Shape 78"/>
          <p:cNvSpPr/>
          <p:nvPr/>
        </p:nvSpPr>
        <p:spPr>
          <a:xfrm>
            <a:off x="12026987" y="4219091"/>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85" name="Shape 79"/>
          <p:cNvSpPr/>
          <p:nvPr/>
        </p:nvSpPr>
        <p:spPr>
          <a:xfrm>
            <a:off x="12137678" y="4310714"/>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8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223347" y="4396383"/>
            <a:ext cx="171431" cy="171431"/>
          </a:xfrm>
          <a:prstGeom prst="rect">
            <a:avLst/>
          </a:prstGeom>
        </p:spPr>
      </p:pic>
      <p:sp>
        <p:nvSpPr>
          <p:cNvPr id="87" name="Text 80"/>
          <p:cNvSpPr/>
          <p:nvPr/>
        </p:nvSpPr>
        <p:spPr>
          <a:xfrm>
            <a:off x="12566210" y="4337317"/>
            <a:ext cx="975401"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AWS Glue ETL</a:t>
            </a:r>
            <a:endParaRPr lang="en-US" sz="1050" dirty="0"/>
          </a:p>
        </p:txBody>
      </p:sp>
      <p:sp>
        <p:nvSpPr>
          <p:cNvPr id="88" name="Text 81"/>
          <p:cNvSpPr/>
          <p:nvPr/>
        </p:nvSpPr>
        <p:spPr>
          <a:xfrm>
            <a:off x="12566210" y="4484005"/>
            <a:ext cx="975401"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batch pipelines</a:t>
            </a:r>
            <a:endParaRPr lang="en-US" sz="863" dirty="0"/>
          </a:p>
        </p:txBody>
      </p:sp>
      <p:sp>
        <p:nvSpPr>
          <p:cNvPr id="89" name="Shape 82"/>
          <p:cNvSpPr/>
          <p:nvPr/>
        </p:nvSpPr>
        <p:spPr>
          <a:xfrm>
            <a:off x="14862256" y="4219091"/>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90" name="Shape 83"/>
          <p:cNvSpPr/>
          <p:nvPr/>
        </p:nvSpPr>
        <p:spPr>
          <a:xfrm>
            <a:off x="14972947" y="4310714"/>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9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058616" y="4396383"/>
            <a:ext cx="171431" cy="171431"/>
          </a:xfrm>
          <a:prstGeom prst="rect">
            <a:avLst/>
          </a:prstGeom>
        </p:spPr>
      </p:pic>
      <p:sp>
        <p:nvSpPr>
          <p:cNvPr id="92" name="Text 84"/>
          <p:cNvSpPr/>
          <p:nvPr/>
        </p:nvSpPr>
        <p:spPr>
          <a:xfrm>
            <a:off x="15401479" y="4337317"/>
            <a:ext cx="997446"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Transfer Family</a:t>
            </a:r>
            <a:endParaRPr lang="en-US" sz="1050" dirty="0"/>
          </a:p>
        </p:txBody>
      </p:sp>
      <p:sp>
        <p:nvSpPr>
          <p:cNvPr id="93" name="Text 85"/>
          <p:cNvSpPr/>
          <p:nvPr/>
        </p:nvSpPr>
        <p:spPr>
          <a:xfrm>
            <a:off x="15401479" y="4484005"/>
            <a:ext cx="997446"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SFTP · FTPS</a:t>
            </a:r>
            <a:endParaRPr lang="en-US" sz="863" dirty="0"/>
          </a:p>
        </p:txBody>
      </p:sp>
      <p:sp>
        <p:nvSpPr>
          <p:cNvPr id="94" name="Text 86"/>
          <p:cNvSpPr/>
          <p:nvPr/>
        </p:nvSpPr>
        <p:spPr>
          <a:xfrm>
            <a:off x="-160102" y="5203217"/>
            <a:ext cx="18608204" cy="175022"/>
          </a:xfrm>
          <a:prstGeom prst="rect">
            <a:avLst/>
          </a:prstGeom>
          <a:noFill/>
          <a:ln/>
        </p:spPr>
        <p:txBody>
          <a:bodyPr wrap="square" lIns="25400" tIns="25400" rIns="25400" bIns="25400" rtlCol="0" anchor="t">
            <a:normAutofit/>
          </a:bodyPr>
          <a:lstStyle/>
          <a:p>
            <a:pPr marL="0" indent="0" algn="ctr">
              <a:buNone/>
            </a:pPr>
            <a:r>
              <a:rPr lang="en-US" sz="938" dirty="0">
                <a:solidFill>
                  <a:srgbClr val="6BB7FF"/>
                </a:solidFill>
                <a:latin typeface="Courier New" pitchFamily="34" charset="0"/>
                <a:ea typeface="Courier New" pitchFamily="34" charset="-122"/>
                <a:cs typeface="Courier New" pitchFamily="34" charset="-120"/>
              </a:rPr>
              <a:t>↓ land raw data ↓</a:t>
            </a:r>
            <a:endParaRPr lang="en-US" sz="938" dirty="0"/>
          </a:p>
        </p:txBody>
      </p:sp>
      <p:sp>
        <p:nvSpPr>
          <p:cNvPr id="95" name="Shape 87"/>
          <p:cNvSpPr/>
          <p:nvPr/>
        </p:nvSpPr>
        <p:spPr>
          <a:xfrm>
            <a:off x="685726" y="5798065"/>
            <a:ext cx="7320111" cy="1004218"/>
          </a:xfrm>
          <a:prstGeom prst="roundRect">
            <a:avLst>
              <a:gd name="adj" fmla="val 10433"/>
            </a:avLst>
          </a:prstGeom>
          <a:solidFill>
            <a:srgbClr val="3C1E50">
              <a:alpha val="18000"/>
            </a:srgbClr>
          </a:solidFill>
          <a:ln w="5953">
            <a:solidFill>
              <a:srgbClr val="3A2A55"/>
            </a:solidFill>
            <a:prstDash val="solid"/>
          </a:ln>
        </p:spPr>
        <p:txBody>
          <a:bodyPr/>
          <a:lstStyle/>
          <a:p>
            <a:endParaRPr lang="en-US"/>
          </a:p>
        </p:txBody>
      </p:sp>
      <p:sp>
        <p:nvSpPr>
          <p:cNvPr id="96" name="Text 88"/>
          <p:cNvSpPr/>
          <p:nvPr/>
        </p:nvSpPr>
        <p:spPr>
          <a:xfrm>
            <a:off x="824973" y="5899268"/>
            <a:ext cx="7745778" cy="180975"/>
          </a:xfrm>
          <a:prstGeom prst="rect">
            <a:avLst/>
          </a:prstGeom>
          <a:noFill/>
          <a:ln/>
        </p:spPr>
        <p:txBody>
          <a:bodyPr wrap="square" lIns="25400" tIns="25400" rIns="25400" bIns="25400" rtlCol="0" anchor="t">
            <a:normAutofit/>
          </a:bodyPr>
          <a:lstStyle/>
          <a:p>
            <a:pPr marL="0" indent="0" algn="l">
              <a:buNone/>
            </a:pPr>
            <a:r>
              <a:rPr lang="en-US" sz="975" b="1" kern="0" spc="146" dirty="0">
                <a:solidFill>
                  <a:srgbClr val="C79AE8"/>
                </a:solidFill>
                <a:latin typeface="Arial" pitchFamily="34" charset="0"/>
                <a:ea typeface="Arial" pitchFamily="34" charset="-122"/>
                <a:cs typeface="Arial" pitchFamily="34" charset="-120"/>
              </a:rPr>
              <a:t>S3 DATA LAKEHOUSE</a:t>
            </a:r>
            <a:endParaRPr lang="en-US" sz="975" dirty="0"/>
          </a:p>
        </p:txBody>
      </p:sp>
      <p:sp>
        <p:nvSpPr>
          <p:cNvPr id="97" name="Shape 89"/>
          <p:cNvSpPr/>
          <p:nvPr/>
        </p:nvSpPr>
        <p:spPr>
          <a:xfrm>
            <a:off x="824973" y="6108743"/>
            <a:ext cx="3133111" cy="526107"/>
          </a:xfrm>
          <a:prstGeom prst="roundRect">
            <a:avLst>
              <a:gd name="adj" fmla="val 16294"/>
            </a:avLst>
          </a:prstGeom>
          <a:solidFill>
            <a:srgbClr val="2A0E33"/>
          </a:solidFill>
          <a:ln w="5953">
            <a:solidFill>
              <a:srgbClr val="5A2A6A"/>
            </a:solidFill>
            <a:prstDash val="solid"/>
          </a:ln>
        </p:spPr>
        <p:txBody>
          <a:bodyPr/>
          <a:lstStyle/>
          <a:p>
            <a:endParaRPr lang="en-US"/>
          </a:p>
        </p:txBody>
      </p:sp>
      <p:sp>
        <p:nvSpPr>
          <p:cNvPr id="98" name="Shape 90"/>
          <p:cNvSpPr/>
          <p:nvPr/>
        </p:nvSpPr>
        <p:spPr>
          <a:xfrm>
            <a:off x="935664" y="6200366"/>
            <a:ext cx="342863" cy="342863"/>
          </a:xfrm>
          <a:prstGeom prst="roundRect">
            <a:avLst>
              <a:gd name="adj" fmla="val 19447"/>
            </a:avLst>
          </a:prstGeom>
          <a:gradFill rotWithShape="1">
            <a:gsLst>
              <a:gs pos="0">
                <a:srgbClr val="9FCB3F">
                  <a:alpha val="100000"/>
                </a:srgbClr>
              </a:gs>
              <a:gs pos="100000">
                <a:srgbClr val="5E8200">
                  <a:alpha val="100000"/>
                </a:srgbClr>
              </a:gs>
            </a:gsLst>
            <a:lin ang="2700000" scaled="0"/>
          </a:gradFill>
          <a:ln/>
        </p:spPr>
        <p:txBody>
          <a:bodyPr/>
          <a:lstStyle/>
          <a:p>
            <a:endParaRPr lang="en-US"/>
          </a:p>
        </p:txBody>
      </p:sp>
      <p:pic>
        <p:nvPicPr>
          <p:cNvPr id="9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1333" y="6286035"/>
            <a:ext cx="171431" cy="171431"/>
          </a:xfrm>
          <a:prstGeom prst="rect">
            <a:avLst/>
          </a:prstGeom>
        </p:spPr>
      </p:pic>
      <p:sp>
        <p:nvSpPr>
          <p:cNvPr id="100" name="Text 91"/>
          <p:cNvSpPr/>
          <p:nvPr/>
        </p:nvSpPr>
        <p:spPr>
          <a:xfrm>
            <a:off x="1364196" y="6226969"/>
            <a:ext cx="1039490"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S3 Raw Zone</a:t>
            </a:r>
            <a:endParaRPr lang="en-US" sz="1050" dirty="0"/>
          </a:p>
        </p:txBody>
      </p:sp>
      <p:sp>
        <p:nvSpPr>
          <p:cNvPr id="101" name="Text 92"/>
          <p:cNvSpPr/>
          <p:nvPr/>
        </p:nvSpPr>
        <p:spPr>
          <a:xfrm>
            <a:off x="1364196" y="6373657"/>
            <a:ext cx="1039490" cy="180975"/>
          </a:xfrm>
          <a:prstGeom prst="rect">
            <a:avLst/>
          </a:prstGeom>
          <a:noFill/>
          <a:ln/>
        </p:spPr>
        <p:txBody>
          <a:bodyPr wrap="square" lIns="25400" tIns="25400" rIns="25400" bIns="25400" rtlCol="0" anchor="t">
            <a:normAutofit/>
          </a:bodyPr>
          <a:lstStyle/>
          <a:p>
            <a:pPr marL="0" indent="0" algn="l">
              <a:buNone/>
            </a:pPr>
            <a:r>
              <a:rPr lang="en-US" sz="863" dirty="0">
                <a:solidFill>
                  <a:srgbClr val="C9A8D2"/>
                </a:solidFill>
                <a:latin typeface="Arial" pitchFamily="34" charset="0"/>
                <a:ea typeface="Arial" pitchFamily="34" charset="-122"/>
                <a:cs typeface="Arial" pitchFamily="34" charset="-120"/>
              </a:rPr>
              <a:t>Bronze · immutable</a:t>
            </a:r>
            <a:endParaRPr lang="en-US" sz="863" dirty="0"/>
          </a:p>
        </p:txBody>
      </p:sp>
      <p:sp>
        <p:nvSpPr>
          <p:cNvPr id="102" name="Text 93"/>
          <p:cNvSpPr/>
          <p:nvPr/>
        </p:nvSpPr>
        <p:spPr>
          <a:xfrm>
            <a:off x="4024722" y="6252735"/>
            <a:ext cx="642119" cy="276225"/>
          </a:xfrm>
          <a:prstGeom prst="rect">
            <a:avLst/>
          </a:prstGeom>
          <a:noFill/>
          <a:ln/>
        </p:spPr>
        <p:txBody>
          <a:bodyPr wrap="none" lIns="25400" tIns="25400" rIns="25400" bIns="25400" rtlCol="0" anchor="t">
            <a:normAutofit/>
          </a:bodyPr>
          <a:lstStyle/>
          <a:p>
            <a:pPr marL="0" indent="0" algn="ctr">
              <a:buNone/>
            </a:pPr>
            <a:r>
              <a:rPr lang="en-US" sz="825" dirty="0">
                <a:solidFill>
                  <a:srgbClr val="C79AE8"/>
                </a:solidFill>
                <a:latin typeface="Courier New" pitchFamily="34" charset="0"/>
                <a:ea typeface="Courier New" pitchFamily="34" charset="-122"/>
                <a:cs typeface="Courier New" pitchFamily="34" charset="-120"/>
              </a:rPr>
              <a:t>validate &amp; clean →</a:t>
            </a:r>
            <a:endParaRPr lang="en-US" sz="825" dirty="0"/>
          </a:p>
        </p:txBody>
      </p:sp>
      <p:sp>
        <p:nvSpPr>
          <p:cNvPr id="103" name="Shape 94"/>
          <p:cNvSpPr/>
          <p:nvPr/>
        </p:nvSpPr>
        <p:spPr>
          <a:xfrm>
            <a:off x="4733479" y="6108743"/>
            <a:ext cx="3133111" cy="526107"/>
          </a:xfrm>
          <a:prstGeom prst="roundRect">
            <a:avLst>
              <a:gd name="adj" fmla="val 16294"/>
            </a:avLst>
          </a:prstGeom>
          <a:solidFill>
            <a:srgbClr val="2E1424"/>
          </a:solidFill>
          <a:ln w="5953">
            <a:solidFill>
              <a:srgbClr val="6A2A52"/>
            </a:solidFill>
            <a:prstDash val="solid"/>
          </a:ln>
        </p:spPr>
        <p:txBody>
          <a:bodyPr/>
          <a:lstStyle/>
          <a:p>
            <a:endParaRPr lang="en-US"/>
          </a:p>
        </p:txBody>
      </p:sp>
      <p:sp>
        <p:nvSpPr>
          <p:cNvPr id="104" name="Shape 95"/>
          <p:cNvSpPr/>
          <p:nvPr/>
        </p:nvSpPr>
        <p:spPr>
          <a:xfrm>
            <a:off x="4844169" y="6200366"/>
            <a:ext cx="342863" cy="342863"/>
          </a:xfrm>
          <a:prstGeom prst="roundRect">
            <a:avLst>
              <a:gd name="adj" fmla="val 19447"/>
            </a:avLst>
          </a:prstGeom>
          <a:gradFill rotWithShape="1">
            <a:gsLst>
              <a:gs pos="0">
                <a:srgbClr val="9FCB3F">
                  <a:alpha val="100000"/>
                </a:srgbClr>
              </a:gs>
              <a:gs pos="100000">
                <a:srgbClr val="5E8200">
                  <a:alpha val="100000"/>
                </a:srgbClr>
              </a:gs>
            </a:gsLst>
            <a:lin ang="2700000" scaled="0"/>
          </a:gradFill>
          <a:ln/>
        </p:spPr>
        <p:txBody>
          <a:bodyPr/>
          <a:lstStyle/>
          <a:p>
            <a:endParaRPr lang="en-US"/>
          </a:p>
        </p:txBody>
      </p:sp>
      <p:pic>
        <p:nvPicPr>
          <p:cNvPr id="10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29839" y="6286035"/>
            <a:ext cx="171431" cy="171431"/>
          </a:xfrm>
          <a:prstGeom prst="rect">
            <a:avLst/>
          </a:prstGeom>
        </p:spPr>
      </p:pic>
      <p:sp>
        <p:nvSpPr>
          <p:cNvPr id="106" name="Text 96"/>
          <p:cNvSpPr/>
          <p:nvPr/>
        </p:nvSpPr>
        <p:spPr>
          <a:xfrm>
            <a:off x="5272701" y="6226969"/>
            <a:ext cx="1490997"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S3 Curated Zone</a:t>
            </a:r>
            <a:endParaRPr lang="en-US" sz="1050" dirty="0"/>
          </a:p>
        </p:txBody>
      </p:sp>
      <p:sp>
        <p:nvSpPr>
          <p:cNvPr id="107" name="Text 97"/>
          <p:cNvSpPr/>
          <p:nvPr/>
        </p:nvSpPr>
        <p:spPr>
          <a:xfrm>
            <a:off x="5272701" y="6373657"/>
            <a:ext cx="1490997" cy="180975"/>
          </a:xfrm>
          <a:prstGeom prst="rect">
            <a:avLst/>
          </a:prstGeom>
          <a:noFill/>
          <a:ln/>
        </p:spPr>
        <p:txBody>
          <a:bodyPr wrap="square" lIns="25400" tIns="25400" rIns="25400" bIns="25400" rtlCol="0" anchor="t">
            <a:normAutofit/>
          </a:bodyPr>
          <a:lstStyle/>
          <a:p>
            <a:pPr marL="0" indent="0" algn="l">
              <a:buNone/>
            </a:pPr>
            <a:r>
              <a:rPr lang="en-US" sz="863" dirty="0">
                <a:solidFill>
                  <a:srgbClr val="D2A8BE"/>
                </a:solidFill>
                <a:latin typeface="Arial" pitchFamily="34" charset="0"/>
                <a:ea typeface="Arial" pitchFamily="34" charset="-122"/>
                <a:cs typeface="Arial" pitchFamily="34" charset="-120"/>
              </a:rPr>
              <a:t>Silver · PII-masked Parquet</a:t>
            </a:r>
            <a:endParaRPr lang="en-US" sz="863" dirty="0"/>
          </a:p>
        </p:txBody>
      </p:sp>
      <p:sp>
        <p:nvSpPr>
          <p:cNvPr id="108" name="Shape 98"/>
          <p:cNvSpPr/>
          <p:nvPr/>
        </p:nvSpPr>
        <p:spPr>
          <a:xfrm>
            <a:off x="8139131" y="5798065"/>
            <a:ext cx="9463143" cy="1004218"/>
          </a:xfrm>
          <a:prstGeom prst="roundRect">
            <a:avLst>
              <a:gd name="adj" fmla="val 10433"/>
            </a:avLst>
          </a:prstGeom>
          <a:solidFill>
            <a:srgbClr val="10104A"/>
          </a:solidFill>
          <a:ln w="5953">
            <a:solidFill>
              <a:srgbClr val="2A2A6E"/>
            </a:solidFill>
            <a:prstDash val="solid"/>
          </a:ln>
        </p:spPr>
        <p:txBody>
          <a:bodyPr/>
          <a:lstStyle/>
          <a:p>
            <a:endParaRPr lang="en-US"/>
          </a:p>
        </p:txBody>
      </p:sp>
      <p:sp>
        <p:nvSpPr>
          <p:cNvPr id="109" name="Text 99"/>
          <p:cNvSpPr/>
          <p:nvPr/>
        </p:nvSpPr>
        <p:spPr>
          <a:xfrm>
            <a:off x="8278378" y="5899268"/>
            <a:ext cx="2513474" cy="180975"/>
          </a:xfrm>
          <a:prstGeom prst="rect">
            <a:avLst/>
          </a:prstGeom>
          <a:noFill/>
          <a:ln/>
        </p:spPr>
        <p:txBody>
          <a:bodyPr wrap="square" lIns="25400" tIns="25400" rIns="25400" bIns="25400" rtlCol="0" anchor="t">
            <a:normAutofit/>
          </a:bodyPr>
          <a:lstStyle/>
          <a:p>
            <a:pPr marL="0" indent="0" algn="l">
              <a:buNone/>
            </a:pPr>
            <a:r>
              <a:rPr lang="en-US" sz="975" b="1" kern="0" spc="146" dirty="0">
                <a:solidFill>
                  <a:srgbClr val="7FA8E8"/>
                </a:solidFill>
                <a:latin typeface="Arial" pitchFamily="34" charset="0"/>
                <a:ea typeface="Arial" pitchFamily="34" charset="-122"/>
                <a:cs typeface="Arial" pitchFamily="34" charset="-120"/>
              </a:rPr>
              <a:t>PROCESSING &amp; GOVERNANCE</a:t>
            </a:r>
            <a:endParaRPr lang="en-US" sz="975" dirty="0"/>
          </a:p>
        </p:txBody>
      </p:sp>
      <p:sp>
        <p:nvSpPr>
          <p:cNvPr id="110" name="Text 100"/>
          <p:cNvSpPr/>
          <p:nvPr/>
        </p:nvSpPr>
        <p:spPr>
          <a:xfrm>
            <a:off x="12935955" y="5923080"/>
            <a:ext cx="4979780" cy="157163"/>
          </a:xfrm>
          <a:prstGeom prst="rect">
            <a:avLst/>
          </a:prstGeom>
          <a:noFill/>
          <a:ln/>
        </p:spPr>
        <p:txBody>
          <a:bodyPr wrap="square" lIns="25400" tIns="25400" rIns="25400" bIns="25400" rtlCol="0" anchor="t">
            <a:normAutofit/>
          </a:bodyPr>
          <a:lstStyle/>
          <a:p>
            <a:pPr marL="0" indent="0" algn="l">
              <a:buNone/>
            </a:pPr>
            <a:r>
              <a:rPr lang="en-US" sz="825" dirty="0">
                <a:solidFill>
                  <a:srgbClr val="6BB7FF"/>
                </a:solidFill>
                <a:latin typeface="Courier New" pitchFamily="34" charset="0"/>
                <a:ea typeface="Courier New" pitchFamily="34" charset="-122"/>
                <a:cs typeface="Courier New" pitchFamily="34" charset="-120"/>
              </a:rPr>
              <a:t>orchestrate · catalog · validate · scan PII · govern — across every zone</a:t>
            </a:r>
            <a:endParaRPr lang="en-US" sz="825" dirty="0"/>
          </a:p>
        </p:txBody>
      </p:sp>
      <p:sp>
        <p:nvSpPr>
          <p:cNvPr id="111" name="Shape 101"/>
          <p:cNvSpPr/>
          <p:nvPr/>
        </p:nvSpPr>
        <p:spPr>
          <a:xfrm>
            <a:off x="8278378" y="6108743"/>
            <a:ext cx="1467259" cy="592336"/>
          </a:xfrm>
          <a:prstGeom prst="roundRect">
            <a:avLst>
              <a:gd name="adj" fmla="val 12864"/>
            </a:avLst>
          </a:prstGeom>
          <a:solidFill>
            <a:srgbClr val="171766"/>
          </a:solidFill>
          <a:ln/>
        </p:spPr>
        <p:txBody>
          <a:bodyPr/>
          <a:lstStyle/>
          <a:p>
            <a:endParaRPr lang="en-US"/>
          </a:p>
        </p:txBody>
      </p:sp>
      <p:sp>
        <p:nvSpPr>
          <p:cNvPr id="112" name="Shape 102"/>
          <p:cNvSpPr/>
          <p:nvPr/>
        </p:nvSpPr>
        <p:spPr>
          <a:xfrm>
            <a:off x="8878621" y="6184925"/>
            <a:ext cx="266681" cy="266681"/>
          </a:xfrm>
          <a:prstGeom prst="roundRect">
            <a:avLst>
              <a:gd name="adj" fmla="val 21430"/>
            </a:avLst>
          </a:prstGeom>
          <a:gradFill rotWithShape="1">
            <a:gsLst>
              <a:gs pos="0">
                <a:srgbClr val="F65BA6">
                  <a:alpha val="100000"/>
                </a:srgbClr>
              </a:gs>
              <a:gs pos="100000">
                <a:srgbClr val="D10E6E">
                  <a:alpha val="100000"/>
                </a:srgbClr>
              </a:gs>
            </a:gsLst>
            <a:lin ang="2700000" scaled="0"/>
          </a:gradFill>
          <a:ln/>
        </p:spPr>
        <p:txBody>
          <a:bodyPr/>
          <a:lstStyle/>
          <a:p>
            <a:endParaRPr lang="en-US"/>
          </a:p>
        </p:txBody>
      </p:sp>
      <p:pic>
        <p:nvPicPr>
          <p:cNvPr id="113"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930990" y="6237294"/>
            <a:ext cx="161851" cy="161851"/>
          </a:xfrm>
          <a:prstGeom prst="rect">
            <a:avLst/>
          </a:prstGeom>
        </p:spPr>
      </p:pic>
      <p:sp>
        <p:nvSpPr>
          <p:cNvPr id="114" name="Text 103"/>
          <p:cNvSpPr/>
          <p:nvPr/>
        </p:nvSpPr>
        <p:spPr>
          <a:xfrm>
            <a:off x="8798198" y="6499231"/>
            <a:ext cx="427527"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MWAA</a:t>
            </a:r>
            <a:endParaRPr lang="en-US" sz="900" dirty="0"/>
          </a:p>
        </p:txBody>
      </p:sp>
      <p:sp>
        <p:nvSpPr>
          <p:cNvPr id="115" name="Shape 104"/>
          <p:cNvSpPr/>
          <p:nvPr/>
        </p:nvSpPr>
        <p:spPr>
          <a:xfrm>
            <a:off x="9821819" y="6108743"/>
            <a:ext cx="1467352" cy="592336"/>
          </a:xfrm>
          <a:prstGeom prst="roundRect">
            <a:avLst>
              <a:gd name="adj" fmla="val 12864"/>
            </a:avLst>
          </a:prstGeom>
          <a:solidFill>
            <a:srgbClr val="171766"/>
          </a:solidFill>
          <a:ln/>
        </p:spPr>
        <p:txBody>
          <a:bodyPr/>
          <a:lstStyle/>
          <a:p>
            <a:endParaRPr lang="en-US"/>
          </a:p>
        </p:txBody>
      </p:sp>
      <p:sp>
        <p:nvSpPr>
          <p:cNvPr id="116" name="Shape 105"/>
          <p:cNvSpPr/>
          <p:nvPr/>
        </p:nvSpPr>
        <p:spPr>
          <a:xfrm>
            <a:off x="10422155" y="6184925"/>
            <a:ext cx="266681" cy="266681"/>
          </a:xfrm>
          <a:prstGeom prst="roundRect">
            <a:avLst>
              <a:gd name="adj" fmla="val 21430"/>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17"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74523" y="6237294"/>
            <a:ext cx="161851" cy="161851"/>
          </a:xfrm>
          <a:prstGeom prst="rect">
            <a:avLst/>
          </a:prstGeom>
        </p:spPr>
      </p:pic>
      <p:sp>
        <p:nvSpPr>
          <p:cNvPr id="118" name="Text 106"/>
          <p:cNvSpPr/>
          <p:nvPr/>
        </p:nvSpPr>
        <p:spPr>
          <a:xfrm>
            <a:off x="10183788" y="6499231"/>
            <a:ext cx="743415"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Glue Catalog</a:t>
            </a:r>
            <a:endParaRPr lang="en-US" sz="900" dirty="0"/>
          </a:p>
        </p:txBody>
      </p:sp>
      <p:sp>
        <p:nvSpPr>
          <p:cNvPr id="119" name="Shape 107"/>
          <p:cNvSpPr/>
          <p:nvPr/>
        </p:nvSpPr>
        <p:spPr>
          <a:xfrm>
            <a:off x="11365353" y="6108743"/>
            <a:ext cx="1467259" cy="592336"/>
          </a:xfrm>
          <a:prstGeom prst="roundRect">
            <a:avLst>
              <a:gd name="adj" fmla="val 12864"/>
            </a:avLst>
          </a:prstGeom>
          <a:solidFill>
            <a:srgbClr val="171766"/>
          </a:solidFill>
          <a:ln/>
        </p:spPr>
        <p:txBody>
          <a:bodyPr/>
          <a:lstStyle/>
          <a:p>
            <a:endParaRPr lang="en-US"/>
          </a:p>
        </p:txBody>
      </p:sp>
      <p:sp>
        <p:nvSpPr>
          <p:cNvPr id="120" name="Shape 108"/>
          <p:cNvSpPr/>
          <p:nvPr/>
        </p:nvSpPr>
        <p:spPr>
          <a:xfrm>
            <a:off x="11965595" y="6184925"/>
            <a:ext cx="266681" cy="266681"/>
          </a:xfrm>
          <a:prstGeom prst="roundRect">
            <a:avLst>
              <a:gd name="adj" fmla="val 21430"/>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21"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017964" y="6237294"/>
            <a:ext cx="161851" cy="161851"/>
          </a:xfrm>
          <a:prstGeom prst="rect">
            <a:avLst/>
          </a:prstGeom>
        </p:spPr>
      </p:pic>
      <p:sp>
        <p:nvSpPr>
          <p:cNvPr id="122" name="Text 109"/>
          <p:cNvSpPr/>
          <p:nvPr/>
        </p:nvSpPr>
        <p:spPr>
          <a:xfrm>
            <a:off x="11838477" y="6499231"/>
            <a:ext cx="520917"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Glue DQ</a:t>
            </a:r>
            <a:endParaRPr lang="en-US" sz="900" dirty="0"/>
          </a:p>
        </p:txBody>
      </p:sp>
      <p:sp>
        <p:nvSpPr>
          <p:cNvPr id="123" name="Shape 110"/>
          <p:cNvSpPr/>
          <p:nvPr/>
        </p:nvSpPr>
        <p:spPr>
          <a:xfrm>
            <a:off x="12908793" y="6108743"/>
            <a:ext cx="1467352" cy="592336"/>
          </a:xfrm>
          <a:prstGeom prst="roundRect">
            <a:avLst>
              <a:gd name="adj" fmla="val 12864"/>
            </a:avLst>
          </a:prstGeom>
          <a:solidFill>
            <a:srgbClr val="171766"/>
          </a:solidFill>
          <a:ln/>
        </p:spPr>
        <p:txBody>
          <a:bodyPr/>
          <a:lstStyle/>
          <a:p>
            <a:endParaRPr lang="en-US"/>
          </a:p>
        </p:txBody>
      </p:sp>
      <p:sp>
        <p:nvSpPr>
          <p:cNvPr id="124" name="Shape 111"/>
          <p:cNvSpPr/>
          <p:nvPr/>
        </p:nvSpPr>
        <p:spPr>
          <a:xfrm>
            <a:off x="13509129" y="6184925"/>
            <a:ext cx="266681" cy="266681"/>
          </a:xfrm>
          <a:prstGeom prst="roundRect">
            <a:avLst>
              <a:gd name="adj" fmla="val 21430"/>
            </a:avLst>
          </a:prstGeom>
          <a:gradFill rotWithShape="1">
            <a:gsLst>
              <a:gs pos="0">
                <a:srgbClr val="F0586E">
                  <a:alpha val="100000"/>
                </a:srgbClr>
              </a:gs>
              <a:gs pos="100000">
                <a:srgbClr val="C42138">
                  <a:alpha val="100000"/>
                </a:srgbClr>
              </a:gs>
            </a:gsLst>
            <a:lin ang="2700000" scaled="0"/>
          </a:gradFill>
          <a:ln/>
        </p:spPr>
        <p:txBody>
          <a:bodyPr/>
          <a:lstStyle/>
          <a:p>
            <a:endParaRPr lang="en-US"/>
          </a:p>
        </p:txBody>
      </p:sp>
      <p:pic>
        <p:nvPicPr>
          <p:cNvPr id="125"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3561498" y="6237294"/>
            <a:ext cx="161851" cy="161851"/>
          </a:xfrm>
          <a:prstGeom prst="rect">
            <a:avLst/>
          </a:prstGeom>
        </p:spPr>
      </p:pic>
      <p:sp>
        <p:nvSpPr>
          <p:cNvPr id="126" name="Text 112"/>
          <p:cNvSpPr/>
          <p:nvPr/>
        </p:nvSpPr>
        <p:spPr>
          <a:xfrm>
            <a:off x="13451867" y="6499231"/>
            <a:ext cx="381112"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Macie</a:t>
            </a:r>
            <a:endParaRPr lang="en-US" sz="900" dirty="0"/>
          </a:p>
        </p:txBody>
      </p:sp>
      <p:sp>
        <p:nvSpPr>
          <p:cNvPr id="127" name="Shape 113"/>
          <p:cNvSpPr/>
          <p:nvPr/>
        </p:nvSpPr>
        <p:spPr>
          <a:xfrm>
            <a:off x="14452327" y="6108743"/>
            <a:ext cx="1467259" cy="592336"/>
          </a:xfrm>
          <a:prstGeom prst="roundRect">
            <a:avLst>
              <a:gd name="adj" fmla="val 12864"/>
            </a:avLst>
          </a:prstGeom>
          <a:solidFill>
            <a:srgbClr val="171766"/>
          </a:solidFill>
          <a:ln/>
        </p:spPr>
        <p:txBody>
          <a:bodyPr/>
          <a:lstStyle/>
          <a:p>
            <a:endParaRPr lang="en-US"/>
          </a:p>
        </p:txBody>
      </p:sp>
      <p:sp>
        <p:nvSpPr>
          <p:cNvPr id="128" name="Shape 114"/>
          <p:cNvSpPr/>
          <p:nvPr/>
        </p:nvSpPr>
        <p:spPr>
          <a:xfrm>
            <a:off x="15052570" y="6184925"/>
            <a:ext cx="266681" cy="266681"/>
          </a:xfrm>
          <a:prstGeom prst="roundRect">
            <a:avLst>
              <a:gd name="adj" fmla="val 21430"/>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29"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104938" y="6237294"/>
            <a:ext cx="161851" cy="161851"/>
          </a:xfrm>
          <a:prstGeom prst="rect">
            <a:avLst/>
          </a:prstGeom>
        </p:spPr>
      </p:pic>
      <p:sp>
        <p:nvSpPr>
          <p:cNvPr id="130" name="Text 115"/>
          <p:cNvSpPr/>
          <p:nvPr/>
        </p:nvSpPr>
        <p:spPr>
          <a:xfrm>
            <a:off x="14750765" y="6499231"/>
            <a:ext cx="870384"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Lake Formation</a:t>
            </a:r>
            <a:endParaRPr lang="en-US" sz="900" dirty="0"/>
          </a:p>
        </p:txBody>
      </p:sp>
      <p:sp>
        <p:nvSpPr>
          <p:cNvPr id="131" name="Shape 116"/>
          <p:cNvSpPr/>
          <p:nvPr/>
        </p:nvSpPr>
        <p:spPr>
          <a:xfrm>
            <a:off x="15995768" y="6108743"/>
            <a:ext cx="1467259" cy="592336"/>
          </a:xfrm>
          <a:prstGeom prst="roundRect">
            <a:avLst>
              <a:gd name="adj" fmla="val 12864"/>
            </a:avLst>
          </a:prstGeom>
          <a:solidFill>
            <a:srgbClr val="171766"/>
          </a:solidFill>
          <a:ln/>
        </p:spPr>
        <p:txBody>
          <a:bodyPr/>
          <a:lstStyle/>
          <a:p>
            <a:endParaRPr lang="en-US"/>
          </a:p>
        </p:txBody>
      </p:sp>
      <p:sp>
        <p:nvSpPr>
          <p:cNvPr id="132" name="Shape 117"/>
          <p:cNvSpPr/>
          <p:nvPr/>
        </p:nvSpPr>
        <p:spPr>
          <a:xfrm>
            <a:off x="16596010" y="6184925"/>
            <a:ext cx="266681" cy="266681"/>
          </a:xfrm>
          <a:prstGeom prst="roundRect">
            <a:avLst>
              <a:gd name="adj" fmla="val 21430"/>
            </a:avLst>
          </a:prstGeom>
          <a:gradFill rotWithShape="1">
            <a:gsLst>
              <a:gs pos="0">
                <a:srgbClr val="F0586E">
                  <a:alpha val="100000"/>
                </a:srgbClr>
              </a:gs>
              <a:gs pos="100000">
                <a:srgbClr val="C42138">
                  <a:alpha val="100000"/>
                </a:srgbClr>
              </a:gs>
            </a:gsLst>
            <a:lin ang="2700000" scaled="0"/>
          </a:gradFill>
          <a:ln/>
        </p:spPr>
        <p:txBody>
          <a:bodyPr/>
          <a:lstStyle/>
          <a:p>
            <a:endParaRPr lang="en-US"/>
          </a:p>
        </p:txBody>
      </p:sp>
      <p:pic>
        <p:nvPicPr>
          <p:cNvPr id="133"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6648379" y="6237294"/>
            <a:ext cx="161851" cy="161851"/>
          </a:xfrm>
          <a:prstGeom prst="rect">
            <a:avLst/>
          </a:prstGeom>
        </p:spPr>
      </p:pic>
      <p:sp>
        <p:nvSpPr>
          <p:cNvPr id="134" name="Text 118"/>
          <p:cNvSpPr/>
          <p:nvPr/>
        </p:nvSpPr>
        <p:spPr>
          <a:xfrm>
            <a:off x="16589629" y="6499231"/>
            <a:ext cx="279443" cy="163767"/>
          </a:xfrm>
          <a:prstGeom prst="rect">
            <a:avLst/>
          </a:prstGeom>
          <a:noFill/>
          <a:ln/>
        </p:spPr>
        <p:txBody>
          <a:bodyPr wrap="square" lIns="25400" tIns="25400" rIns="25400" bIns="25400" rtlCol="0" anchor="t">
            <a:normAutofit/>
          </a:bodyP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IAM</a:t>
            </a:r>
            <a:endParaRPr lang="en-US" sz="900" dirty="0"/>
          </a:p>
        </p:txBody>
      </p:sp>
      <p:sp>
        <p:nvSpPr>
          <p:cNvPr id="135" name="Text 119"/>
          <p:cNvSpPr/>
          <p:nvPr/>
        </p:nvSpPr>
        <p:spPr>
          <a:xfrm>
            <a:off x="548725" y="7260208"/>
            <a:ext cx="3014021"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F0A040"/>
                </a:solidFill>
                <a:latin typeface="Courier New" pitchFamily="34" charset="0"/>
                <a:ea typeface="Courier New" pitchFamily="34" charset="-122"/>
                <a:cs typeface="Courier New" pitchFamily="34" charset="-120"/>
              </a:rPr>
              <a:t>↓ aggregate &amp; load</a:t>
            </a:r>
            <a:endParaRPr lang="en-US" sz="900" dirty="0"/>
          </a:p>
        </p:txBody>
      </p:sp>
      <p:sp>
        <p:nvSpPr>
          <p:cNvPr id="136" name="Text 120"/>
          <p:cNvSpPr/>
          <p:nvPr/>
        </p:nvSpPr>
        <p:spPr>
          <a:xfrm>
            <a:off x="3383989" y="7260208"/>
            <a:ext cx="3014123"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6BC600"/>
                </a:solidFill>
                <a:latin typeface="Courier New" pitchFamily="34" charset="0"/>
                <a:ea typeface="Courier New" pitchFamily="34" charset="-122"/>
                <a:cs typeface="Courier New" pitchFamily="34" charset="-120"/>
              </a:rPr>
              <a:t>↓ real-time features</a:t>
            </a:r>
            <a:endParaRPr lang="en-US" sz="900" dirty="0"/>
          </a:p>
        </p:txBody>
      </p:sp>
      <p:sp>
        <p:nvSpPr>
          <p:cNvPr id="137" name="Text 121"/>
          <p:cNvSpPr/>
          <p:nvPr/>
        </p:nvSpPr>
        <p:spPr>
          <a:xfrm>
            <a:off x="6219355" y="7260208"/>
            <a:ext cx="3014021"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4BBEFF"/>
                </a:solidFill>
                <a:latin typeface="Courier New" pitchFamily="34" charset="0"/>
                <a:ea typeface="Courier New" pitchFamily="34" charset="-122"/>
                <a:cs typeface="Courier New" pitchFamily="34" charset="-120"/>
              </a:rPr>
              <a:t>↓ feature store</a:t>
            </a:r>
            <a:endParaRPr lang="en-US" sz="900" dirty="0"/>
          </a:p>
        </p:txBody>
      </p:sp>
      <p:sp>
        <p:nvSpPr>
          <p:cNvPr id="138" name="Text 122"/>
          <p:cNvSpPr/>
          <p:nvPr/>
        </p:nvSpPr>
        <p:spPr>
          <a:xfrm>
            <a:off x="9054619" y="7260208"/>
            <a:ext cx="3014123"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4BBEFF"/>
                </a:solidFill>
                <a:latin typeface="Courier New" pitchFamily="34" charset="0"/>
                <a:ea typeface="Courier New" pitchFamily="34" charset="-122"/>
                <a:cs typeface="Courier New" pitchFamily="34" charset="-120"/>
              </a:rPr>
              <a:t>↓ ad-hoc SQL</a:t>
            </a:r>
            <a:endParaRPr lang="en-US" sz="900" dirty="0"/>
          </a:p>
        </p:txBody>
      </p:sp>
      <p:sp>
        <p:nvSpPr>
          <p:cNvPr id="139" name="Text 123"/>
          <p:cNvSpPr/>
          <p:nvPr/>
        </p:nvSpPr>
        <p:spPr>
          <a:xfrm>
            <a:off x="11889986" y="7260208"/>
            <a:ext cx="3014021"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2FD6B8"/>
                </a:solidFill>
                <a:latin typeface="Courier New" pitchFamily="34" charset="0"/>
                <a:ea typeface="Courier New" pitchFamily="34" charset="-122"/>
                <a:cs typeface="Courier New" pitchFamily="34" charset="-120"/>
              </a:rPr>
              <a:t>↓ NLP pipeline</a:t>
            </a:r>
            <a:endParaRPr lang="en-US" sz="900" dirty="0"/>
          </a:p>
        </p:txBody>
      </p:sp>
      <p:sp>
        <p:nvSpPr>
          <p:cNvPr id="140" name="Text 124"/>
          <p:cNvSpPr/>
          <p:nvPr/>
        </p:nvSpPr>
        <p:spPr>
          <a:xfrm>
            <a:off x="14725255" y="7260208"/>
            <a:ext cx="3014021" cy="169069"/>
          </a:xfrm>
          <a:prstGeom prst="rect">
            <a:avLst/>
          </a:prstGeom>
          <a:noFill/>
          <a:ln/>
        </p:spPr>
        <p:txBody>
          <a:bodyPr wrap="square" lIns="25400" tIns="25400" rIns="25400" bIns="25400" rtlCol="0" anchor="t">
            <a:normAutofit/>
          </a:bodyPr>
          <a:lstStyle/>
          <a:p>
            <a:pPr marL="0" indent="0" algn="ctr">
              <a:buNone/>
            </a:pPr>
            <a:r>
              <a:rPr lang="en-US" sz="900" dirty="0">
                <a:solidFill>
                  <a:srgbClr val="4BBEFF"/>
                </a:solidFill>
                <a:latin typeface="Courier New" pitchFamily="34" charset="0"/>
                <a:ea typeface="Courier New" pitchFamily="34" charset="-122"/>
                <a:cs typeface="Courier New" pitchFamily="34" charset="-120"/>
              </a:rPr>
              <a:t>↓ BI queries</a:t>
            </a:r>
            <a:endParaRPr lang="en-US" sz="900" dirty="0"/>
          </a:p>
        </p:txBody>
      </p:sp>
      <p:sp>
        <p:nvSpPr>
          <p:cNvPr id="141" name="Text 125"/>
          <p:cNvSpPr/>
          <p:nvPr/>
        </p:nvSpPr>
        <p:spPr>
          <a:xfrm>
            <a:off x="685726" y="7849102"/>
            <a:ext cx="18608204" cy="180975"/>
          </a:xfrm>
          <a:prstGeom prst="rect">
            <a:avLst/>
          </a:prstGeom>
          <a:noFill/>
          <a:ln/>
        </p:spPr>
        <p:txBody>
          <a:bodyPr wrap="square" lIns="25400" tIns="25400" rIns="25400" bIns="25400" rtlCol="0" anchor="t">
            <a:normAutofit/>
          </a:bodyPr>
          <a:lstStyle/>
          <a:p>
            <a:pPr marL="0" indent="0" algn="l">
              <a:buNone/>
            </a:pPr>
            <a:r>
              <a:rPr lang="en-US" sz="975" b="1" kern="0" spc="146" dirty="0">
                <a:solidFill>
                  <a:srgbClr val="7FA8E8"/>
                </a:solidFill>
                <a:latin typeface="Arial" pitchFamily="34" charset="0"/>
                <a:ea typeface="Arial" pitchFamily="34" charset="-122"/>
                <a:cs typeface="Arial" pitchFamily="34" charset="-120"/>
              </a:rPr>
              <a:t>SERVING &amp; CONSUMPTION</a:t>
            </a:r>
            <a:endParaRPr lang="en-US" sz="975" dirty="0"/>
          </a:p>
        </p:txBody>
      </p:sp>
      <p:sp>
        <p:nvSpPr>
          <p:cNvPr id="142" name="Shape 126"/>
          <p:cNvSpPr/>
          <p:nvPr/>
        </p:nvSpPr>
        <p:spPr>
          <a:xfrm>
            <a:off x="685726" y="8049090"/>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43" name="Shape 127"/>
          <p:cNvSpPr/>
          <p:nvPr/>
        </p:nvSpPr>
        <p:spPr>
          <a:xfrm>
            <a:off x="796417" y="8140712"/>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44"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82086" y="8226382"/>
            <a:ext cx="171431" cy="171431"/>
          </a:xfrm>
          <a:prstGeom prst="rect">
            <a:avLst/>
          </a:prstGeom>
        </p:spPr>
      </p:pic>
      <p:sp>
        <p:nvSpPr>
          <p:cNvPr id="145" name="Text 128"/>
          <p:cNvSpPr/>
          <p:nvPr/>
        </p:nvSpPr>
        <p:spPr>
          <a:xfrm>
            <a:off x="1224948" y="8167315"/>
            <a:ext cx="1133159"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Redshift</a:t>
            </a:r>
            <a:endParaRPr lang="en-US" sz="1050" dirty="0"/>
          </a:p>
        </p:txBody>
      </p:sp>
      <p:sp>
        <p:nvSpPr>
          <p:cNvPr id="146" name="Text 129"/>
          <p:cNvSpPr/>
          <p:nvPr/>
        </p:nvSpPr>
        <p:spPr>
          <a:xfrm>
            <a:off x="1224948" y="8314004"/>
            <a:ext cx="1133159"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Gold · columnar DWH</a:t>
            </a:r>
            <a:endParaRPr lang="en-US" sz="863" dirty="0"/>
          </a:p>
        </p:txBody>
      </p:sp>
      <p:sp>
        <p:nvSpPr>
          <p:cNvPr id="147" name="Shape 130"/>
          <p:cNvSpPr/>
          <p:nvPr/>
        </p:nvSpPr>
        <p:spPr>
          <a:xfrm>
            <a:off x="3520994" y="8049090"/>
            <a:ext cx="2740112"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48" name="Shape 131"/>
          <p:cNvSpPr/>
          <p:nvPr/>
        </p:nvSpPr>
        <p:spPr>
          <a:xfrm>
            <a:off x="3631685" y="8140712"/>
            <a:ext cx="342863" cy="342863"/>
          </a:xfrm>
          <a:prstGeom prst="roundRect">
            <a:avLst>
              <a:gd name="adj" fmla="val 19447"/>
            </a:avLst>
          </a:prstGeom>
          <a:gradFill rotWithShape="1">
            <a:gsLst>
              <a:gs pos="0">
                <a:srgbClr val="5B8DEF">
                  <a:alpha val="100000"/>
                </a:srgbClr>
              </a:gs>
              <a:gs pos="100000">
                <a:srgbClr val="2B3FC4">
                  <a:alpha val="100000"/>
                </a:srgbClr>
              </a:gs>
            </a:gsLst>
            <a:lin ang="2700000" scaled="0"/>
          </a:gradFill>
          <a:ln/>
        </p:spPr>
        <p:txBody>
          <a:bodyPr/>
          <a:lstStyle/>
          <a:p>
            <a:endParaRPr lang="en-US"/>
          </a:p>
        </p:txBody>
      </p:sp>
      <p:pic>
        <p:nvPicPr>
          <p:cNvPr id="149" name="Image 15" descr="preencoded.png"/>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717354" y="8226382"/>
            <a:ext cx="171431" cy="171431"/>
          </a:xfrm>
          <a:prstGeom prst="rect">
            <a:avLst/>
          </a:prstGeom>
        </p:spPr>
      </p:pic>
      <p:sp>
        <p:nvSpPr>
          <p:cNvPr id="150" name="Text 132"/>
          <p:cNvSpPr/>
          <p:nvPr/>
        </p:nvSpPr>
        <p:spPr>
          <a:xfrm>
            <a:off x="4060217" y="8167315"/>
            <a:ext cx="1024328"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DynamoDB</a:t>
            </a:r>
            <a:endParaRPr lang="en-US" sz="1050" dirty="0"/>
          </a:p>
        </p:txBody>
      </p:sp>
      <p:sp>
        <p:nvSpPr>
          <p:cNvPr id="151" name="Text 133"/>
          <p:cNvSpPr/>
          <p:nvPr/>
        </p:nvSpPr>
        <p:spPr>
          <a:xfrm>
            <a:off x="4060217" y="8314004"/>
            <a:ext cx="1024328"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NoSQL · ML serving</a:t>
            </a:r>
            <a:endParaRPr lang="en-US" sz="863" dirty="0"/>
          </a:p>
        </p:txBody>
      </p:sp>
      <p:sp>
        <p:nvSpPr>
          <p:cNvPr id="152" name="Shape 134"/>
          <p:cNvSpPr/>
          <p:nvPr/>
        </p:nvSpPr>
        <p:spPr>
          <a:xfrm>
            <a:off x="6356356" y="8049090"/>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53" name="Shape 135"/>
          <p:cNvSpPr/>
          <p:nvPr/>
        </p:nvSpPr>
        <p:spPr>
          <a:xfrm>
            <a:off x="6467047" y="8140712"/>
            <a:ext cx="342863" cy="342863"/>
          </a:xfrm>
          <a:prstGeom prst="roundRect">
            <a:avLst>
              <a:gd name="adj" fmla="val 19447"/>
            </a:avLst>
          </a:prstGeom>
          <a:gradFill rotWithShape="1">
            <a:gsLst>
              <a:gs pos="0">
                <a:srgbClr val="2FD6B8">
                  <a:alpha val="100000"/>
                </a:srgbClr>
              </a:gs>
              <a:gs pos="100000">
                <a:srgbClr val="018E78">
                  <a:alpha val="100000"/>
                </a:srgbClr>
              </a:gs>
            </a:gsLst>
            <a:lin ang="2700000" scaled="0"/>
          </a:gradFill>
          <a:ln/>
        </p:spPr>
        <p:txBody>
          <a:bodyPr/>
          <a:lstStyle/>
          <a:p>
            <a:endParaRPr lang="en-US"/>
          </a:p>
        </p:txBody>
      </p:sp>
      <p:pic>
        <p:nvPicPr>
          <p:cNvPr id="154" name="Image 16" descr="preencoded.png"/>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552716" y="8226382"/>
            <a:ext cx="171431" cy="171431"/>
          </a:xfrm>
          <a:prstGeom prst="rect">
            <a:avLst/>
          </a:prstGeom>
        </p:spPr>
      </p:pic>
      <p:sp>
        <p:nvSpPr>
          <p:cNvPr id="155" name="Text 136"/>
          <p:cNvSpPr/>
          <p:nvPr/>
        </p:nvSpPr>
        <p:spPr>
          <a:xfrm>
            <a:off x="6895579" y="8167315"/>
            <a:ext cx="1089813"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SageMaker</a:t>
            </a:r>
            <a:endParaRPr lang="en-US" sz="1050" dirty="0"/>
          </a:p>
        </p:txBody>
      </p:sp>
      <p:sp>
        <p:nvSpPr>
          <p:cNvPr id="156" name="Text 137"/>
          <p:cNvSpPr/>
          <p:nvPr/>
        </p:nvSpPr>
        <p:spPr>
          <a:xfrm>
            <a:off x="6895579" y="8314004"/>
            <a:ext cx="1089813"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ML forecasting · recs</a:t>
            </a:r>
            <a:endParaRPr lang="en-US" sz="863" dirty="0"/>
          </a:p>
        </p:txBody>
      </p:sp>
      <p:sp>
        <p:nvSpPr>
          <p:cNvPr id="157" name="Shape 138"/>
          <p:cNvSpPr/>
          <p:nvPr/>
        </p:nvSpPr>
        <p:spPr>
          <a:xfrm>
            <a:off x="9191625" y="8049090"/>
            <a:ext cx="2740112"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58" name="Shape 139"/>
          <p:cNvSpPr/>
          <p:nvPr/>
        </p:nvSpPr>
        <p:spPr>
          <a:xfrm>
            <a:off x="9302316" y="8140712"/>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59" name="Image 17" descr="preencoded.png"/>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387985" y="8226382"/>
            <a:ext cx="171431" cy="171431"/>
          </a:xfrm>
          <a:prstGeom prst="rect">
            <a:avLst/>
          </a:prstGeom>
        </p:spPr>
      </p:pic>
      <p:sp>
        <p:nvSpPr>
          <p:cNvPr id="160" name="Text 140"/>
          <p:cNvSpPr/>
          <p:nvPr/>
        </p:nvSpPr>
        <p:spPr>
          <a:xfrm>
            <a:off x="9730848" y="8167315"/>
            <a:ext cx="802295"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Athena</a:t>
            </a:r>
            <a:endParaRPr lang="en-US" sz="1050" dirty="0"/>
          </a:p>
        </p:txBody>
      </p:sp>
      <p:sp>
        <p:nvSpPr>
          <p:cNvPr id="161" name="Text 141"/>
          <p:cNvSpPr/>
          <p:nvPr/>
        </p:nvSpPr>
        <p:spPr>
          <a:xfrm>
            <a:off x="9730848" y="8314004"/>
            <a:ext cx="802295"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serverless SQL</a:t>
            </a:r>
            <a:endParaRPr lang="en-US" sz="863" dirty="0"/>
          </a:p>
        </p:txBody>
      </p:sp>
      <p:sp>
        <p:nvSpPr>
          <p:cNvPr id="162" name="Shape 142"/>
          <p:cNvSpPr/>
          <p:nvPr/>
        </p:nvSpPr>
        <p:spPr>
          <a:xfrm>
            <a:off x="12026987" y="8049090"/>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63" name="Shape 143"/>
          <p:cNvSpPr/>
          <p:nvPr/>
        </p:nvSpPr>
        <p:spPr>
          <a:xfrm>
            <a:off x="12137678" y="8140712"/>
            <a:ext cx="342863" cy="342863"/>
          </a:xfrm>
          <a:prstGeom prst="roundRect">
            <a:avLst>
              <a:gd name="adj" fmla="val 19447"/>
            </a:avLst>
          </a:prstGeom>
          <a:gradFill rotWithShape="1">
            <a:gsLst>
              <a:gs pos="0">
                <a:srgbClr val="2FD6B8">
                  <a:alpha val="100000"/>
                </a:srgbClr>
              </a:gs>
              <a:gs pos="100000">
                <a:srgbClr val="018E78">
                  <a:alpha val="100000"/>
                </a:srgbClr>
              </a:gs>
            </a:gsLst>
            <a:lin ang="2700000" scaled="0"/>
          </a:gradFill>
          <a:ln/>
        </p:spPr>
        <p:txBody>
          <a:bodyPr/>
          <a:lstStyle/>
          <a:p>
            <a:endParaRPr lang="en-US"/>
          </a:p>
        </p:txBody>
      </p:sp>
      <p:pic>
        <p:nvPicPr>
          <p:cNvPr id="164" name="Image 18" descr="preencoded.png"/>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2223347" y="8226382"/>
            <a:ext cx="171431" cy="171431"/>
          </a:xfrm>
          <a:prstGeom prst="rect">
            <a:avLst/>
          </a:prstGeom>
        </p:spPr>
      </p:pic>
      <p:sp>
        <p:nvSpPr>
          <p:cNvPr id="165" name="Text 144"/>
          <p:cNvSpPr/>
          <p:nvPr/>
        </p:nvSpPr>
        <p:spPr>
          <a:xfrm>
            <a:off x="12566210" y="8167315"/>
            <a:ext cx="847130"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Comprehend</a:t>
            </a:r>
            <a:endParaRPr lang="en-US" sz="1050" dirty="0"/>
          </a:p>
        </p:txBody>
      </p:sp>
      <p:sp>
        <p:nvSpPr>
          <p:cNvPr id="166" name="Text 145"/>
          <p:cNvSpPr/>
          <p:nvPr/>
        </p:nvSpPr>
        <p:spPr>
          <a:xfrm>
            <a:off x="12566210" y="8314004"/>
            <a:ext cx="847130"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NLP sentiment</a:t>
            </a:r>
            <a:endParaRPr lang="en-US" sz="863" dirty="0"/>
          </a:p>
        </p:txBody>
      </p:sp>
      <p:sp>
        <p:nvSpPr>
          <p:cNvPr id="167" name="Shape 146"/>
          <p:cNvSpPr/>
          <p:nvPr/>
        </p:nvSpPr>
        <p:spPr>
          <a:xfrm>
            <a:off x="14862256" y="8049090"/>
            <a:ext cx="2740019" cy="526107"/>
          </a:xfrm>
          <a:prstGeom prst="roundRect">
            <a:avLst>
              <a:gd name="adj" fmla="val 18105"/>
            </a:avLst>
          </a:prstGeom>
          <a:solidFill>
            <a:srgbClr val="13134F"/>
          </a:solidFill>
          <a:ln w="5953">
            <a:solidFill>
              <a:srgbClr val="2A2A6E"/>
            </a:solidFill>
            <a:prstDash val="solid"/>
          </a:ln>
        </p:spPr>
        <p:txBody>
          <a:bodyPr/>
          <a:lstStyle/>
          <a:p>
            <a:endParaRPr lang="en-US"/>
          </a:p>
        </p:txBody>
      </p:sp>
      <p:sp>
        <p:nvSpPr>
          <p:cNvPr id="168" name="Shape 147"/>
          <p:cNvSpPr/>
          <p:nvPr/>
        </p:nvSpPr>
        <p:spPr>
          <a:xfrm>
            <a:off x="14972947" y="8140712"/>
            <a:ext cx="342863" cy="342863"/>
          </a:xfrm>
          <a:prstGeom prst="roundRect">
            <a:avLst>
              <a:gd name="adj" fmla="val 19447"/>
            </a:avLst>
          </a:prstGeom>
          <a:gradFill rotWithShape="1">
            <a:gsLst>
              <a:gs pos="0">
                <a:srgbClr val="A45CFF">
                  <a:alpha val="100000"/>
                </a:srgbClr>
              </a:gs>
              <a:gs pos="100000">
                <a:srgbClr val="6E2FD6">
                  <a:alpha val="100000"/>
                </a:srgbClr>
              </a:gs>
            </a:gsLst>
            <a:lin ang="2700000" scaled="0"/>
          </a:gradFill>
          <a:ln/>
        </p:spPr>
        <p:txBody>
          <a:bodyPr/>
          <a:lstStyle/>
          <a:p>
            <a:endParaRPr lang="en-US"/>
          </a:p>
        </p:txBody>
      </p:sp>
      <p:pic>
        <p:nvPicPr>
          <p:cNvPr id="169" name="Image 19" descr="preencoded.png"/>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5058616" y="8226382"/>
            <a:ext cx="171431" cy="171431"/>
          </a:xfrm>
          <a:prstGeom prst="rect">
            <a:avLst/>
          </a:prstGeom>
        </p:spPr>
      </p:pic>
      <p:sp>
        <p:nvSpPr>
          <p:cNvPr id="170" name="Text 148"/>
          <p:cNvSpPr/>
          <p:nvPr/>
        </p:nvSpPr>
        <p:spPr>
          <a:xfrm>
            <a:off x="15401479" y="8167315"/>
            <a:ext cx="794854"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QuickSight</a:t>
            </a:r>
            <a:endParaRPr lang="en-US" sz="1050" dirty="0"/>
          </a:p>
        </p:txBody>
      </p:sp>
      <p:sp>
        <p:nvSpPr>
          <p:cNvPr id="171" name="Text 149"/>
          <p:cNvSpPr/>
          <p:nvPr/>
        </p:nvSpPr>
        <p:spPr>
          <a:xfrm>
            <a:off x="15401479" y="8314004"/>
            <a:ext cx="794854"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BI dashboards</a:t>
            </a:r>
            <a:endParaRPr lang="en-US" sz="863" dirty="0"/>
          </a:p>
        </p:txBody>
      </p:sp>
      <p:sp>
        <p:nvSpPr>
          <p:cNvPr id="172" name="Text 150"/>
          <p:cNvSpPr/>
          <p:nvPr/>
        </p:nvSpPr>
        <p:spPr>
          <a:xfrm>
            <a:off x="7632557" y="9194509"/>
            <a:ext cx="1105067" cy="169069"/>
          </a:xfrm>
          <a:prstGeom prst="rect">
            <a:avLst/>
          </a:prstGeom>
          <a:noFill/>
          <a:ln/>
        </p:spPr>
        <p:txBody>
          <a:bodyPr wrap="square" lIns="25400" tIns="25400" rIns="25400" bIns="25400" rtlCol="0" anchor="t">
            <a:normAutofit/>
          </a:bodyPr>
          <a:lstStyle/>
          <a:p>
            <a:pPr marL="0" indent="0" algn="l">
              <a:buNone/>
            </a:pPr>
            <a:r>
              <a:rPr lang="en-US" sz="900" dirty="0">
                <a:solidFill>
                  <a:srgbClr val="6BB7FF"/>
                </a:solidFill>
                <a:latin typeface="Courier New" pitchFamily="34" charset="0"/>
                <a:ea typeface="Courier New" pitchFamily="34" charset="-122"/>
                <a:cs typeface="Courier New" pitchFamily="34" charset="-120"/>
              </a:rPr>
              <a:t>serve results →</a:t>
            </a:r>
            <a:endParaRPr lang="en-US" sz="900" dirty="0"/>
          </a:p>
        </p:txBody>
      </p:sp>
      <p:sp>
        <p:nvSpPr>
          <p:cNvPr id="173" name="Shape 151"/>
          <p:cNvSpPr/>
          <p:nvPr/>
        </p:nvSpPr>
        <p:spPr>
          <a:xfrm>
            <a:off x="8794719" y="9033123"/>
            <a:ext cx="1860724" cy="453833"/>
          </a:xfrm>
          <a:prstGeom prst="roundRect">
            <a:avLst>
              <a:gd name="adj" fmla="val 20988"/>
            </a:avLst>
          </a:prstGeom>
          <a:solidFill>
            <a:srgbClr val="13134F"/>
          </a:solidFill>
          <a:ln w="5953">
            <a:solidFill>
              <a:srgbClr val="3A3A7E"/>
            </a:solidFill>
            <a:prstDash val="solid"/>
          </a:ln>
        </p:spPr>
        <p:txBody>
          <a:bodyPr/>
          <a:lstStyle/>
          <a:p>
            <a:endParaRPr lang="en-US"/>
          </a:p>
        </p:txBody>
      </p:sp>
      <p:sp>
        <p:nvSpPr>
          <p:cNvPr id="174" name="Shape 152"/>
          <p:cNvSpPr/>
          <p:nvPr/>
        </p:nvSpPr>
        <p:spPr>
          <a:xfrm>
            <a:off x="8953035" y="9126699"/>
            <a:ext cx="266681" cy="266681"/>
          </a:xfrm>
          <a:prstGeom prst="roundRect">
            <a:avLst>
              <a:gd name="adj" fmla="val 21430"/>
            </a:avLst>
          </a:prstGeom>
          <a:gradFill rotWithShape="1">
            <a:gsLst>
              <a:gs pos="0">
                <a:srgbClr val="F65BA6">
                  <a:alpha val="100000"/>
                </a:srgbClr>
              </a:gs>
              <a:gs pos="100000">
                <a:srgbClr val="D10E6E">
                  <a:alpha val="100000"/>
                </a:srgbClr>
              </a:gs>
            </a:gsLst>
            <a:lin ang="2700000" scaled="0"/>
          </a:gradFill>
          <a:ln/>
        </p:spPr>
        <p:txBody>
          <a:bodyPr/>
          <a:lstStyle/>
          <a:p>
            <a:endParaRPr lang="en-US"/>
          </a:p>
        </p:txBody>
      </p:sp>
      <p:pic>
        <p:nvPicPr>
          <p:cNvPr id="175" name="Image 20" descr="preencoded.png"/>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005404" y="9179068"/>
            <a:ext cx="161851" cy="161851"/>
          </a:xfrm>
          <a:prstGeom prst="rect">
            <a:avLst/>
          </a:prstGeom>
        </p:spPr>
      </p:pic>
      <p:sp>
        <p:nvSpPr>
          <p:cNvPr id="176" name="Text 153"/>
          <p:cNvSpPr/>
          <p:nvPr/>
        </p:nvSpPr>
        <p:spPr>
          <a:xfrm>
            <a:off x="9314966" y="9115258"/>
            <a:ext cx="1258360" cy="184789"/>
          </a:xfrm>
          <a:prstGeom prst="rect">
            <a:avLst/>
          </a:prstGeom>
          <a:noFill/>
          <a:ln/>
        </p:spPr>
        <p:txBody>
          <a:bodyPr wrap="square" lIns="25400" tIns="25400" rIns="25400" bIns="25400" rtlCol="0" anchor="t">
            <a:normAutofit/>
          </a:bodyPr>
          <a:lstStyle/>
          <a:p>
            <a:pPr marL="0" indent="0" algn="l">
              <a:lnSpc>
                <a:spcPct val="110000"/>
              </a:lnSpc>
              <a:buNone/>
            </a:pPr>
            <a:r>
              <a:rPr lang="en-US" sz="1050" b="1" dirty="0">
                <a:solidFill>
                  <a:srgbClr val="FFFFFF"/>
                </a:solidFill>
                <a:latin typeface="Arial" pitchFamily="34" charset="0"/>
                <a:ea typeface="Arial" pitchFamily="34" charset="-122"/>
                <a:cs typeface="Arial" pitchFamily="34" charset="-120"/>
              </a:rPr>
              <a:t>API Gateway</a:t>
            </a:r>
            <a:endParaRPr lang="en-US" sz="1050" dirty="0"/>
          </a:p>
        </p:txBody>
      </p:sp>
      <p:sp>
        <p:nvSpPr>
          <p:cNvPr id="177" name="Text 154"/>
          <p:cNvSpPr/>
          <p:nvPr/>
        </p:nvSpPr>
        <p:spPr>
          <a:xfrm>
            <a:off x="9314966" y="9261946"/>
            <a:ext cx="1258360" cy="180975"/>
          </a:xfrm>
          <a:prstGeom prst="rect">
            <a:avLst/>
          </a:prstGeom>
          <a:noFill/>
          <a:ln/>
        </p:spPr>
        <p:txBody>
          <a:bodyPr wrap="square" lIns="25400" tIns="25400" rIns="25400" bIns="25400" rtlCol="0" anchor="t">
            <a:normAutofit/>
          </a:bodyPr>
          <a:lstStyle/>
          <a:p>
            <a:pPr marL="0" indent="0" algn="l">
              <a:buNone/>
            </a:pPr>
            <a:r>
              <a:rPr lang="en-US" sz="863" dirty="0">
                <a:solidFill>
                  <a:srgbClr val="8A8AC0"/>
                </a:solidFill>
                <a:latin typeface="Arial" pitchFamily="34" charset="0"/>
                <a:ea typeface="Arial" pitchFamily="34" charset="-122"/>
                <a:cs typeface="Arial" pitchFamily="34" charset="-120"/>
              </a:rPr>
              <a:t>Partner APIs · AI agents</a:t>
            </a:r>
            <a:endParaRPr lang="en-US" sz="863" dirty="0"/>
          </a:p>
        </p:txBody>
      </p:sp>
      <p:sp>
        <p:nvSpPr>
          <p:cNvPr id="178" name="Shape 155"/>
          <p:cNvSpPr/>
          <p:nvPr/>
        </p:nvSpPr>
        <p:spPr>
          <a:xfrm>
            <a:off x="914363" y="9271434"/>
            <a:ext cx="16459274" cy="9525"/>
          </a:xfrm>
          <a:prstGeom prst="rect">
            <a:avLst/>
          </a:prstGeom>
          <a:solidFill>
            <a:srgbClr val="25255E"/>
          </a:solidFill>
          <a:ln/>
        </p:spPr>
        <p:txBody>
          <a:bodyPr/>
          <a:lstStyle/>
          <a:p>
            <a:endParaRPr lang="en-US"/>
          </a:p>
        </p:txBody>
      </p:sp>
      <p:sp>
        <p:nvSpPr>
          <p:cNvPr id="179" name="Text 156"/>
          <p:cNvSpPr/>
          <p:nvPr/>
        </p:nvSpPr>
        <p:spPr>
          <a:xfrm>
            <a:off x="914363" y="9575602"/>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5C5C92"/>
                </a:solidFill>
                <a:latin typeface="Arial" pitchFamily="34" charset="0"/>
                <a:ea typeface="Arial" pitchFamily="34" charset="-122"/>
                <a:cs typeface="Arial" pitchFamily="34" charset="-120"/>
              </a:rPr>
              <a:t>MANGA DATAHUB · CLOUD ANALYTICS · IE UNIVERSITY</a:t>
            </a:r>
            <a:endParaRPr lang="en-US" sz="1125" dirty="0"/>
          </a:p>
        </p:txBody>
      </p:sp>
      <p:pic>
        <p:nvPicPr>
          <p:cNvPr id="180" name="Image 21" descr="preencoded.png"/>
          <p:cNvPicPr>
            <a:picLocks noChangeAspect="1"/>
          </p:cNvPicPr>
          <p:nvPr/>
        </p:nvPicPr>
        <p:blipFill>
          <a:blip r:embed="rId24"/>
          <a:stretch>
            <a:fillRect/>
          </a:stretch>
        </p:blipFill>
        <p:spPr>
          <a:xfrm>
            <a:off x="16906875" y="9429750"/>
            <a:ext cx="466762" cy="476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013923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REQUIREMENTS COVERAGE</a:t>
            </a:r>
            <a:endParaRPr lang="en-US" sz="1500" dirty="0"/>
          </a:p>
        </p:txBody>
      </p:sp>
      <p:sp>
        <p:nvSpPr>
          <p:cNvPr id="3" name="Text 1"/>
          <p:cNvSpPr/>
          <p:nvPr/>
        </p:nvSpPr>
        <p:spPr>
          <a:xfrm>
            <a:off x="914363" y="1153604"/>
            <a:ext cx="10139232" cy="582067"/>
          </a:xfrm>
          <a:prstGeom prst="rect">
            <a:avLst/>
          </a:prstGeom>
          <a:noFill/>
          <a:ln/>
        </p:spPr>
        <p:txBody>
          <a:bodyPr wrap="square" lIns="25400" tIns="25400" rIns="25400" bIns="25400" rtlCol="0" anchor="t">
            <a:normAutofit/>
          </a:bodyPr>
          <a:lstStyle/>
          <a:p>
            <a:pPr marL="0" indent="0" algn="l">
              <a:lnSpc>
                <a:spcPct val="102000"/>
              </a:lnSpc>
              <a:buNone/>
            </a:pPr>
            <a:r>
              <a:rPr lang="en-US" sz="4200" b="1" kern="0" spc="-84" dirty="0">
                <a:solidFill>
                  <a:srgbClr val="100B72"/>
                </a:solidFill>
                <a:latin typeface="Arial" pitchFamily="34" charset="0"/>
                <a:ea typeface="Arial" pitchFamily="34" charset="-122"/>
                <a:cs typeface="Arial" pitchFamily="34" charset="-120"/>
              </a:rPr>
              <a:t>All eight RFP requirements, fully covered</a:t>
            </a:r>
            <a:endParaRPr lang="en-US" sz="4200" dirty="0"/>
          </a:p>
        </p:txBody>
      </p:sp>
      <p:sp>
        <p:nvSpPr>
          <p:cNvPr id="4" name="Text 2"/>
          <p:cNvSpPr/>
          <p:nvPr/>
        </p:nvSpPr>
        <p:spPr>
          <a:xfrm>
            <a:off x="16449954" y="861715"/>
            <a:ext cx="923683" cy="647737"/>
          </a:xfrm>
          <a:prstGeom prst="rect">
            <a:avLst/>
          </a:prstGeom>
          <a:noFill/>
          <a:ln/>
        </p:spPr>
        <p:txBody>
          <a:bodyPr wrap="square" lIns="25400" tIns="25400" rIns="25400" bIns="25400" rtlCol="0" anchor="t">
            <a:normAutofit/>
          </a:bodyPr>
          <a:lstStyle/>
          <a:p>
            <a:pPr marL="0" indent="0" algn="r">
              <a:lnSpc>
                <a:spcPct val="100000"/>
              </a:lnSpc>
              <a:buNone/>
            </a:pPr>
            <a:r>
              <a:rPr lang="en-US" sz="4800" b="1" dirty="0">
                <a:solidFill>
                  <a:srgbClr val="6BC600"/>
                </a:solidFill>
                <a:latin typeface="Arial" pitchFamily="34" charset="0"/>
                <a:ea typeface="Arial" pitchFamily="34" charset="-122"/>
                <a:cs typeface="Arial" pitchFamily="34" charset="-120"/>
              </a:rPr>
              <a:t>8/8</a:t>
            </a:r>
            <a:endParaRPr lang="en-US" sz="4800" dirty="0"/>
          </a:p>
        </p:txBody>
      </p:sp>
      <p:sp>
        <p:nvSpPr>
          <p:cNvPr id="5" name="Text 3"/>
          <p:cNvSpPr/>
          <p:nvPr/>
        </p:nvSpPr>
        <p:spPr>
          <a:xfrm>
            <a:off x="16449954" y="1471352"/>
            <a:ext cx="923683" cy="264319"/>
          </a:xfrm>
          <a:prstGeom prst="rect">
            <a:avLst/>
          </a:prstGeom>
          <a:noFill/>
          <a:ln/>
        </p:spPr>
        <p:txBody>
          <a:bodyPr wrap="square" lIns="25400" tIns="25400" rIns="25400" bIns="25400" rtlCol="0" anchor="t">
            <a:normAutofit/>
          </a:bodyPr>
          <a:lstStyle/>
          <a:p>
            <a:pPr marL="0" indent="0" algn="r">
              <a:buNone/>
            </a:pPr>
            <a:r>
              <a:rPr lang="en-US" sz="1350" dirty="0">
                <a:solidFill>
                  <a:srgbClr val="9A9AB2"/>
                </a:solidFill>
                <a:latin typeface="Arial" pitchFamily="34" charset="0"/>
                <a:ea typeface="Arial" pitchFamily="34" charset="-122"/>
                <a:cs typeface="Arial" pitchFamily="34" charset="-120"/>
              </a:rPr>
              <a:t>covered</a:t>
            </a:r>
            <a:endParaRPr lang="en-US" sz="1350" dirty="0"/>
          </a:p>
        </p:txBody>
      </p:sp>
      <p:sp>
        <p:nvSpPr>
          <p:cNvPr id="6" name="Shape 4"/>
          <p:cNvSpPr/>
          <p:nvPr/>
        </p:nvSpPr>
        <p:spPr>
          <a:xfrm>
            <a:off x="914363" y="2021365"/>
            <a:ext cx="3986175" cy="3418489"/>
          </a:xfrm>
          <a:prstGeom prst="roundRect">
            <a:avLst>
              <a:gd name="adj" fmla="val 3901"/>
            </a:avLst>
          </a:prstGeom>
          <a:ln w="11906">
            <a:solidFill>
              <a:srgbClr val="E6E6EF"/>
            </a:solidFill>
            <a:prstDash val="solid"/>
          </a:ln>
        </p:spPr>
        <p:txBody>
          <a:bodyPr/>
          <a:lstStyle/>
          <a:p>
            <a:endParaRPr lang="en-US"/>
          </a:p>
        </p:txBody>
      </p:sp>
      <p:sp>
        <p:nvSpPr>
          <p:cNvPr id="7" name="Text 5"/>
          <p:cNvSpPr/>
          <p:nvPr/>
        </p:nvSpPr>
        <p:spPr>
          <a:xfrm>
            <a:off x="1154813" y="224274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R1</a:t>
            </a:r>
            <a:endParaRPr lang="en-US" sz="1650" dirty="0"/>
          </a:p>
        </p:txBody>
      </p:sp>
      <p:sp>
        <p:nvSpPr>
          <p:cNvPr id="8" name="Shape 6"/>
          <p:cNvSpPr/>
          <p:nvPr/>
        </p:nvSpPr>
        <p:spPr>
          <a:xfrm>
            <a:off x="3770468" y="2252328"/>
            <a:ext cx="889620" cy="218963"/>
          </a:xfrm>
          <a:prstGeom prst="roundRect">
            <a:avLst>
              <a:gd name="adj" fmla="val 50000"/>
            </a:avLst>
          </a:prstGeom>
          <a:solidFill>
            <a:srgbClr val="EAF7D8"/>
          </a:solidFill>
          <a:ln/>
        </p:spPr>
        <p:txBody>
          <a:bodyPr/>
          <a:lstStyle/>
          <a:p>
            <a:endParaRPr lang="en-US"/>
          </a:p>
        </p:txBody>
      </p:sp>
      <p:sp>
        <p:nvSpPr>
          <p:cNvPr id="9" name="Text 7"/>
          <p:cNvSpPr/>
          <p:nvPr/>
        </p:nvSpPr>
        <p:spPr>
          <a:xfrm>
            <a:off x="3865718" y="229042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10" name="Text 8"/>
          <p:cNvSpPr/>
          <p:nvPr/>
        </p:nvSpPr>
        <p:spPr>
          <a:xfrm>
            <a:off x="1154813" y="2595097"/>
            <a:ext cx="3855802"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Unified multi-modal platform</a:t>
            </a:r>
            <a:endParaRPr lang="en-US" sz="1575" dirty="0"/>
          </a:p>
        </p:txBody>
      </p:sp>
      <p:sp>
        <p:nvSpPr>
          <p:cNvPr id="11" name="Text 9"/>
          <p:cNvSpPr/>
          <p:nvPr/>
        </p:nvSpPr>
        <p:spPr>
          <a:xfrm>
            <a:off x="1154813" y="5022019"/>
            <a:ext cx="3855802"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Kinesis · Glue · S3 · Redshift · Athena</a:t>
            </a:r>
            <a:endParaRPr lang="en-US" sz="1200" dirty="0"/>
          </a:p>
        </p:txBody>
      </p:sp>
      <p:sp>
        <p:nvSpPr>
          <p:cNvPr id="12" name="Shape 10"/>
          <p:cNvSpPr/>
          <p:nvPr/>
        </p:nvSpPr>
        <p:spPr>
          <a:xfrm>
            <a:off x="5071969" y="2021365"/>
            <a:ext cx="3986268" cy="3418489"/>
          </a:xfrm>
          <a:prstGeom prst="roundRect">
            <a:avLst>
              <a:gd name="adj" fmla="val 3901"/>
            </a:avLst>
          </a:prstGeom>
          <a:ln w="11906">
            <a:solidFill>
              <a:srgbClr val="E6E6EF"/>
            </a:solidFill>
            <a:prstDash val="solid"/>
          </a:ln>
        </p:spPr>
        <p:txBody>
          <a:bodyPr/>
          <a:lstStyle/>
          <a:p>
            <a:endParaRPr lang="en-US"/>
          </a:p>
        </p:txBody>
      </p:sp>
      <p:sp>
        <p:nvSpPr>
          <p:cNvPr id="13" name="Text 11"/>
          <p:cNvSpPr/>
          <p:nvPr/>
        </p:nvSpPr>
        <p:spPr>
          <a:xfrm>
            <a:off x="5312420" y="224274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R2</a:t>
            </a:r>
            <a:endParaRPr lang="en-US" sz="1650" dirty="0"/>
          </a:p>
        </p:txBody>
      </p:sp>
      <p:sp>
        <p:nvSpPr>
          <p:cNvPr id="14" name="Shape 12"/>
          <p:cNvSpPr/>
          <p:nvPr/>
        </p:nvSpPr>
        <p:spPr>
          <a:xfrm>
            <a:off x="7928167" y="2252328"/>
            <a:ext cx="889620" cy="218963"/>
          </a:xfrm>
          <a:prstGeom prst="roundRect">
            <a:avLst>
              <a:gd name="adj" fmla="val 50000"/>
            </a:avLst>
          </a:prstGeom>
          <a:solidFill>
            <a:srgbClr val="EAF7D8"/>
          </a:solidFill>
          <a:ln/>
        </p:spPr>
        <p:txBody>
          <a:bodyPr/>
          <a:lstStyle/>
          <a:p>
            <a:endParaRPr lang="en-US"/>
          </a:p>
        </p:txBody>
      </p:sp>
      <p:sp>
        <p:nvSpPr>
          <p:cNvPr id="15" name="Text 13"/>
          <p:cNvSpPr/>
          <p:nvPr/>
        </p:nvSpPr>
        <p:spPr>
          <a:xfrm>
            <a:off x="8023417" y="229042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16" name="Text 14"/>
          <p:cNvSpPr/>
          <p:nvPr/>
        </p:nvSpPr>
        <p:spPr>
          <a:xfrm>
            <a:off x="5312420" y="2595097"/>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Multi-environment Dev/Pre/Prod</a:t>
            </a:r>
            <a:endParaRPr lang="en-US" sz="1575" dirty="0"/>
          </a:p>
        </p:txBody>
      </p:sp>
      <p:sp>
        <p:nvSpPr>
          <p:cNvPr id="17" name="Text 15"/>
          <p:cNvSpPr/>
          <p:nvPr/>
        </p:nvSpPr>
        <p:spPr>
          <a:xfrm>
            <a:off x="5312420" y="5022019"/>
            <a:ext cx="385590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AWS Organizations · Terraform · Lake Formation</a:t>
            </a:r>
            <a:endParaRPr lang="en-US" sz="1200" dirty="0"/>
          </a:p>
        </p:txBody>
      </p:sp>
      <p:sp>
        <p:nvSpPr>
          <p:cNvPr id="18" name="Shape 16"/>
          <p:cNvSpPr/>
          <p:nvPr/>
        </p:nvSpPr>
        <p:spPr>
          <a:xfrm>
            <a:off x="9229669" y="2021365"/>
            <a:ext cx="3986268" cy="3418489"/>
          </a:xfrm>
          <a:prstGeom prst="roundRect">
            <a:avLst>
              <a:gd name="adj" fmla="val 3901"/>
            </a:avLst>
          </a:prstGeom>
          <a:ln w="11906">
            <a:solidFill>
              <a:srgbClr val="E6E6EF"/>
            </a:solidFill>
            <a:prstDash val="solid"/>
          </a:ln>
        </p:spPr>
        <p:txBody>
          <a:bodyPr/>
          <a:lstStyle/>
          <a:p>
            <a:endParaRPr lang="en-US"/>
          </a:p>
        </p:txBody>
      </p:sp>
      <p:sp>
        <p:nvSpPr>
          <p:cNvPr id="19" name="Text 17"/>
          <p:cNvSpPr/>
          <p:nvPr/>
        </p:nvSpPr>
        <p:spPr>
          <a:xfrm>
            <a:off x="9470120" y="224274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R3</a:t>
            </a:r>
            <a:endParaRPr lang="en-US" sz="1650" dirty="0"/>
          </a:p>
        </p:txBody>
      </p:sp>
      <p:sp>
        <p:nvSpPr>
          <p:cNvPr id="20" name="Shape 18"/>
          <p:cNvSpPr/>
          <p:nvPr/>
        </p:nvSpPr>
        <p:spPr>
          <a:xfrm>
            <a:off x="12085867" y="2252328"/>
            <a:ext cx="889620" cy="218963"/>
          </a:xfrm>
          <a:prstGeom prst="roundRect">
            <a:avLst>
              <a:gd name="adj" fmla="val 50000"/>
            </a:avLst>
          </a:prstGeom>
          <a:solidFill>
            <a:srgbClr val="EAF7D8"/>
          </a:solidFill>
          <a:ln/>
        </p:spPr>
        <p:txBody>
          <a:bodyPr/>
          <a:lstStyle/>
          <a:p>
            <a:endParaRPr lang="en-US"/>
          </a:p>
        </p:txBody>
      </p:sp>
      <p:sp>
        <p:nvSpPr>
          <p:cNvPr id="21" name="Text 19"/>
          <p:cNvSpPr/>
          <p:nvPr/>
        </p:nvSpPr>
        <p:spPr>
          <a:xfrm>
            <a:off x="12181117" y="229042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22" name="Text 20"/>
          <p:cNvSpPr/>
          <p:nvPr/>
        </p:nvSpPr>
        <p:spPr>
          <a:xfrm>
            <a:off x="9470120" y="2595097"/>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Automation &amp; IaC</a:t>
            </a:r>
            <a:endParaRPr lang="en-US" sz="1575" dirty="0"/>
          </a:p>
        </p:txBody>
      </p:sp>
      <p:sp>
        <p:nvSpPr>
          <p:cNvPr id="23" name="Text 21"/>
          <p:cNvSpPr/>
          <p:nvPr/>
        </p:nvSpPr>
        <p:spPr>
          <a:xfrm>
            <a:off x="9470120" y="4825566"/>
            <a:ext cx="3610528" cy="431006"/>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MWAA replaces cron · Terraform/CDK · EventBridge</a:t>
            </a:r>
            <a:endParaRPr lang="en-US" sz="1200" dirty="0"/>
          </a:p>
        </p:txBody>
      </p:sp>
      <p:sp>
        <p:nvSpPr>
          <p:cNvPr id="24" name="Shape 22"/>
          <p:cNvSpPr/>
          <p:nvPr/>
        </p:nvSpPr>
        <p:spPr>
          <a:xfrm>
            <a:off x="13387369" y="2021365"/>
            <a:ext cx="3986268" cy="3418489"/>
          </a:xfrm>
          <a:prstGeom prst="roundRect">
            <a:avLst>
              <a:gd name="adj" fmla="val 3901"/>
            </a:avLst>
          </a:prstGeom>
          <a:ln w="11906">
            <a:solidFill>
              <a:srgbClr val="E6E6EF"/>
            </a:solidFill>
            <a:prstDash val="solid"/>
          </a:ln>
        </p:spPr>
        <p:txBody>
          <a:bodyPr/>
          <a:lstStyle/>
          <a:p>
            <a:endParaRPr lang="en-US"/>
          </a:p>
        </p:txBody>
      </p:sp>
      <p:sp>
        <p:nvSpPr>
          <p:cNvPr id="25" name="Text 23"/>
          <p:cNvSpPr/>
          <p:nvPr/>
        </p:nvSpPr>
        <p:spPr>
          <a:xfrm>
            <a:off x="13627819" y="224274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R4</a:t>
            </a:r>
            <a:endParaRPr lang="en-US" sz="1650" dirty="0"/>
          </a:p>
        </p:txBody>
      </p:sp>
      <p:sp>
        <p:nvSpPr>
          <p:cNvPr id="26" name="Shape 24"/>
          <p:cNvSpPr/>
          <p:nvPr/>
        </p:nvSpPr>
        <p:spPr>
          <a:xfrm>
            <a:off x="16243567" y="2252328"/>
            <a:ext cx="889620" cy="218963"/>
          </a:xfrm>
          <a:prstGeom prst="roundRect">
            <a:avLst>
              <a:gd name="adj" fmla="val 50000"/>
            </a:avLst>
          </a:prstGeom>
          <a:solidFill>
            <a:srgbClr val="EAF7D8"/>
          </a:solidFill>
          <a:ln/>
        </p:spPr>
        <p:txBody>
          <a:bodyPr/>
          <a:lstStyle/>
          <a:p>
            <a:endParaRPr lang="en-US"/>
          </a:p>
        </p:txBody>
      </p:sp>
      <p:sp>
        <p:nvSpPr>
          <p:cNvPr id="27" name="Text 25"/>
          <p:cNvSpPr/>
          <p:nvPr/>
        </p:nvSpPr>
        <p:spPr>
          <a:xfrm>
            <a:off x="16338817" y="229042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28" name="Text 26"/>
          <p:cNvSpPr/>
          <p:nvPr/>
        </p:nvSpPr>
        <p:spPr>
          <a:xfrm>
            <a:off x="13627819" y="2595097"/>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Security &amp; high availability</a:t>
            </a:r>
            <a:endParaRPr lang="en-US" sz="1575" dirty="0"/>
          </a:p>
        </p:txBody>
      </p:sp>
      <p:sp>
        <p:nvSpPr>
          <p:cNvPr id="29" name="Text 27"/>
          <p:cNvSpPr/>
          <p:nvPr/>
        </p:nvSpPr>
        <p:spPr>
          <a:xfrm>
            <a:off x="13627819" y="5022019"/>
            <a:ext cx="385590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IAM · KMS · Lake Formation · Macie · 99.9% SLA</a:t>
            </a:r>
            <a:endParaRPr lang="en-US" sz="1200" dirty="0"/>
          </a:p>
        </p:txBody>
      </p:sp>
      <p:sp>
        <p:nvSpPr>
          <p:cNvPr id="30" name="Shape 28"/>
          <p:cNvSpPr/>
          <p:nvPr/>
        </p:nvSpPr>
        <p:spPr>
          <a:xfrm>
            <a:off x="914363" y="5611285"/>
            <a:ext cx="3986175" cy="3418489"/>
          </a:xfrm>
          <a:prstGeom prst="roundRect">
            <a:avLst>
              <a:gd name="adj" fmla="val 3901"/>
            </a:avLst>
          </a:prstGeom>
          <a:ln w="11906">
            <a:solidFill>
              <a:srgbClr val="E6E6EF"/>
            </a:solidFill>
            <a:prstDash val="solid"/>
          </a:ln>
        </p:spPr>
        <p:txBody>
          <a:bodyPr/>
          <a:lstStyle/>
          <a:p>
            <a:endParaRPr lang="en-US"/>
          </a:p>
        </p:txBody>
      </p:sp>
      <p:sp>
        <p:nvSpPr>
          <p:cNvPr id="31" name="Text 29"/>
          <p:cNvSpPr/>
          <p:nvPr/>
        </p:nvSpPr>
        <p:spPr>
          <a:xfrm>
            <a:off x="1154813" y="583266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R5</a:t>
            </a:r>
            <a:endParaRPr lang="en-US" sz="1650" dirty="0"/>
          </a:p>
        </p:txBody>
      </p:sp>
      <p:sp>
        <p:nvSpPr>
          <p:cNvPr id="32" name="Shape 30"/>
          <p:cNvSpPr/>
          <p:nvPr/>
        </p:nvSpPr>
        <p:spPr>
          <a:xfrm>
            <a:off x="3770468" y="5842248"/>
            <a:ext cx="889620" cy="218963"/>
          </a:xfrm>
          <a:prstGeom prst="roundRect">
            <a:avLst>
              <a:gd name="adj" fmla="val 50000"/>
            </a:avLst>
          </a:prstGeom>
          <a:solidFill>
            <a:srgbClr val="EAF7D8"/>
          </a:solidFill>
          <a:ln/>
        </p:spPr>
        <p:txBody>
          <a:bodyPr/>
          <a:lstStyle/>
          <a:p>
            <a:endParaRPr lang="en-US"/>
          </a:p>
        </p:txBody>
      </p:sp>
      <p:sp>
        <p:nvSpPr>
          <p:cNvPr id="33" name="Text 31"/>
          <p:cNvSpPr/>
          <p:nvPr/>
        </p:nvSpPr>
        <p:spPr>
          <a:xfrm>
            <a:off x="3865718" y="588034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34" name="Text 32"/>
          <p:cNvSpPr/>
          <p:nvPr/>
        </p:nvSpPr>
        <p:spPr>
          <a:xfrm>
            <a:off x="1154813" y="6185018"/>
            <a:ext cx="3855802"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Data quality monitoring</a:t>
            </a:r>
            <a:endParaRPr lang="en-US" sz="1575" dirty="0"/>
          </a:p>
        </p:txBody>
      </p:sp>
      <p:sp>
        <p:nvSpPr>
          <p:cNvPr id="35" name="Text 33"/>
          <p:cNvSpPr/>
          <p:nvPr/>
        </p:nvSpPr>
        <p:spPr>
          <a:xfrm>
            <a:off x="1154813" y="8611939"/>
            <a:ext cx="3855802"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Glue Data Quality · CloudWatch · SNS alerts</a:t>
            </a:r>
            <a:endParaRPr lang="en-US" sz="1200" dirty="0"/>
          </a:p>
        </p:txBody>
      </p:sp>
      <p:sp>
        <p:nvSpPr>
          <p:cNvPr id="36" name="Shape 34"/>
          <p:cNvSpPr/>
          <p:nvPr/>
        </p:nvSpPr>
        <p:spPr>
          <a:xfrm>
            <a:off x="5071969" y="5611285"/>
            <a:ext cx="3986268" cy="3418489"/>
          </a:xfrm>
          <a:prstGeom prst="roundRect">
            <a:avLst>
              <a:gd name="adj" fmla="val 3901"/>
            </a:avLst>
          </a:prstGeom>
          <a:ln w="11906">
            <a:solidFill>
              <a:srgbClr val="E6E6EF"/>
            </a:solidFill>
            <a:prstDash val="solid"/>
          </a:ln>
        </p:spPr>
        <p:txBody>
          <a:bodyPr/>
          <a:lstStyle/>
          <a:p>
            <a:endParaRPr lang="en-US"/>
          </a:p>
        </p:txBody>
      </p:sp>
      <p:sp>
        <p:nvSpPr>
          <p:cNvPr id="37" name="Text 35"/>
          <p:cNvSpPr/>
          <p:nvPr/>
        </p:nvSpPr>
        <p:spPr>
          <a:xfrm>
            <a:off x="5312420" y="583266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R6</a:t>
            </a:r>
            <a:endParaRPr lang="en-US" sz="1650" dirty="0"/>
          </a:p>
        </p:txBody>
      </p:sp>
      <p:sp>
        <p:nvSpPr>
          <p:cNvPr id="38" name="Shape 36"/>
          <p:cNvSpPr/>
          <p:nvPr/>
        </p:nvSpPr>
        <p:spPr>
          <a:xfrm>
            <a:off x="7928167" y="5842248"/>
            <a:ext cx="889620" cy="218963"/>
          </a:xfrm>
          <a:prstGeom prst="roundRect">
            <a:avLst>
              <a:gd name="adj" fmla="val 50000"/>
            </a:avLst>
          </a:prstGeom>
          <a:solidFill>
            <a:srgbClr val="EAF7D8"/>
          </a:solidFill>
          <a:ln/>
        </p:spPr>
        <p:txBody>
          <a:bodyPr/>
          <a:lstStyle/>
          <a:p>
            <a:endParaRPr lang="en-US"/>
          </a:p>
        </p:txBody>
      </p:sp>
      <p:sp>
        <p:nvSpPr>
          <p:cNvPr id="39" name="Text 37"/>
          <p:cNvSpPr/>
          <p:nvPr/>
        </p:nvSpPr>
        <p:spPr>
          <a:xfrm>
            <a:off x="8023417" y="588034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40" name="Text 38"/>
          <p:cNvSpPr/>
          <p:nvPr/>
        </p:nvSpPr>
        <p:spPr>
          <a:xfrm>
            <a:off x="5312420" y="6185018"/>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Cost optimisation</a:t>
            </a:r>
            <a:endParaRPr lang="en-US" sz="1575" dirty="0"/>
          </a:p>
        </p:txBody>
      </p:sp>
      <p:sp>
        <p:nvSpPr>
          <p:cNvPr id="41" name="Text 39"/>
          <p:cNvSpPr/>
          <p:nvPr/>
        </p:nvSpPr>
        <p:spPr>
          <a:xfrm>
            <a:off x="5312420" y="8611939"/>
            <a:ext cx="385590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Intelligent-Tiering · Spot · pay-per-session BI</a:t>
            </a:r>
            <a:endParaRPr lang="en-US" sz="1200" dirty="0"/>
          </a:p>
        </p:txBody>
      </p:sp>
      <p:sp>
        <p:nvSpPr>
          <p:cNvPr id="42" name="Shape 40"/>
          <p:cNvSpPr/>
          <p:nvPr/>
        </p:nvSpPr>
        <p:spPr>
          <a:xfrm>
            <a:off x="9229669" y="5611285"/>
            <a:ext cx="3986268" cy="3418489"/>
          </a:xfrm>
          <a:prstGeom prst="roundRect">
            <a:avLst>
              <a:gd name="adj" fmla="val 3901"/>
            </a:avLst>
          </a:prstGeom>
          <a:ln w="11906">
            <a:solidFill>
              <a:srgbClr val="E6E6EF"/>
            </a:solidFill>
            <a:prstDash val="solid"/>
          </a:ln>
        </p:spPr>
        <p:txBody>
          <a:bodyPr/>
          <a:lstStyle/>
          <a:p>
            <a:endParaRPr lang="en-US"/>
          </a:p>
        </p:txBody>
      </p:sp>
      <p:sp>
        <p:nvSpPr>
          <p:cNvPr id="43" name="Text 41"/>
          <p:cNvSpPr/>
          <p:nvPr/>
        </p:nvSpPr>
        <p:spPr>
          <a:xfrm>
            <a:off x="9470120" y="583266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R7</a:t>
            </a:r>
            <a:endParaRPr lang="en-US" sz="1650" dirty="0"/>
          </a:p>
        </p:txBody>
      </p:sp>
      <p:sp>
        <p:nvSpPr>
          <p:cNvPr id="44" name="Shape 42"/>
          <p:cNvSpPr/>
          <p:nvPr/>
        </p:nvSpPr>
        <p:spPr>
          <a:xfrm>
            <a:off x="12085867" y="5842248"/>
            <a:ext cx="889620" cy="218963"/>
          </a:xfrm>
          <a:prstGeom prst="roundRect">
            <a:avLst>
              <a:gd name="adj" fmla="val 50000"/>
            </a:avLst>
          </a:prstGeom>
          <a:solidFill>
            <a:srgbClr val="EAF7D8"/>
          </a:solidFill>
          <a:ln/>
        </p:spPr>
        <p:txBody>
          <a:bodyPr/>
          <a:lstStyle/>
          <a:p>
            <a:endParaRPr lang="en-US"/>
          </a:p>
        </p:txBody>
      </p:sp>
      <p:sp>
        <p:nvSpPr>
          <p:cNvPr id="45" name="Text 43"/>
          <p:cNvSpPr/>
          <p:nvPr/>
        </p:nvSpPr>
        <p:spPr>
          <a:xfrm>
            <a:off x="12181117" y="588034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46" name="Text 44"/>
          <p:cNvSpPr/>
          <p:nvPr/>
        </p:nvSpPr>
        <p:spPr>
          <a:xfrm>
            <a:off x="9470120" y="6185018"/>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Extensibility &amp; interoperability</a:t>
            </a:r>
            <a:endParaRPr lang="en-US" sz="1575" dirty="0"/>
          </a:p>
        </p:txBody>
      </p:sp>
      <p:sp>
        <p:nvSpPr>
          <p:cNvPr id="47" name="Text 45"/>
          <p:cNvSpPr/>
          <p:nvPr/>
        </p:nvSpPr>
        <p:spPr>
          <a:xfrm>
            <a:off x="9470120" y="8611939"/>
            <a:ext cx="3855904" cy="234553"/>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API Gateway · Data Exchange · Transfer Family</a:t>
            </a:r>
            <a:endParaRPr lang="en-US" sz="1200" dirty="0"/>
          </a:p>
        </p:txBody>
      </p:sp>
      <p:sp>
        <p:nvSpPr>
          <p:cNvPr id="48" name="Shape 46"/>
          <p:cNvSpPr/>
          <p:nvPr/>
        </p:nvSpPr>
        <p:spPr>
          <a:xfrm>
            <a:off x="13387369" y="5611285"/>
            <a:ext cx="3986268" cy="3418489"/>
          </a:xfrm>
          <a:prstGeom prst="roundRect">
            <a:avLst>
              <a:gd name="adj" fmla="val 3901"/>
            </a:avLst>
          </a:prstGeom>
          <a:ln w="11906">
            <a:solidFill>
              <a:srgbClr val="E6E6EF"/>
            </a:solidFill>
            <a:prstDash val="solid"/>
          </a:ln>
        </p:spPr>
        <p:txBody>
          <a:bodyPr/>
          <a:lstStyle/>
          <a:p>
            <a:endParaRPr lang="en-US"/>
          </a:p>
        </p:txBody>
      </p:sp>
      <p:sp>
        <p:nvSpPr>
          <p:cNvPr id="49" name="Text 47"/>
          <p:cNvSpPr/>
          <p:nvPr/>
        </p:nvSpPr>
        <p:spPr>
          <a:xfrm>
            <a:off x="13627819" y="5832667"/>
            <a:ext cx="34409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100B72"/>
                </a:solidFill>
                <a:latin typeface="Arial" pitchFamily="34" charset="0"/>
                <a:ea typeface="Arial" pitchFamily="34" charset="-122"/>
                <a:cs typeface="Arial" pitchFamily="34" charset="-120"/>
              </a:rPr>
              <a:t>R8</a:t>
            </a:r>
            <a:endParaRPr lang="en-US" sz="1650" dirty="0"/>
          </a:p>
        </p:txBody>
      </p:sp>
      <p:sp>
        <p:nvSpPr>
          <p:cNvPr id="50" name="Shape 48"/>
          <p:cNvSpPr/>
          <p:nvPr/>
        </p:nvSpPr>
        <p:spPr>
          <a:xfrm>
            <a:off x="16243567" y="5842248"/>
            <a:ext cx="889620" cy="218963"/>
          </a:xfrm>
          <a:prstGeom prst="roundRect">
            <a:avLst>
              <a:gd name="adj" fmla="val 50000"/>
            </a:avLst>
          </a:prstGeom>
          <a:solidFill>
            <a:srgbClr val="EAF7D8"/>
          </a:solidFill>
          <a:ln/>
        </p:spPr>
        <p:txBody>
          <a:bodyPr/>
          <a:lstStyle/>
          <a:p>
            <a:endParaRPr lang="en-US"/>
          </a:p>
        </p:txBody>
      </p:sp>
      <p:sp>
        <p:nvSpPr>
          <p:cNvPr id="51" name="Text 49"/>
          <p:cNvSpPr/>
          <p:nvPr/>
        </p:nvSpPr>
        <p:spPr>
          <a:xfrm>
            <a:off x="16338817" y="5880348"/>
            <a:ext cx="775320" cy="180863"/>
          </a:xfrm>
          <a:prstGeom prst="rect">
            <a:avLst/>
          </a:prstGeom>
          <a:noFill/>
          <a:ln/>
        </p:spPr>
        <p:txBody>
          <a:bodyPr wrap="square" lIns="25400" tIns="25400" rIns="25400" bIns="25400" rtlCol="0" anchor="t">
            <a:normAutofit/>
          </a:bodyPr>
          <a:lstStyle/>
          <a:p>
            <a:pPr marL="0" indent="0" algn="l">
              <a:buNone/>
            </a:pPr>
            <a:r>
              <a:rPr lang="en-US" sz="975" b="1" kern="0" spc="98" dirty="0">
                <a:solidFill>
                  <a:srgbClr val="4E8F00"/>
                </a:solidFill>
                <a:latin typeface="Arial" pitchFamily="34" charset="0"/>
                <a:ea typeface="Arial" pitchFamily="34" charset="-122"/>
                <a:cs typeface="Arial" pitchFamily="34" charset="-120"/>
              </a:rPr>
              <a:t>COVERED</a:t>
            </a:r>
            <a:endParaRPr lang="en-US" sz="975" dirty="0"/>
          </a:p>
        </p:txBody>
      </p:sp>
      <p:sp>
        <p:nvSpPr>
          <p:cNvPr id="52" name="Text 50"/>
          <p:cNvSpPr/>
          <p:nvPr/>
        </p:nvSpPr>
        <p:spPr>
          <a:xfrm>
            <a:off x="13627819" y="6185018"/>
            <a:ext cx="3855904" cy="278085"/>
          </a:xfrm>
          <a:prstGeom prst="rect">
            <a:avLst/>
          </a:prstGeom>
          <a:noFill/>
          <a:ln/>
        </p:spPr>
        <p:txBody>
          <a:bodyPr wrap="square" lIns="25400" tIns="25400" rIns="25400" bIns="25400" rtlCol="0" anchor="t">
            <a:normAutofit/>
          </a:bodyPr>
          <a:lstStyle/>
          <a:p>
            <a:pPr marL="0" indent="0" algn="l">
              <a:lnSpc>
                <a:spcPct val="120000"/>
              </a:lnSpc>
              <a:buNone/>
            </a:pPr>
            <a:r>
              <a:rPr lang="en-US" sz="1575" b="1" dirty="0">
                <a:solidFill>
                  <a:srgbClr val="100B72"/>
                </a:solidFill>
                <a:latin typeface="Arial" pitchFamily="34" charset="0"/>
                <a:ea typeface="Arial" pitchFamily="34" charset="-122"/>
                <a:cs typeface="Arial" pitchFamily="34" charset="-120"/>
              </a:rPr>
              <a:t>Sustainability</a:t>
            </a:r>
            <a:endParaRPr lang="en-US" sz="1575" dirty="0"/>
          </a:p>
        </p:txBody>
      </p:sp>
      <p:sp>
        <p:nvSpPr>
          <p:cNvPr id="53" name="Text 51"/>
          <p:cNvSpPr/>
          <p:nvPr/>
        </p:nvSpPr>
        <p:spPr>
          <a:xfrm>
            <a:off x="13627819" y="8415486"/>
            <a:ext cx="3610528" cy="431006"/>
          </a:xfrm>
          <a:prstGeom prst="rect">
            <a:avLst/>
          </a:prstGeom>
          <a:noFill/>
          <a:ln/>
        </p:spPr>
        <p:txBody>
          <a:bodyPr wrap="square" lIns="25400" tIns="25400" rIns="25400" bIns="25400" rtlCol="0" anchor="t">
            <a:normAutofit/>
          </a:bodyPr>
          <a:lstStyle/>
          <a:p>
            <a:pPr marL="0" indent="0" algn="l">
              <a:buNone/>
            </a:pPr>
            <a:r>
              <a:rPr lang="en-US" sz="1200" dirty="0">
                <a:solidFill>
                  <a:srgbClr val="8888A4"/>
                </a:solidFill>
                <a:latin typeface="Arial" pitchFamily="34" charset="0"/>
                <a:ea typeface="Arial" pitchFamily="34" charset="-122"/>
                <a:cs typeface="Arial" pitchFamily="34" charset="-120"/>
              </a:rPr>
              <a:t>Carbon Footprint Tool · EU green regions · 40–55% ↓</a:t>
            </a:r>
            <a:endParaRPr lang="en-US" sz="1200" dirty="0"/>
          </a:p>
        </p:txBody>
      </p:sp>
      <p:sp>
        <p:nvSpPr>
          <p:cNvPr id="54" name="Shape 52"/>
          <p:cNvSpPr/>
          <p:nvPr/>
        </p:nvSpPr>
        <p:spPr>
          <a:xfrm>
            <a:off x="914363" y="9176277"/>
            <a:ext cx="16459274" cy="9525"/>
          </a:xfrm>
          <a:prstGeom prst="rect">
            <a:avLst/>
          </a:prstGeom>
          <a:solidFill>
            <a:srgbClr val="ECECF2"/>
          </a:solidFill>
          <a:ln/>
        </p:spPr>
        <p:txBody>
          <a:bodyPr/>
          <a:lstStyle/>
          <a:p>
            <a:endParaRPr lang="en-US"/>
          </a:p>
        </p:txBody>
      </p:sp>
      <p:sp>
        <p:nvSpPr>
          <p:cNvPr id="55" name="Text 53"/>
          <p:cNvSpPr/>
          <p:nvPr/>
        </p:nvSpPr>
        <p:spPr>
          <a:xfrm>
            <a:off x="914363" y="9528070"/>
            <a:ext cx="917108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BACKED BY A TRACEABILITY TABLE + OPERATING EVIDENCE APPENDIX IN THE WRITTEN PROPOSAL</a:t>
            </a:r>
            <a:endParaRPr lang="en-US" sz="1125" dirty="0"/>
          </a:p>
        </p:txBody>
      </p:sp>
      <p:pic>
        <p:nvPicPr>
          <p:cNvPr id="56"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COST &amp; ROI</a:t>
            </a:r>
            <a:endParaRPr lang="en-US" sz="1500" dirty="0"/>
          </a:p>
        </p:txBody>
      </p:sp>
      <p:sp>
        <p:nvSpPr>
          <p:cNvPr id="3" name="Text 1"/>
          <p:cNvSpPr/>
          <p:nvPr/>
        </p:nvSpPr>
        <p:spPr>
          <a:xfrm>
            <a:off x="914363" y="1191741"/>
            <a:ext cx="18105202" cy="582067"/>
          </a:xfrm>
          <a:prstGeom prst="rect">
            <a:avLst/>
          </a:prstGeom>
          <a:noFill/>
          <a:ln/>
        </p:spPr>
        <p:txBody>
          <a:bodyPr wrap="square" lIns="25400" tIns="25400" rIns="25400" bIns="25400" rtlCol="0" anchor="t">
            <a:normAutofit/>
          </a:bodyPr>
          <a:lstStyle/>
          <a:p>
            <a:pPr marL="0" indent="0" algn="l">
              <a:lnSpc>
                <a:spcPct val="102000"/>
              </a:lnSpc>
              <a:buNone/>
            </a:pPr>
            <a:r>
              <a:rPr lang="en-US" sz="4200" b="1" kern="0" spc="-84" dirty="0">
                <a:solidFill>
                  <a:srgbClr val="100B72"/>
                </a:solidFill>
                <a:latin typeface="Arial" pitchFamily="34" charset="0"/>
                <a:ea typeface="Arial" pitchFamily="34" charset="-122"/>
                <a:cs typeface="Arial" pitchFamily="34" charset="-120"/>
              </a:rPr>
              <a:t>From fixed colocation to pay-per-use</a:t>
            </a:r>
            <a:endParaRPr lang="en-US" sz="4200" dirty="0"/>
          </a:p>
        </p:txBody>
      </p:sp>
      <p:sp>
        <p:nvSpPr>
          <p:cNvPr id="4" name="Shape 2"/>
          <p:cNvSpPr/>
          <p:nvPr/>
        </p:nvSpPr>
        <p:spPr>
          <a:xfrm>
            <a:off x="914363" y="2125638"/>
            <a:ext cx="171431" cy="114226"/>
          </a:xfrm>
          <a:prstGeom prst="roundRect">
            <a:avLst>
              <a:gd name="adj" fmla="val 25016"/>
            </a:avLst>
          </a:prstGeom>
          <a:solidFill>
            <a:srgbClr val="100B72"/>
          </a:solidFill>
          <a:ln/>
        </p:spPr>
        <p:txBody>
          <a:bodyPr/>
          <a:lstStyle/>
          <a:p>
            <a:endParaRPr lang="en-US"/>
          </a:p>
        </p:txBody>
      </p:sp>
      <p:sp>
        <p:nvSpPr>
          <p:cNvPr id="5" name="Text 3"/>
          <p:cNvSpPr/>
          <p:nvPr/>
        </p:nvSpPr>
        <p:spPr>
          <a:xfrm>
            <a:off x="1171463" y="2078571"/>
            <a:ext cx="1594749" cy="246459"/>
          </a:xfrm>
          <a:prstGeom prst="rect">
            <a:avLst/>
          </a:prstGeom>
          <a:noFill/>
          <a:ln/>
        </p:spPr>
        <p:txBody>
          <a:bodyPr wrap="square" lIns="25400" tIns="25400" rIns="25400" bIns="25400" rtlCol="0" anchor="t">
            <a:normAutofit/>
          </a:bodyPr>
          <a:lstStyle/>
          <a:p>
            <a:pPr marL="0" indent="0" algn="l">
              <a:buNone/>
            </a:pPr>
            <a:r>
              <a:rPr lang="en-US" sz="1275" dirty="0">
                <a:solidFill>
                  <a:srgbClr val="6C6C8C"/>
                </a:solidFill>
                <a:latin typeface="Arial" pitchFamily="34" charset="0"/>
                <a:ea typeface="Arial" pitchFamily="34" charset="-122"/>
                <a:cs typeface="Arial" pitchFamily="34" charset="-120"/>
              </a:rPr>
              <a:t>Colocation (current)</a:t>
            </a:r>
            <a:endParaRPr lang="en-US" sz="1275" dirty="0"/>
          </a:p>
        </p:txBody>
      </p:sp>
      <p:sp>
        <p:nvSpPr>
          <p:cNvPr id="6" name="Shape 4"/>
          <p:cNvSpPr/>
          <p:nvPr/>
        </p:nvSpPr>
        <p:spPr>
          <a:xfrm>
            <a:off x="2849780" y="2125638"/>
            <a:ext cx="171431" cy="114226"/>
          </a:xfrm>
          <a:prstGeom prst="roundRect">
            <a:avLst>
              <a:gd name="adj" fmla="val 25016"/>
            </a:avLst>
          </a:prstGeom>
          <a:solidFill>
            <a:srgbClr val="6BC600"/>
          </a:solidFill>
          <a:ln/>
        </p:spPr>
        <p:txBody>
          <a:bodyPr/>
          <a:lstStyle/>
          <a:p>
            <a:endParaRPr lang="en-US"/>
          </a:p>
        </p:txBody>
      </p:sp>
      <p:sp>
        <p:nvSpPr>
          <p:cNvPr id="7" name="Text 5"/>
          <p:cNvSpPr/>
          <p:nvPr/>
        </p:nvSpPr>
        <p:spPr>
          <a:xfrm>
            <a:off x="3106880" y="2078571"/>
            <a:ext cx="1253896" cy="246459"/>
          </a:xfrm>
          <a:prstGeom prst="rect">
            <a:avLst/>
          </a:prstGeom>
          <a:noFill/>
          <a:ln/>
        </p:spPr>
        <p:txBody>
          <a:bodyPr wrap="square" lIns="25400" tIns="25400" rIns="25400" bIns="25400" rtlCol="0" anchor="t">
            <a:normAutofit/>
          </a:bodyPr>
          <a:lstStyle/>
          <a:p>
            <a:pPr marL="0" indent="0" algn="l">
              <a:buNone/>
            </a:pPr>
            <a:r>
              <a:rPr lang="en-US" sz="1275" dirty="0">
                <a:solidFill>
                  <a:srgbClr val="6C6C8C"/>
                </a:solidFill>
                <a:latin typeface="Arial" pitchFamily="34" charset="0"/>
                <a:ea typeface="Arial" pitchFamily="34" charset="-122"/>
                <a:cs typeface="Arial" pitchFamily="34" charset="-120"/>
              </a:rPr>
              <a:t>AWS (proposed)</a:t>
            </a:r>
            <a:endParaRPr lang="en-US" sz="1275" dirty="0"/>
          </a:p>
        </p:txBody>
      </p:sp>
      <p:sp>
        <p:nvSpPr>
          <p:cNvPr id="8" name="Text 6"/>
          <p:cNvSpPr/>
          <p:nvPr/>
        </p:nvSpPr>
        <p:spPr>
          <a:xfrm>
            <a:off x="914363" y="3725726"/>
            <a:ext cx="10430126" cy="234553"/>
          </a:xfrm>
          <a:prstGeom prst="rect">
            <a:avLst/>
          </a:prstGeom>
          <a:noFill/>
          <a:ln/>
        </p:spPr>
        <p:txBody>
          <a:bodyPr wrap="square" lIns="25400" tIns="25400" rIns="25400" bIns="25400" rtlCol="0" anchor="t">
            <a:normAutofit/>
          </a:bodyPr>
          <a:lstStyle/>
          <a:p>
            <a:pPr marL="0" indent="0" algn="l">
              <a:buNone/>
            </a:pPr>
            <a:r>
              <a:rPr lang="en-US" sz="1200" dirty="0">
                <a:solidFill>
                  <a:srgbClr val="5C5C82"/>
                </a:solidFill>
                <a:latin typeface="Arial" pitchFamily="34" charset="0"/>
                <a:ea typeface="Arial" pitchFamily="34" charset="-122"/>
                <a:cs typeface="Arial" pitchFamily="34" charset="-120"/>
              </a:rPr>
              <a:t>Compute &amp; servers</a:t>
            </a:r>
            <a:endParaRPr lang="en-US" sz="1200" dirty="0"/>
          </a:p>
        </p:txBody>
      </p:sp>
      <p:sp>
        <p:nvSpPr>
          <p:cNvPr id="9" name="Shape 7"/>
          <p:cNvSpPr/>
          <p:nvPr/>
        </p:nvSpPr>
        <p:spPr>
          <a:xfrm>
            <a:off x="914363" y="3975757"/>
            <a:ext cx="9042425" cy="142875"/>
          </a:xfrm>
          <a:prstGeom prst="roundRect">
            <a:avLst>
              <a:gd name="adj" fmla="val 20000"/>
            </a:avLst>
          </a:prstGeom>
          <a:solidFill>
            <a:srgbClr val="100B72"/>
          </a:solidFill>
          <a:ln/>
        </p:spPr>
        <p:txBody>
          <a:bodyPr/>
          <a:lstStyle/>
          <a:p>
            <a:endParaRPr lang="en-US"/>
          </a:p>
        </p:txBody>
      </p:sp>
      <p:sp>
        <p:nvSpPr>
          <p:cNvPr id="10" name="Text 8"/>
          <p:cNvSpPr/>
          <p:nvPr/>
        </p:nvSpPr>
        <p:spPr>
          <a:xfrm>
            <a:off x="10032969" y="3969804"/>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100B72"/>
                </a:solidFill>
                <a:latin typeface="Arial" pitchFamily="34" charset="0"/>
                <a:ea typeface="Arial" pitchFamily="34" charset="-122"/>
                <a:cs typeface="Arial" pitchFamily="34" charset="-120"/>
              </a:rPr>
              <a:t>€420k</a:t>
            </a:r>
            <a:endParaRPr lang="en-US" sz="1050" dirty="0"/>
          </a:p>
        </p:txBody>
      </p:sp>
      <p:sp>
        <p:nvSpPr>
          <p:cNvPr id="11" name="Shape 9"/>
          <p:cNvSpPr/>
          <p:nvPr/>
        </p:nvSpPr>
        <p:spPr>
          <a:xfrm>
            <a:off x="914363" y="4168583"/>
            <a:ext cx="3953898" cy="142875"/>
          </a:xfrm>
          <a:prstGeom prst="roundRect">
            <a:avLst>
              <a:gd name="adj" fmla="val 20000"/>
            </a:avLst>
          </a:prstGeom>
          <a:solidFill>
            <a:srgbClr val="6BC600"/>
          </a:solidFill>
          <a:ln/>
        </p:spPr>
        <p:txBody>
          <a:bodyPr/>
          <a:lstStyle/>
          <a:p>
            <a:endParaRPr lang="en-US"/>
          </a:p>
        </p:txBody>
      </p:sp>
      <p:sp>
        <p:nvSpPr>
          <p:cNvPr id="12" name="Text 10"/>
          <p:cNvSpPr/>
          <p:nvPr/>
        </p:nvSpPr>
        <p:spPr>
          <a:xfrm>
            <a:off x="4944442" y="4162630"/>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4E8F00"/>
                </a:solidFill>
                <a:latin typeface="Arial" pitchFamily="34" charset="0"/>
                <a:ea typeface="Arial" pitchFamily="34" charset="-122"/>
                <a:cs typeface="Arial" pitchFamily="34" charset="-120"/>
              </a:rPr>
              <a:t>€175k</a:t>
            </a:r>
            <a:endParaRPr lang="en-US" sz="1050" dirty="0"/>
          </a:p>
        </p:txBody>
      </p:sp>
      <p:sp>
        <p:nvSpPr>
          <p:cNvPr id="13" name="Text 11"/>
          <p:cNvSpPr/>
          <p:nvPr/>
        </p:nvSpPr>
        <p:spPr>
          <a:xfrm>
            <a:off x="914363" y="4460286"/>
            <a:ext cx="10430126" cy="234553"/>
          </a:xfrm>
          <a:prstGeom prst="rect">
            <a:avLst/>
          </a:prstGeom>
          <a:noFill/>
          <a:ln/>
        </p:spPr>
        <p:txBody>
          <a:bodyPr wrap="square" lIns="25400" tIns="25400" rIns="25400" bIns="25400" rtlCol="0" anchor="t">
            <a:normAutofit/>
          </a:bodyPr>
          <a:lstStyle/>
          <a:p>
            <a:pPr marL="0" indent="0" algn="l">
              <a:buNone/>
            </a:pPr>
            <a:r>
              <a:rPr lang="en-US" sz="1200" dirty="0">
                <a:solidFill>
                  <a:srgbClr val="5C5C82"/>
                </a:solidFill>
                <a:latin typeface="Arial" pitchFamily="34" charset="0"/>
                <a:ea typeface="Arial" pitchFamily="34" charset="-122"/>
                <a:cs typeface="Arial" pitchFamily="34" charset="-120"/>
              </a:rPr>
              <a:t>ETL build &amp; maintenance</a:t>
            </a:r>
            <a:endParaRPr lang="en-US" sz="1200" dirty="0"/>
          </a:p>
        </p:txBody>
      </p:sp>
      <p:sp>
        <p:nvSpPr>
          <p:cNvPr id="14" name="Shape 12"/>
          <p:cNvSpPr/>
          <p:nvPr/>
        </p:nvSpPr>
        <p:spPr>
          <a:xfrm>
            <a:off x="914363" y="4710317"/>
            <a:ext cx="8126016" cy="142875"/>
          </a:xfrm>
          <a:prstGeom prst="roundRect">
            <a:avLst>
              <a:gd name="adj" fmla="val 20000"/>
            </a:avLst>
          </a:prstGeom>
          <a:solidFill>
            <a:srgbClr val="100B72"/>
          </a:solidFill>
          <a:ln/>
        </p:spPr>
        <p:txBody>
          <a:bodyPr/>
          <a:lstStyle/>
          <a:p>
            <a:endParaRPr lang="en-US"/>
          </a:p>
        </p:txBody>
      </p:sp>
      <p:sp>
        <p:nvSpPr>
          <p:cNvPr id="15" name="Text 13"/>
          <p:cNvSpPr/>
          <p:nvPr/>
        </p:nvSpPr>
        <p:spPr>
          <a:xfrm>
            <a:off x="9116560" y="4704364"/>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100B72"/>
                </a:solidFill>
                <a:latin typeface="Arial" pitchFamily="34" charset="0"/>
                <a:ea typeface="Arial" pitchFamily="34" charset="-122"/>
                <a:cs typeface="Arial" pitchFamily="34" charset="-120"/>
              </a:rPr>
              <a:t>€360k</a:t>
            </a:r>
            <a:endParaRPr lang="en-US" sz="1050" dirty="0"/>
          </a:p>
        </p:txBody>
      </p:sp>
      <p:sp>
        <p:nvSpPr>
          <p:cNvPr id="16" name="Shape 14"/>
          <p:cNvSpPr/>
          <p:nvPr/>
        </p:nvSpPr>
        <p:spPr>
          <a:xfrm>
            <a:off x="914363" y="4903143"/>
            <a:ext cx="2711741" cy="142875"/>
          </a:xfrm>
          <a:prstGeom prst="roundRect">
            <a:avLst>
              <a:gd name="adj" fmla="val 20000"/>
            </a:avLst>
          </a:prstGeom>
          <a:solidFill>
            <a:srgbClr val="6BC600"/>
          </a:solidFill>
          <a:ln/>
        </p:spPr>
        <p:txBody>
          <a:bodyPr/>
          <a:lstStyle/>
          <a:p>
            <a:endParaRPr lang="en-US"/>
          </a:p>
        </p:txBody>
      </p:sp>
      <p:sp>
        <p:nvSpPr>
          <p:cNvPr id="17" name="Text 15"/>
          <p:cNvSpPr/>
          <p:nvPr/>
        </p:nvSpPr>
        <p:spPr>
          <a:xfrm>
            <a:off x="3702286" y="4897189"/>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4E8F00"/>
                </a:solidFill>
                <a:latin typeface="Arial" pitchFamily="34" charset="0"/>
                <a:ea typeface="Arial" pitchFamily="34" charset="-122"/>
                <a:cs typeface="Arial" pitchFamily="34" charset="-120"/>
              </a:rPr>
              <a:t>€120k</a:t>
            </a:r>
            <a:endParaRPr lang="en-US" sz="1050" dirty="0"/>
          </a:p>
        </p:txBody>
      </p:sp>
      <p:sp>
        <p:nvSpPr>
          <p:cNvPr id="18" name="Text 16"/>
          <p:cNvSpPr/>
          <p:nvPr/>
        </p:nvSpPr>
        <p:spPr>
          <a:xfrm>
            <a:off x="914363" y="5194846"/>
            <a:ext cx="10430126" cy="234553"/>
          </a:xfrm>
          <a:prstGeom prst="rect">
            <a:avLst/>
          </a:prstGeom>
          <a:noFill/>
          <a:ln/>
        </p:spPr>
        <p:txBody>
          <a:bodyPr wrap="square" lIns="25400" tIns="25400" rIns="25400" bIns="25400" rtlCol="0" anchor="t">
            <a:normAutofit/>
          </a:bodyPr>
          <a:lstStyle/>
          <a:p>
            <a:pPr marL="0" indent="0" algn="l">
              <a:buNone/>
            </a:pPr>
            <a:r>
              <a:rPr lang="en-US" sz="1200" dirty="0">
                <a:solidFill>
                  <a:srgbClr val="5C5C82"/>
                </a:solidFill>
                <a:latin typeface="Arial" pitchFamily="34" charset="0"/>
                <a:ea typeface="Arial" pitchFamily="34" charset="-122"/>
                <a:cs typeface="Arial" pitchFamily="34" charset="-120"/>
              </a:rPr>
              <a:t>Ops / DBA staff</a:t>
            </a:r>
            <a:endParaRPr lang="en-US" sz="1200" dirty="0"/>
          </a:p>
        </p:txBody>
      </p:sp>
      <p:sp>
        <p:nvSpPr>
          <p:cNvPr id="19" name="Shape 17"/>
          <p:cNvSpPr/>
          <p:nvPr/>
        </p:nvSpPr>
        <p:spPr>
          <a:xfrm>
            <a:off x="914363" y="5444877"/>
            <a:ext cx="3385003" cy="142875"/>
          </a:xfrm>
          <a:prstGeom prst="roundRect">
            <a:avLst>
              <a:gd name="adj" fmla="val 20000"/>
            </a:avLst>
          </a:prstGeom>
          <a:solidFill>
            <a:srgbClr val="100B72"/>
          </a:solidFill>
          <a:ln/>
        </p:spPr>
        <p:txBody>
          <a:bodyPr/>
          <a:lstStyle/>
          <a:p>
            <a:endParaRPr lang="en-US"/>
          </a:p>
        </p:txBody>
      </p:sp>
      <p:sp>
        <p:nvSpPr>
          <p:cNvPr id="20" name="Text 18"/>
          <p:cNvSpPr/>
          <p:nvPr/>
        </p:nvSpPr>
        <p:spPr>
          <a:xfrm>
            <a:off x="4375547" y="5438924"/>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100B72"/>
                </a:solidFill>
                <a:latin typeface="Arial" pitchFamily="34" charset="0"/>
                <a:ea typeface="Arial" pitchFamily="34" charset="-122"/>
                <a:cs typeface="Arial" pitchFamily="34" charset="-120"/>
              </a:rPr>
              <a:t>€150k</a:t>
            </a:r>
            <a:endParaRPr lang="en-US" sz="1050" dirty="0"/>
          </a:p>
        </p:txBody>
      </p:sp>
      <p:sp>
        <p:nvSpPr>
          <p:cNvPr id="21" name="Shape 19"/>
          <p:cNvSpPr/>
          <p:nvPr/>
        </p:nvSpPr>
        <p:spPr>
          <a:xfrm>
            <a:off x="914363" y="5637702"/>
            <a:ext cx="1697199" cy="142875"/>
          </a:xfrm>
          <a:prstGeom prst="roundRect">
            <a:avLst>
              <a:gd name="adj" fmla="val 20000"/>
            </a:avLst>
          </a:prstGeom>
          <a:solidFill>
            <a:srgbClr val="6BC600"/>
          </a:solidFill>
          <a:ln/>
        </p:spPr>
        <p:txBody>
          <a:bodyPr/>
          <a:lstStyle/>
          <a:p>
            <a:endParaRPr lang="en-US"/>
          </a:p>
        </p:txBody>
      </p:sp>
      <p:sp>
        <p:nvSpPr>
          <p:cNvPr id="22" name="Text 20"/>
          <p:cNvSpPr/>
          <p:nvPr/>
        </p:nvSpPr>
        <p:spPr>
          <a:xfrm>
            <a:off x="2687743" y="5631749"/>
            <a:ext cx="365392"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4E8F00"/>
                </a:solidFill>
                <a:latin typeface="Arial" pitchFamily="34" charset="0"/>
                <a:ea typeface="Arial" pitchFamily="34" charset="-122"/>
                <a:cs typeface="Arial" pitchFamily="34" charset="-120"/>
              </a:rPr>
              <a:t>€75k</a:t>
            </a:r>
            <a:endParaRPr lang="en-US" sz="1050" dirty="0"/>
          </a:p>
        </p:txBody>
      </p:sp>
      <p:sp>
        <p:nvSpPr>
          <p:cNvPr id="23" name="Text 21"/>
          <p:cNvSpPr/>
          <p:nvPr/>
        </p:nvSpPr>
        <p:spPr>
          <a:xfrm>
            <a:off x="914363" y="5929406"/>
            <a:ext cx="10430126" cy="234553"/>
          </a:xfrm>
          <a:prstGeom prst="rect">
            <a:avLst/>
          </a:prstGeom>
          <a:noFill/>
          <a:ln/>
        </p:spPr>
        <p:txBody>
          <a:bodyPr wrap="square" lIns="25400" tIns="25400" rIns="25400" bIns="25400" rtlCol="0" anchor="t">
            <a:normAutofit/>
          </a:bodyPr>
          <a:lstStyle/>
          <a:p>
            <a:pPr marL="0" indent="0" algn="l">
              <a:buNone/>
            </a:pPr>
            <a:r>
              <a:rPr lang="en-US" sz="1200" dirty="0">
                <a:solidFill>
                  <a:srgbClr val="5C5C82"/>
                </a:solidFill>
                <a:latin typeface="Arial" pitchFamily="34" charset="0"/>
                <a:ea typeface="Arial" pitchFamily="34" charset="-122"/>
                <a:cs typeface="Arial" pitchFamily="34" charset="-120"/>
              </a:rPr>
              <a:t>Storage &amp; backup</a:t>
            </a:r>
            <a:endParaRPr lang="en-US" sz="1200" dirty="0"/>
          </a:p>
        </p:txBody>
      </p:sp>
      <p:sp>
        <p:nvSpPr>
          <p:cNvPr id="24" name="Shape 22"/>
          <p:cNvSpPr/>
          <p:nvPr/>
        </p:nvSpPr>
        <p:spPr>
          <a:xfrm>
            <a:off x="914363" y="6179437"/>
            <a:ext cx="2711741" cy="142875"/>
          </a:xfrm>
          <a:prstGeom prst="roundRect">
            <a:avLst>
              <a:gd name="adj" fmla="val 20000"/>
            </a:avLst>
          </a:prstGeom>
          <a:solidFill>
            <a:srgbClr val="100B72"/>
          </a:solidFill>
          <a:ln/>
        </p:spPr>
        <p:txBody>
          <a:bodyPr/>
          <a:lstStyle/>
          <a:p>
            <a:endParaRPr lang="en-US"/>
          </a:p>
        </p:txBody>
      </p:sp>
      <p:sp>
        <p:nvSpPr>
          <p:cNvPr id="25" name="Text 23"/>
          <p:cNvSpPr/>
          <p:nvPr/>
        </p:nvSpPr>
        <p:spPr>
          <a:xfrm>
            <a:off x="3702286" y="6173484"/>
            <a:ext cx="43952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100B72"/>
                </a:solidFill>
                <a:latin typeface="Arial" pitchFamily="34" charset="0"/>
                <a:ea typeface="Arial" pitchFamily="34" charset="-122"/>
                <a:cs typeface="Arial" pitchFamily="34" charset="-120"/>
              </a:rPr>
              <a:t>€120k</a:t>
            </a:r>
            <a:endParaRPr lang="en-US" sz="1050" dirty="0"/>
          </a:p>
        </p:txBody>
      </p:sp>
      <p:sp>
        <p:nvSpPr>
          <p:cNvPr id="26" name="Shape 24"/>
          <p:cNvSpPr/>
          <p:nvPr/>
        </p:nvSpPr>
        <p:spPr>
          <a:xfrm>
            <a:off x="914363" y="6372262"/>
            <a:ext cx="1915325" cy="142875"/>
          </a:xfrm>
          <a:prstGeom prst="roundRect">
            <a:avLst>
              <a:gd name="adj" fmla="val 20000"/>
            </a:avLst>
          </a:prstGeom>
          <a:solidFill>
            <a:srgbClr val="6BC600"/>
          </a:solidFill>
          <a:ln/>
        </p:spPr>
        <p:txBody>
          <a:bodyPr/>
          <a:lstStyle/>
          <a:p>
            <a:endParaRPr lang="en-US"/>
          </a:p>
        </p:txBody>
      </p:sp>
      <p:sp>
        <p:nvSpPr>
          <p:cNvPr id="27" name="Text 25"/>
          <p:cNvSpPr/>
          <p:nvPr/>
        </p:nvSpPr>
        <p:spPr>
          <a:xfrm>
            <a:off x="2905869" y="6366309"/>
            <a:ext cx="365392"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4E8F00"/>
                </a:solidFill>
                <a:latin typeface="Arial" pitchFamily="34" charset="0"/>
                <a:ea typeface="Arial" pitchFamily="34" charset="-122"/>
                <a:cs typeface="Arial" pitchFamily="34" charset="-120"/>
              </a:rPr>
              <a:t>€85k</a:t>
            </a:r>
            <a:endParaRPr lang="en-US" sz="1050" dirty="0"/>
          </a:p>
        </p:txBody>
      </p:sp>
      <p:sp>
        <p:nvSpPr>
          <p:cNvPr id="28" name="Text 26"/>
          <p:cNvSpPr/>
          <p:nvPr/>
        </p:nvSpPr>
        <p:spPr>
          <a:xfrm>
            <a:off x="914363" y="6663965"/>
            <a:ext cx="10430126" cy="234553"/>
          </a:xfrm>
          <a:prstGeom prst="rect">
            <a:avLst/>
          </a:prstGeom>
          <a:noFill/>
          <a:ln/>
        </p:spPr>
        <p:txBody>
          <a:bodyPr wrap="square" lIns="25400" tIns="25400" rIns="25400" bIns="25400" rtlCol="0" anchor="t">
            <a:normAutofit/>
          </a:bodyPr>
          <a:lstStyle/>
          <a:p>
            <a:pPr marL="0" indent="0" algn="l">
              <a:buNone/>
            </a:pPr>
            <a:r>
              <a:rPr lang="en-US" sz="1200" dirty="0">
                <a:solidFill>
                  <a:srgbClr val="5C5C82"/>
                </a:solidFill>
                <a:latin typeface="Arial" pitchFamily="34" charset="0"/>
                <a:ea typeface="Arial" pitchFamily="34" charset="-122"/>
                <a:cs typeface="Arial" pitchFamily="34" charset="-120"/>
              </a:rPr>
              <a:t>BI / ETL software licenses</a:t>
            </a:r>
            <a:endParaRPr lang="en-US" sz="1200" dirty="0"/>
          </a:p>
        </p:txBody>
      </p:sp>
      <p:sp>
        <p:nvSpPr>
          <p:cNvPr id="29" name="Shape 27"/>
          <p:cNvSpPr/>
          <p:nvPr/>
        </p:nvSpPr>
        <p:spPr>
          <a:xfrm>
            <a:off x="914363" y="6913997"/>
            <a:ext cx="2484220" cy="142875"/>
          </a:xfrm>
          <a:prstGeom prst="roundRect">
            <a:avLst>
              <a:gd name="adj" fmla="val 20000"/>
            </a:avLst>
          </a:prstGeom>
          <a:solidFill>
            <a:srgbClr val="100B72"/>
          </a:solidFill>
          <a:ln/>
        </p:spPr>
        <p:txBody>
          <a:bodyPr/>
          <a:lstStyle/>
          <a:p>
            <a:endParaRPr lang="en-US"/>
          </a:p>
        </p:txBody>
      </p:sp>
      <p:sp>
        <p:nvSpPr>
          <p:cNvPr id="30" name="Text 28"/>
          <p:cNvSpPr/>
          <p:nvPr/>
        </p:nvSpPr>
        <p:spPr>
          <a:xfrm>
            <a:off x="3474765" y="6908043"/>
            <a:ext cx="429667"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100B72"/>
                </a:solidFill>
                <a:latin typeface="Arial" pitchFamily="34" charset="0"/>
                <a:ea typeface="Arial" pitchFamily="34" charset="-122"/>
                <a:cs typeface="Arial" pitchFamily="34" charset="-120"/>
              </a:rPr>
              <a:t>€110k</a:t>
            </a:r>
            <a:endParaRPr lang="en-US" sz="1050" dirty="0"/>
          </a:p>
        </p:txBody>
      </p:sp>
      <p:sp>
        <p:nvSpPr>
          <p:cNvPr id="31" name="Shape 29"/>
          <p:cNvSpPr/>
          <p:nvPr/>
        </p:nvSpPr>
        <p:spPr>
          <a:xfrm>
            <a:off x="914363" y="7106822"/>
            <a:ext cx="900782" cy="142875"/>
          </a:xfrm>
          <a:prstGeom prst="roundRect">
            <a:avLst>
              <a:gd name="adj" fmla="val 20000"/>
            </a:avLst>
          </a:prstGeom>
          <a:solidFill>
            <a:srgbClr val="6BC600"/>
          </a:solidFill>
          <a:ln/>
        </p:spPr>
        <p:txBody>
          <a:bodyPr/>
          <a:lstStyle/>
          <a:p>
            <a:endParaRPr lang="en-US"/>
          </a:p>
        </p:txBody>
      </p:sp>
      <p:sp>
        <p:nvSpPr>
          <p:cNvPr id="32" name="Text 30"/>
          <p:cNvSpPr/>
          <p:nvPr/>
        </p:nvSpPr>
        <p:spPr>
          <a:xfrm>
            <a:off x="1891326" y="7100869"/>
            <a:ext cx="365392" cy="192881"/>
          </a:xfrm>
          <a:prstGeom prst="rect">
            <a:avLst/>
          </a:prstGeom>
          <a:noFill/>
          <a:ln/>
        </p:spPr>
        <p:txBody>
          <a:bodyPr wrap="none" lIns="25400" tIns="25400" rIns="25400" bIns="25400" rtlCol="0" anchor="t">
            <a:normAutofit/>
          </a:bodyPr>
          <a:lstStyle/>
          <a:p>
            <a:pPr marL="0" indent="0" algn="l">
              <a:buNone/>
            </a:pPr>
            <a:r>
              <a:rPr lang="en-US" sz="1050" b="1" dirty="0">
                <a:solidFill>
                  <a:srgbClr val="4E8F00"/>
                </a:solidFill>
                <a:latin typeface="Arial" pitchFamily="34" charset="0"/>
                <a:ea typeface="Arial" pitchFamily="34" charset="-122"/>
                <a:cs typeface="Arial" pitchFamily="34" charset="-120"/>
              </a:rPr>
              <a:t>€40k</a:t>
            </a:r>
            <a:endParaRPr lang="en-US" sz="1050" dirty="0"/>
          </a:p>
        </p:txBody>
      </p:sp>
      <p:sp>
        <p:nvSpPr>
          <p:cNvPr id="33" name="Text 31"/>
          <p:cNvSpPr/>
          <p:nvPr/>
        </p:nvSpPr>
        <p:spPr>
          <a:xfrm>
            <a:off x="914363" y="8656402"/>
            <a:ext cx="9766391" cy="411473"/>
          </a:xfrm>
          <a:prstGeom prst="rect">
            <a:avLst/>
          </a:prstGeom>
          <a:noFill/>
          <a:ln/>
        </p:spPr>
        <p:txBody>
          <a:bodyPr wrap="square" lIns="25400" tIns="25400" rIns="25400" bIns="25400" rtlCol="0" anchor="t">
            <a:normAutofit/>
          </a:bodyPr>
          <a:lstStyle/>
          <a:p>
            <a:pPr marL="0" indent="0" algn="l">
              <a:lnSpc>
                <a:spcPct val="140000"/>
              </a:lnSpc>
              <a:buNone/>
            </a:pPr>
            <a:r>
              <a:rPr lang="en-US" sz="1050" dirty="0">
                <a:solidFill>
                  <a:srgbClr val="A6A6BE"/>
                </a:solidFill>
                <a:latin typeface="Arial" pitchFamily="34" charset="0"/>
                <a:ea typeface="Arial" pitchFamily="34" charset="-122"/>
                <a:cs typeface="Arial" pitchFamily="34" charset="-120"/>
              </a:rPr>
              <a:t>Illustrative estimates — RFP as-is colocation vs AWS pay-per-use (S3 Intelligent-Tiering, Spot Glue DPUs, Redshift RIs, QuickSight per-session). Excludes one-time migration.</a:t>
            </a:r>
            <a:endParaRPr lang="en-US" sz="1050" dirty="0"/>
          </a:p>
        </p:txBody>
      </p:sp>
      <p:sp>
        <p:nvSpPr>
          <p:cNvPr id="34" name="Shape 32"/>
          <p:cNvSpPr/>
          <p:nvPr/>
        </p:nvSpPr>
        <p:spPr>
          <a:xfrm>
            <a:off x="10834408" y="2078571"/>
            <a:ext cx="6539229" cy="2515567"/>
          </a:xfrm>
          <a:prstGeom prst="roundRect">
            <a:avLst>
              <a:gd name="adj" fmla="val 6816"/>
            </a:avLst>
          </a:prstGeom>
          <a:solidFill>
            <a:srgbClr val="100B72"/>
          </a:solidFill>
          <a:ln/>
        </p:spPr>
        <p:txBody>
          <a:bodyPr/>
          <a:lstStyle/>
          <a:p>
            <a:endParaRPr lang="en-US"/>
          </a:p>
        </p:txBody>
      </p:sp>
      <p:sp>
        <p:nvSpPr>
          <p:cNvPr id="35" name="Text 33"/>
          <p:cNvSpPr/>
          <p:nvPr/>
        </p:nvSpPr>
        <p:spPr>
          <a:xfrm>
            <a:off x="11158203" y="2402365"/>
            <a:ext cx="1537757" cy="520303"/>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Arial" pitchFamily="34" charset="0"/>
                <a:ea typeface="Arial" pitchFamily="34" charset="-122"/>
                <a:cs typeface="Arial" pitchFamily="34" charset="-120"/>
              </a:rPr>
              <a:t>€1.30M</a:t>
            </a:r>
            <a:endParaRPr lang="en-US" sz="3300" dirty="0"/>
          </a:p>
        </p:txBody>
      </p:sp>
      <p:sp>
        <p:nvSpPr>
          <p:cNvPr id="36" name="Text 34"/>
          <p:cNvSpPr/>
          <p:nvPr/>
        </p:nvSpPr>
        <p:spPr>
          <a:xfrm>
            <a:off x="12689458" y="2497615"/>
            <a:ext cx="361950" cy="407194"/>
          </a:xfrm>
          <a:prstGeom prst="rect">
            <a:avLst/>
          </a:prstGeom>
          <a:noFill/>
          <a:ln/>
        </p:spPr>
        <p:txBody>
          <a:bodyPr wrap="square" lIns="25400" tIns="25400" rIns="25400" bIns="25400" rtlCol="0" anchor="t">
            <a:normAutofit/>
          </a:bodyPr>
          <a:lstStyle/>
          <a:p>
            <a:pPr marL="0" indent="0" algn="l">
              <a:buNone/>
            </a:pPr>
            <a:r>
              <a:rPr lang="en-US" sz="2250" dirty="0">
                <a:solidFill>
                  <a:srgbClr val="6BC600"/>
                </a:solidFill>
                <a:latin typeface="Arial" pitchFamily="34" charset="0"/>
                <a:ea typeface="Arial" pitchFamily="34" charset="-122"/>
                <a:cs typeface="Arial" pitchFamily="34" charset="-120"/>
              </a:rPr>
              <a:t>→</a:t>
            </a:r>
            <a:endParaRPr lang="en-US" sz="2250" dirty="0"/>
          </a:p>
        </p:txBody>
      </p:sp>
      <p:sp>
        <p:nvSpPr>
          <p:cNvPr id="37" name="Text 35"/>
          <p:cNvSpPr/>
          <p:nvPr/>
        </p:nvSpPr>
        <p:spPr>
          <a:xfrm>
            <a:off x="13108502" y="2402365"/>
            <a:ext cx="1537757" cy="520303"/>
          </a:xfrm>
          <a:prstGeom prst="rect">
            <a:avLst/>
          </a:prstGeom>
          <a:noFill/>
          <a:ln/>
        </p:spPr>
        <p:txBody>
          <a:bodyPr wrap="square" lIns="25400" tIns="25400" rIns="25400" bIns="25400" rtlCol="0" anchor="t">
            <a:normAutofit/>
          </a:bodyPr>
          <a:lstStyle/>
          <a:p>
            <a:pPr marL="0" indent="0" algn="l">
              <a:buNone/>
            </a:pPr>
            <a:r>
              <a:rPr lang="en-US" sz="3300" b="1" dirty="0">
                <a:solidFill>
                  <a:srgbClr val="6BC600"/>
                </a:solidFill>
                <a:latin typeface="Arial" pitchFamily="34" charset="0"/>
                <a:ea typeface="Arial" pitchFamily="34" charset="-122"/>
                <a:cs typeface="Arial" pitchFamily="34" charset="-120"/>
              </a:rPr>
              <a:t>€0.56M</a:t>
            </a:r>
            <a:endParaRPr lang="en-US" sz="3300" dirty="0"/>
          </a:p>
        </p:txBody>
      </p:sp>
      <p:sp>
        <p:nvSpPr>
          <p:cNvPr id="38" name="Text 36"/>
          <p:cNvSpPr/>
          <p:nvPr/>
        </p:nvSpPr>
        <p:spPr>
          <a:xfrm>
            <a:off x="11158203" y="2960750"/>
            <a:ext cx="6480804" cy="288131"/>
          </a:xfrm>
          <a:prstGeom prst="rect">
            <a:avLst/>
          </a:prstGeom>
          <a:noFill/>
          <a:ln/>
        </p:spPr>
        <p:txBody>
          <a:bodyPr wrap="square" lIns="25400" tIns="25400" rIns="25400" bIns="25400" rtlCol="0" anchor="t">
            <a:normAutofit/>
          </a:bodyPr>
          <a:lstStyle/>
          <a:p>
            <a:pPr marL="0" indent="0" algn="l">
              <a:buNone/>
            </a:pPr>
            <a:r>
              <a:rPr lang="en-US" sz="1500" dirty="0">
                <a:solidFill>
                  <a:srgbClr val="C4C4E0"/>
                </a:solidFill>
                <a:latin typeface="Arial" pitchFamily="34" charset="0"/>
                <a:ea typeface="Arial" pitchFamily="34" charset="-122"/>
                <a:cs typeface="Arial" pitchFamily="34" charset="-120"/>
              </a:rPr>
              <a:t>per year</a:t>
            </a:r>
            <a:endParaRPr lang="en-US" sz="1500" dirty="0"/>
          </a:p>
        </p:txBody>
      </p:sp>
      <p:sp>
        <p:nvSpPr>
          <p:cNvPr id="39" name="Shape 37"/>
          <p:cNvSpPr/>
          <p:nvPr/>
        </p:nvSpPr>
        <p:spPr>
          <a:xfrm>
            <a:off x="11158203" y="3439325"/>
            <a:ext cx="5891640" cy="9525"/>
          </a:xfrm>
          <a:prstGeom prst="rect">
            <a:avLst/>
          </a:prstGeom>
          <a:solidFill>
            <a:srgbClr val="2B2B66"/>
          </a:solidFill>
          <a:ln/>
        </p:spPr>
        <p:txBody>
          <a:bodyPr/>
          <a:lstStyle/>
          <a:p>
            <a:endParaRPr lang="en-US"/>
          </a:p>
        </p:txBody>
      </p:sp>
      <p:sp>
        <p:nvSpPr>
          <p:cNvPr id="40" name="Text 38"/>
          <p:cNvSpPr/>
          <p:nvPr/>
        </p:nvSpPr>
        <p:spPr>
          <a:xfrm>
            <a:off x="11158203" y="3635778"/>
            <a:ext cx="1385097" cy="419100"/>
          </a:xfrm>
          <a:prstGeom prst="rect">
            <a:avLst/>
          </a:prstGeom>
          <a:noFill/>
          <a:ln/>
        </p:spPr>
        <p:txBody>
          <a:bodyPr wrap="square" lIns="25400" tIns="25400" rIns="25400" bIns="25400" rtlCol="0" anchor="t">
            <a:normAutofit/>
          </a:bodyPr>
          <a:lstStyle/>
          <a:p>
            <a:pPr marL="0" indent="0" algn="l">
              <a:lnSpc>
                <a:spcPct val="100000"/>
              </a:lnSpc>
              <a:buNone/>
            </a:pPr>
            <a:r>
              <a:rPr lang="en-US" sz="3000" b="1" dirty="0">
                <a:solidFill>
                  <a:srgbClr val="6BC600"/>
                </a:solidFill>
                <a:latin typeface="Arial" pitchFamily="34" charset="0"/>
                <a:ea typeface="Arial" pitchFamily="34" charset="-122"/>
                <a:cs typeface="Arial" pitchFamily="34" charset="-120"/>
              </a:rPr>
              <a:t>−57%</a:t>
            </a:r>
            <a:endParaRPr lang="en-US" sz="3000" dirty="0"/>
          </a:p>
        </p:txBody>
      </p:sp>
      <p:sp>
        <p:nvSpPr>
          <p:cNvPr id="41" name="Text 39"/>
          <p:cNvSpPr/>
          <p:nvPr/>
        </p:nvSpPr>
        <p:spPr>
          <a:xfrm>
            <a:off x="11158203" y="4073891"/>
            <a:ext cx="1385097" cy="234553"/>
          </a:xfrm>
          <a:prstGeom prst="rect">
            <a:avLst/>
          </a:prstGeom>
          <a:noFill/>
          <a:ln/>
        </p:spPr>
        <p:txBody>
          <a:bodyPr wrap="square" lIns="25400" tIns="25400" rIns="25400" bIns="25400" rtlCol="0" anchor="t">
            <a:normAutofit/>
          </a:bodyPr>
          <a:lstStyle/>
          <a:p>
            <a:pPr marL="0" indent="0" algn="l">
              <a:buNone/>
            </a:pPr>
            <a:r>
              <a:rPr lang="en-US" sz="1200" dirty="0">
                <a:solidFill>
                  <a:srgbClr val="9A9AC8"/>
                </a:solidFill>
                <a:latin typeface="Arial" pitchFamily="34" charset="0"/>
                <a:ea typeface="Arial" pitchFamily="34" charset="-122"/>
                <a:cs typeface="Arial" pitchFamily="34" charset="-120"/>
              </a:rPr>
              <a:t>infrastructure cost</a:t>
            </a:r>
            <a:endParaRPr lang="en-US" sz="1200" dirty="0"/>
          </a:p>
        </p:txBody>
      </p:sp>
      <p:sp>
        <p:nvSpPr>
          <p:cNvPr id="42" name="Text 40"/>
          <p:cNvSpPr/>
          <p:nvPr/>
        </p:nvSpPr>
        <p:spPr>
          <a:xfrm>
            <a:off x="12703132" y="3635778"/>
            <a:ext cx="1397887" cy="419100"/>
          </a:xfrm>
          <a:prstGeom prst="rect">
            <a:avLst/>
          </a:prstGeom>
          <a:noFill/>
          <a:ln/>
        </p:spPr>
        <p:txBody>
          <a:bodyPr wrap="square" lIns="25400" tIns="25400" rIns="25400" bIns="25400" rtlCol="0" anchor="t">
            <a:normAutofit/>
          </a:bodyPr>
          <a:lstStyle/>
          <a:p>
            <a:pPr marL="0" indent="0" algn="l">
              <a:lnSpc>
                <a:spcPct val="100000"/>
              </a:lnSpc>
              <a:buNone/>
            </a:pPr>
            <a:r>
              <a:rPr lang="en-US" sz="3000" b="1" dirty="0">
                <a:solidFill>
                  <a:srgbClr val="4BBEFF"/>
                </a:solidFill>
                <a:latin typeface="Arial" pitchFamily="34" charset="0"/>
                <a:ea typeface="Arial" pitchFamily="34" charset="-122"/>
                <a:cs typeface="Arial" pitchFamily="34" charset="-120"/>
              </a:rPr>
              <a:t>€0.74M</a:t>
            </a:r>
            <a:endParaRPr lang="en-US" sz="3000" dirty="0"/>
          </a:p>
        </p:txBody>
      </p:sp>
      <p:sp>
        <p:nvSpPr>
          <p:cNvPr id="43" name="Text 41"/>
          <p:cNvSpPr/>
          <p:nvPr/>
        </p:nvSpPr>
        <p:spPr>
          <a:xfrm>
            <a:off x="12703132" y="4073891"/>
            <a:ext cx="1397887" cy="234553"/>
          </a:xfrm>
          <a:prstGeom prst="rect">
            <a:avLst/>
          </a:prstGeom>
          <a:noFill/>
          <a:ln/>
        </p:spPr>
        <p:txBody>
          <a:bodyPr wrap="square" lIns="25400" tIns="25400" rIns="25400" bIns="25400" rtlCol="0" anchor="t">
            <a:normAutofit/>
          </a:bodyPr>
          <a:lstStyle/>
          <a:p>
            <a:pPr marL="0" indent="0" algn="l">
              <a:buNone/>
            </a:pPr>
            <a:r>
              <a:rPr lang="en-US" sz="1200" dirty="0">
                <a:solidFill>
                  <a:srgbClr val="9A9AC8"/>
                </a:solidFill>
                <a:latin typeface="Arial" pitchFamily="34" charset="0"/>
                <a:ea typeface="Arial" pitchFamily="34" charset="-122"/>
                <a:cs typeface="Arial" pitchFamily="34" charset="-120"/>
              </a:rPr>
              <a:t>saved every year</a:t>
            </a:r>
            <a:endParaRPr lang="en-US" sz="1200" dirty="0"/>
          </a:p>
        </p:txBody>
      </p:sp>
      <p:sp>
        <p:nvSpPr>
          <p:cNvPr id="44" name="Shape 42"/>
          <p:cNvSpPr/>
          <p:nvPr/>
        </p:nvSpPr>
        <p:spPr>
          <a:xfrm>
            <a:off x="10834408" y="4765570"/>
            <a:ext cx="6539229" cy="4264205"/>
          </a:xfrm>
          <a:prstGeom prst="roundRect">
            <a:avLst>
              <a:gd name="adj" fmla="val 4021"/>
            </a:avLst>
          </a:prstGeom>
          <a:solidFill>
            <a:srgbClr val="F5F6F2"/>
          </a:solidFill>
          <a:ln/>
        </p:spPr>
        <p:txBody>
          <a:bodyPr/>
          <a:lstStyle/>
          <a:p>
            <a:endParaRPr lang="en-US"/>
          </a:p>
        </p:txBody>
      </p:sp>
      <p:sp>
        <p:nvSpPr>
          <p:cNvPr id="45" name="Text 43"/>
          <p:cNvSpPr/>
          <p:nvPr/>
        </p:nvSpPr>
        <p:spPr>
          <a:xfrm>
            <a:off x="11120158" y="5013182"/>
            <a:ext cx="6564502" cy="204787"/>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9A9AB2"/>
                </a:solidFill>
                <a:latin typeface="Arial" pitchFamily="34" charset="0"/>
                <a:ea typeface="Arial" pitchFamily="34" charset="-122"/>
                <a:cs typeface="Arial" pitchFamily="34" charset="-120"/>
              </a:rPr>
              <a:t>AWS BUDGET BRIDGE → €560K</a:t>
            </a:r>
            <a:endParaRPr lang="en-US" sz="1125" dirty="0"/>
          </a:p>
        </p:txBody>
      </p:sp>
      <p:sp>
        <p:nvSpPr>
          <p:cNvPr id="46" name="Text 44"/>
          <p:cNvSpPr/>
          <p:nvPr/>
        </p:nvSpPr>
        <p:spPr>
          <a:xfrm>
            <a:off x="11120158" y="5332233"/>
            <a:ext cx="1768487" cy="288131"/>
          </a:xfrm>
          <a:prstGeom prst="rect">
            <a:avLst/>
          </a:prstGeom>
          <a:noFill/>
          <a:ln/>
        </p:spPr>
        <p:txBody>
          <a:bodyPr wrap="square" lIns="25400" tIns="25400" rIns="25400" bIns="25400" rtlCol="0" anchor="t">
            <a:normAutofit/>
          </a:bodyPr>
          <a:lstStyle/>
          <a:p>
            <a:pPr marL="0" indent="0" algn="l">
              <a:buNone/>
            </a:pPr>
            <a:r>
              <a:rPr lang="en-US" sz="1500" dirty="0">
                <a:solidFill>
                  <a:srgbClr val="5C5C82"/>
                </a:solidFill>
                <a:latin typeface="Arial" pitchFamily="34" charset="0"/>
                <a:ea typeface="Arial" pitchFamily="34" charset="-122"/>
                <a:cs typeface="Arial" pitchFamily="34" charset="-120"/>
              </a:rPr>
              <a:t>Direct AWS meters</a:t>
            </a:r>
            <a:endParaRPr lang="en-US" sz="1500" dirty="0"/>
          </a:p>
        </p:txBody>
      </p:sp>
      <p:sp>
        <p:nvSpPr>
          <p:cNvPr id="47" name="Text 45"/>
          <p:cNvSpPr/>
          <p:nvPr/>
        </p:nvSpPr>
        <p:spPr>
          <a:xfrm>
            <a:off x="16568849" y="5332233"/>
            <a:ext cx="595238" cy="288131"/>
          </a:xfrm>
          <a:prstGeom prst="rect">
            <a:avLst/>
          </a:prstGeom>
          <a:noFill/>
          <a:ln/>
        </p:spPr>
        <p:txBody>
          <a:bodyPr wrap="square" lIns="25400" tIns="25400" rIns="25400" bIns="25400" rtlCol="0" anchor="t">
            <a:normAutofit/>
          </a:bodyPr>
          <a:lstStyle/>
          <a:p>
            <a:pPr marL="0" indent="0" algn="l">
              <a:buNone/>
            </a:pPr>
            <a:r>
              <a:rPr lang="en-US" sz="1500" b="1" dirty="0">
                <a:solidFill>
                  <a:srgbClr val="100B72"/>
                </a:solidFill>
                <a:latin typeface="Arial" pitchFamily="34" charset="0"/>
                <a:ea typeface="Arial" pitchFamily="34" charset="-122"/>
                <a:cs typeface="Arial" pitchFamily="34" charset="-120"/>
              </a:rPr>
              <a:t>€217k</a:t>
            </a:r>
            <a:endParaRPr lang="en-US" sz="1500" dirty="0"/>
          </a:p>
        </p:txBody>
      </p:sp>
      <p:sp>
        <p:nvSpPr>
          <p:cNvPr id="48" name="Text 46"/>
          <p:cNvSpPr/>
          <p:nvPr/>
        </p:nvSpPr>
        <p:spPr>
          <a:xfrm>
            <a:off x="11120158" y="5687002"/>
            <a:ext cx="2106857" cy="288131"/>
          </a:xfrm>
          <a:prstGeom prst="rect">
            <a:avLst/>
          </a:prstGeom>
          <a:noFill/>
          <a:ln/>
        </p:spPr>
        <p:txBody>
          <a:bodyPr wrap="square" lIns="25400" tIns="25400" rIns="25400" bIns="25400" rtlCol="0" anchor="t">
            <a:normAutofit/>
          </a:bodyPr>
          <a:lstStyle/>
          <a:p>
            <a:pPr marL="0" indent="0" algn="l">
              <a:buNone/>
            </a:pPr>
            <a:r>
              <a:rPr lang="en-US" sz="1500" dirty="0">
                <a:solidFill>
                  <a:srgbClr val="5C5C82"/>
                </a:solidFill>
                <a:latin typeface="Arial" pitchFamily="34" charset="0"/>
                <a:ea typeface="Arial" pitchFamily="34" charset="-122"/>
                <a:cs typeface="Arial" pitchFamily="34" charset="-120"/>
              </a:rPr>
              <a:t>Platform ops &amp; FinOps</a:t>
            </a:r>
            <a:endParaRPr lang="en-US" sz="1500" dirty="0"/>
          </a:p>
        </p:txBody>
      </p:sp>
      <p:sp>
        <p:nvSpPr>
          <p:cNvPr id="49" name="Text 47"/>
          <p:cNvSpPr/>
          <p:nvPr/>
        </p:nvSpPr>
        <p:spPr>
          <a:xfrm>
            <a:off x="16568849" y="5687002"/>
            <a:ext cx="595238" cy="288131"/>
          </a:xfrm>
          <a:prstGeom prst="rect">
            <a:avLst/>
          </a:prstGeom>
          <a:noFill/>
          <a:ln/>
        </p:spPr>
        <p:txBody>
          <a:bodyPr wrap="square" lIns="25400" tIns="25400" rIns="25400" bIns="25400" rtlCol="0" anchor="t">
            <a:normAutofit/>
          </a:bodyPr>
          <a:lstStyle/>
          <a:p>
            <a:pPr marL="0" indent="0" algn="l">
              <a:buNone/>
            </a:pPr>
            <a:r>
              <a:rPr lang="en-US" sz="1500" b="1" dirty="0">
                <a:solidFill>
                  <a:srgbClr val="100B72"/>
                </a:solidFill>
                <a:latin typeface="Arial" pitchFamily="34" charset="0"/>
                <a:ea typeface="Arial" pitchFamily="34" charset="-122"/>
                <a:cs typeface="Arial" pitchFamily="34" charset="-120"/>
              </a:rPr>
              <a:t>€175k</a:t>
            </a:r>
            <a:endParaRPr lang="en-US" sz="1500" dirty="0"/>
          </a:p>
        </p:txBody>
      </p:sp>
      <p:sp>
        <p:nvSpPr>
          <p:cNvPr id="50" name="Text 48"/>
          <p:cNvSpPr/>
          <p:nvPr/>
        </p:nvSpPr>
        <p:spPr>
          <a:xfrm>
            <a:off x="11120158" y="6041771"/>
            <a:ext cx="2470193" cy="288131"/>
          </a:xfrm>
          <a:prstGeom prst="rect">
            <a:avLst/>
          </a:prstGeom>
          <a:noFill/>
          <a:ln/>
        </p:spPr>
        <p:txBody>
          <a:bodyPr wrap="square" lIns="25400" tIns="25400" rIns="25400" bIns="25400" rtlCol="0" anchor="t">
            <a:normAutofit/>
          </a:bodyPr>
          <a:lstStyle/>
          <a:p>
            <a:pPr marL="0" indent="0" algn="l">
              <a:buNone/>
            </a:pPr>
            <a:r>
              <a:rPr lang="en-US" sz="1500" dirty="0">
                <a:solidFill>
                  <a:srgbClr val="5C5C82"/>
                </a:solidFill>
                <a:latin typeface="Arial" pitchFamily="34" charset="0"/>
                <a:ea typeface="Arial" pitchFamily="34" charset="-122"/>
                <a:cs typeface="Arial" pitchFamily="34" charset="-120"/>
              </a:rPr>
              <a:t>Security, governance &amp; DR</a:t>
            </a:r>
            <a:endParaRPr lang="en-US" sz="1500" dirty="0"/>
          </a:p>
        </p:txBody>
      </p:sp>
      <p:sp>
        <p:nvSpPr>
          <p:cNvPr id="51" name="Text 49"/>
          <p:cNvSpPr/>
          <p:nvPr/>
        </p:nvSpPr>
        <p:spPr>
          <a:xfrm>
            <a:off x="16674796" y="6041771"/>
            <a:ext cx="489291" cy="288131"/>
          </a:xfrm>
          <a:prstGeom prst="rect">
            <a:avLst/>
          </a:prstGeom>
          <a:noFill/>
          <a:ln/>
        </p:spPr>
        <p:txBody>
          <a:bodyPr wrap="square" lIns="25400" tIns="25400" rIns="25400" bIns="25400" rtlCol="0" anchor="t">
            <a:normAutofit/>
          </a:bodyPr>
          <a:lstStyle/>
          <a:p>
            <a:pPr marL="0" indent="0" algn="l">
              <a:buNone/>
            </a:pPr>
            <a:r>
              <a:rPr lang="en-US" sz="1500" b="1" dirty="0">
                <a:solidFill>
                  <a:srgbClr val="100B72"/>
                </a:solidFill>
                <a:latin typeface="Arial" pitchFamily="34" charset="0"/>
                <a:ea typeface="Arial" pitchFamily="34" charset="-122"/>
                <a:cs typeface="Arial" pitchFamily="34" charset="-120"/>
              </a:rPr>
              <a:t>€65k</a:t>
            </a:r>
            <a:endParaRPr lang="en-US" sz="1500" dirty="0"/>
          </a:p>
        </p:txBody>
      </p:sp>
      <p:sp>
        <p:nvSpPr>
          <p:cNvPr id="52" name="Text 50"/>
          <p:cNvSpPr/>
          <p:nvPr/>
        </p:nvSpPr>
        <p:spPr>
          <a:xfrm>
            <a:off x="11120158" y="6396540"/>
            <a:ext cx="1135205" cy="288131"/>
          </a:xfrm>
          <a:prstGeom prst="rect">
            <a:avLst/>
          </a:prstGeom>
          <a:noFill/>
          <a:ln/>
        </p:spPr>
        <p:txBody>
          <a:bodyPr wrap="square" lIns="25400" tIns="25400" rIns="25400" bIns="25400" rtlCol="0" anchor="t">
            <a:normAutofit/>
          </a:bodyPr>
          <a:lstStyle/>
          <a:p>
            <a:pPr marL="0" indent="0" algn="l">
              <a:buNone/>
            </a:pPr>
            <a:r>
              <a:rPr lang="en-US" sz="1500" dirty="0">
                <a:solidFill>
                  <a:srgbClr val="5C5C82"/>
                </a:solidFill>
                <a:latin typeface="Arial" pitchFamily="34" charset="0"/>
                <a:ea typeface="Arial" pitchFamily="34" charset="-122"/>
                <a:cs typeface="Arial" pitchFamily="34" charset="-120"/>
              </a:rPr>
              <a:t>Contingency</a:t>
            </a:r>
            <a:endParaRPr lang="en-US" sz="1500" dirty="0"/>
          </a:p>
        </p:txBody>
      </p:sp>
      <p:sp>
        <p:nvSpPr>
          <p:cNvPr id="53" name="Text 51"/>
          <p:cNvSpPr/>
          <p:nvPr/>
        </p:nvSpPr>
        <p:spPr>
          <a:xfrm>
            <a:off x="16568849" y="6396540"/>
            <a:ext cx="595238" cy="288131"/>
          </a:xfrm>
          <a:prstGeom prst="rect">
            <a:avLst/>
          </a:prstGeom>
          <a:noFill/>
          <a:ln/>
        </p:spPr>
        <p:txBody>
          <a:bodyPr wrap="square" lIns="25400" tIns="25400" rIns="25400" bIns="25400" rtlCol="0" anchor="t">
            <a:normAutofit/>
          </a:bodyPr>
          <a:lstStyle/>
          <a:p>
            <a:pPr marL="0" indent="0" algn="l">
              <a:buNone/>
            </a:pPr>
            <a:r>
              <a:rPr lang="en-US" sz="1500" b="1" dirty="0">
                <a:solidFill>
                  <a:srgbClr val="100B72"/>
                </a:solidFill>
                <a:latin typeface="Arial" pitchFamily="34" charset="0"/>
                <a:ea typeface="Arial" pitchFamily="34" charset="-122"/>
                <a:cs typeface="Arial" pitchFamily="34" charset="-120"/>
              </a:rPr>
              <a:t>€103k</a:t>
            </a:r>
            <a:endParaRPr lang="en-US" sz="1500" dirty="0"/>
          </a:p>
        </p:txBody>
      </p:sp>
      <p:sp>
        <p:nvSpPr>
          <p:cNvPr id="54" name="Shape 52"/>
          <p:cNvSpPr/>
          <p:nvPr/>
        </p:nvSpPr>
        <p:spPr>
          <a:xfrm>
            <a:off x="11120158" y="6779865"/>
            <a:ext cx="5967729" cy="9525"/>
          </a:xfrm>
          <a:prstGeom prst="rect">
            <a:avLst/>
          </a:prstGeom>
          <a:solidFill>
            <a:srgbClr val="DEDEE6"/>
          </a:solidFill>
          <a:ln/>
        </p:spPr>
        <p:txBody>
          <a:bodyPr/>
          <a:lstStyle/>
          <a:p>
            <a:endParaRPr lang="en-US"/>
          </a:p>
        </p:txBody>
      </p:sp>
      <p:sp>
        <p:nvSpPr>
          <p:cNvPr id="55" name="Text 53"/>
          <p:cNvSpPr/>
          <p:nvPr/>
        </p:nvSpPr>
        <p:spPr>
          <a:xfrm>
            <a:off x="11120158" y="6890556"/>
            <a:ext cx="1650206" cy="258366"/>
          </a:xfrm>
          <a:prstGeom prst="rect">
            <a:avLst/>
          </a:prstGeom>
          <a:noFill/>
          <a:ln/>
        </p:spPr>
        <p:txBody>
          <a:bodyPr wrap="square" lIns="25400" tIns="25400" rIns="25400" bIns="25400" rtlCol="0" anchor="t">
            <a:normAutofit/>
          </a:bodyPr>
          <a:lstStyle/>
          <a:p>
            <a:pPr marL="0" indent="0" algn="l">
              <a:buNone/>
            </a:pPr>
            <a:r>
              <a:rPr lang="en-US" sz="1500" b="1" dirty="0">
                <a:solidFill>
                  <a:srgbClr val="100B72"/>
                </a:solidFill>
                <a:latin typeface="Arial" pitchFamily="34" charset="0"/>
                <a:ea typeface="Arial" pitchFamily="34" charset="-122"/>
                <a:cs typeface="Arial" pitchFamily="34" charset="-120"/>
              </a:rPr>
              <a:t>Validated monthly</a:t>
            </a:r>
            <a:endParaRPr lang="en-US" sz="1500" dirty="0"/>
          </a:p>
        </p:txBody>
      </p:sp>
      <p:sp>
        <p:nvSpPr>
          <p:cNvPr id="56" name="Text 54"/>
          <p:cNvSpPr/>
          <p:nvPr/>
        </p:nvSpPr>
        <p:spPr>
          <a:xfrm>
            <a:off x="14965970" y="6905439"/>
            <a:ext cx="2334109"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A9AB2"/>
                </a:solidFill>
                <a:latin typeface="Arial" pitchFamily="34" charset="0"/>
                <a:ea typeface="Arial" pitchFamily="34" charset="-122"/>
                <a:cs typeface="Arial" pitchFamily="34" charset="-120"/>
              </a:rPr>
              <a:t>Cost Explorer · CUR · FinOps tags</a:t>
            </a:r>
            <a:endParaRPr lang="en-US" sz="1125" dirty="0"/>
          </a:p>
        </p:txBody>
      </p:sp>
      <p:sp>
        <p:nvSpPr>
          <p:cNvPr id="57" name="Shape 55"/>
          <p:cNvSpPr/>
          <p:nvPr/>
        </p:nvSpPr>
        <p:spPr>
          <a:xfrm>
            <a:off x="914363" y="9176277"/>
            <a:ext cx="16459274" cy="9525"/>
          </a:xfrm>
          <a:prstGeom prst="rect">
            <a:avLst/>
          </a:prstGeom>
          <a:solidFill>
            <a:srgbClr val="ECECF2"/>
          </a:solidFill>
          <a:ln/>
        </p:spPr>
        <p:txBody>
          <a:bodyPr/>
          <a:lstStyle/>
          <a:p>
            <a:endParaRPr lang="en-US"/>
          </a:p>
        </p:txBody>
      </p:sp>
      <p:sp>
        <p:nvSpPr>
          <p:cNvPr id="58" name="Text 56"/>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59"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MACHINE LEARNING USE CASES</a:t>
            </a:r>
            <a:endParaRPr lang="en-US" sz="1500" dirty="0"/>
          </a:p>
        </p:txBody>
      </p:sp>
      <p:sp>
        <p:nvSpPr>
          <p:cNvPr id="3" name="Text 1"/>
          <p:cNvSpPr/>
          <p:nvPr/>
        </p:nvSpPr>
        <p:spPr>
          <a:xfrm>
            <a:off x="914363" y="1191741"/>
            <a:ext cx="18105202" cy="582067"/>
          </a:xfrm>
          <a:prstGeom prst="rect">
            <a:avLst/>
          </a:prstGeom>
          <a:noFill/>
          <a:ln/>
        </p:spPr>
        <p:txBody>
          <a:bodyPr wrap="square" lIns="25400" tIns="25400" rIns="25400" bIns="25400" rtlCol="0" anchor="t">
            <a:normAutofit/>
          </a:bodyPr>
          <a:lstStyle/>
          <a:p>
            <a:pPr marL="0" indent="0" algn="l">
              <a:lnSpc>
                <a:spcPct val="102000"/>
              </a:lnSpc>
              <a:buNone/>
            </a:pPr>
            <a:r>
              <a:rPr lang="en-US" sz="4200" b="1" kern="0" spc="-84" dirty="0">
                <a:solidFill>
                  <a:srgbClr val="100B72"/>
                </a:solidFill>
                <a:latin typeface="Arial" pitchFamily="34" charset="0"/>
                <a:ea typeface="Arial" pitchFamily="34" charset="-122"/>
                <a:cs typeface="Arial" pitchFamily="34" charset="-120"/>
              </a:rPr>
              <a:t>Capabilities that are impossible today</a:t>
            </a:r>
            <a:endParaRPr lang="en-US" sz="4200" dirty="0"/>
          </a:p>
        </p:txBody>
      </p:sp>
      <p:sp>
        <p:nvSpPr>
          <p:cNvPr id="4" name="Text 2"/>
          <p:cNvSpPr/>
          <p:nvPr/>
        </p:nvSpPr>
        <p:spPr>
          <a:xfrm>
            <a:off x="914363" y="1888071"/>
            <a:ext cx="18105202" cy="323850"/>
          </a:xfrm>
          <a:prstGeom prst="rect">
            <a:avLst/>
          </a:prstGeom>
          <a:noFill/>
          <a:ln/>
        </p:spPr>
        <p:txBody>
          <a:bodyPr wrap="square" lIns="25400" tIns="25400" rIns="25400" bIns="25400" rtlCol="0" anchor="t">
            <a:normAutofit/>
          </a:bodyPr>
          <a:lstStyle/>
          <a:p>
            <a:pPr marL="0" indent="0" algn="l">
              <a:buNone/>
            </a:pPr>
            <a:r>
              <a:rPr lang="en-US" sz="1725" dirty="0">
                <a:solidFill>
                  <a:srgbClr val="6C6C8C"/>
                </a:solidFill>
                <a:latin typeface="Arial" pitchFamily="34" charset="0"/>
                <a:ea typeface="Arial" pitchFamily="34" charset="-122"/>
                <a:cs typeface="Arial" pitchFamily="34" charset="-120"/>
              </a:rPr>
              <a:t>Trained on Manga's existing data — directly attacking the 1.2% online-growth problem.</a:t>
            </a:r>
            <a:endParaRPr lang="en-US" sz="1725" dirty="0"/>
          </a:p>
        </p:txBody>
      </p:sp>
      <p:sp>
        <p:nvSpPr>
          <p:cNvPr id="5" name="Shape 3"/>
          <p:cNvSpPr/>
          <p:nvPr/>
        </p:nvSpPr>
        <p:spPr>
          <a:xfrm>
            <a:off x="914363" y="2535752"/>
            <a:ext cx="5346743" cy="3677078"/>
          </a:xfrm>
          <a:prstGeom prst="roundRect">
            <a:avLst>
              <a:gd name="adj" fmla="val 4663"/>
            </a:avLst>
          </a:prstGeom>
          <a:solidFill>
            <a:srgbClr val="100B72"/>
          </a:solidFill>
          <a:ln/>
        </p:spPr>
        <p:txBody>
          <a:bodyPr/>
          <a:lstStyle/>
          <a:p>
            <a:endParaRPr lang="en-US"/>
          </a:p>
        </p:txBody>
      </p:sp>
      <p:sp>
        <p:nvSpPr>
          <p:cNvPr id="6" name="Text 4"/>
          <p:cNvSpPr/>
          <p:nvPr/>
        </p:nvSpPr>
        <p:spPr>
          <a:xfrm>
            <a:off x="1200113" y="2840478"/>
            <a:ext cx="5252768" cy="495281"/>
          </a:xfrm>
          <a:prstGeom prst="rect">
            <a:avLst/>
          </a:prstGeom>
          <a:noFill/>
          <a:ln/>
        </p:spPr>
        <p:txBody>
          <a:bodyPr wrap="square" lIns="25400" tIns="25400" rIns="25400" bIns="25400" rtlCol="0" anchor="t">
            <a:normAutofit/>
          </a:bodyPr>
          <a:lstStyle/>
          <a:p>
            <a:pPr marL="0" indent="0" algn="l">
              <a:lnSpc>
                <a:spcPct val="100000"/>
              </a:lnSpc>
              <a:buNone/>
            </a:pPr>
            <a:r>
              <a:rPr lang="en-US" sz="3600" b="1" dirty="0">
                <a:solidFill>
                  <a:srgbClr val="6BC600"/>
                </a:solidFill>
                <a:latin typeface="Arial" pitchFamily="34" charset="0"/>
                <a:ea typeface="Arial" pitchFamily="34" charset="-122"/>
                <a:cs typeface="Arial" pitchFamily="34" charset="-120"/>
              </a:rPr>
              <a:t>−30%</a:t>
            </a:r>
            <a:endParaRPr lang="en-US" sz="3600" dirty="0"/>
          </a:p>
        </p:txBody>
      </p:sp>
      <p:sp>
        <p:nvSpPr>
          <p:cNvPr id="7" name="Text 5"/>
          <p:cNvSpPr/>
          <p:nvPr/>
        </p:nvSpPr>
        <p:spPr>
          <a:xfrm>
            <a:off x="1200113" y="3354772"/>
            <a:ext cx="5252768"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stockouts</a:t>
            </a:r>
            <a:endParaRPr lang="en-US" sz="1350" dirty="0"/>
          </a:p>
        </p:txBody>
      </p:sp>
      <p:sp>
        <p:nvSpPr>
          <p:cNvPr id="8" name="Text 6"/>
          <p:cNvSpPr/>
          <p:nvPr/>
        </p:nvSpPr>
        <p:spPr>
          <a:xfrm>
            <a:off x="1200113" y="3771491"/>
            <a:ext cx="5252768"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Demand forecasting</a:t>
            </a:r>
            <a:endParaRPr lang="en-US" sz="1950" dirty="0"/>
          </a:p>
        </p:txBody>
      </p:sp>
      <p:sp>
        <p:nvSpPr>
          <p:cNvPr id="9" name="Text 7"/>
          <p:cNvSpPr/>
          <p:nvPr/>
        </p:nvSpPr>
        <p:spPr>
          <a:xfrm>
            <a:off x="1200113" y="4152491"/>
            <a:ext cx="4918501"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C4C4E0"/>
                </a:solidFill>
                <a:latin typeface="Arial" pitchFamily="34" charset="0"/>
                <a:ea typeface="Arial" pitchFamily="34" charset="-122"/>
                <a:cs typeface="Arial" pitchFamily="34" charset="-120"/>
              </a:rPr>
              <a:t>SageMaker DeepAR over sales, inventory and external factors — also cuts overstock ~20%.</a:t>
            </a:r>
            <a:endParaRPr lang="en-US" sz="1350" dirty="0"/>
          </a:p>
        </p:txBody>
      </p:sp>
      <p:sp>
        <p:nvSpPr>
          <p:cNvPr id="10" name="Text 8"/>
          <p:cNvSpPr/>
          <p:nvPr/>
        </p:nvSpPr>
        <p:spPr>
          <a:xfrm>
            <a:off x="1200113" y="5735464"/>
            <a:ext cx="5252768" cy="210741"/>
          </a:xfrm>
          <a:prstGeom prst="rect">
            <a:avLst/>
          </a:prstGeom>
          <a:noFill/>
          <a:ln/>
        </p:spPr>
        <p:txBody>
          <a:bodyPr wrap="square" lIns="25400" tIns="25400" rIns="25400" bIns="25400" rtlCol="0" anchor="t">
            <a:normAutofit/>
          </a:bodyPr>
          <a:lstStyle/>
          <a:p>
            <a:pPr marL="0" indent="0" algn="l">
              <a:buNone/>
            </a:pPr>
            <a:r>
              <a:rPr lang="en-US" sz="1050" kern="0" spc="42" dirty="0">
                <a:solidFill>
                  <a:srgbClr val="8A8AB8"/>
                </a:solidFill>
                <a:latin typeface="Arial" pitchFamily="34" charset="0"/>
                <a:ea typeface="Arial" pitchFamily="34" charset="-122"/>
                <a:cs typeface="Arial" pitchFamily="34" charset="-120"/>
              </a:rPr>
              <a:t>SageMaker · MWAA · QuickSight</a:t>
            </a:r>
            <a:endParaRPr lang="en-US" sz="1050" dirty="0"/>
          </a:p>
        </p:txBody>
      </p:sp>
      <p:sp>
        <p:nvSpPr>
          <p:cNvPr id="11" name="Shape 9"/>
          <p:cNvSpPr/>
          <p:nvPr/>
        </p:nvSpPr>
        <p:spPr>
          <a:xfrm>
            <a:off x="6470582" y="2535752"/>
            <a:ext cx="5346836" cy="3677078"/>
          </a:xfrm>
          <a:prstGeom prst="roundRect">
            <a:avLst>
              <a:gd name="adj" fmla="val 4663"/>
            </a:avLst>
          </a:prstGeom>
          <a:solidFill>
            <a:srgbClr val="100B72"/>
          </a:solidFill>
          <a:ln/>
        </p:spPr>
        <p:txBody>
          <a:bodyPr/>
          <a:lstStyle/>
          <a:p>
            <a:endParaRPr lang="en-US"/>
          </a:p>
        </p:txBody>
      </p:sp>
      <p:sp>
        <p:nvSpPr>
          <p:cNvPr id="12" name="Text 10"/>
          <p:cNvSpPr/>
          <p:nvPr/>
        </p:nvSpPr>
        <p:spPr>
          <a:xfrm>
            <a:off x="6756332" y="2840478"/>
            <a:ext cx="5252870" cy="495281"/>
          </a:xfrm>
          <a:prstGeom prst="rect">
            <a:avLst/>
          </a:prstGeom>
          <a:noFill/>
          <a:ln/>
        </p:spPr>
        <p:txBody>
          <a:bodyPr wrap="square" lIns="25400" tIns="25400" rIns="25400" bIns="25400" rtlCol="0" anchor="t">
            <a:normAutofit/>
          </a:bodyPr>
          <a:lstStyle/>
          <a:p>
            <a:pPr marL="0" indent="0" algn="l">
              <a:lnSpc>
                <a:spcPct val="100000"/>
              </a:lnSpc>
              <a:buNone/>
            </a:pPr>
            <a:r>
              <a:rPr lang="en-US" sz="3600" b="1" dirty="0">
                <a:solidFill>
                  <a:srgbClr val="4BBEFF"/>
                </a:solidFill>
                <a:latin typeface="Arial" pitchFamily="34" charset="0"/>
                <a:ea typeface="Arial" pitchFamily="34" charset="-122"/>
                <a:cs typeface="Arial" pitchFamily="34" charset="-120"/>
              </a:rPr>
              <a:t>+12–18%</a:t>
            </a:r>
            <a:endParaRPr lang="en-US" sz="3600" dirty="0"/>
          </a:p>
        </p:txBody>
      </p:sp>
      <p:sp>
        <p:nvSpPr>
          <p:cNvPr id="13" name="Text 11"/>
          <p:cNvSpPr/>
          <p:nvPr/>
        </p:nvSpPr>
        <p:spPr>
          <a:xfrm>
            <a:off x="6756332" y="3354772"/>
            <a:ext cx="525287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average order value</a:t>
            </a:r>
            <a:endParaRPr lang="en-US" sz="1350" dirty="0"/>
          </a:p>
        </p:txBody>
      </p:sp>
      <p:sp>
        <p:nvSpPr>
          <p:cNvPr id="14" name="Text 12"/>
          <p:cNvSpPr/>
          <p:nvPr/>
        </p:nvSpPr>
        <p:spPr>
          <a:xfrm>
            <a:off x="6756332" y="3771491"/>
            <a:ext cx="5252870"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Recommendations</a:t>
            </a:r>
            <a:endParaRPr lang="en-US" sz="1950" dirty="0"/>
          </a:p>
        </p:txBody>
      </p:sp>
      <p:sp>
        <p:nvSpPr>
          <p:cNvPr id="15" name="Text 13"/>
          <p:cNvSpPr/>
          <p:nvPr/>
        </p:nvSpPr>
        <p:spPr>
          <a:xfrm>
            <a:off x="6756332" y="4152491"/>
            <a:ext cx="4918597"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C4C4E0"/>
                </a:solidFill>
                <a:latin typeface="Arial" pitchFamily="34" charset="0"/>
                <a:ea typeface="Arial" pitchFamily="34" charset="-122"/>
                <a:cs typeface="Arial" pitchFamily="34" charset="-120"/>
              </a:rPr>
              <a:t>Real-time product suggestions served from DynamoDB at &lt;10ms via API Gateway.</a:t>
            </a:r>
            <a:endParaRPr lang="en-US" sz="1350" dirty="0"/>
          </a:p>
        </p:txBody>
      </p:sp>
      <p:sp>
        <p:nvSpPr>
          <p:cNvPr id="16" name="Text 14"/>
          <p:cNvSpPr/>
          <p:nvPr/>
        </p:nvSpPr>
        <p:spPr>
          <a:xfrm>
            <a:off x="6756332" y="5735464"/>
            <a:ext cx="5252870" cy="210741"/>
          </a:xfrm>
          <a:prstGeom prst="rect">
            <a:avLst/>
          </a:prstGeom>
          <a:noFill/>
          <a:ln/>
        </p:spPr>
        <p:txBody>
          <a:bodyPr wrap="square" lIns="25400" tIns="25400" rIns="25400" bIns="25400" rtlCol="0" anchor="t">
            <a:normAutofit/>
          </a:bodyPr>
          <a:lstStyle/>
          <a:p>
            <a:pPr marL="0" indent="0" algn="l">
              <a:buNone/>
            </a:pPr>
            <a:r>
              <a:rPr lang="en-US" sz="1050" kern="0" spc="42" dirty="0">
                <a:solidFill>
                  <a:srgbClr val="8A8AB8"/>
                </a:solidFill>
                <a:latin typeface="Arial" pitchFamily="34" charset="0"/>
                <a:ea typeface="Arial" pitchFamily="34" charset="-122"/>
                <a:cs typeface="Arial" pitchFamily="34" charset="-120"/>
              </a:rPr>
              <a:t>SageMaker · DynamoDB · API Gateway</a:t>
            </a:r>
            <a:endParaRPr lang="en-US" sz="1050" dirty="0"/>
          </a:p>
        </p:txBody>
      </p:sp>
      <p:sp>
        <p:nvSpPr>
          <p:cNvPr id="17" name="Shape 15"/>
          <p:cNvSpPr/>
          <p:nvPr/>
        </p:nvSpPr>
        <p:spPr>
          <a:xfrm>
            <a:off x="12026894" y="2535752"/>
            <a:ext cx="5346743" cy="3677078"/>
          </a:xfrm>
          <a:prstGeom prst="roundRect">
            <a:avLst>
              <a:gd name="adj" fmla="val 4663"/>
            </a:avLst>
          </a:prstGeom>
          <a:solidFill>
            <a:srgbClr val="100B72"/>
          </a:solidFill>
          <a:ln/>
        </p:spPr>
        <p:txBody>
          <a:bodyPr/>
          <a:lstStyle/>
          <a:p>
            <a:endParaRPr lang="en-US"/>
          </a:p>
        </p:txBody>
      </p:sp>
      <p:sp>
        <p:nvSpPr>
          <p:cNvPr id="18" name="Text 16"/>
          <p:cNvSpPr/>
          <p:nvPr/>
        </p:nvSpPr>
        <p:spPr>
          <a:xfrm>
            <a:off x="12312644" y="2840478"/>
            <a:ext cx="5252768" cy="495281"/>
          </a:xfrm>
          <a:prstGeom prst="rect">
            <a:avLst/>
          </a:prstGeom>
          <a:noFill/>
          <a:ln/>
        </p:spPr>
        <p:txBody>
          <a:bodyPr wrap="square" lIns="25400" tIns="25400" rIns="25400" bIns="25400" rtlCol="0" anchor="t">
            <a:normAutofit/>
          </a:bodyPr>
          <a:lstStyle/>
          <a:p>
            <a:pPr marL="0" indent="0" algn="l">
              <a:lnSpc>
                <a:spcPct val="100000"/>
              </a:lnSpc>
              <a:buNone/>
            </a:pPr>
            <a:r>
              <a:rPr lang="en-US" sz="3600" b="1" dirty="0">
                <a:solidFill>
                  <a:srgbClr val="6BC600"/>
                </a:solidFill>
                <a:latin typeface="Arial" pitchFamily="34" charset="0"/>
                <a:ea typeface="Arial" pitchFamily="34" charset="-122"/>
                <a:cs typeface="Arial" pitchFamily="34" charset="-120"/>
              </a:rPr>
              <a:t>2–3 wks</a:t>
            </a:r>
            <a:endParaRPr lang="en-US" sz="3600" dirty="0"/>
          </a:p>
        </p:txBody>
      </p:sp>
      <p:sp>
        <p:nvSpPr>
          <p:cNvPr id="19" name="Text 17"/>
          <p:cNvSpPr/>
          <p:nvPr/>
        </p:nvSpPr>
        <p:spPr>
          <a:xfrm>
            <a:off x="12312644" y="3354772"/>
            <a:ext cx="5252768"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earlier decisions</a:t>
            </a:r>
            <a:endParaRPr lang="en-US" sz="1350" dirty="0"/>
          </a:p>
        </p:txBody>
      </p:sp>
      <p:sp>
        <p:nvSpPr>
          <p:cNvPr id="20" name="Text 18"/>
          <p:cNvSpPr/>
          <p:nvPr/>
        </p:nvSpPr>
        <p:spPr>
          <a:xfrm>
            <a:off x="12312644" y="3771491"/>
            <a:ext cx="5252768"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Sentiment merchandising</a:t>
            </a:r>
            <a:endParaRPr lang="en-US" sz="1950" dirty="0"/>
          </a:p>
        </p:txBody>
      </p:sp>
      <p:sp>
        <p:nvSpPr>
          <p:cNvPr id="21" name="Text 19"/>
          <p:cNvSpPr/>
          <p:nvPr/>
        </p:nvSpPr>
        <p:spPr>
          <a:xfrm>
            <a:off x="12312644" y="4152491"/>
            <a:ext cx="4918501"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C4C4E0"/>
                </a:solidFill>
                <a:latin typeface="Arial" pitchFamily="34" charset="0"/>
                <a:ea typeface="Arial" pitchFamily="34" charset="-122"/>
                <a:cs typeface="Arial" pitchFamily="34" charset="-120"/>
              </a:rPr>
              <a:t>Comprehend reads review sentiment so product calls happen weeks sooner.</a:t>
            </a:r>
            <a:endParaRPr lang="en-US" sz="1350" dirty="0"/>
          </a:p>
        </p:txBody>
      </p:sp>
      <p:sp>
        <p:nvSpPr>
          <p:cNvPr id="22" name="Text 20"/>
          <p:cNvSpPr/>
          <p:nvPr/>
        </p:nvSpPr>
        <p:spPr>
          <a:xfrm>
            <a:off x="12312644" y="5735464"/>
            <a:ext cx="5252768" cy="210741"/>
          </a:xfrm>
          <a:prstGeom prst="rect">
            <a:avLst/>
          </a:prstGeom>
          <a:noFill/>
          <a:ln/>
        </p:spPr>
        <p:txBody>
          <a:bodyPr wrap="square" lIns="25400" tIns="25400" rIns="25400" bIns="25400" rtlCol="0" anchor="t">
            <a:normAutofit/>
          </a:bodyPr>
          <a:lstStyle/>
          <a:p>
            <a:pPr marL="0" indent="0" algn="l">
              <a:buNone/>
            </a:pPr>
            <a:r>
              <a:rPr lang="en-US" sz="1050" kern="0" spc="42" dirty="0">
                <a:solidFill>
                  <a:srgbClr val="8A8AB8"/>
                </a:solidFill>
                <a:latin typeface="Arial" pitchFamily="34" charset="0"/>
                <a:ea typeface="Arial" pitchFamily="34" charset="-122"/>
                <a:cs typeface="Arial" pitchFamily="34" charset="-120"/>
              </a:rPr>
              <a:t>Comprehend · Glue · SNS</a:t>
            </a:r>
            <a:endParaRPr lang="en-US" sz="1050" dirty="0"/>
          </a:p>
        </p:txBody>
      </p:sp>
      <p:sp>
        <p:nvSpPr>
          <p:cNvPr id="23" name="Shape 21"/>
          <p:cNvSpPr/>
          <p:nvPr/>
        </p:nvSpPr>
        <p:spPr>
          <a:xfrm>
            <a:off x="914363" y="6403330"/>
            <a:ext cx="8124899" cy="2626444"/>
          </a:xfrm>
          <a:prstGeom prst="roundRect">
            <a:avLst>
              <a:gd name="adj" fmla="val 5803"/>
            </a:avLst>
          </a:prstGeom>
          <a:ln w="11906">
            <a:solidFill>
              <a:srgbClr val="E6E6EF"/>
            </a:solidFill>
            <a:prstDash val="solid"/>
          </a:ln>
        </p:spPr>
        <p:txBody>
          <a:bodyPr/>
          <a:lstStyle/>
          <a:p>
            <a:endParaRPr lang="en-US"/>
          </a:p>
        </p:txBody>
      </p:sp>
      <p:sp>
        <p:nvSpPr>
          <p:cNvPr id="24" name="Text 22"/>
          <p:cNvSpPr/>
          <p:nvPr/>
        </p:nvSpPr>
        <p:spPr>
          <a:xfrm>
            <a:off x="1192950" y="7508193"/>
            <a:ext cx="1213340" cy="454819"/>
          </a:xfrm>
          <a:prstGeom prst="rect">
            <a:avLst/>
          </a:prstGeom>
          <a:noFill/>
          <a:ln/>
        </p:spPr>
        <p:txBody>
          <a:bodyPr wrap="none" lIns="25400" tIns="25400" rIns="25400" bIns="25400" rtlCol="0" anchor="t">
            <a:normAutofit/>
          </a:bodyPr>
          <a:lstStyle/>
          <a:p>
            <a:pPr marL="0" indent="0" algn="l">
              <a:buNone/>
            </a:pPr>
            <a:r>
              <a:rPr lang="en-US" sz="2850" b="1" dirty="0">
                <a:solidFill>
                  <a:srgbClr val="100B72"/>
                </a:solidFill>
                <a:latin typeface="Arial" pitchFamily="34" charset="0"/>
                <a:ea typeface="Arial" pitchFamily="34" charset="-122"/>
                <a:cs typeface="Arial" pitchFamily="34" charset="-120"/>
              </a:rPr>
              <a:t>+3–7%</a:t>
            </a:r>
            <a:endParaRPr lang="en-US" sz="2850" dirty="0"/>
          </a:p>
        </p:txBody>
      </p:sp>
      <p:sp>
        <p:nvSpPr>
          <p:cNvPr id="25" name="Text 23"/>
          <p:cNvSpPr/>
          <p:nvPr/>
        </p:nvSpPr>
        <p:spPr>
          <a:xfrm>
            <a:off x="2558635" y="7459359"/>
            <a:ext cx="4098810"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Dynamic pricing engine</a:t>
            </a:r>
            <a:endParaRPr lang="en-US" sz="1725" dirty="0"/>
          </a:p>
        </p:txBody>
      </p:sp>
      <p:sp>
        <p:nvSpPr>
          <p:cNvPr id="26" name="Text 24"/>
          <p:cNvSpPr/>
          <p:nvPr/>
        </p:nvSpPr>
        <p:spPr>
          <a:xfrm>
            <a:off x="2558635" y="7747434"/>
            <a:ext cx="409881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6C6C8C"/>
                </a:solidFill>
                <a:latin typeface="Arial" pitchFamily="34" charset="0"/>
                <a:ea typeface="Arial" pitchFamily="34" charset="-122"/>
                <a:cs typeface="Arial" pitchFamily="34" charset="-120"/>
              </a:rPr>
              <a:t>gross margin · SageMaker · Lambda · DynamoDB</a:t>
            </a:r>
            <a:endParaRPr lang="en-US" sz="1350" dirty="0"/>
          </a:p>
        </p:txBody>
      </p:sp>
      <p:sp>
        <p:nvSpPr>
          <p:cNvPr id="27" name="Shape 25"/>
          <p:cNvSpPr/>
          <p:nvPr/>
        </p:nvSpPr>
        <p:spPr>
          <a:xfrm>
            <a:off x="9248738" y="6403330"/>
            <a:ext cx="8124899" cy="2626444"/>
          </a:xfrm>
          <a:prstGeom prst="roundRect">
            <a:avLst>
              <a:gd name="adj" fmla="val 5803"/>
            </a:avLst>
          </a:prstGeom>
          <a:ln w="11906">
            <a:solidFill>
              <a:srgbClr val="E6E6EF"/>
            </a:solidFill>
            <a:prstDash val="solid"/>
          </a:ln>
        </p:spPr>
        <p:txBody>
          <a:bodyPr/>
          <a:lstStyle/>
          <a:p>
            <a:endParaRPr lang="en-US"/>
          </a:p>
        </p:txBody>
      </p:sp>
      <p:sp>
        <p:nvSpPr>
          <p:cNvPr id="28" name="Text 26"/>
          <p:cNvSpPr/>
          <p:nvPr/>
        </p:nvSpPr>
        <p:spPr>
          <a:xfrm>
            <a:off x="9527325" y="7508193"/>
            <a:ext cx="1693692" cy="454819"/>
          </a:xfrm>
          <a:prstGeom prst="rect">
            <a:avLst/>
          </a:prstGeom>
          <a:noFill/>
          <a:ln/>
        </p:spPr>
        <p:txBody>
          <a:bodyPr wrap="none" lIns="25400" tIns="25400" rIns="25400" bIns="25400" rtlCol="0" anchor="t">
            <a:normAutofit/>
          </a:bodyPr>
          <a:lstStyle/>
          <a:p>
            <a:pPr marL="0" indent="0" algn="l">
              <a:buNone/>
            </a:pPr>
            <a:r>
              <a:rPr lang="en-US" sz="2850" b="1" dirty="0">
                <a:solidFill>
                  <a:srgbClr val="100B72"/>
                </a:solidFill>
                <a:latin typeface="Arial" pitchFamily="34" charset="0"/>
                <a:ea typeface="Arial" pitchFamily="34" charset="-122"/>
                <a:cs typeface="Arial" pitchFamily="34" charset="-120"/>
              </a:rPr>
              <a:t>−10–15%</a:t>
            </a:r>
            <a:endParaRPr lang="en-US" sz="2850" dirty="0"/>
          </a:p>
        </p:txBody>
      </p:sp>
      <p:sp>
        <p:nvSpPr>
          <p:cNvPr id="29" name="Text 27"/>
          <p:cNvSpPr/>
          <p:nvPr/>
        </p:nvSpPr>
        <p:spPr>
          <a:xfrm>
            <a:off x="11295590" y="7459359"/>
            <a:ext cx="4008462"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Return-rate optimisation</a:t>
            </a:r>
            <a:endParaRPr lang="en-US" sz="1725" dirty="0"/>
          </a:p>
        </p:txBody>
      </p:sp>
      <p:sp>
        <p:nvSpPr>
          <p:cNvPr id="30" name="Text 28"/>
          <p:cNvSpPr/>
          <p:nvPr/>
        </p:nvSpPr>
        <p:spPr>
          <a:xfrm>
            <a:off x="11295590" y="7747434"/>
            <a:ext cx="4008462" cy="264319"/>
          </a:xfrm>
          <a:prstGeom prst="rect">
            <a:avLst/>
          </a:prstGeom>
          <a:noFill/>
          <a:ln/>
        </p:spPr>
        <p:txBody>
          <a:bodyPr wrap="square" lIns="25400" tIns="25400" rIns="25400" bIns="25400" rtlCol="0" anchor="t">
            <a:normAutofit/>
          </a:bodyPr>
          <a:lstStyle/>
          <a:p>
            <a:pPr marL="0" indent="0" algn="l">
              <a:buNone/>
            </a:pPr>
            <a:r>
              <a:rPr lang="en-US" sz="1350" dirty="0">
                <a:solidFill>
                  <a:srgbClr val="6C6C8C"/>
                </a:solidFill>
                <a:latin typeface="Arial" pitchFamily="34" charset="0"/>
                <a:ea typeface="Arial" pitchFamily="34" charset="-122"/>
                <a:cs typeface="Arial" pitchFamily="34" charset="-120"/>
              </a:rPr>
              <a:t>processing cost · SageMaker · Glue · QuickSight</a:t>
            </a:r>
            <a:endParaRPr lang="en-US" sz="1350" dirty="0"/>
          </a:p>
        </p:txBody>
      </p:sp>
      <p:sp>
        <p:nvSpPr>
          <p:cNvPr id="31" name="Shape 29"/>
          <p:cNvSpPr/>
          <p:nvPr/>
        </p:nvSpPr>
        <p:spPr>
          <a:xfrm>
            <a:off x="914363" y="9176277"/>
            <a:ext cx="16459274" cy="9525"/>
          </a:xfrm>
          <a:prstGeom prst="rect">
            <a:avLst/>
          </a:prstGeom>
          <a:solidFill>
            <a:srgbClr val="ECECF2"/>
          </a:solidFill>
          <a:ln/>
        </p:spPr>
        <p:txBody>
          <a:bodyPr/>
          <a:lstStyle/>
          <a:p>
            <a:endParaRPr lang="en-US"/>
          </a:p>
        </p:txBody>
      </p:sp>
      <p:sp>
        <p:nvSpPr>
          <p:cNvPr id="32" name="Text 30"/>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33"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363" y="800044"/>
            <a:ext cx="18105202" cy="258366"/>
          </a:xfrm>
          <a:prstGeom prst="rect">
            <a:avLst/>
          </a:prstGeom>
          <a:noFill/>
          <a:ln/>
        </p:spPr>
        <p:txBody>
          <a:bodyPr wrap="square" lIns="25400" tIns="25400" rIns="25400" bIns="25400" rtlCol="0" anchor="t">
            <a:normAutofit/>
          </a:bodyPr>
          <a:lstStyle/>
          <a:p>
            <a:pPr marL="0" indent="0" algn="l">
              <a:buNone/>
            </a:pPr>
            <a:r>
              <a:rPr lang="en-US" sz="1500" b="1" kern="0" spc="360" dirty="0">
                <a:solidFill>
                  <a:srgbClr val="6BC600"/>
                </a:solidFill>
                <a:latin typeface="Arial" pitchFamily="34" charset="0"/>
                <a:ea typeface="Arial" pitchFamily="34" charset="-122"/>
                <a:cs typeface="Arial" pitchFamily="34" charset="-120"/>
              </a:rPr>
              <a:t>DELIVERY ROADMAP &amp; RISK</a:t>
            </a:r>
            <a:endParaRPr lang="en-US" sz="1500" dirty="0"/>
          </a:p>
        </p:txBody>
      </p:sp>
      <p:sp>
        <p:nvSpPr>
          <p:cNvPr id="3" name="Text 1"/>
          <p:cNvSpPr/>
          <p:nvPr/>
        </p:nvSpPr>
        <p:spPr>
          <a:xfrm>
            <a:off x="914363" y="1191741"/>
            <a:ext cx="18105202" cy="582067"/>
          </a:xfrm>
          <a:prstGeom prst="rect">
            <a:avLst/>
          </a:prstGeom>
          <a:noFill/>
          <a:ln/>
        </p:spPr>
        <p:txBody>
          <a:bodyPr wrap="square" lIns="25400" tIns="25400" rIns="25400" bIns="25400" rtlCol="0" anchor="t">
            <a:normAutofit/>
          </a:bodyPr>
          <a:lstStyle/>
          <a:p>
            <a:pPr marL="0" indent="0" algn="l">
              <a:lnSpc>
                <a:spcPct val="102000"/>
              </a:lnSpc>
              <a:buNone/>
            </a:pPr>
            <a:r>
              <a:rPr lang="en-US" sz="4200" b="1" kern="0" spc="-84" dirty="0">
                <a:solidFill>
                  <a:srgbClr val="100B72"/>
                </a:solidFill>
                <a:latin typeface="Arial" pitchFamily="34" charset="0"/>
                <a:ea typeface="Arial" pitchFamily="34" charset="-122"/>
                <a:cs typeface="Arial" pitchFamily="34" charset="-120"/>
              </a:rPr>
              <a:t>Phased delivery, controlled risk</a:t>
            </a:r>
            <a:endParaRPr lang="en-US" sz="4200" dirty="0"/>
          </a:p>
        </p:txBody>
      </p:sp>
      <p:sp>
        <p:nvSpPr>
          <p:cNvPr id="4" name="Shape 2"/>
          <p:cNvSpPr/>
          <p:nvPr/>
        </p:nvSpPr>
        <p:spPr>
          <a:xfrm>
            <a:off x="914363" y="2411853"/>
            <a:ext cx="16459274" cy="38044"/>
          </a:xfrm>
          <a:prstGeom prst="roundRect">
            <a:avLst>
              <a:gd name="adj" fmla="val 50000"/>
            </a:avLst>
          </a:prstGeom>
          <a:solidFill>
            <a:srgbClr val="E6E6EF"/>
          </a:solidFill>
          <a:ln/>
        </p:spPr>
        <p:txBody>
          <a:bodyPr/>
          <a:lstStyle/>
          <a:p>
            <a:endParaRPr lang="en-US"/>
          </a:p>
        </p:txBody>
      </p:sp>
      <p:sp>
        <p:nvSpPr>
          <p:cNvPr id="5" name="Shape 3"/>
          <p:cNvSpPr/>
          <p:nvPr/>
        </p:nvSpPr>
        <p:spPr>
          <a:xfrm>
            <a:off x="914363" y="2411853"/>
            <a:ext cx="12838193" cy="38044"/>
          </a:xfrm>
          <a:prstGeom prst="roundRect">
            <a:avLst>
              <a:gd name="adj" fmla="val 50000"/>
            </a:avLst>
          </a:prstGeom>
          <a:gradFill rotWithShape="1">
            <a:gsLst>
              <a:gs pos="0">
                <a:srgbClr val="6BC600">
                  <a:alpha val="100000"/>
                </a:srgbClr>
              </a:gs>
              <a:gs pos="100000">
                <a:srgbClr val="4BBEFF">
                  <a:alpha val="100000"/>
                </a:srgbClr>
              </a:gs>
            </a:gsLst>
            <a:lin ang="0" scaled="0"/>
          </a:gradFill>
          <a:ln/>
        </p:spPr>
        <p:txBody>
          <a:bodyPr/>
          <a:lstStyle/>
          <a:p>
            <a:endParaRPr lang="en-US"/>
          </a:p>
        </p:txBody>
      </p:sp>
      <p:sp>
        <p:nvSpPr>
          <p:cNvPr id="6" name="Shape 4"/>
          <p:cNvSpPr/>
          <p:nvPr/>
        </p:nvSpPr>
        <p:spPr>
          <a:xfrm>
            <a:off x="971476" y="2154752"/>
            <a:ext cx="171431" cy="171431"/>
          </a:xfrm>
          <a:prstGeom prst="ellipse">
            <a:avLst/>
          </a:prstGeom>
          <a:solidFill>
            <a:srgbClr val="6BC600"/>
          </a:solidFill>
          <a:ln/>
        </p:spPr>
        <p:txBody>
          <a:bodyPr/>
          <a:lstStyle/>
          <a:p>
            <a:endParaRPr lang="en-US"/>
          </a:p>
        </p:txBody>
      </p:sp>
      <p:sp>
        <p:nvSpPr>
          <p:cNvPr id="7" name="Text 5"/>
          <p:cNvSpPr/>
          <p:nvPr/>
        </p:nvSpPr>
        <p:spPr>
          <a:xfrm>
            <a:off x="914363" y="2497615"/>
            <a:ext cx="922381"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4E8F00"/>
                </a:solidFill>
                <a:latin typeface="Arial" pitchFamily="34" charset="0"/>
                <a:ea typeface="Arial" pitchFamily="34" charset="-122"/>
                <a:cs typeface="Arial" pitchFamily="34" charset="-120"/>
              </a:rPr>
              <a:t>Months 1–2</a:t>
            </a:r>
            <a:endParaRPr lang="en-US" sz="1275" dirty="0"/>
          </a:p>
        </p:txBody>
      </p:sp>
      <p:sp>
        <p:nvSpPr>
          <p:cNvPr id="8" name="Text 6"/>
          <p:cNvSpPr/>
          <p:nvPr/>
        </p:nvSpPr>
        <p:spPr>
          <a:xfrm>
            <a:off x="914363" y="2745228"/>
            <a:ext cx="1177156" cy="264319"/>
          </a:xfrm>
          <a:prstGeom prst="rect">
            <a:avLst/>
          </a:prstGeom>
          <a:noFill/>
          <a:ln/>
        </p:spPr>
        <p:txBody>
          <a:bodyPr wrap="square" lIns="25400" tIns="25400" rIns="25400" bIns="25400" rtlCol="0" anchor="t">
            <a:normAutofit/>
          </a:bodyPr>
          <a:lstStyle/>
          <a:p>
            <a:pPr marL="0" indent="0" algn="l">
              <a:buNone/>
            </a:pPr>
            <a:r>
              <a:rPr lang="en-US" sz="1575" b="1" dirty="0">
                <a:solidFill>
                  <a:srgbClr val="100B72"/>
                </a:solidFill>
                <a:latin typeface="Arial" pitchFamily="34" charset="0"/>
                <a:ea typeface="Arial" pitchFamily="34" charset="-122"/>
                <a:cs typeface="Arial" pitchFamily="34" charset="-120"/>
              </a:rPr>
              <a:t>Foundations</a:t>
            </a:r>
            <a:endParaRPr lang="en-US" sz="1575" dirty="0"/>
          </a:p>
        </p:txBody>
      </p:sp>
      <p:sp>
        <p:nvSpPr>
          <p:cNvPr id="9" name="Text 7"/>
          <p:cNvSpPr/>
          <p:nvPr/>
        </p:nvSpPr>
        <p:spPr>
          <a:xfrm>
            <a:off x="914363" y="3009491"/>
            <a:ext cx="3694342" cy="256691"/>
          </a:xfrm>
          <a:prstGeom prst="rect">
            <a:avLst/>
          </a:prstGeom>
          <a:noFill/>
          <a:ln/>
        </p:spPr>
        <p:txBody>
          <a:bodyPr wrap="square" lIns="25400" tIns="25400" rIns="25400" bIns="25400" rtlCol="0" anchor="t">
            <a:normAutofit/>
          </a:bodyPr>
          <a:lstStyle/>
          <a:p>
            <a:pPr marL="0" indent="0" algn="l">
              <a:lnSpc>
                <a:spcPct val="135000"/>
              </a:lnSpc>
              <a:buNone/>
            </a:pPr>
            <a:r>
              <a:rPr lang="en-US" sz="1275" dirty="0">
                <a:solidFill>
                  <a:srgbClr val="6C6C8C"/>
                </a:solidFill>
                <a:latin typeface="Arial" pitchFamily="34" charset="0"/>
                <a:ea typeface="Arial" pitchFamily="34" charset="-122"/>
                <a:cs typeface="Arial" pitchFamily="34" charset="-120"/>
              </a:rPr>
              <a:t>Accounts, IaC, landing zone, security baseline.</a:t>
            </a:r>
            <a:endParaRPr lang="en-US" sz="1275" dirty="0"/>
          </a:p>
        </p:txBody>
      </p:sp>
      <p:sp>
        <p:nvSpPr>
          <p:cNvPr id="10" name="Shape 8"/>
          <p:cNvSpPr/>
          <p:nvPr/>
        </p:nvSpPr>
        <p:spPr>
          <a:xfrm>
            <a:off x="5141175" y="2154752"/>
            <a:ext cx="171431" cy="171431"/>
          </a:xfrm>
          <a:prstGeom prst="ellipse">
            <a:avLst/>
          </a:prstGeom>
          <a:solidFill>
            <a:srgbClr val="4BBEFF"/>
          </a:solidFill>
          <a:ln/>
        </p:spPr>
        <p:txBody>
          <a:bodyPr/>
          <a:lstStyle/>
          <a:p>
            <a:endParaRPr lang="en-US"/>
          </a:p>
        </p:txBody>
      </p:sp>
      <p:sp>
        <p:nvSpPr>
          <p:cNvPr id="11" name="Text 9"/>
          <p:cNvSpPr/>
          <p:nvPr/>
        </p:nvSpPr>
        <p:spPr>
          <a:xfrm>
            <a:off x="5084062" y="2497615"/>
            <a:ext cx="922381"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2A8BC0"/>
                </a:solidFill>
                <a:latin typeface="Arial" pitchFamily="34" charset="0"/>
                <a:ea typeface="Arial" pitchFamily="34" charset="-122"/>
                <a:cs typeface="Arial" pitchFamily="34" charset="-120"/>
              </a:rPr>
              <a:t>Months 3–5</a:t>
            </a:r>
            <a:endParaRPr lang="en-US" sz="1275" dirty="0"/>
          </a:p>
        </p:txBody>
      </p:sp>
      <p:sp>
        <p:nvSpPr>
          <p:cNvPr id="12" name="Text 10"/>
          <p:cNvSpPr/>
          <p:nvPr/>
        </p:nvSpPr>
        <p:spPr>
          <a:xfrm>
            <a:off x="5084062" y="2745228"/>
            <a:ext cx="2165077" cy="264319"/>
          </a:xfrm>
          <a:prstGeom prst="rect">
            <a:avLst/>
          </a:prstGeom>
          <a:noFill/>
          <a:ln/>
        </p:spPr>
        <p:txBody>
          <a:bodyPr wrap="square" lIns="25400" tIns="25400" rIns="25400" bIns="25400" rtlCol="0" anchor="t">
            <a:normAutofit/>
          </a:bodyPr>
          <a:lstStyle/>
          <a:p>
            <a:pPr marL="0" indent="0" algn="l">
              <a:buNone/>
            </a:pPr>
            <a:r>
              <a:rPr lang="en-US" sz="1575" b="1" dirty="0">
                <a:solidFill>
                  <a:srgbClr val="100B72"/>
                </a:solidFill>
                <a:latin typeface="Arial" pitchFamily="34" charset="0"/>
                <a:ea typeface="Arial" pitchFamily="34" charset="-122"/>
                <a:cs typeface="Arial" pitchFamily="34" charset="-120"/>
              </a:rPr>
              <a:t>Pipelines &amp; lakehouse</a:t>
            </a:r>
            <a:endParaRPr lang="en-US" sz="1575" dirty="0"/>
          </a:p>
        </p:txBody>
      </p:sp>
      <p:sp>
        <p:nvSpPr>
          <p:cNvPr id="13" name="Text 11"/>
          <p:cNvSpPr/>
          <p:nvPr/>
        </p:nvSpPr>
        <p:spPr>
          <a:xfrm>
            <a:off x="5084062" y="3009491"/>
            <a:ext cx="3087384" cy="256691"/>
          </a:xfrm>
          <a:prstGeom prst="rect">
            <a:avLst/>
          </a:prstGeom>
          <a:noFill/>
          <a:ln/>
        </p:spPr>
        <p:txBody>
          <a:bodyPr wrap="square" lIns="25400" tIns="25400" rIns="25400" bIns="25400" rtlCol="0" anchor="t">
            <a:normAutofit/>
          </a:bodyPr>
          <a:lstStyle/>
          <a:p>
            <a:pPr marL="0" indent="0" algn="l">
              <a:lnSpc>
                <a:spcPct val="135000"/>
              </a:lnSpc>
              <a:buNone/>
            </a:pPr>
            <a:r>
              <a:rPr lang="en-US" sz="1275" dirty="0">
                <a:solidFill>
                  <a:srgbClr val="6C6C8C"/>
                </a:solidFill>
                <a:latin typeface="Arial" pitchFamily="34" charset="0"/>
                <a:ea typeface="Arial" pitchFamily="34" charset="-122"/>
                <a:cs typeface="Arial" pitchFamily="34" charset="-120"/>
              </a:rPr>
              <a:t>Ingestion, three S3 zones, DQ, catalog.</a:t>
            </a:r>
            <a:endParaRPr lang="en-US" sz="1275" dirty="0"/>
          </a:p>
        </p:txBody>
      </p:sp>
      <p:sp>
        <p:nvSpPr>
          <p:cNvPr id="14" name="Shape 12"/>
          <p:cNvSpPr/>
          <p:nvPr/>
        </p:nvSpPr>
        <p:spPr>
          <a:xfrm>
            <a:off x="9310874" y="2154752"/>
            <a:ext cx="171431" cy="171431"/>
          </a:xfrm>
          <a:prstGeom prst="ellipse">
            <a:avLst/>
          </a:prstGeom>
          <a:solidFill>
            <a:srgbClr val="4BBEFF"/>
          </a:solidFill>
          <a:ln/>
        </p:spPr>
        <p:txBody>
          <a:bodyPr/>
          <a:lstStyle/>
          <a:p>
            <a:endParaRPr lang="en-US"/>
          </a:p>
        </p:txBody>
      </p:sp>
      <p:sp>
        <p:nvSpPr>
          <p:cNvPr id="15" name="Text 13"/>
          <p:cNvSpPr/>
          <p:nvPr/>
        </p:nvSpPr>
        <p:spPr>
          <a:xfrm>
            <a:off x="9253761" y="2497615"/>
            <a:ext cx="661281"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2A8BC0"/>
                </a:solidFill>
                <a:latin typeface="Arial" pitchFamily="34" charset="0"/>
                <a:ea typeface="Arial" pitchFamily="34" charset="-122"/>
                <a:cs typeface="Arial" pitchFamily="34" charset="-120"/>
              </a:rPr>
              <a:t>Month 7</a:t>
            </a:r>
            <a:endParaRPr lang="en-US" sz="1275" dirty="0"/>
          </a:p>
        </p:txBody>
      </p:sp>
      <p:sp>
        <p:nvSpPr>
          <p:cNvPr id="16" name="Text 14"/>
          <p:cNvSpPr/>
          <p:nvPr/>
        </p:nvSpPr>
        <p:spPr>
          <a:xfrm>
            <a:off x="9253761" y="2745228"/>
            <a:ext cx="1834586" cy="264319"/>
          </a:xfrm>
          <a:prstGeom prst="rect">
            <a:avLst/>
          </a:prstGeom>
          <a:noFill/>
          <a:ln/>
        </p:spPr>
        <p:txBody>
          <a:bodyPr wrap="square" lIns="25400" tIns="25400" rIns="25400" bIns="25400" rtlCol="0" anchor="t">
            <a:normAutofit/>
          </a:bodyPr>
          <a:lstStyle/>
          <a:p>
            <a:pPr marL="0" indent="0" algn="l">
              <a:buNone/>
            </a:pPr>
            <a:r>
              <a:rPr lang="en-US" sz="1575" b="1" dirty="0">
                <a:solidFill>
                  <a:srgbClr val="100B72"/>
                </a:solidFill>
                <a:latin typeface="Arial" pitchFamily="34" charset="0"/>
                <a:ea typeface="Arial" pitchFamily="34" charset="-122"/>
                <a:cs typeface="Arial" pitchFamily="34" charset="-120"/>
              </a:rPr>
              <a:t>Production cutover</a:t>
            </a:r>
            <a:endParaRPr lang="en-US" sz="1575" dirty="0"/>
          </a:p>
        </p:txBody>
      </p:sp>
      <p:sp>
        <p:nvSpPr>
          <p:cNvPr id="17" name="Text 15"/>
          <p:cNvSpPr/>
          <p:nvPr/>
        </p:nvSpPr>
        <p:spPr>
          <a:xfrm>
            <a:off x="9253761" y="3009491"/>
            <a:ext cx="3486122" cy="256691"/>
          </a:xfrm>
          <a:prstGeom prst="rect">
            <a:avLst/>
          </a:prstGeom>
          <a:noFill/>
          <a:ln/>
        </p:spPr>
        <p:txBody>
          <a:bodyPr wrap="square" lIns="25400" tIns="25400" rIns="25400" bIns="25400" rtlCol="0" anchor="t">
            <a:normAutofit/>
          </a:bodyPr>
          <a:lstStyle/>
          <a:p>
            <a:pPr marL="0" indent="0" algn="l">
              <a:lnSpc>
                <a:spcPct val="135000"/>
              </a:lnSpc>
              <a:buNone/>
            </a:pPr>
            <a:r>
              <a:rPr lang="en-US" sz="1275" dirty="0">
                <a:solidFill>
                  <a:srgbClr val="6C6C8C"/>
                </a:solidFill>
                <a:latin typeface="Arial" pitchFamily="34" charset="0"/>
                <a:ea typeface="Arial" pitchFamily="34" charset="-122"/>
                <a:cs typeface="Arial" pitchFamily="34" charset="-120"/>
              </a:rPr>
              <a:t>BI live, DMS parallel run ends, Excel retired.</a:t>
            </a:r>
            <a:endParaRPr lang="en-US" sz="1275" dirty="0"/>
          </a:p>
        </p:txBody>
      </p:sp>
      <p:sp>
        <p:nvSpPr>
          <p:cNvPr id="18" name="Shape 16"/>
          <p:cNvSpPr/>
          <p:nvPr/>
        </p:nvSpPr>
        <p:spPr>
          <a:xfrm>
            <a:off x="13480573" y="2154752"/>
            <a:ext cx="171431" cy="171431"/>
          </a:xfrm>
          <a:prstGeom prst="ellipse">
            <a:avLst/>
          </a:prstGeom>
          <a:solidFill>
            <a:srgbClr val="100B72"/>
          </a:solidFill>
          <a:ln/>
        </p:spPr>
        <p:txBody>
          <a:bodyPr/>
          <a:lstStyle/>
          <a:p>
            <a:endParaRPr lang="en-US"/>
          </a:p>
        </p:txBody>
      </p:sp>
      <p:sp>
        <p:nvSpPr>
          <p:cNvPr id="19" name="Text 17"/>
          <p:cNvSpPr/>
          <p:nvPr/>
        </p:nvSpPr>
        <p:spPr>
          <a:xfrm>
            <a:off x="13423460" y="2497615"/>
            <a:ext cx="661281" cy="228600"/>
          </a:xfrm>
          <a:prstGeom prst="rect">
            <a:avLst/>
          </a:prstGeom>
          <a:noFill/>
          <a:ln/>
        </p:spPr>
        <p:txBody>
          <a:bodyPr wrap="square" lIns="25400" tIns="25400" rIns="25400" bIns="25400" rtlCol="0" anchor="t">
            <a:normAutofit/>
          </a:bodyPr>
          <a:lstStyle/>
          <a:p>
            <a:pPr marL="0" indent="0" algn="l">
              <a:buNone/>
            </a:pPr>
            <a:r>
              <a:rPr lang="en-US" sz="1275" b="1" dirty="0">
                <a:solidFill>
                  <a:srgbClr val="100B72"/>
                </a:solidFill>
                <a:latin typeface="Arial" pitchFamily="34" charset="0"/>
                <a:ea typeface="Arial" pitchFamily="34" charset="-122"/>
                <a:cs typeface="Arial" pitchFamily="34" charset="-120"/>
              </a:rPr>
              <a:t>Month 9</a:t>
            </a:r>
            <a:endParaRPr lang="en-US" sz="1275" dirty="0"/>
          </a:p>
        </p:txBody>
      </p:sp>
      <p:sp>
        <p:nvSpPr>
          <p:cNvPr id="20" name="Text 18"/>
          <p:cNvSpPr/>
          <p:nvPr/>
        </p:nvSpPr>
        <p:spPr>
          <a:xfrm>
            <a:off x="13423460" y="2745228"/>
            <a:ext cx="1528753" cy="264319"/>
          </a:xfrm>
          <a:prstGeom prst="rect">
            <a:avLst/>
          </a:prstGeom>
          <a:noFill/>
          <a:ln/>
        </p:spPr>
        <p:txBody>
          <a:bodyPr wrap="square" lIns="25400" tIns="25400" rIns="25400" bIns="25400" rtlCol="0" anchor="t">
            <a:normAutofit/>
          </a:bodyPr>
          <a:lstStyle/>
          <a:p>
            <a:pPr marL="0" indent="0" algn="l">
              <a:buNone/>
            </a:pPr>
            <a:r>
              <a:rPr lang="en-US" sz="1575" b="1" dirty="0">
                <a:solidFill>
                  <a:srgbClr val="100B72"/>
                </a:solidFill>
                <a:latin typeface="Arial" pitchFamily="34" charset="0"/>
                <a:ea typeface="Arial" pitchFamily="34" charset="-122"/>
                <a:cs typeface="Arial" pitchFamily="34" charset="-120"/>
              </a:rPr>
              <a:t>Handover &amp; ML</a:t>
            </a:r>
            <a:endParaRPr lang="en-US" sz="1575" dirty="0"/>
          </a:p>
        </p:txBody>
      </p:sp>
      <p:sp>
        <p:nvSpPr>
          <p:cNvPr id="21" name="Text 19"/>
          <p:cNvSpPr/>
          <p:nvPr/>
        </p:nvSpPr>
        <p:spPr>
          <a:xfrm>
            <a:off x="13423460" y="3009491"/>
            <a:ext cx="3416033" cy="256691"/>
          </a:xfrm>
          <a:prstGeom prst="rect">
            <a:avLst/>
          </a:prstGeom>
          <a:noFill/>
          <a:ln/>
        </p:spPr>
        <p:txBody>
          <a:bodyPr wrap="square" lIns="25400" tIns="25400" rIns="25400" bIns="25400" rtlCol="0" anchor="t">
            <a:normAutofit/>
          </a:bodyPr>
          <a:lstStyle/>
          <a:p>
            <a:pPr marL="0" indent="0" algn="l">
              <a:lnSpc>
                <a:spcPct val="135000"/>
              </a:lnSpc>
              <a:buNone/>
            </a:pPr>
            <a:r>
              <a:rPr lang="en-US" sz="1275" dirty="0">
                <a:solidFill>
                  <a:srgbClr val="6C6C8C"/>
                </a:solidFill>
                <a:latin typeface="Arial" pitchFamily="34" charset="0"/>
                <a:ea typeface="Arial" pitchFamily="34" charset="-122"/>
                <a:cs typeface="Arial" pitchFamily="34" charset="-120"/>
              </a:rPr>
              <a:t>Knowledge transfer, first ML use cases live.</a:t>
            </a:r>
            <a:endParaRPr lang="en-US" sz="1275" dirty="0"/>
          </a:p>
        </p:txBody>
      </p:sp>
      <p:sp>
        <p:nvSpPr>
          <p:cNvPr id="22" name="Text 20"/>
          <p:cNvSpPr/>
          <p:nvPr/>
        </p:nvSpPr>
        <p:spPr>
          <a:xfrm>
            <a:off x="914363" y="3704332"/>
            <a:ext cx="18105202" cy="228600"/>
          </a:xfrm>
          <a:prstGeom prst="rect">
            <a:avLst/>
          </a:prstGeom>
          <a:noFill/>
          <a:ln/>
        </p:spPr>
        <p:txBody>
          <a:bodyPr wrap="square" lIns="25400" tIns="25400" rIns="25400" bIns="25400" rtlCol="0" anchor="t">
            <a:normAutofit/>
          </a:bodyPr>
          <a:lstStyle/>
          <a:p>
            <a:pPr marL="0" indent="0" algn="l">
              <a:buNone/>
            </a:pPr>
            <a:r>
              <a:rPr lang="en-US" sz="1275" b="1" kern="0" spc="230" dirty="0">
                <a:solidFill>
                  <a:srgbClr val="9A9AB2"/>
                </a:solidFill>
                <a:latin typeface="Arial" pitchFamily="34" charset="0"/>
                <a:ea typeface="Arial" pitchFamily="34" charset="-122"/>
                <a:cs typeface="Arial" pitchFamily="34" charset="-120"/>
              </a:rPr>
              <a:t>RISKS, EXPLICITLY MITIGATED</a:t>
            </a:r>
            <a:endParaRPr lang="en-US" sz="1275" dirty="0"/>
          </a:p>
        </p:txBody>
      </p:sp>
      <p:sp>
        <p:nvSpPr>
          <p:cNvPr id="23" name="Shape 21"/>
          <p:cNvSpPr/>
          <p:nvPr/>
        </p:nvSpPr>
        <p:spPr>
          <a:xfrm>
            <a:off x="914363" y="4066263"/>
            <a:ext cx="5372137" cy="1263272"/>
          </a:xfrm>
          <a:prstGeom prst="roundRect">
            <a:avLst>
              <a:gd name="adj" fmla="val 10556"/>
            </a:avLst>
          </a:prstGeom>
          <a:solidFill>
            <a:srgbClr val="F5F6F2"/>
          </a:solidFill>
          <a:ln/>
        </p:spPr>
        <p:txBody>
          <a:bodyPr/>
          <a:lstStyle/>
          <a:p>
            <a:endParaRPr lang="en-US"/>
          </a:p>
        </p:txBody>
      </p:sp>
      <p:sp>
        <p:nvSpPr>
          <p:cNvPr id="24" name="Text 22"/>
          <p:cNvSpPr/>
          <p:nvPr/>
        </p:nvSpPr>
        <p:spPr>
          <a:xfrm>
            <a:off x="1161976" y="4294808"/>
            <a:ext cx="5364603"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Migration risk</a:t>
            </a:r>
            <a:endParaRPr lang="en-US" sz="1725" dirty="0"/>
          </a:p>
        </p:txBody>
      </p:sp>
      <p:sp>
        <p:nvSpPr>
          <p:cNvPr id="25" name="Text 23"/>
          <p:cNvSpPr/>
          <p:nvPr/>
        </p:nvSpPr>
        <p:spPr>
          <a:xfrm>
            <a:off x="1161976" y="4621020"/>
            <a:ext cx="5023219"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DMS runs in parallel with the legacy stack before cutover — no big-bang switch.</a:t>
            </a:r>
            <a:endParaRPr lang="en-US" sz="1350" dirty="0"/>
          </a:p>
        </p:txBody>
      </p:sp>
      <p:sp>
        <p:nvSpPr>
          <p:cNvPr id="26" name="Shape 24"/>
          <p:cNvSpPr/>
          <p:nvPr/>
        </p:nvSpPr>
        <p:spPr>
          <a:xfrm>
            <a:off x="6457931" y="4066263"/>
            <a:ext cx="5372137" cy="1263272"/>
          </a:xfrm>
          <a:prstGeom prst="roundRect">
            <a:avLst>
              <a:gd name="adj" fmla="val 10556"/>
            </a:avLst>
          </a:prstGeom>
          <a:solidFill>
            <a:srgbClr val="F5F6F2"/>
          </a:solidFill>
          <a:ln/>
        </p:spPr>
        <p:txBody>
          <a:bodyPr/>
          <a:lstStyle/>
          <a:p>
            <a:endParaRPr lang="en-US"/>
          </a:p>
        </p:txBody>
      </p:sp>
      <p:sp>
        <p:nvSpPr>
          <p:cNvPr id="27" name="Text 25"/>
          <p:cNvSpPr/>
          <p:nvPr/>
        </p:nvSpPr>
        <p:spPr>
          <a:xfrm>
            <a:off x="6705544" y="4294808"/>
            <a:ext cx="5364603"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Vendor lock-in</a:t>
            </a:r>
            <a:endParaRPr lang="en-US" sz="1725" dirty="0"/>
          </a:p>
        </p:txBody>
      </p:sp>
      <p:sp>
        <p:nvSpPr>
          <p:cNvPr id="28" name="Text 26"/>
          <p:cNvSpPr/>
          <p:nvPr/>
        </p:nvSpPr>
        <p:spPr>
          <a:xfrm>
            <a:off x="6705544" y="4621020"/>
            <a:ext cx="5023219"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Open-source core — Airflow, Spark, Parquet — keeps the platform portable.</a:t>
            </a:r>
            <a:endParaRPr lang="en-US" sz="1350" dirty="0"/>
          </a:p>
        </p:txBody>
      </p:sp>
      <p:sp>
        <p:nvSpPr>
          <p:cNvPr id="29" name="Shape 27"/>
          <p:cNvSpPr/>
          <p:nvPr/>
        </p:nvSpPr>
        <p:spPr>
          <a:xfrm>
            <a:off x="12001500" y="4066263"/>
            <a:ext cx="5372137" cy="1263272"/>
          </a:xfrm>
          <a:prstGeom prst="roundRect">
            <a:avLst>
              <a:gd name="adj" fmla="val 10556"/>
            </a:avLst>
          </a:prstGeom>
          <a:solidFill>
            <a:srgbClr val="F5F6F2"/>
          </a:solidFill>
          <a:ln/>
        </p:spPr>
        <p:txBody>
          <a:bodyPr/>
          <a:lstStyle/>
          <a:p>
            <a:endParaRPr lang="en-US"/>
          </a:p>
        </p:txBody>
      </p:sp>
      <p:sp>
        <p:nvSpPr>
          <p:cNvPr id="30" name="Text 28"/>
          <p:cNvSpPr/>
          <p:nvPr/>
        </p:nvSpPr>
        <p:spPr>
          <a:xfrm>
            <a:off x="12249113" y="4294808"/>
            <a:ext cx="5364603" cy="288131"/>
          </a:xfrm>
          <a:prstGeom prst="rect">
            <a:avLst/>
          </a:prstGeom>
          <a:noFill/>
          <a:ln/>
        </p:spPr>
        <p:txBody>
          <a:bodyPr wrap="square" lIns="25400" tIns="25400" rIns="25400" bIns="25400" rtlCol="0" anchor="t">
            <a:normAutofit/>
          </a:bodyPr>
          <a:lstStyle/>
          <a:p>
            <a:pPr marL="0" indent="0" algn="l">
              <a:buNone/>
            </a:pPr>
            <a:r>
              <a:rPr lang="en-US" sz="1725" b="1" dirty="0">
                <a:solidFill>
                  <a:srgbClr val="100B72"/>
                </a:solidFill>
                <a:latin typeface="Arial" pitchFamily="34" charset="0"/>
                <a:ea typeface="Arial" pitchFamily="34" charset="-122"/>
                <a:cs typeface="Arial" pitchFamily="34" charset="-120"/>
              </a:rPr>
              <a:t>Data privacy</a:t>
            </a:r>
            <a:endParaRPr lang="en-US" sz="1725" dirty="0"/>
          </a:p>
        </p:txBody>
      </p:sp>
      <p:sp>
        <p:nvSpPr>
          <p:cNvPr id="31" name="Text 29"/>
          <p:cNvSpPr/>
          <p:nvPr/>
        </p:nvSpPr>
        <p:spPr>
          <a:xfrm>
            <a:off x="12249113" y="4621020"/>
            <a:ext cx="5023219" cy="518071"/>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6C6C8C"/>
                </a:solidFill>
                <a:latin typeface="Arial" pitchFamily="34" charset="0"/>
                <a:ea typeface="Arial" pitchFamily="34" charset="-122"/>
                <a:cs typeface="Arial" pitchFamily="34" charset="-120"/>
              </a:rPr>
              <a:t>A DPIA precedes any personal data; non-prod receives anonymised samples only.</a:t>
            </a:r>
            <a:endParaRPr lang="en-US" sz="1350" dirty="0"/>
          </a:p>
        </p:txBody>
      </p:sp>
      <p:sp>
        <p:nvSpPr>
          <p:cNvPr id="32" name="Shape 30"/>
          <p:cNvSpPr/>
          <p:nvPr/>
        </p:nvSpPr>
        <p:spPr>
          <a:xfrm>
            <a:off x="914363" y="9176277"/>
            <a:ext cx="16459274" cy="9525"/>
          </a:xfrm>
          <a:prstGeom prst="rect">
            <a:avLst/>
          </a:prstGeom>
          <a:solidFill>
            <a:srgbClr val="ECECF2"/>
          </a:solidFill>
          <a:ln/>
        </p:spPr>
        <p:txBody>
          <a:bodyPr/>
          <a:lstStyle/>
          <a:p>
            <a:endParaRPr lang="en-US"/>
          </a:p>
        </p:txBody>
      </p:sp>
      <p:sp>
        <p:nvSpPr>
          <p:cNvPr id="33" name="Text 31"/>
          <p:cNvSpPr/>
          <p:nvPr/>
        </p:nvSpPr>
        <p:spPr>
          <a:xfrm>
            <a:off x="914363" y="9528070"/>
            <a:ext cx="5033907" cy="222647"/>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A6A6BE"/>
                </a:solidFill>
                <a:latin typeface="Arial" pitchFamily="34" charset="0"/>
                <a:ea typeface="Arial" pitchFamily="34" charset="-122"/>
                <a:cs typeface="Arial" pitchFamily="34" charset="-120"/>
              </a:rPr>
              <a:t>MANGA DATAHUB · CLOUD ANALYTICS · IE UNIVERSITY</a:t>
            </a:r>
            <a:endParaRPr lang="en-US" sz="1125" dirty="0"/>
          </a:p>
        </p:txBody>
      </p:sp>
      <p:pic>
        <p:nvPicPr>
          <p:cNvPr id="34" name="Image 0" descr="preencoded.png"/>
          <p:cNvPicPr>
            <a:picLocks noChangeAspect="1"/>
          </p:cNvPicPr>
          <p:nvPr/>
        </p:nvPicPr>
        <p:blipFill>
          <a:blip r:embed="rId3"/>
          <a:stretch>
            <a:fillRect/>
          </a:stretch>
        </p:blipFill>
        <p:spPr>
          <a:xfrm>
            <a:off x="16850878" y="9353662"/>
            <a:ext cx="522759" cy="5333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3C"/>
        </a:solidFill>
        <a:effectLst/>
      </p:bgPr>
    </p:bg>
    <p:spTree>
      <p:nvGrpSpPr>
        <p:cNvPr id="1" name=""/>
        <p:cNvGrpSpPr/>
        <p:nvPr/>
      </p:nvGrpSpPr>
      <p:grpSpPr>
        <a:xfrm>
          <a:off x="0" y="0"/>
          <a:ext cx="0" cy="0"/>
          <a:chOff x="0" y="0"/>
          <a:chExt cx="0" cy="0"/>
        </a:xfrm>
      </p:grpSpPr>
      <p:sp>
        <p:nvSpPr>
          <p:cNvPr id="2" name="Shape 0"/>
          <p:cNvSpPr/>
          <p:nvPr/>
        </p:nvSpPr>
        <p:spPr>
          <a:xfrm>
            <a:off x="14287500" y="-1524000"/>
            <a:ext cx="5334000" cy="5334000"/>
          </a:xfrm>
          <a:prstGeom prst="ellipse">
            <a:avLst/>
          </a:prstGeom>
          <a:gradFill rotWithShape="1">
            <a:gsLst>
              <a:gs pos="0">
                <a:srgbClr val="6BC600">
                  <a:alpha val="14000"/>
                </a:srgbClr>
              </a:gs>
              <a:gs pos="70000">
                <a:srgbClr val="6BC600">
                  <a:alpha val="0"/>
                </a:srgbClr>
              </a:gs>
            </a:gsLst>
            <a:path path="circle">
              <a:fillToRect l="50000" t="50000" r="50000" b="50000"/>
            </a:path>
          </a:gradFill>
          <a:ln/>
        </p:spPr>
        <p:txBody>
          <a:bodyPr/>
          <a:lstStyle/>
          <a:p>
            <a:endParaRPr lang="en-US"/>
          </a:p>
        </p:txBody>
      </p:sp>
      <p:sp>
        <p:nvSpPr>
          <p:cNvPr id="3" name="Shape 1"/>
          <p:cNvSpPr/>
          <p:nvPr/>
        </p:nvSpPr>
        <p:spPr>
          <a:xfrm>
            <a:off x="-952500" y="7048500"/>
            <a:ext cx="4572000" cy="4572000"/>
          </a:xfrm>
          <a:prstGeom prst="ellipse">
            <a:avLst/>
          </a:prstGeom>
          <a:gradFill rotWithShape="1">
            <a:gsLst>
              <a:gs pos="0">
                <a:srgbClr val="4BBEFF">
                  <a:alpha val="14000"/>
                </a:srgbClr>
              </a:gs>
              <a:gs pos="70000">
                <a:srgbClr val="4BBEFF">
                  <a:alpha val="0"/>
                </a:srgbClr>
              </a:gs>
            </a:gsLst>
            <a:path path="circle">
              <a:fillToRect l="50000" t="50000" r="50000" b="50000"/>
            </a:path>
          </a:gra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47750" y="914363"/>
            <a:ext cx="970824" cy="990544"/>
          </a:xfrm>
          <a:prstGeom prst="rect">
            <a:avLst/>
          </a:prstGeom>
        </p:spPr>
      </p:pic>
      <p:sp>
        <p:nvSpPr>
          <p:cNvPr id="5" name="Text 2"/>
          <p:cNvSpPr/>
          <p:nvPr/>
        </p:nvSpPr>
        <p:spPr>
          <a:xfrm>
            <a:off x="13961222" y="1311362"/>
            <a:ext cx="3279028" cy="234553"/>
          </a:xfrm>
          <a:prstGeom prst="rect">
            <a:avLst/>
          </a:prstGeom>
          <a:noFill/>
          <a:ln/>
        </p:spPr>
        <p:txBody>
          <a:bodyPr wrap="square" lIns="25400" tIns="25400" rIns="25400" bIns="25400" rtlCol="0" anchor="t">
            <a:normAutofit/>
          </a:bodyPr>
          <a:lstStyle/>
          <a:p>
            <a:pPr marL="0" indent="0" algn="r">
              <a:buNone/>
            </a:pPr>
            <a:r>
              <a:rPr lang="en-US" sz="1350" b="1" kern="0" spc="351" dirty="0">
                <a:solidFill>
                  <a:srgbClr val="8A8AB8"/>
                </a:solidFill>
                <a:latin typeface="Arial" pitchFamily="34" charset="0"/>
                <a:ea typeface="Arial" pitchFamily="34" charset="-122"/>
                <a:cs typeface="Arial" pitchFamily="34" charset="-120"/>
              </a:rPr>
              <a:t>CLOUDCORE SOLUTIONS</a:t>
            </a:r>
            <a:endParaRPr lang="en-US" sz="1350" dirty="0"/>
          </a:p>
        </p:txBody>
      </p:sp>
      <p:sp>
        <p:nvSpPr>
          <p:cNvPr id="6" name="Text 3"/>
          <p:cNvSpPr/>
          <p:nvPr/>
        </p:nvSpPr>
        <p:spPr>
          <a:xfrm>
            <a:off x="1047750" y="3637638"/>
            <a:ext cx="17811750" cy="276225"/>
          </a:xfrm>
          <a:prstGeom prst="rect">
            <a:avLst/>
          </a:prstGeom>
          <a:noFill/>
          <a:ln/>
        </p:spPr>
        <p:txBody>
          <a:bodyPr wrap="square" lIns="25400" tIns="25400" rIns="25400" bIns="25400" rtlCol="0" anchor="t">
            <a:normAutofit/>
          </a:bodyPr>
          <a:lstStyle/>
          <a:p>
            <a:pPr marL="0" indent="0" algn="l">
              <a:buNone/>
            </a:pPr>
            <a:r>
              <a:rPr lang="en-US" sz="1650" b="1" kern="0" spc="495" dirty="0">
                <a:solidFill>
                  <a:srgbClr val="6BC600"/>
                </a:solidFill>
                <a:latin typeface="Arial" pitchFamily="34" charset="0"/>
                <a:ea typeface="Arial" pitchFamily="34" charset="-122"/>
                <a:cs typeface="Arial" pitchFamily="34" charset="-120"/>
              </a:rPr>
              <a:t>LIVE &amp; INTERACTIVE</a:t>
            </a:r>
            <a:endParaRPr lang="en-US" sz="1650" dirty="0"/>
          </a:p>
        </p:txBody>
      </p:sp>
      <p:sp>
        <p:nvSpPr>
          <p:cNvPr id="7" name="Text 4"/>
          <p:cNvSpPr/>
          <p:nvPr/>
        </p:nvSpPr>
        <p:spPr>
          <a:xfrm>
            <a:off x="1047750" y="4142445"/>
            <a:ext cx="17811750" cy="934138"/>
          </a:xfrm>
          <a:prstGeom prst="rect">
            <a:avLst/>
          </a:prstGeom>
          <a:noFill/>
          <a:ln/>
        </p:spPr>
        <p:txBody>
          <a:bodyPr wrap="square" lIns="25400" tIns="25400" rIns="25400" bIns="25400" rtlCol="0" anchor="t">
            <a:normAutofit/>
          </a:bodyPr>
          <a:lstStyle/>
          <a:p>
            <a:pPr marL="0" indent="0" algn="l">
              <a:lnSpc>
                <a:spcPct val="98000"/>
              </a:lnSpc>
              <a:buNone/>
            </a:pPr>
            <a:r>
              <a:rPr lang="en-US" sz="7200" b="1" kern="0" spc="-180" dirty="0">
                <a:solidFill>
                  <a:srgbClr val="FFFFFF"/>
                </a:solidFill>
                <a:latin typeface="Arial" pitchFamily="34" charset="0"/>
                <a:ea typeface="Arial" pitchFamily="34" charset="-122"/>
                <a:cs typeface="Arial" pitchFamily="34" charset="-120"/>
              </a:rPr>
              <a:t>See it running</a:t>
            </a:r>
            <a:endParaRPr lang="en-US" sz="7200" dirty="0"/>
          </a:p>
        </p:txBody>
      </p:sp>
      <p:sp>
        <p:nvSpPr>
          <p:cNvPr id="8" name="Shape 5"/>
          <p:cNvSpPr/>
          <p:nvPr/>
        </p:nvSpPr>
        <p:spPr>
          <a:xfrm>
            <a:off x="1047750" y="5746812"/>
            <a:ext cx="5246377" cy="17859"/>
          </a:xfrm>
          <a:prstGeom prst="rect">
            <a:avLst/>
          </a:prstGeom>
          <a:solidFill>
            <a:srgbClr val="2B5A8A"/>
          </a:solidFill>
          <a:ln/>
        </p:spPr>
        <p:txBody>
          <a:bodyPr/>
          <a:lstStyle/>
          <a:p>
            <a:endParaRPr lang="en-US"/>
          </a:p>
        </p:txBody>
      </p:sp>
      <p:sp>
        <p:nvSpPr>
          <p:cNvPr id="9" name="Text 6">
            <a:hlinkClick r:id="rId4"/>
          </p:cNvPr>
          <p:cNvSpPr/>
          <p:nvPr/>
        </p:nvSpPr>
        <p:spPr>
          <a:xfrm>
            <a:off x="1047750" y="5286096"/>
            <a:ext cx="5771015" cy="460716"/>
          </a:xfrm>
          <a:prstGeom prst="rect">
            <a:avLst/>
          </a:prstGeom>
          <a:noFill/>
          <a:ln/>
        </p:spPr>
        <p:txBody>
          <a:bodyPr wrap="square" lIns="25400" tIns="25400" rIns="25400" bIns="25400" rtlCol="0" anchor="t">
            <a:normAutofit/>
          </a:bodyPr>
          <a:lstStyle/>
          <a:p>
            <a:pPr marL="0" indent="0" algn="l">
              <a:buNone/>
            </a:pPr>
            <a:r>
              <a:rPr lang="en-US" sz="2550" b="1" u="sng" dirty="0">
                <a:solidFill>
                  <a:srgbClr val="4BBEF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mangacloud-khaki.vercel.app</a:t>
            </a:r>
            <a:endParaRPr lang="en-US" sz="2550" dirty="0"/>
          </a:p>
        </p:txBody>
      </p:sp>
      <p:sp>
        <p:nvSpPr>
          <p:cNvPr id="10" name="Text 7"/>
          <p:cNvSpPr/>
          <p:nvPr/>
        </p:nvSpPr>
        <p:spPr>
          <a:xfrm>
            <a:off x="1047750" y="6032562"/>
            <a:ext cx="10791825" cy="784659"/>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C4C4E0"/>
                </a:solidFill>
                <a:latin typeface="Arial" pitchFamily="34" charset="0"/>
                <a:ea typeface="Arial" pitchFamily="34" charset="-122"/>
                <a:cs typeface="Arial" pitchFamily="34" charset="-120"/>
              </a:rPr>
              <a:t>Open it on your device — clickable architecture, dataset previews and requirement coverage — while we take your questions.</a:t>
            </a:r>
            <a:endParaRPr lang="en-US" sz="2100" dirty="0"/>
          </a:p>
        </p:txBody>
      </p:sp>
      <p:sp>
        <p:nvSpPr>
          <p:cNvPr id="11" name="Shape 8"/>
          <p:cNvSpPr/>
          <p:nvPr/>
        </p:nvSpPr>
        <p:spPr>
          <a:xfrm>
            <a:off x="1047750" y="8511853"/>
            <a:ext cx="16192500" cy="9525"/>
          </a:xfrm>
          <a:prstGeom prst="rect">
            <a:avLst/>
          </a:prstGeom>
          <a:solidFill>
            <a:srgbClr val="2B2B66"/>
          </a:solidFill>
          <a:ln/>
        </p:spPr>
        <p:txBody>
          <a:bodyPr/>
          <a:lstStyle/>
          <a:p>
            <a:endParaRPr lang="en-US"/>
          </a:p>
        </p:txBody>
      </p:sp>
      <p:sp>
        <p:nvSpPr>
          <p:cNvPr id="12" name="Text 9"/>
          <p:cNvSpPr/>
          <p:nvPr/>
        </p:nvSpPr>
        <p:spPr>
          <a:xfrm>
            <a:off x="1047750" y="8765418"/>
            <a:ext cx="1859040" cy="361987"/>
          </a:xfrm>
          <a:prstGeom prst="rect">
            <a:avLst/>
          </a:prstGeom>
          <a:noFill/>
          <a:ln/>
        </p:spPr>
        <p:txBody>
          <a:bodyPr wrap="square" lIns="25400" tIns="25400" rIns="25400" bIns="25400" rtlCol="0" anchor="t">
            <a:normAutofit/>
          </a:bodyPr>
          <a:lstStyle/>
          <a:p>
            <a:pPr marL="0" indent="0" algn="l">
              <a:lnSpc>
                <a:spcPct val="100000"/>
              </a:lnSpc>
              <a:buNone/>
            </a:pPr>
            <a:r>
              <a:rPr lang="en-US" sz="2550" b="1" dirty="0">
                <a:solidFill>
                  <a:srgbClr val="6BC600"/>
                </a:solidFill>
                <a:latin typeface="Arial" pitchFamily="34" charset="0"/>
                <a:ea typeface="Arial" pitchFamily="34" charset="-122"/>
                <a:cs typeface="Arial" pitchFamily="34" charset="-120"/>
              </a:rPr>
              <a:t>8/8</a:t>
            </a:r>
            <a:endParaRPr lang="en-US" sz="2550" dirty="0"/>
          </a:p>
        </p:txBody>
      </p:sp>
      <p:sp>
        <p:nvSpPr>
          <p:cNvPr id="13" name="Text 10"/>
          <p:cNvSpPr/>
          <p:nvPr/>
        </p:nvSpPr>
        <p:spPr>
          <a:xfrm>
            <a:off x="1047750" y="9146418"/>
            <a:ext cx="1859040"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requirements covered</a:t>
            </a:r>
            <a:endParaRPr lang="en-US" sz="1350" dirty="0"/>
          </a:p>
        </p:txBody>
      </p:sp>
      <p:sp>
        <p:nvSpPr>
          <p:cNvPr id="14" name="Text 11"/>
          <p:cNvSpPr/>
          <p:nvPr/>
        </p:nvSpPr>
        <p:spPr>
          <a:xfrm>
            <a:off x="3175899" y="8765418"/>
            <a:ext cx="1558221" cy="361987"/>
          </a:xfrm>
          <a:prstGeom prst="rect">
            <a:avLst/>
          </a:prstGeom>
          <a:noFill/>
          <a:ln/>
        </p:spPr>
        <p:txBody>
          <a:bodyPr wrap="square" lIns="25400" tIns="25400" rIns="25400" bIns="25400" rtlCol="0" anchor="t">
            <a:normAutofit/>
          </a:bodyPr>
          <a:lstStyle/>
          <a:p>
            <a:pPr marL="0" indent="0" algn="l">
              <a:lnSpc>
                <a:spcPct val="100000"/>
              </a:lnSpc>
              <a:buNone/>
            </a:pPr>
            <a:r>
              <a:rPr lang="en-US" sz="2550" b="1" dirty="0">
                <a:solidFill>
                  <a:srgbClr val="4BBEFF"/>
                </a:solidFill>
                <a:latin typeface="Arial" pitchFamily="34" charset="0"/>
                <a:ea typeface="Arial" pitchFamily="34" charset="-122"/>
                <a:cs typeface="Arial" pitchFamily="34" charset="-120"/>
              </a:rPr>
              <a:t>−57%</a:t>
            </a:r>
            <a:endParaRPr lang="en-US" sz="2550" dirty="0"/>
          </a:p>
        </p:txBody>
      </p:sp>
      <p:sp>
        <p:nvSpPr>
          <p:cNvPr id="15" name="Text 12"/>
          <p:cNvSpPr/>
          <p:nvPr/>
        </p:nvSpPr>
        <p:spPr>
          <a:xfrm>
            <a:off x="3175899" y="9146418"/>
            <a:ext cx="1558221"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infrastructure cost</a:t>
            </a:r>
            <a:endParaRPr lang="en-US" sz="1350" dirty="0"/>
          </a:p>
        </p:txBody>
      </p:sp>
      <p:sp>
        <p:nvSpPr>
          <p:cNvPr id="16" name="Text 13"/>
          <p:cNvSpPr/>
          <p:nvPr/>
        </p:nvSpPr>
        <p:spPr>
          <a:xfrm>
            <a:off x="5030577" y="8765418"/>
            <a:ext cx="2990283" cy="361987"/>
          </a:xfrm>
          <a:prstGeom prst="rect">
            <a:avLst/>
          </a:prstGeom>
          <a:noFill/>
          <a:ln/>
        </p:spPr>
        <p:txBody>
          <a:bodyPr wrap="square" lIns="25400" tIns="25400" rIns="25400" bIns="25400" rtlCol="0" anchor="t">
            <a:normAutofit/>
          </a:bodyPr>
          <a:lstStyle/>
          <a:p>
            <a:pPr marL="0" indent="0" algn="l">
              <a:lnSpc>
                <a:spcPct val="100000"/>
              </a:lnSpc>
              <a:buNone/>
            </a:pPr>
            <a:r>
              <a:rPr lang="en-US" sz="2550" b="1" dirty="0">
                <a:solidFill>
                  <a:srgbClr val="FFFFFF"/>
                </a:solidFill>
                <a:latin typeface="Arial" pitchFamily="34" charset="0"/>
                <a:ea typeface="Arial" pitchFamily="34" charset="-122"/>
                <a:cs typeface="Arial" pitchFamily="34" charset="-120"/>
              </a:rPr>
              <a:t>24h → sub-second</a:t>
            </a:r>
            <a:endParaRPr lang="en-US" sz="2550" dirty="0"/>
          </a:p>
        </p:txBody>
      </p:sp>
      <p:sp>
        <p:nvSpPr>
          <p:cNvPr id="17" name="Text 14"/>
          <p:cNvSpPr/>
          <p:nvPr/>
        </p:nvSpPr>
        <p:spPr>
          <a:xfrm>
            <a:off x="5030577" y="9146418"/>
            <a:ext cx="2990283" cy="264319"/>
          </a:xfrm>
          <a:prstGeom prst="rect">
            <a:avLst/>
          </a:prstGeom>
          <a:noFill/>
          <a:ln/>
        </p:spPr>
        <p:txBody>
          <a:bodyPr wrap="square" lIns="25400" tIns="25400" rIns="25400" bIns="25400" rtlCol="0" anchor="t">
            <a:normAutofit/>
          </a:bodyPr>
          <a:lstStyle/>
          <a:p>
            <a:pPr marL="0" indent="0" algn="l">
              <a:buNone/>
            </a:pPr>
            <a:r>
              <a:rPr lang="en-US" sz="1350" dirty="0">
                <a:solidFill>
                  <a:srgbClr val="9A9AC8"/>
                </a:solidFill>
                <a:latin typeface="Arial" pitchFamily="34" charset="0"/>
                <a:ea typeface="Arial" pitchFamily="34" charset="-122"/>
                <a:cs typeface="Arial" pitchFamily="34" charset="-120"/>
              </a:rPr>
              <a:t>time to insight</a:t>
            </a:r>
            <a:endParaRPr lang="en-US" sz="1350" dirty="0"/>
          </a:p>
        </p:txBody>
      </p:sp>
      <p:sp>
        <p:nvSpPr>
          <p:cNvPr id="18" name="Text 15"/>
          <p:cNvSpPr/>
          <p:nvPr/>
        </p:nvSpPr>
        <p:spPr>
          <a:xfrm>
            <a:off x="16172780" y="9110700"/>
            <a:ext cx="114367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Arial" pitchFamily="34" charset="0"/>
                <a:ea typeface="Arial" pitchFamily="34" charset="-122"/>
                <a:cs typeface="Arial"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1937</Words>
  <Application>Microsoft Office PowerPoint</Application>
  <PresentationFormat>Custom</PresentationFormat>
  <Paragraphs>363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Luka</cp:lastModifiedBy>
  <cp:revision>2</cp:revision>
  <dcterms:created xsi:type="dcterms:W3CDTF">2026-06-19T10:28:12Z</dcterms:created>
  <dcterms:modified xsi:type="dcterms:W3CDTF">2026-06-19T10:30:41Z</dcterms:modified>
</cp:coreProperties>
</file>